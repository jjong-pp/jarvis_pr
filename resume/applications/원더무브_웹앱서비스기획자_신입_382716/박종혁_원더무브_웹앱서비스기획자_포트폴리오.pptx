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8e15136e8e4a49" /><Relationship Type="http://schemas.openxmlformats.org/officeDocument/2006/relationships/extended-properties" Target="/docProps/app.xml" Id="Raff3c120253a43b2" /><Relationship Type="http://schemas.openxmlformats.org/officeDocument/2006/relationships/officeDocument" Target="/ppt/presentation.xml" Id="Ra2dfc1c2cf5349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42f7e9c54f4b9e"/>
  </p:sldMasterIdLst>
  <p:notesMasterIdLst>
    <p:notesMasterId xmlns:r="http://schemas.openxmlformats.org/officeDocument/2006/relationships" r:id="Rdfdc6f6805174d5a"/>
  </p:notesMasterIdLst>
  <p:sldIdLst>
    <p:sldId xmlns:r="http://schemas.openxmlformats.org/officeDocument/2006/relationships" id="256" r:id="R7d30465ce4a04257"/>
    <p:sldId xmlns:r="http://schemas.openxmlformats.org/officeDocument/2006/relationships" id="257" r:id="R0ec4bdd643fe41ee"/>
    <p:sldId xmlns:r="http://schemas.openxmlformats.org/officeDocument/2006/relationships" id="258" r:id="Rb439178090fb49a3"/>
    <p:sldId xmlns:r="http://schemas.openxmlformats.org/officeDocument/2006/relationships" id="259" r:id="R8df91bf17b404b8d"/>
    <p:sldId xmlns:r="http://schemas.openxmlformats.org/officeDocument/2006/relationships" id="260" r:id="R70cacc5aef3d46b2"/>
    <p:sldId xmlns:r="http://schemas.openxmlformats.org/officeDocument/2006/relationships" id="261" r:id="Rf7ba87eb35e744b2"/>
    <p:sldId xmlns:r="http://schemas.openxmlformats.org/officeDocument/2006/relationships" id="262" r:id="Rf180596a19f84621"/>
    <p:sldId xmlns:r="http://schemas.openxmlformats.org/officeDocument/2006/relationships" id="263" r:id="R95d01b6959ec48af"/>
    <p:sldId xmlns:r="http://schemas.openxmlformats.org/officeDocument/2006/relationships" id="264" r:id="R0ae14f39a9de4e37"/>
    <p:sldId xmlns:r="http://schemas.openxmlformats.org/officeDocument/2006/relationships" id="265" r:id="Re6b67ea708794387"/>
    <p:sldId xmlns:r="http://schemas.openxmlformats.org/officeDocument/2006/relationships" id="266" r:id="Rd839795c0c3a4302"/>
    <p:sldId xmlns:r="http://schemas.openxmlformats.org/officeDocument/2006/relationships" id="267" r:id="R3c9e3559b0ad4d52"/>
    <p:sldId xmlns:r="http://schemas.openxmlformats.org/officeDocument/2006/relationships" id="268" r:id="Ra1f02e2ba5314aaa"/>
    <p:sldId xmlns:r="http://schemas.openxmlformats.org/officeDocument/2006/relationships" id="269" r:id="R7514ed92b01a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b7df0e11fe4dc0" /><Relationship Type="http://schemas.openxmlformats.org/officeDocument/2006/relationships/slideMaster" Target="/ppt/slideMasters/slideMaster1.xml" Id="Rfd42f7e9c54f4b9e" /><Relationship Type="http://schemas.openxmlformats.org/officeDocument/2006/relationships/notesMaster" Target="/ppt/notesMasters/notesMaster1.xml" Id="Rdfdc6f6805174d5a" /><Relationship Type="http://schemas.openxmlformats.org/officeDocument/2006/relationships/presProps" Target="/ppt/presProps.xml" Id="R041d68c6f7f74884" /><Relationship Type="http://schemas.openxmlformats.org/officeDocument/2006/relationships/tableStyles" Target="/ppt/tableStyles.xml" Id="Rc068023ac343442c" /><Relationship Type="http://schemas.openxmlformats.org/officeDocument/2006/relationships/slide" Target="/ppt/slides/slide1.xml" Id="R7d30465ce4a04257" /><Relationship Type="http://schemas.openxmlformats.org/officeDocument/2006/relationships/slide" Target="/ppt/slides/slide2.xml" Id="R0ec4bdd643fe41ee" /><Relationship Type="http://schemas.openxmlformats.org/officeDocument/2006/relationships/slide" Target="/ppt/slides/slide3.xml" Id="Rb439178090fb49a3" /><Relationship Type="http://schemas.openxmlformats.org/officeDocument/2006/relationships/slide" Target="/ppt/slides/slide4.xml" Id="R8df91bf17b404b8d" /><Relationship Type="http://schemas.openxmlformats.org/officeDocument/2006/relationships/slide" Target="/ppt/slides/slide5.xml" Id="R70cacc5aef3d46b2" /><Relationship Type="http://schemas.openxmlformats.org/officeDocument/2006/relationships/slide" Target="/ppt/slides/slide6.xml" Id="Rf7ba87eb35e744b2" /><Relationship Type="http://schemas.openxmlformats.org/officeDocument/2006/relationships/slide" Target="/ppt/slides/slide7.xml" Id="Rf180596a19f84621" /><Relationship Type="http://schemas.openxmlformats.org/officeDocument/2006/relationships/slide" Target="/ppt/slides/slide8.xml" Id="R95d01b6959ec48af" /><Relationship Type="http://schemas.openxmlformats.org/officeDocument/2006/relationships/slide" Target="/ppt/slides/slide9.xml" Id="R0ae14f39a9de4e37" /><Relationship Type="http://schemas.openxmlformats.org/officeDocument/2006/relationships/slide" Target="/ppt/slides/slide10.xml" Id="Re6b67ea708794387" /><Relationship Type="http://schemas.openxmlformats.org/officeDocument/2006/relationships/slide" Target="/ppt/slides/slide11.xml" Id="Rd839795c0c3a4302" /><Relationship Type="http://schemas.openxmlformats.org/officeDocument/2006/relationships/slide" Target="/ppt/slides/slide12.xml" Id="R3c9e3559b0ad4d52" /><Relationship Type="http://schemas.openxmlformats.org/officeDocument/2006/relationships/slide" Target="/ppt/slides/slide13.xml" Id="Ra1f02e2ba5314aaa" /><Relationship Type="http://schemas.openxmlformats.org/officeDocument/2006/relationships/slide" Target="/ppt/slides/slide14.xml" Id="R7514ed92b01a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f919ca496741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b0e0c4aad04db4" /><Relationship Type="http://schemas.openxmlformats.org/officeDocument/2006/relationships/notesMaster" Target="/ppt/notesMasters/notesMaster1.xml" Id="R837138aa5dcc41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c21d42ef2f479f" /><Relationship Type="http://schemas.openxmlformats.org/officeDocument/2006/relationships/notesMaster" Target="/ppt/notesMasters/notesMaster1.xml" Id="R62cbf9fd42be49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c3d490ddef49e0" /><Relationship Type="http://schemas.openxmlformats.org/officeDocument/2006/relationships/notesMaster" Target="/ppt/notesMasters/notesMaster1.xml" Id="R3cf30ffbb2394b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455ef5ddda4f2d" /><Relationship Type="http://schemas.openxmlformats.org/officeDocument/2006/relationships/notesMaster" Target="/ppt/notesMasters/notesMaster1.xml" Id="R511577d027cc42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3f196f03584192" /><Relationship Type="http://schemas.openxmlformats.org/officeDocument/2006/relationships/notesMaster" Target="/ppt/notesMasters/notesMaster1.xml" Id="R4dfd5934f95142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d003f961a64159" /><Relationship Type="http://schemas.openxmlformats.org/officeDocument/2006/relationships/notesMaster" Target="/ppt/notesMasters/notesMaster1.xml" Id="R36edb78b83ca42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132ac8da3749f8" /><Relationship Type="http://schemas.openxmlformats.org/officeDocument/2006/relationships/notesMaster" Target="/ppt/notesMasters/notesMaster1.xml" Id="R1c9a4b9113d845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c9ec05935f47c1" /><Relationship Type="http://schemas.openxmlformats.org/officeDocument/2006/relationships/notesMaster" Target="/ppt/notesMasters/notesMaster1.xml" Id="Rfd028b1f680a4b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d35e17c5b54b49" /><Relationship Type="http://schemas.openxmlformats.org/officeDocument/2006/relationships/notesMaster" Target="/ppt/notesMasters/notesMaster1.xml" Id="R20358cb169da4d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82b2cb1df049b8" /><Relationship Type="http://schemas.openxmlformats.org/officeDocument/2006/relationships/notesMaster" Target="/ppt/notesMasters/notesMaster1.xml" Id="Ra947224a471349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7d3f83affb49ec" /><Relationship Type="http://schemas.openxmlformats.org/officeDocument/2006/relationships/notesMaster" Target="/ppt/notesMasters/notesMaster1.xml" Id="Re11bacecb7e945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3c8f8502a14cf5" /><Relationship Type="http://schemas.openxmlformats.org/officeDocument/2006/relationships/notesMaster" Target="/ppt/notesMasters/notesMaster1.xml" Id="R8d977282bded47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d91da4510447f0" /><Relationship Type="http://schemas.openxmlformats.org/officeDocument/2006/relationships/notesMaster" Target="/ppt/notesMasters/notesMaster1.xml" Id="R6060409626a241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c3856dbc1342f6" /><Relationship Type="http://schemas.openxmlformats.org/officeDocument/2006/relationships/notesMaster" Target="/ppt/notesMasters/notesMaster1.xml" Id="R7665ddb663b34e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</a:t>
            </a:r>
          </a:p>
          <a:p xmlns:a="http://schemas.openxmlformats.org/drawingml/2006/main">
            <a:r>
              <a:t>- C:/MyMain/main/산후조리원/산후조리원몰_과업내역_처리결과.html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https://www.wanted.co.kr/wd/382716</a:t>
            </a:r>
          </a:p>
          <a:p xmlns:a="http://schemas.openxmlformats.org/drawingml/2006/main">
            <a:r>
              <a:t>- C:/MyMain/main/market-bigsee/AGENTS.md</a:t>
            </a:r>
          </a:p>
          <a:p xmlns:a="http://schemas.openxmlformats.org/drawingml/2006/main">
            <a:r>
              <a:t>- C:/MyMain/main/산후조리원/PROJECT_STATUS.md</a:t>
            </a:r>
          </a:p>
          <a:p xmlns:a="http://schemas.openxmlformats.org/drawingml/2006/main">
            <a:r>
              <a:t>- C:/MyMain/main/관세청/planning/api_field_mapping.html</a:t>
            </a:r>
          </a:p>
          <a:p xmlns:a="http://schemas.openxmlformats.org/drawingml/2006/main">
            <a:r>
              <a:t>- C:/MyMain/main/resume/마켓빅시_서비스_프로세스_및_정책정의.pdf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공고상 자격요건은 AI 도구로 업무방식을 개선한 경험, 웹·모바일 UX/UI 설계와 기획 문서 작성 능력이다.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 이력서.pdf</a:t>
            </a:r>
          </a:p>
          <a:p xmlns:a="http://schemas.openxmlformats.org/drawingml/2006/main">
            <a:r>
              <a:t>- User-provided resume introduction in the current task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C:/MyMain/main/AGENTS.md</a:t>
            </a:r>
          </a:p>
          <a:p xmlns:a="http://schemas.openxmlformats.org/drawingml/2006/main">
            <a:r>
              <a:t>- C:/MyMain/main/market-bigsee/AGENTS.md</a:t>
            </a:r>
          </a:p>
          <a:p xmlns:a="http://schemas.openxmlformats.org/drawingml/2006/main">
            <a:r>
              <a:t>- C:/MyMain/main/market-bigsee/control/08_decision_log.md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C:/MyMain/main/market-bigsee/AGENTS.md</a:t>
            </a:r>
          </a:p>
          <a:p xmlns:a="http://schemas.openxmlformats.org/drawingml/2006/main">
            <a:r>
              <a:t>- C:/MyMain/main/market-bigsee/control/08_decision_log.md</a:t>
            </a:r>
          </a:p>
          <a:p xmlns:a="http://schemas.openxmlformats.org/drawingml/2006/main">
            <a:r>
              <a:t>- C:/MyMain/main/market-bigsee/dashboard/data/manifest.json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manifest: sourceDocuments 69, records 172, relationships 89, generatedAt 2026-08-16. 업무 성과가 아니라 구조화 규모로만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C:/MyMain/main/market-bigsee/control/08_decision_log.md</a:t>
            </a:r>
          </a:p>
          <a:p xmlns:a="http://schemas.openxmlformats.org/drawingml/2006/main">
            <a:r>
              <a:t>- C:/MyMain/main/market-bigsee/system/13_business_operating_agent_architecture_proposal.md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D-011, D-014, D-016, D-017의 결정 및 대체 이력을 요약했다.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C:/MyMain/main/산후조리원/산후조리원몰_과업내역_처리결과.html</a:t>
            </a:r>
          </a:p>
          <a:p xmlns:a="http://schemas.openxmlformats.org/drawingml/2006/main">
            <a:r>
              <a:t>- C:/MyMain/main/산후조리원/PROJECT_STATUS.md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성과 수치 3종은 원본 로그를 확인하지 못해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C:/MyMain/main/산후조리원/산후조리원몰_과업내역_처리결과.html</a:t>
            </a:r>
          </a:p>
          <a:p xmlns:a="http://schemas.openxmlformats.org/drawingml/2006/main">
            <a:r>
              <a:t>- C:/MyMain/main/산후조리원/PROJECT_STATUS.md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사용된 화면은 원본 HTML에 내장된 개인정보 마스킹 증빙이다.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C:/MyMain/main/산후조리원/산후조리원전용몰_개발계약서_아이베_최종.docx</a:t>
            </a:r>
          </a:p>
          <a:p xmlns:a="http://schemas.openxmlformats.org/drawingml/2006/main">
            <a:r>
              <a:t>- C:/MyMain/main/산후조리원/PROJECT_STATUS.md</a:t>
            </a:r>
          </a:p>
          <a:p xmlns:a="http://schemas.openxmlformats.org/drawingml/2006/main">
            <a:r>
              <a:t>- C:/MyMain/main/산후조리원/산후조리원몰_과업내역_처리결과.html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계약기간은 2026-07-01~2026-08-31이며, 현황판은 2026-08-13 기준 운영 QA와 추가 개발이 진행 중이라고 기록한다.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C:/MyMain/main/관세청/planning/planning_v6.html</a:t>
            </a:r>
          </a:p>
          <a:p xmlns:a="http://schemas.openxmlformats.org/drawingml/2006/main">
            <a:r>
              <a:t>- C:/MyMain/main/관세청/planning/api_field_mapping.html</a:t>
            </a:r>
          </a:p>
          <a:p xmlns:a="http://schemas.openxmlformats.org/drawingml/2006/main">
            <a:r>
              <a:t>- C:/MyMain/main/관세청/planning/리스크_질의대장.html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시스템 명칭은 외부 공유를 고려해 역할 중심으로 일반화했다.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C:/MyMain/main/관세청/planning/리스크_질의대장.html</a:t>
            </a:r>
          </a:p>
          <a:p xmlns:a="http://schemas.openxmlformats.org/drawingml/2006/main">
            <a:r>
              <a:t>- C:/MyMain/main/관세청/planning/api_field_mapping.html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2026-08-26 정정 이력과 미확정 매핑을 함께 반영했다.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C:/MyMain/main/관세청/planning/리스크_질의대장.html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2026-08-26 현재 정본의 11:10~11:50 처리창, MANUAL_CLEARANCE_REQUIRED 격리, 단계별 테스트 API 7종 인수 내용을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C:/MyMain/main/resume/마켓빅시_서비스_프로세스_및_정책정의.pdf</a:t>
            </a:r>
          </a:p>
          <a:p xmlns:a="http://schemas.openxmlformats.org/drawingml/2006/main">
            <a:r>
              <a:t>- C:/MyMain/main/market-bigsee/control/00_project_status.md</a:t>
            </a:r>
          </a:p>
          <a:p xmlns:a="http://schemas.openxmlformats.org/drawingml/2006/main">
            <a:r>
              <a:t>- C:/MyMain/main/market-bigsee/control/17_context_handoff.md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미구현 P0 설계이며 성과나 실제 제공 기능으로 표현하지 않는다. 유입·로그인·비용 수치는 제외했다.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https://www.wanted.co.kr/wd/382716</a:t>
            </a:r>
          </a:p>
          <a:p xmlns:a="http://schemas.openxmlformats.org/drawingml/2006/main">
            <a:r>
              <a:t>- C:/MyMain/main/market-bigsee/AGENTS.md</a:t>
            </a:r>
          </a:p>
          <a:p xmlns:a="http://schemas.openxmlformats.org/drawingml/2006/main">
            <a:r>
              <a:t>- C:/MyMain/main/산후조리원/PROJECT_STATUS.md</a:t>
            </a:r>
          </a:p>
          <a:p xmlns:a="http://schemas.openxmlformats.org/drawingml/2006/main">
            <a:r>
              <a:t>- C:/MyMain/main/관세청/planning/리스크_질의대장.html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35e8310ba42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f83529bf204590" /><Relationship Type="http://schemas.openxmlformats.org/officeDocument/2006/relationships/slideLayout" Target="/ppt/slideLayouts/slideLayout1.xml" Id="Ra643a97ed2aa41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43a97ed2aa41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ae4ced8634605" /><Relationship Type="http://schemas.openxmlformats.org/officeDocument/2006/relationships/image" Target="/ppt/media/image.jpeg" Id="Ra11c7525dee54802" /><Relationship Type="http://schemas.openxmlformats.org/officeDocument/2006/relationships/notesSlide" Target="/ppt/notesSlides/notesSlide1.xml" Id="R0db114a72b1f40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85dcb52474eaa" /><Relationship Type="http://schemas.openxmlformats.org/officeDocument/2006/relationships/notesSlide" Target="/ppt/notesSlides/notesSlide2.xml" Id="Rf30af3dbfd3041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e1d7b7c18425b" /><Relationship Type="http://schemas.openxmlformats.org/officeDocument/2006/relationships/notesSlide" Target="/ppt/notesSlides/notesSlide3.xml" Id="Ra3f06eb2238444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2fa2f96ff4ef7" /><Relationship Type="http://schemas.openxmlformats.org/officeDocument/2006/relationships/notesSlide" Target="/ppt/notesSlides/notesSlide4.xml" Id="Rd9a82e2657814d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b62c28e2c4504" /><Relationship Type="http://schemas.openxmlformats.org/officeDocument/2006/relationships/notesSlide" Target="/ppt/notesSlides/notesSlide5.xml" Id="R783f2d765e884c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cd2ffd7db4230" /><Relationship Type="http://schemas.openxmlformats.org/officeDocument/2006/relationships/notesSlide" Target="/ppt/notesSlides/notesSlide6.xml" Id="R7f06cd501fb54b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39f64b3ee4ada" /><Relationship Type="http://schemas.openxmlformats.org/officeDocument/2006/relationships/image" Target="/ppt/media/image2.jpeg" Id="Rc2a16c7591d6461a" /><Relationship Type="http://schemas.openxmlformats.org/officeDocument/2006/relationships/notesSlide" Target="/ppt/notesSlides/notesSlide7.xml" Id="R72dcafa75e1e4c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9b3a2394e47e6" /><Relationship Type="http://schemas.openxmlformats.org/officeDocument/2006/relationships/image" Target="/ppt/media/image3.jpeg" Id="R6b372a53016d4247" /><Relationship Type="http://schemas.openxmlformats.org/officeDocument/2006/relationships/image" Target="/ppt/media/image4.jpeg" Id="R99cb6723b8144c3f" /><Relationship Type="http://schemas.openxmlformats.org/officeDocument/2006/relationships/image" Target="/ppt/media/image5.jpeg" Id="R45e64c74cc954a93" /><Relationship Type="http://schemas.openxmlformats.org/officeDocument/2006/relationships/notesSlide" Target="/ppt/notesSlides/notesSlide8.xml" Id="R601418a12bca4d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1f6cd59e1442d" /><Relationship Type="http://schemas.openxmlformats.org/officeDocument/2006/relationships/notesSlide" Target="/ppt/notesSlides/notesSlide9.xml" Id="Ra0edd2d77a3249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5e370009e407b" /><Relationship Type="http://schemas.openxmlformats.org/officeDocument/2006/relationships/notesSlide" Target="/ppt/notesSlides/notesSlide10.xml" Id="R1449cb9453a54d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bbaa342aa4e46" /><Relationship Type="http://schemas.openxmlformats.org/officeDocument/2006/relationships/notesSlide" Target="/ppt/notesSlides/notesSlide11.xml" Id="R2f0ca350b5fb4a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ea174995f4376" /><Relationship Type="http://schemas.openxmlformats.org/officeDocument/2006/relationships/notesSlide" Target="/ppt/notesSlides/notesSlide12.xml" Id="Rd667cb63991b4f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ca0fbcf58470a" /><Relationship Type="http://schemas.openxmlformats.org/officeDocument/2006/relationships/image" Target="/ppt/media/image.png" Id="Re0a313602dd343a1" /><Relationship Type="http://schemas.openxmlformats.org/officeDocument/2006/relationships/notesSlide" Target="/ppt/notesSlides/notesSlide13.xml" Id="R5fae0ffbf9df43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2e97d40414dce" /><Relationship Type="http://schemas.openxmlformats.org/officeDocument/2006/relationships/notesSlide" Target="/ppt/notesSlides/notesSlide14.xml" Id="R38d0592014774e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67FD18E-5467-4C20-9C35-0D626A42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8A8CC6E-0A60-4D67-948E-7E49A234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PORTFOLIO ·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616DC7A-E758-4A16-8A1A-BC59B024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정책과 예외를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사용 가능한 흐름으로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바꾸는 PM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79D69EB-6BA1-4101-AF52-2F30112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박종혁 | 원더무브 웹·앱 서비스 기획자(신입)</a:t>
            </a:r>
          </a:p>
        </p:txBody>
      </p:sp>
      <p:sp>
        <p:nvSpPr>
          <p:cNvPr id="5" name="cover-tags">
            <a:extLst xmlns:a="http://schemas.openxmlformats.org/drawingml/2006/main">
              <a:ext uri="{FF2B5EF4-FFF2-40B4-BE49-F238E27FC236}">
                <a16:creationId xmlns:a16="http://schemas.microsoft.com/office/drawing/2014/main" id="{6E4E96B5-036F-4E5E-92D0-B63278E3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AI 업무개선 · 웹/모바일 UX · 데이터/복구 정책</a:t>
            </a:r>
          </a:p>
        </p:txBody>
      </p:sp>
      <p:sp>
        <p:nvSpPr>
          <p:cNvPr id="6" name="cover-evidence-backing">
            <a:extLst xmlns:a="http://schemas.openxmlformats.org/drawingml/2006/main">
              <a:ext uri="{FF2B5EF4-FFF2-40B4-BE49-F238E27FC236}">
                <a16:creationId xmlns:a16="http://schemas.microsoft.com/office/drawing/2014/main" id="{5C477F63-5AEF-4691-A59F-08AAA43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"/>
            <a:ext cx="5295900" cy="56197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c7525dee54802"/>
          <a:stretch xmlns:a="http://schemas.openxmlformats.org/drawingml/2006/main"/>
        </p:blipFill>
        <p:spPr>
          <a:xfrm xmlns:a="http://schemas.openxmlformats.org/drawingml/2006/main">
            <a:off x="6305550" y="1380820"/>
            <a:ext cx="5257800" cy="3848710"/>
          </a:xfrm>
          <a:prstGeom xmlns:a="http://schemas.openxmlformats.org/drawingml/2006/main" prst="roundRect">
            <a:avLst>
              <a:gd name="adj" fmla="val 2174"/>
            </a:avLst>
          </a:prstGeom>
        </p:spPr>
      </p:pic>
      <p:sp>
        <p:nvSpPr>
          <p:cNvPr id="8" name="cover-evidence-label">
            <a:extLst xmlns:a="http://schemas.openxmlformats.org/drawingml/2006/main">
              <a:ext uri="{FF2B5EF4-FFF2-40B4-BE49-F238E27FC236}">
                <a16:creationId xmlns:a16="http://schemas.microsoft.com/office/drawing/2014/main" id="{6F0EBDAF-2D11-4B45-A633-D2D48BA3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912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실제 운영 화면 · 개인정보 마스킹</a:t>
            </a:r>
          </a:p>
        </p:txBody>
      </p:sp>
      <p:sp>
        <p:nvSpPr>
          <p:cNvPr id="9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40B21680-8481-445C-8F7B-2271D443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10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6BAA934C-63D9-4E93-B1B8-BD3742D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2049198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2">
            <a:extLst xmlns:a="http://schemas.openxmlformats.org/drawingml/2006/main">
              <a:ext uri="{FF2B5EF4-FFF2-40B4-BE49-F238E27FC236}">
                <a16:creationId xmlns:a16="http://schemas.microsoft.com/office/drawing/2014/main" id="{C67CEC6E-B6A6-4F9D-ADC3-6A2FEE53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FIT MAP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81A8B3B-A776-43BC-9994-D54EE2D8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두 필수요건에 실제 작업으로 답합니다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4318273D-A27A-437E-8725-C5CDAE5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t-subtitle">
            <a:extLst xmlns:a="http://schemas.openxmlformats.org/drawingml/2006/main">
              <a:ext uri="{FF2B5EF4-FFF2-40B4-BE49-F238E27FC236}">
                <a16:creationId xmlns:a16="http://schemas.microsoft.com/office/drawing/2014/main" id="{66C3CFDD-2A1A-4DCA-A82C-E201DED8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도구 이름보다 직접 시도와 화면·상태·기획 문서의 증거를 앞에 배치했습니다.</a:t>
            </a:r>
          </a:p>
        </p:txBody>
      </p:sp>
      <p:sp>
        <p:nvSpPr>
          <p:cNvPr id="5" name="fit-row-0">
            <a:extLst xmlns:a="http://schemas.openxmlformats.org/drawingml/2006/main">
              <a:ext uri="{FF2B5EF4-FFF2-40B4-BE49-F238E27FC236}">
                <a16:creationId xmlns:a16="http://schemas.microsoft.com/office/drawing/2014/main" id="{D388484D-C79D-460F-8C4D-C046F706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t-num-0">
            <a:extLst xmlns:a="http://schemas.openxmlformats.org/drawingml/2006/main">
              <a:ext uri="{FF2B5EF4-FFF2-40B4-BE49-F238E27FC236}">
                <a16:creationId xmlns:a16="http://schemas.microsoft.com/office/drawing/2014/main" id="{46F16375-0F09-4EF9-BFE9-D928E286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fit-cap-0">
            <a:extLst xmlns:a="http://schemas.openxmlformats.org/drawingml/2006/main">
              <a:ext uri="{FF2B5EF4-FFF2-40B4-BE49-F238E27FC236}">
                <a16:creationId xmlns:a16="http://schemas.microsoft.com/office/drawing/2014/main" id="{B0FD120B-E9BF-49B2-8E51-8305F3A3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38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AI로 업무방식 개선</a:t>
            </a:r>
          </a:p>
        </p:txBody>
      </p:sp>
      <p:sp>
        <p:nvSpPr>
          <p:cNvPr id="8" name="fit-proof-0">
            <a:extLst xmlns:a="http://schemas.openxmlformats.org/drawingml/2006/main">
              <a:ext uri="{FF2B5EF4-FFF2-40B4-BE49-F238E27FC236}">
                <a16:creationId xmlns:a16="http://schemas.microsoft.com/office/drawing/2014/main" id="{5DD153E9-362D-42EC-B46E-6F5BE9F6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479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Git 정본 · 역할 분리 · 결정/검증 기록 · 자동 생성 대시보드</a:t>
            </a:r>
          </a:p>
        </p:txBody>
      </p:sp>
      <p:sp>
        <p:nvSpPr>
          <p:cNvPr id="9" name="fit-status-0">
            <a:extLst xmlns:a="http://schemas.openxmlformats.org/drawingml/2006/main">
              <a:ext uri="{FF2B5EF4-FFF2-40B4-BE49-F238E27FC236}">
                <a16:creationId xmlns:a16="http://schemas.microsoft.com/office/drawing/2014/main" id="{4E8B6A4D-89C3-4FA3-A81A-B032A792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860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직접 실행</a:t>
            </a:r>
          </a:p>
        </p:txBody>
      </p:sp>
      <p:sp>
        <p:nvSpPr>
          <p:cNvPr id="10" name="fit-row-1">
            <a:extLst xmlns:a="http://schemas.openxmlformats.org/drawingml/2006/main">
              <a:ext uri="{FF2B5EF4-FFF2-40B4-BE49-F238E27FC236}">
                <a16:creationId xmlns:a16="http://schemas.microsoft.com/office/drawing/2014/main" id="{0D2ABF1F-A17D-4380-AFB2-3BBE5744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t-num-1">
            <a:extLst xmlns:a="http://schemas.openxmlformats.org/drawingml/2006/main">
              <a:ext uri="{FF2B5EF4-FFF2-40B4-BE49-F238E27FC236}">
                <a16:creationId xmlns:a16="http://schemas.microsoft.com/office/drawing/2014/main" id="{95C508C9-74D9-42FB-8274-DC0FA816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fit-cap-1">
            <a:extLst xmlns:a="http://schemas.openxmlformats.org/drawingml/2006/main">
              <a:ext uri="{FF2B5EF4-FFF2-40B4-BE49-F238E27FC236}">
                <a16:creationId xmlns:a16="http://schemas.microsoft.com/office/drawing/2014/main" id="{E16D5F27-9858-4B15-A318-93AF7A15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웹·모바일 UX/UI</a:t>
            </a:r>
          </a:p>
        </p:txBody>
      </p:sp>
      <p:sp>
        <p:nvSpPr>
          <p:cNvPr id="13" name="fit-proof-1">
            <a:extLst xmlns:a="http://schemas.openxmlformats.org/drawingml/2006/main">
              <a:ext uri="{FF2B5EF4-FFF2-40B4-BE49-F238E27FC236}">
                <a16:creationId xmlns:a16="http://schemas.microsoft.com/office/drawing/2014/main" id="{6D5CFC07-1FA1-4DCD-8D75-06F7C49F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242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계정·가격·결제 정책을 모바일 주문과 오류 차단 상태로 구현</a:t>
            </a:r>
          </a:p>
        </p:txBody>
      </p:sp>
      <p:sp>
        <p:nvSpPr>
          <p:cNvPr id="14" name="fit-status-1">
            <a:extLst xmlns:a="http://schemas.openxmlformats.org/drawingml/2006/main">
              <a:ext uri="{FF2B5EF4-FFF2-40B4-BE49-F238E27FC236}">
                <a16:creationId xmlns:a16="http://schemas.microsoft.com/office/drawing/2014/main" id="{CA78799A-823E-4BED-8225-45FD1FA3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23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운영 화면</a:t>
            </a:r>
          </a:p>
        </p:txBody>
      </p:sp>
      <p:sp>
        <p:nvSpPr>
          <p:cNvPr id="15" name="fit-row-2">
            <a:extLst xmlns:a="http://schemas.openxmlformats.org/drawingml/2006/main">
              <a:ext uri="{FF2B5EF4-FFF2-40B4-BE49-F238E27FC236}">
                <a16:creationId xmlns:a16="http://schemas.microsoft.com/office/drawing/2014/main" id="{2F4CBA3C-802A-4709-91F1-C5AC5279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t-num-2">
            <a:extLst xmlns:a="http://schemas.openxmlformats.org/drawingml/2006/main">
              <a:ext uri="{FF2B5EF4-FFF2-40B4-BE49-F238E27FC236}">
                <a16:creationId xmlns:a16="http://schemas.microsoft.com/office/drawing/2014/main" id="{D96F9045-6F54-4B82-9D07-87AE4232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fit-cap-2">
            <a:extLst xmlns:a="http://schemas.openxmlformats.org/drawingml/2006/main">
              <a:ext uri="{FF2B5EF4-FFF2-40B4-BE49-F238E27FC236}">
                <a16:creationId xmlns:a16="http://schemas.microsoft.com/office/drawing/2014/main" id="{92884BC0-6498-4FB7-8A06-3B4DC02E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B2B 정책·데이터</a:t>
            </a:r>
          </a:p>
        </p:txBody>
      </p:sp>
      <p:sp>
        <p:nvSpPr>
          <p:cNvPr id="18" name="fit-proof-2">
            <a:extLst xmlns:a="http://schemas.openxmlformats.org/drawingml/2006/main">
              <a:ext uri="{FF2B5EF4-FFF2-40B4-BE49-F238E27FC236}">
                <a16:creationId xmlns:a16="http://schemas.microsoft.com/office/drawing/2014/main" id="{07D51AF9-ADDC-47A2-A580-ADA588A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00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시스템별 데이터 책임, 병합 기준, 예외·중단·복구 조건 정의</a:t>
            </a:r>
          </a:p>
        </p:txBody>
      </p:sp>
      <p:sp>
        <p:nvSpPr>
          <p:cNvPr id="19" name="fit-status-2">
            <a:extLst xmlns:a="http://schemas.openxmlformats.org/drawingml/2006/main">
              <a:ext uri="{FF2B5EF4-FFF2-40B4-BE49-F238E27FC236}">
                <a16:creationId xmlns:a16="http://schemas.microsoft.com/office/drawing/2014/main" id="{EA44C91D-8489-4E4A-9886-CCBCB467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38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기획 문서</a:t>
            </a:r>
          </a:p>
        </p:txBody>
      </p:sp>
      <p:sp>
        <p:nvSpPr>
          <p:cNvPr id="20" name="fit-row-3">
            <a:extLst xmlns:a="http://schemas.openxmlformats.org/drawingml/2006/main">
              <a:ext uri="{FF2B5EF4-FFF2-40B4-BE49-F238E27FC236}">
                <a16:creationId xmlns:a16="http://schemas.microsoft.com/office/drawing/2014/main" id="{4760C545-12AA-471F-AAB7-A8B6D028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it-num-3">
            <a:extLst xmlns:a="http://schemas.openxmlformats.org/drawingml/2006/main">
              <a:ext uri="{FF2B5EF4-FFF2-40B4-BE49-F238E27FC236}">
                <a16:creationId xmlns:a16="http://schemas.microsoft.com/office/drawing/2014/main" id="{9885E490-4797-4664-8920-FB5F06B7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fit-cap-3">
            <a:extLst xmlns:a="http://schemas.openxmlformats.org/drawingml/2006/main">
              <a:ext uri="{FF2B5EF4-FFF2-40B4-BE49-F238E27FC236}">
                <a16:creationId xmlns:a16="http://schemas.microsoft.com/office/drawing/2014/main" id="{A4EE4655-DC8C-435F-9572-B74111AA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AI 기능 기획</a:t>
            </a:r>
          </a:p>
        </p:txBody>
      </p:sp>
      <p:sp>
        <p:nvSpPr>
          <p:cNvPr id="23" name="fit-proof-3">
            <a:extLst xmlns:a="http://schemas.openxmlformats.org/drawingml/2006/main">
              <a:ext uri="{FF2B5EF4-FFF2-40B4-BE49-F238E27FC236}">
                <a16:creationId xmlns:a16="http://schemas.microsoft.com/office/drawing/2014/main" id="{689AE6B0-AD02-4E1F-9D61-2FF1F995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768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출처 선택, 금지 표현 검사, 사람 승인과 버전 이력</a:t>
            </a:r>
          </a:p>
        </p:txBody>
      </p:sp>
      <p:sp>
        <p:nvSpPr>
          <p:cNvPr id="24" name="fit-status-3">
            <a:extLst xmlns:a="http://schemas.openxmlformats.org/drawingml/2006/main">
              <a:ext uri="{FF2B5EF4-FFF2-40B4-BE49-F238E27FC236}">
                <a16:creationId xmlns:a16="http://schemas.microsoft.com/office/drawing/2014/main" id="{E36D377A-AA79-45EC-9AFD-4026ED64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149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설계안</a:t>
            </a:r>
          </a:p>
        </p:txBody>
      </p:sp>
      <p:sp>
        <p:nvSpPr>
          <p:cNvPr id="25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3CB5D21A-41A2-4B02-A3D3-EBAF45E5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2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28113432-C32B-4149-866D-000E552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1845472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3">
            <a:extLst xmlns:a="http://schemas.openxmlformats.org/drawingml/2006/main">
              <a:ext uri="{FF2B5EF4-FFF2-40B4-BE49-F238E27FC236}">
                <a16:creationId xmlns:a16="http://schemas.microsoft.com/office/drawing/2014/main" id="{A2D94E46-B209-4972-BD90-8798CB60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WORKING METHOD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8E86332-6BB5-4F3C-B28D-347A3716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기능보다 정책·데이터·예외에서 문제를 찾습니다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A5BE8A23-C58F-4FE2-B159-71384186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hod-lead">
            <a:extLst xmlns:a="http://schemas.openxmlformats.org/drawingml/2006/main">
              <a:ext uri="{FF2B5EF4-FFF2-40B4-BE49-F238E27FC236}">
                <a16:creationId xmlns:a16="http://schemas.microsoft.com/office/drawing/2014/main" id="{E75FFFD8-3959-4D83-8534-60338E33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항상 ‘왜 이 문제를 지금 풀어야 하는가’에서 시작합니다.</a:t>
            </a:r>
          </a:p>
        </p:txBody>
      </p:sp>
      <p:sp>
        <p:nvSpPr>
          <p:cNvPr id="5" name="method-line">
            <a:extLst xmlns:a="http://schemas.openxmlformats.org/drawingml/2006/main">
              <a:ext uri="{FF2B5EF4-FFF2-40B4-BE49-F238E27FC236}">
                <a16:creationId xmlns:a16="http://schemas.microsoft.com/office/drawing/2014/main" id="{B31CE001-74F3-4C50-89CA-29685BE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995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node-0">
            <a:extLst xmlns:a="http://schemas.openxmlformats.org/drawingml/2006/main">
              <a:ext uri="{FF2B5EF4-FFF2-40B4-BE49-F238E27FC236}">
                <a16:creationId xmlns:a16="http://schemas.microsoft.com/office/drawing/2014/main" id="{3D120BB7-516F-4AB3-A6CE-782C9985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num-0">
            <a:extLst xmlns:a="http://schemas.openxmlformats.org/drawingml/2006/main">
              <a:ext uri="{FF2B5EF4-FFF2-40B4-BE49-F238E27FC236}">
                <a16:creationId xmlns:a16="http://schemas.microsoft.com/office/drawing/2014/main" id="{51A2C9F5-AD23-43D0-82A4-74FC25F0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28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method-title-0">
            <a:extLst xmlns:a="http://schemas.openxmlformats.org/drawingml/2006/main">
              <a:ext uri="{FF2B5EF4-FFF2-40B4-BE49-F238E27FC236}">
                <a16:creationId xmlns:a16="http://schemas.microsoft.com/office/drawing/2014/main" id="{70E8FF0C-737A-4E23-8FE2-E59F2CFF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왜 지금인가</a:t>
            </a:r>
          </a:p>
        </p:txBody>
      </p:sp>
      <p:sp>
        <p:nvSpPr>
          <p:cNvPr id="9" name="method-body-0">
            <a:extLst xmlns:a="http://schemas.openxmlformats.org/drawingml/2006/main">
              <a:ext uri="{FF2B5EF4-FFF2-40B4-BE49-F238E27FC236}">
                <a16:creationId xmlns:a16="http://schemas.microsoft.com/office/drawing/2014/main" id="{0E5B1FFD-F8C3-44BA-8161-2B1B86F5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빈도·영향·운영 위험</a:t>
            </a:r>
          </a:p>
        </p:txBody>
      </p:sp>
      <p:sp>
        <p:nvSpPr>
          <p:cNvPr id="10" name="method-node-1">
            <a:extLst xmlns:a="http://schemas.openxmlformats.org/drawingml/2006/main">
              <a:ext uri="{FF2B5EF4-FFF2-40B4-BE49-F238E27FC236}">
                <a16:creationId xmlns:a16="http://schemas.microsoft.com/office/drawing/2014/main" id="{EF1B3180-DB95-446F-835E-78B01FC9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24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hod-num-1">
            <a:extLst xmlns:a="http://schemas.openxmlformats.org/drawingml/2006/main">
              <a:ext uri="{FF2B5EF4-FFF2-40B4-BE49-F238E27FC236}">
                <a16:creationId xmlns:a16="http://schemas.microsoft.com/office/drawing/2014/main" id="{5F4CF7B1-7351-4998-AF7E-D8096ABA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028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47708804-9187-4FEB-90E7-89A9E19C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147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증거를 나눈다</a:t>
            </a:r>
          </a:p>
        </p:txBody>
      </p:sp>
      <p:sp>
        <p:nvSpPr>
          <p:cNvPr id="13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432AB850-AE1C-4734-B711-C76DE3C7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2100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사실·가설·미확인</a:t>
            </a:r>
          </a:p>
        </p:txBody>
      </p:sp>
      <p:sp>
        <p:nvSpPr>
          <p:cNvPr id="14" name="method-node-2">
            <a:extLst xmlns:a="http://schemas.openxmlformats.org/drawingml/2006/main">
              <a:ext uri="{FF2B5EF4-FFF2-40B4-BE49-F238E27FC236}">
                <a16:creationId xmlns:a16="http://schemas.microsoft.com/office/drawing/2014/main" id="{EA325AF2-5BCA-4413-91A1-A3FD1A52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24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hod-num-2">
            <a:extLst xmlns:a="http://schemas.openxmlformats.org/drawingml/2006/main">
              <a:ext uri="{FF2B5EF4-FFF2-40B4-BE49-F238E27FC236}">
                <a16:creationId xmlns:a16="http://schemas.microsoft.com/office/drawing/2014/main" id="{EF46233A-07EC-4E6C-8A62-68E2E07E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B259103A-3B1D-44EF-9BE9-FF36298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범위를 고른다</a:t>
            </a:r>
          </a:p>
        </p:txBody>
      </p:sp>
      <p:sp>
        <p:nvSpPr>
          <p:cNvPr id="17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F1464CE3-CC7A-4359-ADCB-33C0975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100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가치·비용·비범위</a:t>
            </a:r>
          </a:p>
        </p:txBody>
      </p:sp>
      <p:sp>
        <p:nvSpPr>
          <p:cNvPr id="18" name="method-node-3">
            <a:extLst xmlns:a="http://schemas.openxmlformats.org/drawingml/2006/main">
              <a:ext uri="{FF2B5EF4-FFF2-40B4-BE49-F238E27FC236}">
                <a16:creationId xmlns:a16="http://schemas.microsoft.com/office/drawing/2014/main" id="{467B6704-0494-454B-994C-64A8B38E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24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hod-num-3">
            <a:extLst xmlns:a="http://schemas.openxmlformats.org/drawingml/2006/main">
              <a:ext uri="{FF2B5EF4-FFF2-40B4-BE49-F238E27FC236}">
                <a16:creationId xmlns:a16="http://schemas.microsoft.com/office/drawing/2014/main" id="{4F4222F2-18DA-42AF-8C29-C837C7DB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28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method-title-3">
            <a:extLst xmlns:a="http://schemas.openxmlformats.org/drawingml/2006/main">
              <a:ext uri="{FF2B5EF4-FFF2-40B4-BE49-F238E27FC236}">
                <a16:creationId xmlns:a16="http://schemas.microsoft.com/office/drawing/2014/main" id="{280FFA9B-17DE-4F1D-A511-2CF911B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147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실행 언어로 바꾼다</a:t>
            </a:r>
          </a:p>
        </p:txBody>
      </p:sp>
      <p:sp>
        <p:nvSpPr>
          <p:cNvPr id="21" name="method-body-3">
            <a:extLst xmlns:a="http://schemas.openxmlformats.org/drawingml/2006/main">
              <a:ext uri="{FF2B5EF4-FFF2-40B4-BE49-F238E27FC236}">
                <a16:creationId xmlns:a16="http://schemas.microsoft.com/office/drawing/2014/main" id="{9FCFE624-10C5-49CA-BFFC-0593D321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100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정책·흐름·데이터·기준</a:t>
            </a:r>
          </a:p>
        </p:txBody>
      </p:sp>
      <p:sp>
        <p:nvSpPr>
          <p:cNvPr id="22" name="method-node-4">
            <a:extLst xmlns:a="http://schemas.openxmlformats.org/drawingml/2006/main">
              <a:ext uri="{FF2B5EF4-FFF2-40B4-BE49-F238E27FC236}">
                <a16:creationId xmlns:a16="http://schemas.microsoft.com/office/drawing/2014/main" id="{1219EA91-970D-417A-A6C8-DF131340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24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ethod-num-4">
            <a:extLst xmlns:a="http://schemas.openxmlformats.org/drawingml/2006/main">
              <a:ext uri="{FF2B5EF4-FFF2-40B4-BE49-F238E27FC236}">
                <a16:creationId xmlns:a16="http://schemas.microsoft.com/office/drawing/2014/main" id="{065CD1C9-25CB-4929-8349-3404B756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28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4" name="method-title-4">
            <a:extLst xmlns:a="http://schemas.openxmlformats.org/drawingml/2006/main">
              <a:ext uri="{FF2B5EF4-FFF2-40B4-BE49-F238E27FC236}">
                <a16:creationId xmlns:a16="http://schemas.microsoft.com/office/drawing/2014/main" id="{9846938F-92F1-44AC-89A2-0CACB7A9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147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운영에서 다시 본다</a:t>
            </a:r>
          </a:p>
        </p:txBody>
      </p:sp>
      <p:sp>
        <p:nvSpPr>
          <p:cNvPr id="25" name="method-body-4">
            <a:extLst xmlns:a="http://schemas.openxmlformats.org/drawingml/2006/main">
              <a:ext uri="{FF2B5EF4-FFF2-40B4-BE49-F238E27FC236}">
                <a16:creationId xmlns:a16="http://schemas.microsoft.com/office/drawing/2014/main" id="{D0577018-23AD-44AD-A5C3-AE054F9B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100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사용·예외·다음 개선</a:t>
            </a:r>
          </a:p>
        </p:txBody>
      </p:sp>
      <p:sp>
        <p:nvSpPr>
          <p:cNvPr id="26" name="method-close">
            <a:extLst xmlns:a="http://schemas.openxmlformats.org/drawingml/2006/main">
              <a:ext uri="{FF2B5EF4-FFF2-40B4-BE49-F238E27FC236}">
                <a16:creationId xmlns:a16="http://schemas.microsoft.com/office/drawing/2014/main" id="{82964D18-5040-4AD9-B82E-98B82B13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24500"/>
            <a:ext cx="937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5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만들지 않을 것을 정하고, 현장·개발·비즈니스가 같은 기준으로 움직이게 하는 것이 PM의 책임이라고 봅니다.</a:t>
            </a:r>
          </a:p>
        </p:txBody>
      </p:sp>
      <p:sp>
        <p:nvSpPr>
          <p:cNvPr id="27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A28CB65B-E3C7-446A-9720-DB87E550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28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4808B022-76BD-47AA-860C-FEEED770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791057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4">
            <a:extLst xmlns:a="http://schemas.openxmlformats.org/drawingml/2006/main">
              <a:ext uri="{FF2B5EF4-FFF2-40B4-BE49-F238E27FC236}">
                <a16:creationId xmlns:a16="http://schemas.microsoft.com/office/drawing/2014/main" id="{7593F969-9E05-46C8-A0B1-797AF13B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AI WORKFLOW · 1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3E8D783-D83D-4509-BFFE-BC193792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AI 답변보다 결정이 사라지는 비용이 더 컸습니다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27F267E6-FE8C-4ECA-8855-F63C2FE3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i-problem-lead">
            <a:extLst xmlns:a="http://schemas.openxmlformats.org/drawingml/2006/main">
              <a:ext uri="{FF2B5EF4-FFF2-40B4-BE49-F238E27FC236}">
                <a16:creationId xmlns:a16="http://schemas.microsoft.com/office/drawing/2014/main" id="{308C99AD-BD41-439B-AEC5-5AEE51D0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여러 세션과 프로젝트를 오가자 빠른 생성보다 세 가지 실패가 반복됐습니다.</a:t>
            </a:r>
          </a:p>
        </p:txBody>
      </p:sp>
      <p:sp>
        <p:nvSpPr>
          <p:cNvPr id="5" name="ai-problem-1">
            <a:extLst xmlns:a="http://schemas.openxmlformats.org/drawingml/2006/main">
              <a:ext uri="{FF2B5EF4-FFF2-40B4-BE49-F238E27FC236}">
                <a16:creationId xmlns:a16="http://schemas.microsoft.com/office/drawing/2014/main" id="{A9938689-8502-480D-A722-1A528801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기억 유실</a:t>
            </a:r>
            <a:r>
              <a:rPr>
                <a:solidFill>
                  <a:srgbClr val="111111"/>
                </a:solidFill>
              </a:rPr>
              <a:t> — 확정 사실과 사용자 지침을 다시 조사</a:t>
            </a:r>
          </a:p>
        </p:txBody>
      </p:sp>
      <p:sp>
        <p:nvSpPr>
          <p:cNvPr id="6" name="ai-problem-2">
            <a:extLst xmlns:a="http://schemas.openxmlformats.org/drawingml/2006/main">
              <a:ext uri="{FF2B5EF4-FFF2-40B4-BE49-F238E27FC236}">
                <a16:creationId xmlns:a16="http://schemas.microsoft.com/office/drawing/2014/main" id="{52A22A29-E6FE-49C9-8517-9B67B1E8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정본 충돌</a:t>
            </a:r>
            <a:r>
              <a:rPr>
                <a:solidFill>
                  <a:srgbClr val="111111"/>
                </a:solidFill>
              </a:rPr>
              <a:t> — 같은 사실이 문서마다 다른 상태로 남음</a:t>
            </a:r>
          </a:p>
        </p:txBody>
      </p:sp>
      <p:sp>
        <p:nvSpPr>
          <p:cNvPr id="7" name="ai-problem-3">
            <a:extLst xmlns:a="http://schemas.openxmlformats.org/drawingml/2006/main">
              <a:ext uri="{FF2B5EF4-FFF2-40B4-BE49-F238E27FC236}">
                <a16:creationId xmlns:a16="http://schemas.microsoft.com/office/drawing/2014/main" id="{E0A88C52-7C16-45C6-9F41-C54A152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검토 누락</a:t>
            </a:r>
            <a:r>
              <a:rPr>
                <a:solidFill>
                  <a:srgbClr val="111111"/>
                </a:solidFill>
              </a:rPr>
              <a:t> — 그럴듯한 결과가 근거 확인 없이 확정됨</a:t>
            </a:r>
          </a:p>
        </p:txBody>
      </p:sp>
      <p:sp>
        <p:nvSpPr>
          <p:cNvPr id="8" name="ai-code-panel">
            <a:extLst xmlns:a="http://schemas.openxmlformats.org/drawingml/2006/main">
              <a:ext uri="{FF2B5EF4-FFF2-40B4-BE49-F238E27FC236}">
                <a16:creationId xmlns:a16="http://schemas.microsoft.com/office/drawing/2014/main" id="{632492B1-5F74-49AE-9557-7BCDC8E8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2959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i-code">
            <a:extLst xmlns:a="http://schemas.openxmlformats.org/drawingml/2006/main">
              <a:ext uri="{FF2B5EF4-FFF2-40B4-BE49-F238E27FC236}">
                <a16:creationId xmlns:a16="http://schemas.microsoft.com/office/drawing/2014/main" id="{E3AA82E7-7352-4644-B2FC-4A86AA5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AGENTS.md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control/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00_project_status.md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08_decision_log.md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09_validation_board.md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personas/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inbox → research → state →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dashboard/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정본으로부터 자동 생성</a:t>
            </a:r>
          </a:p>
        </p:txBody>
      </p:sp>
      <p:sp>
        <p:nvSpPr>
          <p:cNvPr id="10" name="ai-problem-close">
            <a:extLst xmlns:a="http://schemas.openxmlformats.org/drawingml/2006/main">
              <a:ext uri="{FF2B5EF4-FFF2-40B4-BE49-F238E27FC236}">
                <a16:creationId xmlns:a16="http://schemas.microsoft.com/office/drawing/2014/main" id="{F6E1081A-2672-4002-BF6B-5F5DBD11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대응: Git 정본, 역할 분리, 결정·검증 기록, 사람이 승인한 상태만 다음 단계로 전달</a:t>
            </a:r>
          </a:p>
        </p:txBody>
      </p:sp>
      <p:sp>
        <p:nvSpPr>
          <p:cNvPr id="11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4D0F2E3C-0ED0-480B-96BB-F2A28793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12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47E4C23F-105C-4089-9A13-F6BFA2F7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04 / 14</a:t>
            </a:r>
          </a:p>
        </p:txBody>
      </p:sp>
    </p:spTree>
    <p:extLst>
      <p:ext uri="{BB962C8B-B14F-4D97-AF65-F5344CB8AC3E}">
        <p14:creationId xmlns:p14="http://schemas.microsoft.com/office/powerpoint/2010/main" val="1447814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5">
            <a:extLst xmlns:a="http://schemas.openxmlformats.org/drawingml/2006/main">
              <a:ext uri="{FF2B5EF4-FFF2-40B4-BE49-F238E27FC236}">
                <a16:creationId xmlns:a16="http://schemas.microsoft.com/office/drawing/2014/main" id="{9DE9BE8E-635A-40BC-AE58-32AAE40F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AI WORKFLOW · 2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2DCA090-7695-4DA4-91B3-FF7B17D0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역할·정본·검증을 분리한 AI 협업 하네스</a:t>
            </a:r>
          </a:p>
        </p:txBody>
      </p:sp>
      <p:sp>
        <p:nvSpPr>
          <p:cNvPr id="3" name="top-rule-5">
            <a:extLst xmlns:a="http://schemas.openxmlformats.org/drawingml/2006/main">
              <a:ext uri="{FF2B5EF4-FFF2-40B4-BE49-F238E27FC236}">
                <a16:creationId xmlns:a16="http://schemas.microsoft.com/office/drawing/2014/main" id="{676AED53-83ED-4710-8214-0DB5C81F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arness-sub">
            <a:extLst xmlns:a="http://schemas.openxmlformats.org/drawingml/2006/main">
              <a:ext uri="{FF2B5EF4-FFF2-40B4-BE49-F238E27FC236}">
                <a16:creationId xmlns:a16="http://schemas.microsoft.com/office/drawing/2014/main" id="{90567298-B5B6-40CA-8118-1710675E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7개 사업 역할의 맥락은 유지하고, AI 역할은 조사·검토·정리로 재사용합니다.</a:t>
            </a:r>
          </a:p>
        </p:txBody>
      </p:sp>
      <p:sp>
        <p:nvSpPr>
          <p:cNvPr id="5" name="harness-flow-line">
            <a:extLst xmlns:a="http://schemas.openxmlformats.org/drawingml/2006/main">
              <a:ext uri="{FF2B5EF4-FFF2-40B4-BE49-F238E27FC236}">
                <a16:creationId xmlns:a16="http://schemas.microsoft.com/office/drawing/2014/main" id="{D6D2AB83-6707-414A-B7EC-47652A37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963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arness-node-0">
            <a:extLst xmlns:a="http://schemas.openxmlformats.org/drawingml/2006/main">
              <a:ext uri="{FF2B5EF4-FFF2-40B4-BE49-F238E27FC236}">
                <a16:creationId xmlns:a16="http://schemas.microsoft.com/office/drawing/2014/main" id="{28C1AB66-649B-4BDE-B9A0-5826AB5E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harness-node-title-0">
            <a:extLst xmlns:a="http://schemas.openxmlformats.org/drawingml/2006/main">
              <a:ext uri="{FF2B5EF4-FFF2-40B4-BE49-F238E27FC236}">
                <a16:creationId xmlns:a16="http://schemas.microsoft.com/office/drawing/2014/main" id="{B91FB033-E8CA-45EE-AC61-C90DE9F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8" name="harness-node-body-0">
            <a:extLst xmlns:a="http://schemas.openxmlformats.org/drawingml/2006/main">
              <a:ext uri="{FF2B5EF4-FFF2-40B4-BE49-F238E27FC236}">
                <a16:creationId xmlns:a16="http://schemas.microsoft.com/office/drawing/2014/main" id="{CA09A239-228F-4E61-B5D9-3320D0AE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909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요청·정본·현황</a:t>
            </a:r>
          </a:p>
        </p:txBody>
      </p:sp>
      <p:sp>
        <p:nvSpPr>
          <p:cNvPr id="9" name="harness-node-1">
            <a:extLst xmlns:a="http://schemas.openxmlformats.org/drawingml/2006/main">
              <a:ext uri="{FF2B5EF4-FFF2-40B4-BE49-F238E27FC236}">
                <a16:creationId xmlns:a16="http://schemas.microsoft.com/office/drawing/2014/main" id="{D8CCF667-0687-456D-9C0F-45111B38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8130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harness-node-title-1">
            <a:extLst xmlns:a="http://schemas.openxmlformats.org/drawingml/2006/main">
              <a:ext uri="{FF2B5EF4-FFF2-40B4-BE49-F238E27FC236}">
                <a16:creationId xmlns:a16="http://schemas.microsoft.com/office/drawing/2014/main" id="{084088DC-2F9B-418B-9A22-3974F34D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908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조사</a:t>
            </a:r>
          </a:p>
        </p:txBody>
      </p:sp>
      <p:sp>
        <p:nvSpPr>
          <p:cNvPr id="11" name="harness-node-body-1">
            <a:extLst xmlns:a="http://schemas.openxmlformats.org/drawingml/2006/main">
              <a:ext uri="{FF2B5EF4-FFF2-40B4-BE49-F238E27FC236}">
                <a16:creationId xmlns:a16="http://schemas.microsoft.com/office/drawing/2014/main" id="{E234211D-96F4-4CD0-A720-D1E6552D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3909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최신 근거·사실</a:t>
            </a:r>
          </a:p>
        </p:txBody>
      </p:sp>
      <p:sp>
        <p:nvSpPr>
          <p:cNvPr id="12" name="harness-node-2">
            <a:extLst xmlns:a="http://schemas.openxmlformats.org/drawingml/2006/main">
              <a:ext uri="{FF2B5EF4-FFF2-40B4-BE49-F238E27FC236}">
                <a16:creationId xmlns:a16="http://schemas.microsoft.com/office/drawing/2014/main" id="{5F35DBBE-B285-4A2C-A9A3-2B45E955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8130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harness-node-title-2">
            <a:extLst xmlns:a="http://schemas.openxmlformats.org/drawingml/2006/main">
              <a:ext uri="{FF2B5EF4-FFF2-40B4-BE49-F238E27FC236}">
                <a16:creationId xmlns:a16="http://schemas.microsoft.com/office/drawing/2014/main" id="{5B1BFF57-389E-41B6-B5DC-3359BFDA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908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sp>
        <p:nvSpPr>
          <p:cNvPr id="14" name="harness-node-body-2">
            <a:extLst xmlns:a="http://schemas.openxmlformats.org/drawingml/2006/main">
              <a:ext uri="{FF2B5EF4-FFF2-40B4-BE49-F238E27FC236}">
                <a16:creationId xmlns:a16="http://schemas.microsoft.com/office/drawing/2014/main" id="{A91E599F-89DD-4834-BB0F-FB42F784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909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모순·위험·누락</a:t>
            </a:r>
          </a:p>
        </p:txBody>
      </p:sp>
      <p:sp>
        <p:nvSpPr>
          <p:cNvPr id="15" name="harness-node-3">
            <a:extLst xmlns:a="http://schemas.openxmlformats.org/drawingml/2006/main">
              <a:ext uri="{FF2B5EF4-FFF2-40B4-BE49-F238E27FC236}">
                <a16:creationId xmlns:a16="http://schemas.microsoft.com/office/drawing/2014/main" id="{F325B121-527E-4B6D-B4CB-1B4A3C43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8130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harness-node-title-3">
            <a:extLst xmlns:a="http://schemas.openxmlformats.org/drawingml/2006/main">
              <a:ext uri="{FF2B5EF4-FFF2-40B4-BE49-F238E27FC236}">
                <a16:creationId xmlns:a16="http://schemas.microsoft.com/office/drawing/2014/main" id="{F26DD2B9-2785-4D7B-8774-5471FA9F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908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정리</a:t>
            </a:r>
          </a:p>
        </p:txBody>
      </p:sp>
      <p:sp>
        <p:nvSpPr>
          <p:cNvPr id="17" name="harness-node-body-3">
            <a:extLst xmlns:a="http://schemas.openxmlformats.org/drawingml/2006/main">
              <a:ext uri="{FF2B5EF4-FFF2-40B4-BE49-F238E27FC236}">
                <a16:creationId xmlns:a16="http://schemas.microsoft.com/office/drawing/2014/main" id="{2C05AD14-92ED-4842-9DC7-E79C839F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909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결정·상태 반영</a:t>
            </a:r>
          </a:p>
        </p:txBody>
      </p:sp>
      <p:sp>
        <p:nvSpPr>
          <p:cNvPr id="18" name="harness-node-4">
            <a:extLst xmlns:a="http://schemas.openxmlformats.org/drawingml/2006/main">
              <a:ext uri="{FF2B5EF4-FFF2-40B4-BE49-F238E27FC236}">
                <a16:creationId xmlns:a16="http://schemas.microsoft.com/office/drawing/2014/main" id="{209D1C35-513F-44E9-BB36-6F1923C7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78130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harness-node-title-4">
            <a:extLst xmlns:a="http://schemas.openxmlformats.org/drawingml/2006/main">
              <a:ext uri="{FF2B5EF4-FFF2-40B4-BE49-F238E27FC236}">
                <a16:creationId xmlns:a16="http://schemas.microsoft.com/office/drawing/2014/main" id="{1C272AB3-0431-42FA-A56F-982C05D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908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 승인</a:t>
            </a:r>
          </a:p>
        </p:txBody>
      </p:sp>
      <p:sp>
        <p:nvSpPr>
          <p:cNvPr id="20" name="harness-node-body-4">
            <a:extLst xmlns:a="http://schemas.openxmlformats.org/drawingml/2006/main">
              <a:ext uri="{FF2B5EF4-FFF2-40B4-BE49-F238E27FC236}">
                <a16:creationId xmlns:a16="http://schemas.microsoft.com/office/drawing/2014/main" id="{0981A1E2-BA66-4F8C-9D61-4DB53BEB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909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채택·수정·중단</a:t>
            </a:r>
          </a:p>
        </p:txBody>
      </p:sp>
      <p:sp>
        <p:nvSpPr>
          <p:cNvPr id="21" name="harness-stat-0">
            <a:extLst xmlns:a="http://schemas.openxmlformats.org/drawingml/2006/main">
              <a:ext uri="{FF2B5EF4-FFF2-40B4-BE49-F238E27FC236}">
                <a16:creationId xmlns:a16="http://schemas.microsoft.com/office/drawing/2014/main" id="{F67E2E63-E19B-4EE0-B66F-6CC82B30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291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69</a:t>
            </a:r>
          </a:p>
        </p:txBody>
      </p:sp>
      <p:sp>
        <p:nvSpPr>
          <p:cNvPr id="22" name="harness-stat-label-0">
            <a:extLst xmlns:a="http://schemas.openxmlformats.org/drawingml/2006/main">
              <a:ext uri="{FF2B5EF4-FFF2-40B4-BE49-F238E27FC236}">
                <a16:creationId xmlns:a16="http://schemas.microsoft.com/office/drawing/2014/main" id="{F605D4A8-22FC-4BE6-9DB0-2ACA262D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정본 소스 문서</a:t>
            </a:r>
          </a:p>
        </p:txBody>
      </p:sp>
      <p:sp>
        <p:nvSpPr>
          <p:cNvPr id="23" name="harness-stat-1">
            <a:extLst xmlns:a="http://schemas.openxmlformats.org/drawingml/2006/main">
              <a:ext uri="{FF2B5EF4-FFF2-40B4-BE49-F238E27FC236}">
                <a16:creationId xmlns:a16="http://schemas.microsoft.com/office/drawing/2014/main" id="{6157250A-D487-4E58-9B1C-675A47F6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172</a:t>
            </a:r>
          </a:p>
        </p:txBody>
      </p:sp>
      <p:sp>
        <p:nvSpPr>
          <p:cNvPr id="24" name="harness-stat-label-1">
            <a:extLst xmlns:a="http://schemas.openxmlformats.org/drawingml/2006/main">
              <a:ext uri="{FF2B5EF4-FFF2-40B4-BE49-F238E27FC236}">
                <a16:creationId xmlns:a16="http://schemas.microsoft.com/office/drawing/2014/main" id="{F306DB4E-B818-400B-8D79-E77E0B5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19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정규화 레코드</a:t>
            </a:r>
          </a:p>
        </p:txBody>
      </p:sp>
      <p:sp>
        <p:nvSpPr>
          <p:cNvPr id="25" name="harness-stat-2">
            <a:extLst xmlns:a="http://schemas.openxmlformats.org/drawingml/2006/main">
              <a:ext uri="{FF2B5EF4-FFF2-40B4-BE49-F238E27FC236}">
                <a16:creationId xmlns:a16="http://schemas.microsoft.com/office/drawing/2014/main" id="{5DA76D8F-659E-4149-B1BF-9B1856C6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291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89</a:t>
            </a:r>
          </a:p>
        </p:txBody>
      </p:sp>
      <p:sp>
        <p:nvSpPr>
          <p:cNvPr id="26" name="harness-stat-label-2">
            <a:extLst xmlns:a="http://schemas.openxmlformats.org/drawingml/2006/main">
              <a:ext uri="{FF2B5EF4-FFF2-40B4-BE49-F238E27FC236}">
                <a16:creationId xmlns:a16="http://schemas.microsoft.com/office/drawing/2014/main" id="{7123EE7A-B530-4004-9661-10BD70A6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문서 간 관계</a:t>
            </a:r>
          </a:p>
        </p:txBody>
      </p:sp>
      <p:sp>
        <p:nvSpPr>
          <p:cNvPr id="27" name="harness-footnote">
            <a:extLst xmlns:a="http://schemas.openxmlformats.org/drawingml/2006/main">
              <a:ext uri="{FF2B5EF4-FFF2-40B4-BE49-F238E27FC236}">
                <a16:creationId xmlns:a16="http://schemas.microsoft.com/office/drawing/2014/main" id="{EDB90731-43E8-439B-9338-45024C72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2026-08-16 생성 manifest 기준. 수치는 작업 규모이며 성과 개선률이 아닙니다.</a:t>
            </a:r>
          </a:p>
        </p:txBody>
      </p:sp>
      <p:sp>
        <p:nvSpPr>
          <p:cNvPr id="2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8C1AB426-78B0-4951-9445-24A634DD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29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041CF7D-C45E-4B8A-BA8C-5C46CE37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194281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6">
            <a:extLst xmlns:a="http://schemas.openxmlformats.org/drawingml/2006/main">
              <a:ext uri="{FF2B5EF4-FFF2-40B4-BE49-F238E27FC236}">
                <a16:creationId xmlns:a16="http://schemas.microsoft.com/office/drawing/2014/main" id="{E4E23106-E9A4-4D17-8CDA-22819B6D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AI WORKFLOW · 3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CE0212C-F9D0-4ED3-97E8-57CC1D08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실패를 역할과 검증 규칙으로 바꿨습니다</a:t>
            </a:r>
          </a:p>
        </p:txBody>
      </p:sp>
      <p:sp>
        <p:nvSpPr>
          <p:cNvPr id="3" name="top-rule-6">
            <a:extLst xmlns:a="http://schemas.openxmlformats.org/drawingml/2006/main">
              <a:ext uri="{FF2B5EF4-FFF2-40B4-BE49-F238E27FC236}">
                <a16:creationId xmlns:a16="http://schemas.microsoft.com/office/drawing/2014/main" id="{58A8DAC9-CA56-4F97-AA78-2821DAD5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teration-lead">
            <a:extLst xmlns:a="http://schemas.openxmlformats.org/drawingml/2006/main">
              <a:ext uri="{FF2B5EF4-FFF2-40B4-BE49-F238E27FC236}">
                <a16:creationId xmlns:a16="http://schemas.microsoft.com/office/drawing/2014/main" id="{D04394B1-8E38-40E0-B25E-0E7F110A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구조가 복잡해질 때 에이전트를 더 만드는 대신 실패 원인을 결정 이력으로 남기고 재설계했습니다.</a:t>
            </a:r>
          </a:p>
        </p:txBody>
      </p:sp>
      <p:sp>
        <p:nvSpPr>
          <p:cNvPr id="5" name="iteration-line">
            <a:extLst xmlns:a="http://schemas.openxmlformats.org/drawingml/2006/main">
              <a:ext uri="{FF2B5EF4-FFF2-40B4-BE49-F238E27FC236}">
                <a16:creationId xmlns:a16="http://schemas.microsoft.com/office/drawing/2014/main" id="{B512E8E2-4397-45D7-98BF-97C8AA03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05175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teration-date-0">
            <a:extLst xmlns:a="http://schemas.openxmlformats.org/drawingml/2006/main">
              <a:ext uri="{FF2B5EF4-FFF2-40B4-BE49-F238E27FC236}">
                <a16:creationId xmlns:a16="http://schemas.microsoft.com/office/drawing/2014/main" id="{E7221D3A-4BEF-4ED1-B7CA-A89D1E16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2026-08-13</a:t>
            </a:r>
          </a:p>
        </p:txBody>
      </p:sp>
      <p:sp>
        <p:nvSpPr>
          <p:cNvPr id="7" name="iteration-dot-0">
            <a:extLst xmlns:a="http://schemas.openxmlformats.org/drawingml/2006/main">
              <a:ext uri="{FF2B5EF4-FFF2-40B4-BE49-F238E27FC236}">
                <a16:creationId xmlns:a16="http://schemas.microsoft.com/office/drawing/2014/main" id="{08BB05F1-0673-4FFF-B895-70C838DF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teration-code-0">
            <a:extLst xmlns:a="http://schemas.openxmlformats.org/drawingml/2006/main">
              <a:ext uri="{FF2B5EF4-FFF2-40B4-BE49-F238E27FC236}">
                <a16:creationId xmlns:a16="http://schemas.microsoft.com/office/drawing/2014/main" id="{E2CA6D43-7D18-40EB-A63E-5BD69020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D-011</a:t>
            </a:r>
          </a:p>
        </p:txBody>
      </p:sp>
      <p:sp>
        <p:nvSpPr>
          <p:cNvPr id="9" name="iteration-title-0">
            <a:extLst xmlns:a="http://schemas.openxmlformats.org/drawingml/2006/main">
              <a:ext uri="{FF2B5EF4-FFF2-40B4-BE49-F238E27FC236}">
                <a16:creationId xmlns:a16="http://schemas.microsoft.com/office/drawing/2014/main" id="{E6E8A753-CE79-4191-9A98-C9401963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단일 화면</a:t>
            </a:r>
          </a:p>
        </p:txBody>
      </p:sp>
      <p:sp>
        <p:nvSpPr>
          <p:cNvPr id="10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29900DE9-A7F6-4CC9-AAC0-3CC587D0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한 화면이 길어져 판단 영역이 섞임</a:t>
            </a:r>
          </a:p>
        </p:txBody>
      </p:sp>
      <p:sp>
        <p:nvSpPr>
          <p:cNvPr id="11" name="iteration-date-1">
            <a:extLst xmlns:a="http://schemas.openxmlformats.org/drawingml/2006/main">
              <a:ext uri="{FF2B5EF4-FFF2-40B4-BE49-F238E27FC236}">
                <a16:creationId xmlns:a16="http://schemas.microsoft.com/office/drawing/2014/main" id="{C17D7E44-E996-4F63-93B1-84475031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52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2026-08-14</a:t>
            </a:r>
          </a:p>
        </p:txBody>
      </p:sp>
      <p:sp>
        <p:nvSpPr>
          <p:cNvPr id="12" name="iteration-dot-1">
            <a:extLst xmlns:a="http://schemas.openxmlformats.org/drawingml/2006/main">
              <a:ext uri="{FF2B5EF4-FFF2-40B4-BE49-F238E27FC236}">
                <a16:creationId xmlns:a16="http://schemas.microsoft.com/office/drawing/2014/main" id="{3ACF9A75-74E1-4368-B332-2810449A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teration-code-1">
            <a:extLst xmlns:a="http://schemas.openxmlformats.org/drawingml/2006/main">
              <a:ext uri="{FF2B5EF4-FFF2-40B4-BE49-F238E27FC236}">
                <a16:creationId xmlns:a16="http://schemas.microsoft.com/office/drawing/2014/main" id="{336224E0-6B0E-4F70-8F86-F983DA0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D-014</a:t>
            </a:r>
          </a:p>
        </p:txBody>
      </p:sp>
      <p:sp>
        <p:nvSpPr>
          <p:cNvPr id="14" name="iteration-title-1">
            <a:extLst xmlns:a="http://schemas.openxmlformats.org/drawingml/2006/main">
              <a:ext uri="{FF2B5EF4-FFF2-40B4-BE49-F238E27FC236}">
                <a16:creationId xmlns:a16="http://schemas.microsoft.com/office/drawing/2014/main" id="{C52672AE-4559-4C26-A6E4-CBA2494B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290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연결형 화면</a:t>
            </a:r>
          </a:p>
        </p:txBody>
      </p:sp>
      <p:sp>
        <p:nvSpPr>
          <p:cNvPr id="15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3F8AE0BA-8BE0-4375-807C-2094D603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14850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개요·제품·운영·결정을 분리</a:t>
            </a:r>
          </a:p>
        </p:txBody>
      </p:sp>
      <p:sp>
        <p:nvSpPr>
          <p:cNvPr id="16" name="iteration-date-2">
            <a:extLst xmlns:a="http://schemas.openxmlformats.org/drawingml/2006/main">
              <a:ext uri="{FF2B5EF4-FFF2-40B4-BE49-F238E27FC236}">
                <a16:creationId xmlns:a16="http://schemas.microsoft.com/office/drawing/2014/main" id="{48C39922-63EC-4035-AFD3-5C9C2509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17" name="iteration-dot-2">
            <a:extLst xmlns:a="http://schemas.openxmlformats.org/drawingml/2006/main">
              <a:ext uri="{FF2B5EF4-FFF2-40B4-BE49-F238E27FC236}">
                <a16:creationId xmlns:a16="http://schemas.microsoft.com/office/drawing/2014/main" id="{B3A9FBA0-1E16-4FCB-B058-AAB7F6D2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623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teration-code-2">
            <a:extLst xmlns:a="http://schemas.openxmlformats.org/drawingml/2006/main">
              <a:ext uri="{FF2B5EF4-FFF2-40B4-BE49-F238E27FC236}">
                <a16:creationId xmlns:a16="http://schemas.microsoft.com/office/drawing/2014/main" id="{A68A414D-4958-4B79-AD25-423BAF3D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D-016</a:t>
            </a:r>
          </a:p>
        </p:txBody>
      </p:sp>
      <p:sp>
        <p:nvSpPr>
          <p:cNvPr id="19" name="iteration-title-2">
            <a:extLst xmlns:a="http://schemas.openxmlformats.org/drawingml/2006/main">
              <a:ext uri="{FF2B5EF4-FFF2-40B4-BE49-F238E27FC236}">
                <a16:creationId xmlns:a16="http://schemas.microsoft.com/office/drawing/2014/main" id="{B8849C07-C103-4E8F-B9D9-B1AB8665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290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정적 카탈로그</a:t>
            </a:r>
          </a:p>
        </p:txBody>
      </p:sp>
      <p:sp>
        <p:nvSpPr>
          <p:cNvPr id="20" name="iteration-body-2">
            <a:extLst xmlns:a="http://schemas.openxmlformats.org/drawingml/2006/main">
              <a:ext uri="{FF2B5EF4-FFF2-40B4-BE49-F238E27FC236}">
                <a16:creationId xmlns:a16="http://schemas.microsoft.com/office/drawing/2014/main" id="{DCB1CFAF-5969-4DE7-B69A-95A10BDA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정본 해시와 상세 레코드로 추적</a:t>
            </a:r>
          </a:p>
        </p:txBody>
      </p:sp>
      <p:sp>
        <p:nvSpPr>
          <p:cNvPr id="21" name="iteration-date-3">
            <a:extLst xmlns:a="http://schemas.openxmlformats.org/drawingml/2006/main">
              <a:ext uri="{FF2B5EF4-FFF2-40B4-BE49-F238E27FC236}">
                <a16:creationId xmlns:a16="http://schemas.microsoft.com/office/drawing/2014/main" id="{2D78A2FB-4564-45D4-B131-59F11BCF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2026-08-27</a:t>
            </a:r>
          </a:p>
        </p:txBody>
      </p:sp>
      <p:sp>
        <p:nvSpPr>
          <p:cNvPr id="22" name="iteration-dot-3">
            <a:extLst xmlns:a="http://schemas.openxmlformats.org/drawingml/2006/main">
              <a:ext uri="{FF2B5EF4-FFF2-40B4-BE49-F238E27FC236}">
                <a16:creationId xmlns:a16="http://schemas.microsoft.com/office/drawing/2014/main" id="{97BBB005-D3F5-4C47-9748-812A06C8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teration-code-3">
            <a:extLst xmlns:a="http://schemas.openxmlformats.org/drawingml/2006/main">
              <a:ext uri="{FF2B5EF4-FFF2-40B4-BE49-F238E27FC236}">
                <a16:creationId xmlns:a16="http://schemas.microsoft.com/office/drawing/2014/main" id="{D739E64D-6218-40A9-968C-7913A93D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D-017</a:t>
            </a:r>
          </a:p>
        </p:txBody>
      </p:sp>
      <p:sp>
        <p:nvSpPr>
          <p:cNvPr id="24" name="iteration-title-3">
            <a:extLst xmlns:a="http://schemas.openxmlformats.org/drawingml/2006/main">
              <a:ext uri="{FF2B5EF4-FFF2-40B4-BE49-F238E27FC236}">
                <a16:creationId xmlns:a16="http://schemas.microsoft.com/office/drawing/2014/main" id="{0285B3EE-CDAF-4AEA-A120-92EABD45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290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역할 재설계</a:t>
            </a:r>
          </a:p>
        </p:txBody>
      </p:sp>
      <p:sp>
        <p:nvSpPr>
          <p:cNvPr id="25" name="iteration-body-3">
            <a:extLst xmlns:a="http://schemas.openxmlformats.org/drawingml/2006/main">
              <a:ext uri="{FF2B5EF4-FFF2-40B4-BE49-F238E27FC236}">
                <a16:creationId xmlns:a16="http://schemas.microsoft.com/office/drawing/2014/main" id="{5ED4A70A-E60C-4ACB-8D98-C74BD2EE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14850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7개 전용 에이전트 대신 3종 역할 유지</a:t>
            </a:r>
          </a:p>
        </p:txBody>
      </p:sp>
      <p:sp>
        <p:nvSpPr>
          <p:cNvPr id="26" name="iteration-outcome">
            <a:extLst xmlns:a="http://schemas.openxmlformats.org/drawingml/2006/main">
              <a:ext uri="{FF2B5EF4-FFF2-40B4-BE49-F238E27FC236}">
                <a16:creationId xmlns:a16="http://schemas.microsoft.com/office/drawing/2014/main" id="{693FC2CD-B3E1-4E60-A3C3-151F2DA5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teration-outcome-text">
            <a:extLst xmlns:a="http://schemas.openxmlformats.org/drawingml/2006/main">
              <a:ext uri="{FF2B5EF4-FFF2-40B4-BE49-F238E27FC236}">
                <a16:creationId xmlns:a16="http://schemas.microsoft.com/office/drawing/2014/main" id="{8420B2F9-8F2F-4E70-B181-41A0E068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10515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결과: 역할 이름과 책임을 일치시키고, 정본·검증·사람 승인을 분리한 현재 구조로 정정</a:t>
            </a:r>
          </a:p>
        </p:txBody>
      </p:sp>
      <p:sp>
        <p:nvSpPr>
          <p:cNvPr id="2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3B37A657-790B-4BA9-A11A-8955BE0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29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42DAD465-79DD-4138-8353-0C1C8090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06 / 14</a:t>
            </a:r>
          </a:p>
        </p:txBody>
      </p:sp>
    </p:spTree>
    <p:extLst>
      <p:ext uri="{BB962C8B-B14F-4D97-AF65-F5344CB8AC3E}">
        <p14:creationId xmlns:p14="http://schemas.microsoft.com/office/powerpoint/2010/main" val="1928321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7">
            <a:extLst xmlns:a="http://schemas.openxmlformats.org/drawingml/2006/main">
              <a:ext uri="{FF2B5EF4-FFF2-40B4-BE49-F238E27FC236}">
                <a16:creationId xmlns:a16="http://schemas.microsoft.com/office/drawing/2014/main" id="{A8ABCAE4-D5EB-41AA-917D-AB0D9125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WEB·MOBILE UX · 1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6576171-1B04-4A9D-852A-4023158F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흩어진 주문 업무를 하나의 서비스 흐름으로 옮겼습니다</a:t>
            </a:r>
          </a:p>
        </p:txBody>
      </p:sp>
      <p:sp>
        <p:nvSpPr>
          <p:cNvPr id="3" name="top-rule-7">
            <a:extLst xmlns:a="http://schemas.openxmlformats.org/drawingml/2006/main">
              <a:ext uri="{FF2B5EF4-FFF2-40B4-BE49-F238E27FC236}">
                <a16:creationId xmlns:a16="http://schemas.microsoft.com/office/drawing/2014/main" id="{30B0CB1D-AAC5-438B-96CE-03DB3359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ostpartum-context">
            <a:extLst xmlns:a="http://schemas.openxmlformats.org/drawingml/2006/main">
              <a:ext uri="{FF2B5EF4-FFF2-40B4-BE49-F238E27FC236}">
                <a16:creationId xmlns:a16="http://schemas.microsoft.com/office/drawing/2014/main" id="{812AFF8D-3374-4CFB-9362-C035895E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산후조리원 사업자 전용 회원제 커머스</a:t>
            </a:r>
          </a:p>
        </p:txBody>
      </p:sp>
      <p:sp>
        <p:nvSpPr>
          <p:cNvPr id="5" name="postpartum-problem">
            <a:extLst xmlns:a="http://schemas.openxmlformats.org/drawingml/2006/main">
              <a:ext uri="{FF2B5EF4-FFF2-40B4-BE49-F238E27FC236}">
                <a16:creationId xmlns:a16="http://schemas.microsoft.com/office/drawing/2014/main" id="{0BDB76D7-25A3-43C5-AFEC-EAAF9AEB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381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Google 설문과 Excel에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주문·입금·출고·정산이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분리돼 있었습니다.</a:t>
            </a:r>
          </a:p>
        </p:txBody>
      </p:sp>
      <p:sp>
        <p:nvSpPr>
          <p:cNvPr id="6" name="postpartum-b1">
            <a:extLst xmlns:a="http://schemas.openxmlformats.org/drawingml/2006/main">
              <a:ext uri="{FF2B5EF4-FFF2-40B4-BE49-F238E27FC236}">
                <a16:creationId xmlns:a16="http://schemas.microsoft.com/office/drawing/2014/main" id="{5E836C29-3B05-45DA-9548-BBFD5B1A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문제</a:t>
            </a:r>
            <a:r>
              <a:rPr>
                <a:solidFill>
                  <a:srgbClr val="111111"/>
                </a:solidFill>
              </a:rPr>
              <a:t> — 사람의 기억으로 계정·가격·결제 예외 처리</a:t>
            </a:r>
          </a:p>
        </p:txBody>
      </p:sp>
      <p:sp>
        <p:nvSpPr>
          <p:cNvPr id="7" name="postpartum-b2">
            <a:extLst xmlns:a="http://schemas.openxmlformats.org/drawingml/2006/main">
              <a:ext uri="{FF2B5EF4-FFF2-40B4-BE49-F238E27FC236}">
                <a16:creationId xmlns:a16="http://schemas.microsoft.com/office/drawing/2014/main" id="{B963F00E-31E6-49BE-A62D-9E0883AB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목표</a:t>
            </a:r>
            <a:r>
              <a:rPr>
                <a:solidFill>
                  <a:srgbClr val="111111"/>
                </a:solidFill>
              </a:rPr>
              <a:t> — 주문 단계에서 정책을 시스템이 강제</a:t>
            </a:r>
          </a:p>
        </p:txBody>
      </p:sp>
      <p:sp>
        <p:nvSpPr>
          <p:cNvPr id="8" name="postpartum-b3">
            <a:extLst xmlns:a="http://schemas.openxmlformats.org/drawingml/2006/main">
              <a:ext uri="{FF2B5EF4-FFF2-40B4-BE49-F238E27FC236}">
                <a16:creationId xmlns:a16="http://schemas.microsoft.com/office/drawing/2014/main" id="{C8388CD0-AB55-45DD-AE3E-CA88FD84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범위</a:t>
            </a:r>
            <a:r>
              <a:rPr>
                <a:solidFill>
                  <a:srgbClr val="111111"/>
                </a:solidFill>
              </a:rPr>
              <a:t> — 상품·결제·권한·주문·정산 흐름</a:t>
            </a:r>
          </a:p>
        </p:txBody>
      </p:sp>
      <p:sp>
        <p:nvSpPr>
          <p:cNvPr id="9" name="postpartum-form-backing">
            <a:extLst xmlns:a="http://schemas.openxmlformats.org/drawingml/2006/main">
              <a:ext uri="{FF2B5EF4-FFF2-40B4-BE49-F238E27FC236}">
                <a16:creationId xmlns:a16="http://schemas.microsoft.com/office/drawing/2014/main" id="{6E515F9D-E549-4A0B-A338-D0A1FD78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584835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16c7591d6461a"/>
          <a:stretch xmlns:a="http://schemas.openxmlformats.org/drawingml/2006/main"/>
        </p:blipFill>
        <p:spPr>
          <a:xfrm xmlns:a="http://schemas.openxmlformats.org/drawingml/2006/main">
            <a:off x="5990705" y="1828800"/>
            <a:ext cx="5335041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11" name="postpartum-form-caption">
            <a:extLst xmlns:a="http://schemas.openxmlformats.org/drawingml/2006/main">
              <a:ext uri="{FF2B5EF4-FFF2-40B4-BE49-F238E27FC236}">
                <a16:creationId xmlns:a16="http://schemas.microsoft.com/office/drawing/2014/main" id="{F433AC81-0A25-46BE-9BFB-3737DEF5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578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개발사 운영 반영 화면 · 2026-08-06 주요 기능 반영</a:t>
            </a:r>
          </a:p>
        </p:txBody>
      </p:sp>
      <p:sp>
        <p:nvSpPr>
          <p:cNvPr id="12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FECCBD3A-0C54-4E14-9A25-58B998B4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1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34C1737-2CC6-4D3F-B777-822FB90E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229053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8">
            <a:extLst xmlns:a="http://schemas.openxmlformats.org/drawingml/2006/main">
              <a:ext uri="{FF2B5EF4-FFF2-40B4-BE49-F238E27FC236}">
                <a16:creationId xmlns:a16="http://schemas.microsoft.com/office/drawing/2014/main" id="{8DA642E3-B20F-46A0-A319-1A86A512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WEB·MOBILE UX · 2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861FD09-7128-4AFE-B148-6ECDAA08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계정·결제 정책을 오류 예방 UX로 구체화했습니다</a:t>
            </a:r>
          </a:p>
        </p:txBody>
      </p:sp>
      <p:sp>
        <p:nvSpPr>
          <p:cNvPr id="3" name="top-rule-8">
            <a:extLst xmlns:a="http://schemas.openxmlformats.org/drawingml/2006/main">
              <a:ext uri="{FF2B5EF4-FFF2-40B4-BE49-F238E27FC236}">
                <a16:creationId xmlns:a16="http://schemas.microsoft.com/office/drawing/2014/main" id="{8EE092D3-34BE-48E1-BA0F-58F28C27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ux-sub">
            <a:extLst xmlns:a="http://schemas.openxmlformats.org/drawingml/2006/main">
              <a:ext uri="{FF2B5EF4-FFF2-40B4-BE49-F238E27FC236}">
                <a16:creationId xmlns:a16="http://schemas.microsoft.com/office/drawing/2014/main" id="{784AC13F-85FD-4307-86B5-55102249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4개 계정 유형의 상품·단가·결제 차이를 정상·차단·안내 상태로 연결했습니다.</a:t>
            </a:r>
          </a:p>
        </p:txBody>
      </p:sp>
      <p:sp>
        <p:nvSpPr>
          <p:cNvPr id="5" name="ux-image-0-backing">
            <a:extLst xmlns:a="http://schemas.openxmlformats.org/drawingml/2006/main">
              <a:ext uri="{FF2B5EF4-FFF2-40B4-BE49-F238E27FC236}">
                <a16:creationId xmlns:a16="http://schemas.microsoft.com/office/drawing/2014/main" id="{5008BF01-A493-4DE5-A6DC-578DAB7B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048000" cy="2809875"/>
          </a:xfrm>
          <a:prstGeom xmlns:a="http://schemas.openxmlformats.org/drawingml/2006/main" prst="roundRect">
            <a:avLst>
              <a:gd name="adj" fmla="val 406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72a53016d4247"/>
          <a:stretch xmlns:a="http://schemas.openxmlformats.org/drawingml/2006/main"/>
        </p:blipFill>
        <p:spPr>
          <a:xfrm xmlns:a="http://schemas.openxmlformats.org/drawingml/2006/main">
            <a:off x="628650" y="2459355"/>
            <a:ext cx="3009900" cy="2558415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7" name="ux-title-0">
            <a:extLst xmlns:a="http://schemas.openxmlformats.org/drawingml/2006/main">
              <a:ext uri="{FF2B5EF4-FFF2-40B4-BE49-F238E27FC236}">
                <a16:creationId xmlns:a16="http://schemas.microsoft.com/office/drawing/2014/main" id="{43C86CEE-083C-4E31-BB4B-1D232D4A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모바일 배송정보 복사</a:t>
            </a:r>
          </a:p>
        </p:txBody>
      </p:sp>
      <p:sp>
        <p:nvSpPr>
          <p:cNvPr id="8" name="ux-body-0">
            <a:extLst xmlns:a="http://schemas.openxmlformats.org/drawingml/2006/main">
              <a:ext uri="{FF2B5EF4-FFF2-40B4-BE49-F238E27FC236}">
                <a16:creationId xmlns:a16="http://schemas.microsoft.com/office/drawing/2014/main" id="{E8522457-D976-436B-8D13-FBD4B6D4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반복 입력을 줄이되 사용자가 확인하도록 선택 상태 제공</a:t>
            </a:r>
          </a:p>
        </p:txBody>
      </p:sp>
      <p:sp>
        <p:nvSpPr>
          <p:cNvPr id="9" name="ux-image-1-backing">
            <a:extLst xmlns:a="http://schemas.openxmlformats.org/drawingml/2006/main">
              <a:ext uri="{FF2B5EF4-FFF2-40B4-BE49-F238E27FC236}">
                <a16:creationId xmlns:a16="http://schemas.microsoft.com/office/drawing/2014/main" id="{ED76DDBF-CA90-4AF1-9EFB-AC6D5494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33625"/>
            <a:ext cx="3048000" cy="2809875"/>
          </a:xfrm>
          <a:prstGeom xmlns:a="http://schemas.openxmlformats.org/drawingml/2006/main" prst="roundRect">
            <a:avLst>
              <a:gd name="adj" fmla="val 406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b6723b8144c3f"/>
          <a:stretch xmlns:a="http://schemas.openxmlformats.org/drawingml/2006/main"/>
        </p:blipFill>
        <p:spPr>
          <a:xfrm xmlns:a="http://schemas.openxmlformats.org/drawingml/2006/main">
            <a:off x="4067175" y="2852584"/>
            <a:ext cx="3009900" cy="1771957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11" name="ux-title-1">
            <a:extLst xmlns:a="http://schemas.openxmlformats.org/drawingml/2006/main">
              <a:ext uri="{FF2B5EF4-FFF2-40B4-BE49-F238E27FC236}">
                <a16:creationId xmlns:a16="http://schemas.microsoft.com/office/drawing/2014/main" id="{4B0B414E-7F85-4A86-B5F9-ACE958DF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334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결제 조건 사전 안내</a:t>
            </a:r>
          </a:p>
        </p:txBody>
      </p:sp>
      <p:sp>
        <p:nvSpPr>
          <p:cNvPr id="12" name="ux-body-1">
            <a:extLst xmlns:a="http://schemas.openxmlformats.org/drawingml/2006/main">
              <a:ext uri="{FF2B5EF4-FFF2-40B4-BE49-F238E27FC236}">
                <a16:creationId xmlns:a16="http://schemas.microsoft.com/office/drawing/2014/main" id="{0DB278D3-3673-4FE1-9F36-8532E736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7150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포인트 부족 시 구매 불가 이유를 결제 전에 명시</a:t>
            </a:r>
          </a:p>
        </p:txBody>
      </p:sp>
      <p:sp>
        <p:nvSpPr>
          <p:cNvPr id="13" name="ux-image-2-backing">
            <a:extLst xmlns:a="http://schemas.openxmlformats.org/drawingml/2006/main">
              <a:ext uri="{FF2B5EF4-FFF2-40B4-BE49-F238E27FC236}">
                <a16:creationId xmlns:a16="http://schemas.microsoft.com/office/drawing/2014/main" id="{DDE3A1E5-3036-4102-BBF5-E9CA0315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33625"/>
            <a:ext cx="4095750" cy="2809875"/>
          </a:xfrm>
          <a:prstGeom xmlns:a="http://schemas.openxmlformats.org/drawingml/2006/main" prst="roundRect">
            <a:avLst>
              <a:gd name="adj" fmla="val 406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64c74cc954a93"/>
          <a:stretch xmlns:a="http://schemas.openxmlformats.org/drawingml/2006/main"/>
        </p:blipFill>
        <p:spPr>
          <a:xfrm xmlns:a="http://schemas.openxmlformats.org/drawingml/2006/main">
            <a:off x="7632575" y="2352675"/>
            <a:ext cx="3803900" cy="2771775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15" name="ux-title-2">
            <a:extLst xmlns:a="http://schemas.openxmlformats.org/drawingml/2006/main">
              <a:ext uri="{FF2B5EF4-FFF2-40B4-BE49-F238E27FC236}">
                <a16:creationId xmlns:a16="http://schemas.microsoft.com/office/drawing/2014/main" id="{406F7697-7145-45AE-8232-8076880C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34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혼합 주문 차단</a:t>
            </a:r>
          </a:p>
        </p:txBody>
      </p:sp>
      <p:sp>
        <p:nvSpPr>
          <p:cNvPr id="16" name="ux-body-2">
            <a:extLst xmlns:a="http://schemas.openxmlformats.org/drawingml/2006/main">
              <a:ext uri="{FF2B5EF4-FFF2-40B4-BE49-F238E27FC236}">
                <a16:creationId xmlns:a16="http://schemas.microsoft.com/office/drawing/2014/main" id="{1CF958E8-C192-4CB3-89B6-60287D81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71500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결제 규칙이 다른 상품은 분리 주문하도록 다음 행동 제공</a:t>
            </a:r>
          </a:p>
        </p:txBody>
      </p:sp>
      <p:sp>
        <p:nvSpPr>
          <p:cNvPr id="17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16E966C3-A5FB-4649-9934-E7F92CD0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18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CCC021FB-4C14-474B-8968-2ACEA139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08 / 14</a:t>
            </a:r>
          </a:p>
        </p:txBody>
      </p:sp>
    </p:spTree>
    <p:extLst>
      <p:ext uri="{BB962C8B-B14F-4D97-AF65-F5344CB8AC3E}">
        <p14:creationId xmlns:p14="http://schemas.microsoft.com/office/powerpoint/2010/main" val="1132196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9">
            <a:extLst xmlns:a="http://schemas.openxmlformats.org/drawingml/2006/main">
              <a:ext uri="{FF2B5EF4-FFF2-40B4-BE49-F238E27FC236}">
                <a16:creationId xmlns:a16="http://schemas.microsoft.com/office/drawing/2014/main" id="{BF34C86D-6AE0-4DF6-A776-E743B60C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WEB·MOBILE UX · 3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0B2E8C9-5E2B-44FA-9C47-C7D9F42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운영 반영과 검증 완료를 다른 상태로 관리했습니다</a:t>
            </a:r>
          </a:p>
        </p:txBody>
      </p:sp>
      <p:sp>
        <p:nvSpPr>
          <p:cNvPr id="3" name="top-rule-9">
            <a:extLst xmlns:a="http://schemas.openxmlformats.org/drawingml/2006/main">
              <a:ext uri="{FF2B5EF4-FFF2-40B4-BE49-F238E27FC236}">
                <a16:creationId xmlns:a16="http://schemas.microsoft.com/office/drawing/2014/main" id="{5476055E-3BB2-4179-BF3C-4454A7DB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a-equation">
            <a:extLst xmlns:a="http://schemas.openxmlformats.org/drawingml/2006/main">
              <a:ext uri="{FF2B5EF4-FFF2-40B4-BE49-F238E27FC236}">
                <a16:creationId xmlns:a16="http://schemas.microsoft.com/office/drawing/2014/main" id="{4C34CE02-C1D2-4703-BD67-8419D50B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반영 ≠ 완료</a:t>
            </a:r>
          </a:p>
        </p:txBody>
      </p:sp>
      <p:sp>
        <p:nvSpPr>
          <p:cNvPr id="5" name="qa-copy">
            <a:extLst xmlns:a="http://schemas.openxmlformats.org/drawingml/2006/main">
              <a:ext uri="{FF2B5EF4-FFF2-40B4-BE49-F238E27FC236}">
                <a16:creationId xmlns:a16="http://schemas.microsoft.com/office/drawing/2014/main" id="{8EA1C6C3-70C8-44BE-9E0F-BD3FA6FD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개발사의 반영 통보, 본인의 운영 QA, 실제 사용 관찰을 분리해 기록했습니다.</a:t>
            </a:r>
          </a:p>
        </p:txBody>
      </p:sp>
      <p:sp>
        <p:nvSpPr>
          <p:cNvPr id="6" name="qa-b1">
            <a:extLst xmlns:a="http://schemas.openxmlformats.org/drawingml/2006/main">
              <a:ext uri="{FF2B5EF4-FFF2-40B4-BE49-F238E27FC236}">
                <a16:creationId xmlns:a16="http://schemas.microsoft.com/office/drawing/2014/main" id="{1A3182FF-973F-4FDC-93CD-A500DA97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완료</a:t>
            </a:r>
            <a:r>
              <a:rPr>
                <a:solidFill>
                  <a:srgbClr val="111111"/>
                </a:solidFill>
              </a:rPr>
              <a:t> — 운영 QA까지 통과</a:t>
            </a:r>
          </a:p>
        </p:txBody>
      </p:sp>
      <p:sp>
        <p:nvSpPr>
          <p:cNvPr id="7" name="qa-b2">
            <a:extLst xmlns:a="http://schemas.openxmlformats.org/drawingml/2006/main">
              <a:ext uri="{FF2B5EF4-FFF2-40B4-BE49-F238E27FC236}">
                <a16:creationId xmlns:a16="http://schemas.microsoft.com/office/drawing/2014/main" id="{097BB2BA-219E-4DE9-BA41-62227881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배포·QA 필요</a:t>
            </a:r>
            <a:r>
              <a:rPr>
                <a:solidFill>
                  <a:srgbClr val="111111"/>
                </a:solidFill>
              </a:rPr>
              <a:t> — 반영 통보 후 운영 확인 전</a:t>
            </a:r>
          </a:p>
        </p:txBody>
      </p:sp>
      <p:sp>
        <p:nvSpPr>
          <p:cNvPr id="8" name="qa-b3">
            <a:extLst xmlns:a="http://schemas.openxmlformats.org/drawingml/2006/main">
              <a:ext uri="{FF2B5EF4-FFF2-40B4-BE49-F238E27FC236}">
                <a16:creationId xmlns:a16="http://schemas.microsoft.com/office/drawing/2014/main" id="{1ED10387-A927-4594-9C88-7B60C349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작업 중</a:t>
            </a:r>
            <a:r>
              <a:rPr>
                <a:solidFill>
                  <a:srgbClr val="111111"/>
                </a:solidFill>
              </a:rPr>
              <a:t> — 승인됐으나 개발·배포 대기</a:t>
            </a:r>
          </a:p>
        </p:txBody>
      </p:sp>
      <p:sp>
        <p:nvSpPr>
          <p:cNvPr id="9" name="qa-timeline-line">
            <a:extLst xmlns:a="http://schemas.openxmlformats.org/drawingml/2006/main">
              <a:ext uri="{FF2B5EF4-FFF2-40B4-BE49-F238E27FC236}">
                <a16:creationId xmlns:a16="http://schemas.microsoft.com/office/drawing/2014/main" id="{E074613E-0E83-4643-82F5-FFDC5276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66950"/>
            <a:ext cx="2857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a-dot-0">
            <a:extLst xmlns:a="http://schemas.openxmlformats.org/drawingml/2006/main">
              <a:ext uri="{FF2B5EF4-FFF2-40B4-BE49-F238E27FC236}">
                <a16:creationId xmlns:a16="http://schemas.microsoft.com/office/drawing/2014/main" id="{A943102D-F83F-405E-9DE4-5F115FE8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219325"/>
            <a:ext cx="295275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qa-date-0">
            <a:extLst xmlns:a="http://schemas.openxmlformats.org/drawingml/2006/main">
              <a:ext uri="{FF2B5EF4-FFF2-40B4-BE49-F238E27FC236}">
                <a16:creationId xmlns:a16="http://schemas.microsoft.com/office/drawing/2014/main" id="{5D567FF5-F465-4FDA-9055-6789B4BA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2026-07-01</a:t>
            </a:r>
          </a:p>
        </p:txBody>
      </p:sp>
      <p:sp>
        <p:nvSpPr>
          <p:cNvPr id="12" name="qa-milestone-0">
            <a:extLst xmlns:a="http://schemas.openxmlformats.org/drawingml/2006/main">
              <a:ext uri="{FF2B5EF4-FFF2-40B4-BE49-F238E27FC236}">
                <a16:creationId xmlns:a16="http://schemas.microsoft.com/office/drawing/2014/main" id="{CCEB3207-11C7-4EBD-9398-BE87FDE8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계약상 개발기간 시작</a:t>
            </a:r>
          </a:p>
        </p:txBody>
      </p:sp>
      <p:sp>
        <p:nvSpPr>
          <p:cNvPr id="13" name="qa-dot-1">
            <a:extLst xmlns:a="http://schemas.openxmlformats.org/drawingml/2006/main">
              <a:ext uri="{FF2B5EF4-FFF2-40B4-BE49-F238E27FC236}">
                <a16:creationId xmlns:a16="http://schemas.microsoft.com/office/drawing/2014/main" id="{C2701D97-BE46-4B16-9128-59D8E781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86125"/>
            <a:ext cx="295275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qa-date-1">
            <a:extLst xmlns:a="http://schemas.openxmlformats.org/drawingml/2006/main">
              <a:ext uri="{FF2B5EF4-FFF2-40B4-BE49-F238E27FC236}">
                <a16:creationId xmlns:a16="http://schemas.microsoft.com/office/drawing/2014/main" id="{43B763D7-4C8F-4E41-8C9E-25706663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2026-08-06</a:t>
            </a:r>
          </a:p>
        </p:txBody>
      </p:sp>
      <p:sp>
        <p:nvSpPr>
          <p:cNvPr id="15" name="qa-milestone-1">
            <a:extLst xmlns:a="http://schemas.openxmlformats.org/drawingml/2006/main">
              <a:ext uri="{FF2B5EF4-FFF2-40B4-BE49-F238E27FC236}">
                <a16:creationId xmlns:a16="http://schemas.microsoft.com/office/drawing/2014/main" id="{9F35770E-E9A5-4743-9FE3-AA4BF502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주요 기능 운영 반영 기록</a:t>
            </a:r>
          </a:p>
        </p:txBody>
      </p:sp>
      <p:sp>
        <p:nvSpPr>
          <p:cNvPr id="16" name="qa-dot-2">
            <a:extLst xmlns:a="http://schemas.openxmlformats.org/drawingml/2006/main">
              <a:ext uri="{FF2B5EF4-FFF2-40B4-BE49-F238E27FC236}">
                <a16:creationId xmlns:a16="http://schemas.microsoft.com/office/drawing/2014/main" id="{FAEE295B-E24B-45A8-A5E0-19360830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352925"/>
            <a:ext cx="295275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qa-date-2">
            <a:extLst xmlns:a="http://schemas.openxmlformats.org/drawingml/2006/main">
              <a:ext uri="{FF2B5EF4-FFF2-40B4-BE49-F238E27FC236}">
                <a16:creationId xmlns:a16="http://schemas.microsoft.com/office/drawing/2014/main" id="{95C61C2A-8084-4CC8-A47B-489C167E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2026-08-13</a:t>
            </a:r>
          </a:p>
        </p:txBody>
      </p:sp>
      <p:sp>
        <p:nvSpPr>
          <p:cNvPr id="18" name="qa-milestone-2">
            <a:extLst xmlns:a="http://schemas.openxmlformats.org/drawingml/2006/main">
              <a:ext uri="{FF2B5EF4-FFF2-40B4-BE49-F238E27FC236}">
                <a16:creationId xmlns:a16="http://schemas.microsoft.com/office/drawing/2014/main" id="{F89B1149-5999-49B1-B0E3-B28EFAAA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운영 QA·추가 개발 진행</a:t>
            </a:r>
          </a:p>
        </p:txBody>
      </p:sp>
      <p:sp>
        <p:nvSpPr>
          <p:cNvPr id="19" name="qa-dot-3">
            <a:extLst xmlns:a="http://schemas.openxmlformats.org/drawingml/2006/main">
              <a:ext uri="{FF2B5EF4-FFF2-40B4-BE49-F238E27FC236}">
                <a16:creationId xmlns:a16="http://schemas.microsoft.com/office/drawing/2014/main" id="{48C15ACC-3CF9-4900-B02B-181E4B49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419725"/>
            <a:ext cx="295275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qa-date-3">
            <a:extLst xmlns:a="http://schemas.openxmlformats.org/drawingml/2006/main">
              <a:ext uri="{FF2B5EF4-FFF2-40B4-BE49-F238E27FC236}">
                <a16:creationId xmlns:a16="http://schemas.microsoft.com/office/drawing/2014/main" id="{60D13E56-6244-423E-9997-9666E6AC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76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2026-08-31</a:t>
            </a:r>
          </a:p>
        </p:txBody>
      </p:sp>
      <p:sp>
        <p:nvSpPr>
          <p:cNvPr id="21" name="qa-milestone-3">
            <a:extLst xmlns:a="http://schemas.openxmlformats.org/drawingml/2006/main">
              <a:ext uri="{FF2B5EF4-FFF2-40B4-BE49-F238E27FC236}">
                <a16:creationId xmlns:a16="http://schemas.microsoft.com/office/drawing/2014/main" id="{357CBBB1-1FCB-460E-BE92-56FF4412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계약상 최종 검수 기준일</a:t>
            </a:r>
          </a:p>
        </p:txBody>
      </p:sp>
      <p:sp>
        <p:nvSpPr>
          <p:cNvPr id="22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4D0DB98F-8C75-4DBC-8838-B7D41622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23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5FB75DF3-4F72-40CD-853B-B6878D0F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09 / 14</a:t>
            </a:r>
          </a:p>
        </p:txBody>
      </p:sp>
    </p:spTree>
    <p:extLst>
      <p:ext uri="{BB962C8B-B14F-4D97-AF65-F5344CB8AC3E}">
        <p14:creationId xmlns:p14="http://schemas.microsoft.com/office/powerpoint/2010/main" val="4502355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0">
            <a:extLst xmlns:a="http://schemas.openxmlformats.org/drawingml/2006/main">
              <a:ext uri="{FF2B5EF4-FFF2-40B4-BE49-F238E27FC236}">
                <a16:creationId xmlns:a16="http://schemas.microsoft.com/office/drawing/2014/main" id="{9A86E631-7D01-442E-91FD-6C99D9A3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B2B DATA · 1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771001C6-3D4D-4D4C-B85D-A2EF7B42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규제 변경은 여러 시스템의 데이터 계약 문제였습니다</a:t>
            </a:r>
          </a:p>
        </p:txBody>
      </p:sp>
      <p:sp>
        <p:nvSpPr>
          <p:cNvPr id="3" name="top-rule-10">
            <a:extLst xmlns:a="http://schemas.openxmlformats.org/drawingml/2006/main">
              <a:ext uri="{FF2B5EF4-FFF2-40B4-BE49-F238E27FC236}">
                <a16:creationId xmlns:a16="http://schemas.microsoft.com/office/drawing/2014/main" id="{F98A0AA3-6CC1-4788-A1EA-CD710B0B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ustoms-sub">
            <a:extLst xmlns:a="http://schemas.openxmlformats.org/drawingml/2006/main">
              <a:ext uri="{FF2B5EF4-FFF2-40B4-BE49-F238E27FC236}">
                <a16:creationId xmlns:a16="http://schemas.microsoft.com/office/drawing/2014/main" id="{25940E60-6517-44E8-B5C8-CC8D1AF7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관세법 개정 대응 통관 API 연동 · 2026.02–2026.08</a:t>
            </a:r>
          </a:p>
        </p:txBody>
      </p:sp>
      <p:sp>
        <p:nvSpPr>
          <p:cNvPr id="5" name="customs-flow-line">
            <a:extLst xmlns:a="http://schemas.openxmlformats.org/drawingml/2006/main">
              <a:ext uri="{FF2B5EF4-FFF2-40B4-BE49-F238E27FC236}">
                <a16:creationId xmlns:a16="http://schemas.microsoft.com/office/drawing/2014/main" id="{88D800AF-4507-48BA-A755-CFDD60B0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23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ustoms-system-0">
            <a:extLst xmlns:a="http://schemas.openxmlformats.org/drawingml/2006/main">
              <a:ext uri="{FF2B5EF4-FFF2-40B4-BE49-F238E27FC236}">
                <a16:creationId xmlns:a16="http://schemas.microsoft.com/office/drawing/2014/main" id="{54CC8EEC-1E4B-4D73-8ECC-2A8D741A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33625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ustoms-system-title-0">
            <a:extLst xmlns:a="http://schemas.openxmlformats.org/drawingml/2006/main">
              <a:ext uri="{FF2B5EF4-FFF2-40B4-BE49-F238E27FC236}">
                <a16:creationId xmlns:a16="http://schemas.microsoft.com/office/drawing/2014/main" id="{13A6609F-D79D-452B-8384-163D5547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자사몰</a:t>
            </a:r>
          </a:p>
        </p:txBody>
      </p:sp>
      <p:sp>
        <p:nvSpPr>
          <p:cNvPr id="8" name="customs-system-body-0">
            <a:extLst xmlns:a="http://schemas.openxmlformats.org/drawingml/2006/main">
              <a:ext uri="{FF2B5EF4-FFF2-40B4-BE49-F238E27FC236}">
                <a16:creationId xmlns:a16="http://schemas.microsoft.com/office/drawing/2014/main" id="{7AA38D01-55FF-4152-9DFF-FD16DDE4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1876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고객·주문</a:t>
            </a:r>
          </a:p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원천 데이터</a:t>
            </a:r>
          </a:p>
        </p:txBody>
      </p:sp>
      <p:sp>
        <p:nvSpPr>
          <p:cNvPr id="9" name="customs-system-1">
            <a:extLst xmlns:a="http://schemas.openxmlformats.org/drawingml/2006/main">
              <a:ext uri="{FF2B5EF4-FFF2-40B4-BE49-F238E27FC236}">
                <a16:creationId xmlns:a16="http://schemas.microsoft.com/office/drawing/2014/main" id="{DCEF337D-28D9-4214-8015-65B604B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2333625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ustoms-system-title-1">
            <a:extLst xmlns:a="http://schemas.openxmlformats.org/drawingml/2006/main">
              <a:ext uri="{FF2B5EF4-FFF2-40B4-BE49-F238E27FC236}">
                <a16:creationId xmlns:a16="http://schemas.microsoft.com/office/drawing/2014/main" id="{0D161295-E4B0-443C-A838-252476E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24175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ERP / WMS</a:t>
            </a:r>
          </a:p>
        </p:txBody>
      </p:sp>
      <p:sp>
        <p:nvSpPr>
          <p:cNvPr id="11" name="customs-system-body-1">
            <a:extLst xmlns:a="http://schemas.openxmlformats.org/drawingml/2006/main">
              <a:ext uri="{FF2B5EF4-FFF2-40B4-BE49-F238E27FC236}">
                <a16:creationId xmlns:a16="http://schemas.microsoft.com/office/drawing/2014/main" id="{E170E906-D713-478A-BEF5-EB11CD6B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00425"/>
            <a:ext cx="1876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상품·포장</a:t>
            </a:r>
          </a:p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물류 데이터</a:t>
            </a:r>
          </a:p>
        </p:txBody>
      </p:sp>
      <p:sp>
        <p:nvSpPr>
          <p:cNvPr id="12" name="customs-system-2">
            <a:extLst xmlns:a="http://schemas.openxmlformats.org/drawingml/2006/main">
              <a:ext uri="{FF2B5EF4-FFF2-40B4-BE49-F238E27FC236}">
                <a16:creationId xmlns:a16="http://schemas.microsoft.com/office/drawing/2014/main" id="{4A95FA09-6C82-4C82-B554-4C17F847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2333625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customs-system-title-2">
            <a:extLst xmlns:a="http://schemas.openxmlformats.org/drawingml/2006/main">
              <a:ext uri="{FF2B5EF4-FFF2-40B4-BE49-F238E27FC236}">
                <a16:creationId xmlns:a16="http://schemas.microsoft.com/office/drawing/2014/main" id="{6E9277CA-DED2-4FDF-AEE5-8054990B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24175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통합 플랫폼</a:t>
            </a:r>
          </a:p>
        </p:txBody>
      </p:sp>
      <p:sp>
        <p:nvSpPr>
          <p:cNvPr id="14" name="customs-system-body-2">
            <a:extLst xmlns:a="http://schemas.openxmlformats.org/drawingml/2006/main">
              <a:ext uri="{FF2B5EF4-FFF2-40B4-BE49-F238E27FC236}">
                <a16:creationId xmlns:a16="http://schemas.microsoft.com/office/drawing/2014/main" id="{FDCBB1D2-9D8D-483D-906E-DAE7C77D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0425"/>
            <a:ext cx="1876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병합·검증</a:t>
            </a:r>
          </a:p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제출 상태</a:t>
            </a:r>
          </a:p>
        </p:txBody>
      </p:sp>
      <p:sp>
        <p:nvSpPr>
          <p:cNvPr id="15" name="customs-system-3">
            <a:extLst xmlns:a="http://schemas.openxmlformats.org/drawingml/2006/main">
              <a:ext uri="{FF2B5EF4-FFF2-40B4-BE49-F238E27FC236}">
                <a16:creationId xmlns:a16="http://schemas.microsoft.com/office/drawing/2014/main" id="{6169C3BA-D378-41E1-8615-807DBBCB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2333625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customs-system-title-3">
            <a:extLst xmlns:a="http://schemas.openxmlformats.org/drawingml/2006/main">
              <a:ext uri="{FF2B5EF4-FFF2-40B4-BE49-F238E27FC236}">
                <a16:creationId xmlns:a16="http://schemas.microsoft.com/office/drawing/2014/main" id="{E52D31CF-5B2F-4D2C-AE55-BBCE500A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24175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통관 / 운송</a:t>
            </a:r>
          </a:p>
        </p:txBody>
      </p:sp>
      <p:sp>
        <p:nvSpPr>
          <p:cNvPr id="17" name="customs-system-body-3">
            <a:extLst xmlns:a="http://schemas.openxmlformats.org/drawingml/2006/main">
              <a:ext uri="{FF2B5EF4-FFF2-40B4-BE49-F238E27FC236}">
                <a16:creationId xmlns:a16="http://schemas.microsoft.com/office/drawing/2014/main" id="{EFA23B3F-D3A6-436A-A32D-07249F7E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00425"/>
            <a:ext cx="1876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신고·결과</a:t>
            </a:r>
          </a:p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HBL 상태</a:t>
            </a:r>
          </a:p>
        </p:txBody>
      </p:sp>
      <p:sp>
        <p:nvSpPr>
          <p:cNvPr id="18" name="customs-summary">
            <a:extLst xmlns:a="http://schemas.openxmlformats.org/drawingml/2006/main">
              <a:ext uri="{FF2B5EF4-FFF2-40B4-BE49-F238E27FC236}">
                <a16:creationId xmlns:a16="http://schemas.microsoft.com/office/drawing/2014/main" id="{78E46E64-70C5-49D2-9E90-F14169CF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ustoms-summary-text">
            <a:extLst xmlns:a="http://schemas.openxmlformats.org/drawingml/2006/main">
              <a:ext uri="{FF2B5EF4-FFF2-40B4-BE49-F238E27FC236}">
                <a16:creationId xmlns:a16="http://schemas.microsoft.com/office/drawing/2014/main" id="{348AD38E-D66E-4E18-B8B5-C3876FBC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정의한 것: 데이터 소유권 · 병합키 · 멱등성 · 오류코드 · 개인정보 경계 · 인수 기준</a:t>
            </a:r>
          </a:p>
        </p:txBody>
      </p:sp>
      <p:sp>
        <p:nvSpPr>
          <p:cNvPr id="20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EECBE167-C099-4E0C-BCF1-806BD604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21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5E1FA329-B84D-4FD7-BB3F-C361B20D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22411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11">
            <a:extLst xmlns:a="http://schemas.openxmlformats.org/drawingml/2006/main">
              <a:ext uri="{FF2B5EF4-FFF2-40B4-BE49-F238E27FC236}">
                <a16:creationId xmlns:a16="http://schemas.microsoft.com/office/drawing/2014/main" id="{64160027-708A-4AE7-9F24-2B6FEB9F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B2B DATA · 2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61CA54C-1A27-402A-B212-9CB5D2AF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같은 주문을 식별자별 책임으로 분리했습니다</a:t>
            </a:r>
          </a:p>
        </p:txBody>
      </p:sp>
      <p:sp>
        <p:nvSpPr>
          <p:cNvPr id="3" name="top-rule-11">
            <a:extLst xmlns:a="http://schemas.openxmlformats.org/drawingml/2006/main">
              <a:ext uri="{FF2B5EF4-FFF2-40B4-BE49-F238E27FC236}">
                <a16:creationId xmlns:a16="http://schemas.microsoft.com/office/drawing/2014/main" id="{F033639C-BCAD-48ED-A6B1-5EE4479C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dentifier-sub">
            <a:extLst xmlns:a="http://schemas.openxmlformats.org/drawingml/2006/main">
              <a:ext uri="{FF2B5EF4-FFF2-40B4-BE49-F238E27FC236}">
                <a16:creationId xmlns:a16="http://schemas.microsoft.com/office/drawing/2014/main" id="{C2DF56C1-8384-427D-BC67-F5FBFED1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한 번호로 모든 시스템을 맞추는 대신, 원천·포장·상품행·운송장 역할을 구분했습니다.</a:t>
            </a:r>
          </a:p>
        </p:txBody>
      </p:sp>
      <p:sp>
        <p:nvSpPr>
          <p:cNvPr id="5" name="id-header">
            <a:extLst xmlns:a="http://schemas.openxmlformats.org/drawingml/2006/main">
              <a:ext uri="{FF2B5EF4-FFF2-40B4-BE49-F238E27FC236}">
                <a16:creationId xmlns:a16="http://schemas.microsoft.com/office/drawing/2014/main" id="{424BB952-5245-4B82-8331-4A26DC58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d-head-0">
            <a:extLst xmlns:a="http://schemas.openxmlformats.org/drawingml/2006/main">
              <a:ext uri="{FF2B5EF4-FFF2-40B4-BE49-F238E27FC236}">
                <a16:creationId xmlns:a16="http://schemas.microsoft.com/office/drawing/2014/main" id="{35153FC7-DB49-45DF-B43B-B53D39E2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식별자</a:t>
            </a:r>
          </a:p>
        </p:txBody>
      </p:sp>
      <p:sp>
        <p:nvSpPr>
          <p:cNvPr id="7" name="id-head-1">
            <a:extLst xmlns:a="http://schemas.openxmlformats.org/drawingml/2006/main">
              <a:ext uri="{FF2B5EF4-FFF2-40B4-BE49-F238E27FC236}">
                <a16:creationId xmlns:a16="http://schemas.microsoft.com/office/drawing/2014/main" id="{8A933063-997A-4A6E-BB0C-91CEC085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책임</a:t>
            </a:r>
          </a:p>
        </p:txBody>
      </p:sp>
      <p:sp>
        <p:nvSpPr>
          <p:cNvPr id="8" name="id-head-2">
            <a:extLst xmlns:a="http://schemas.openxmlformats.org/drawingml/2006/main">
              <a:ext uri="{FF2B5EF4-FFF2-40B4-BE49-F238E27FC236}">
                <a16:creationId xmlns:a16="http://schemas.microsoft.com/office/drawing/2014/main" id="{018043E2-905F-4B67-9153-8B2C6E4D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812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외부 사용</a:t>
            </a:r>
          </a:p>
        </p:txBody>
      </p:sp>
      <p:sp>
        <p:nvSpPr>
          <p:cNvPr id="9" name="id-head-3">
            <a:extLst xmlns:a="http://schemas.openxmlformats.org/drawingml/2006/main">
              <a:ext uri="{FF2B5EF4-FFF2-40B4-BE49-F238E27FC236}">
                <a16:creationId xmlns:a16="http://schemas.microsoft.com/office/drawing/2014/main" id="{10EF8724-A8AA-4332-A4F2-A34C73D0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812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0" name="id-row-bg-0">
            <a:extLst xmlns:a="http://schemas.openxmlformats.org/drawingml/2006/main">
              <a:ext uri="{FF2B5EF4-FFF2-40B4-BE49-F238E27FC236}">
                <a16:creationId xmlns:a16="http://schemas.microsoft.com/office/drawing/2014/main" id="{3EC30E0A-A815-41ED-ABED-8DE058A5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id-cell-0-0">
            <a:extLst xmlns:a="http://schemas.openxmlformats.org/drawingml/2006/main">
              <a:ext uri="{FF2B5EF4-FFF2-40B4-BE49-F238E27FC236}">
                <a16:creationId xmlns:a16="http://schemas.microsoft.com/office/drawing/2014/main" id="{950F15BD-F5A9-4792-ADFB-BA9EACA5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원주문번호</a:t>
            </a:r>
          </a:p>
        </p:txBody>
      </p:sp>
      <p:sp>
        <p:nvSpPr>
          <p:cNvPr id="12" name="id-cell-0-1">
            <a:extLst xmlns:a="http://schemas.openxmlformats.org/drawingml/2006/main">
              <a:ext uri="{FF2B5EF4-FFF2-40B4-BE49-F238E27FC236}">
                <a16:creationId xmlns:a16="http://schemas.microsoft.com/office/drawing/2014/main" id="{88C672D5-2261-470D-BF60-FEBE48D1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3343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자사몰·통관·운송의 공통 주문 기준</a:t>
            </a:r>
          </a:p>
        </p:txBody>
      </p:sp>
      <p:sp>
        <p:nvSpPr>
          <p:cNvPr id="13" name="id-cell-0-2">
            <a:extLst xmlns:a="http://schemas.openxmlformats.org/drawingml/2006/main">
              <a:ext uri="{FF2B5EF4-FFF2-40B4-BE49-F238E27FC236}">
                <a16:creationId xmlns:a16="http://schemas.microsoft.com/office/drawing/2014/main" id="{46265C20-044E-471C-92D4-B599FF79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24175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공통키</a:t>
            </a:r>
          </a:p>
        </p:txBody>
      </p:sp>
      <p:sp>
        <p:nvSpPr>
          <p:cNvPr id="14" name="id-cell-0-3">
            <a:extLst xmlns:a="http://schemas.openxmlformats.org/drawingml/2006/main">
              <a:ext uri="{FF2B5EF4-FFF2-40B4-BE49-F238E27FC236}">
                <a16:creationId xmlns:a16="http://schemas.microsoft.com/office/drawing/2014/main" id="{083A2BC0-AB52-41B4-BEC9-CBFA14BA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2417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정책 확정</a:t>
            </a:r>
          </a:p>
        </p:txBody>
      </p:sp>
      <p:sp>
        <p:nvSpPr>
          <p:cNvPr id="15" name="id-row-bg-1">
            <a:extLst xmlns:a="http://schemas.openxmlformats.org/drawingml/2006/main">
              <a:ext uri="{FF2B5EF4-FFF2-40B4-BE49-F238E27FC236}">
                <a16:creationId xmlns:a16="http://schemas.microsoft.com/office/drawing/2014/main" id="{55E022D8-B149-41A3-8AA6-A4FA433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id-cell-1-0">
            <a:extLst xmlns:a="http://schemas.openxmlformats.org/drawingml/2006/main">
              <a:ext uri="{FF2B5EF4-FFF2-40B4-BE49-F238E27FC236}">
                <a16:creationId xmlns:a16="http://schemas.microsoft.com/office/drawing/2014/main" id="{2E64DAE7-9583-44C7-A3B1-2ED70007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ERP 포장번호</a:t>
            </a:r>
          </a:p>
        </p:txBody>
      </p:sp>
      <p:sp>
        <p:nvSpPr>
          <p:cNvPr id="17" name="id-cell-1-1">
            <a:extLst xmlns:a="http://schemas.openxmlformats.org/drawingml/2006/main">
              <a:ext uri="{FF2B5EF4-FFF2-40B4-BE49-F238E27FC236}">
                <a16:creationId xmlns:a16="http://schemas.microsoft.com/office/drawing/2014/main" id="{7FAE6343-7529-4CE9-9840-EBDB6D85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67125"/>
            <a:ext cx="3343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ERP 내부 포장·분할 식별</a:t>
            </a:r>
          </a:p>
        </p:txBody>
      </p:sp>
      <p:sp>
        <p:nvSpPr>
          <p:cNvPr id="18" name="id-cell-1-2">
            <a:extLst xmlns:a="http://schemas.openxmlformats.org/drawingml/2006/main">
              <a:ext uri="{FF2B5EF4-FFF2-40B4-BE49-F238E27FC236}">
                <a16:creationId xmlns:a16="http://schemas.microsoft.com/office/drawing/2014/main" id="{663C40AF-8866-4901-8796-C4C40E86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667125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외부 전송 제외</a:t>
            </a:r>
          </a:p>
        </p:txBody>
      </p:sp>
      <p:sp>
        <p:nvSpPr>
          <p:cNvPr id="19" name="id-cell-1-3">
            <a:extLst xmlns:a="http://schemas.openxmlformats.org/drawingml/2006/main">
              <a:ext uri="{FF2B5EF4-FFF2-40B4-BE49-F238E27FC236}">
                <a16:creationId xmlns:a16="http://schemas.microsoft.com/office/drawing/2014/main" id="{1B933D88-C50D-433B-932F-CD026510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6712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정책 확정</a:t>
            </a:r>
          </a:p>
        </p:txBody>
      </p:sp>
      <p:sp>
        <p:nvSpPr>
          <p:cNvPr id="20" name="id-row-bg-2">
            <a:extLst xmlns:a="http://schemas.openxmlformats.org/drawingml/2006/main">
              <a:ext uri="{FF2B5EF4-FFF2-40B4-BE49-F238E27FC236}">
                <a16:creationId xmlns:a16="http://schemas.microsoft.com/office/drawing/2014/main" id="{6838D9BD-89EA-4083-98C7-00758209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id-cell-2-0">
            <a:extLst xmlns:a="http://schemas.openxmlformats.org/drawingml/2006/main">
              <a:ext uri="{FF2B5EF4-FFF2-40B4-BE49-F238E27FC236}">
                <a16:creationId xmlns:a16="http://schemas.microsoft.com/office/drawing/2014/main" id="{104A6FBA-83BE-4F65-B90B-570ADB9A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상품행 ID</a:t>
            </a:r>
          </a:p>
        </p:txBody>
      </p:sp>
      <p:sp>
        <p:nvSpPr>
          <p:cNvPr id="22" name="id-cell-2-1">
            <a:extLst xmlns:a="http://schemas.openxmlformats.org/drawingml/2006/main">
              <a:ext uri="{FF2B5EF4-FFF2-40B4-BE49-F238E27FC236}">
                <a16:creationId xmlns:a16="http://schemas.microsoft.com/office/drawing/2014/main" id="{41D17726-20BB-4CB6-AD01-9DF748EF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0075"/>
            <a:ext cx="3343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원주문 상품행과 신고 단품의 추적</a:t>
            </a:r>
          </a:p>
        </p:txBody>
      </p:sp>
      <p:sp>
        <p:nvSpPr>
          <p:cNvPr id="23" name="id-cell-2-2">
            <a:extLst xmlns:a="http://schemas.openxmlformats.org/drawingml/2006/main">
              <a:ext uri="{FF2B5EF4-FFF2-40B4-BE49-F238E27FC236}">
                <a16:creationId xmlns:a16="http://schemas.microsoft.com/office/drawing/2014/main" id="{EF733E3A-680F-4208-A79E-3A7C5667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410075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매핑 근거</a:t>
            </a:r>
          </a:p>
        </p:txBody>
      </p:sp>
      <p:sp>
        <p:nvSpPr>
          <p:cNvPr id="24" name="id-cell-2-3">
            <a:extLst xmlns:a="http://schemas.openxmlformats.org/drawingml/2006/main">
              <a:ext uri="{FF2B5EF4-FFF2-40B4-BE49-F238E27FC236}">
                <a16:creationId xmlns:a16="http://schemas.microsoft.com/office/drawing/2014/main" id="{56E3F474-80ED-4E4B-A921-FBFA3723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1007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3A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43A3A"/>
                </a:solidFill>
                <a:latin typeface="Malgun Gothic"/>
                <a:ea typeface="Malgun Gothic"/>
                <a:cs typeface="Malgun Gothic"/>
              </a:rPr>
              <a:t>검증 필요</a:t>
            </a:r>
          </a:p>
        </p:txBody>
      </p:sp>
      <p:sp>
        <p:nvSpPr>
          <p:cNvPr id="25" name="id-row-bg-3">
            <a:extLst xmlns:a="http://schemas.openxmlformats.org/drawingml/2006/main">
              <a:ext uri="{FF2B5EF4-FFF2-40B4-BE49-F238E27FC236}">
                <a16:creationId xmlns:a16="http://schemas.microsoft.com/office/drawing/2014/main" id="{E403F8E6-40C9-4EA8-B0C9-6E5439EE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id-cell-3-0">
            <a:extLst xmlns:a="http://schemas.openxmlformats.org/drawingml/2006/main">
              <a:ext uri="{FF2B5EF4-FFF2-40B4-BE49-F238E27FC236}">
                <a16:creationId xmlns:a16="http://schemas.microsoft.com/office/drawing/2014/main" id="{F709E951-A100-48E4-B3EB-B7775786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HBL</a:t>
            </a:r>
          </a:p>
        </p:txBody>
      </p:sp>
      <p:sp>
        <p:nvSpPr>
          <p:cNvPr id="27" name="id-cell-3-1">
            <a:extLst xmlns:a="http://schemas.openxmlformats.org/drawingml/2006/main">
              <a:ext uri="{FF2B5EF4-FFF2-40B4-BE49-F238E27FC236}">
                <a16:creationId xmlns:a16="http://schemas.microsoft.com/office/drawing/2014/main" id="{C3219CBC-F214-41B0-A4F4-646BE1A7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53025"/>
            <a:ext cx="3343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포장·TRA·운송장 단위</a:t>
            </a:r>
          </a:p>
        </p:txBody>
      </p:sp>
      <p:sp>
        <p:nvSpPr>
          <p:cNvPr id="28" name="id-cell-3-2">
            <a:extLst xmlns:a="http://schemas.openxmlformats.org/drawingml/2006/main">
              <a:ext uri="{FF2B5EF4-FFF2-40B4-BE49-F238E27FC236}">
                <a16:creationId xmlns:a16="http://schemas.microsoft.com/office/drawing/2014/main" id="{2B16DEBF-C37E-4AFE-A9B3-61A1C649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153025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제출·결과</a:t>
            </a:r>
          </a:p>
        </p:txBody>
      </p:sp>
      <p:sp>
        <p:nvSpPr>
          <p:cNvPr id="29" name="id-cell-3-3">
            <a:extLst xmlns:a="http://schemas.openxmlformats.org/drawingml/2006/main">
              <a:ext uri="{FF2B5EF4-FFF2-40B4-BE49-F238E27FC236}">
                <a16:creationId xmlns:a16="http://schemas.microsoft.com/office/drawing/2014/main" id="{A4F8FB79-FA97-4AED-ACF6-411C7FA6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15302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전건 확보 후 제출</a:t>
            </a:r>
          </a:p>
        </p:txBody>
      </p:sp>
      <p:sp>
        <p:nvSpPr>
          <p:cNvPr id="30" name="id-note">
            <a:extLst xmlns:a="http://schemas.openxmlformats.org/drawingml/2006/main">
              <a:ext uri="{FF2B5EF4-FFF2-40B4-BE49-F238E27FC236}">
                <a16:creationId xmlns:a16="http://schemas.microsoft.com/office/drawing/2014/main" id="{1A6048A5-1835-43EC-B021-6678EE7D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id-note-text">
            <a:extLst xmlns:a="http://schemas.openxmlformats.org/drawingml/2006/main">
              <a:ext uri="{FF2B5EF4-FFF2-40B4-BE49-F238E27FC236}">
                <a16:creationId xmlns:a16="http://schemas.microsoft.com/office/drawing/2014/main" id="{AC0D3717-29B6-4A25-9BD3-C0069669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62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정책 확정과 구현·검증 완료를 구분해 표기했습니다.</a:t>
            </a:r>
          </a:p>
        </p:txBody>
      </p:sp>
      <p:sp>
        <p:nvSpPr>
          <p:cNvPr id="32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F3BDFE33-41F0-41CA-BD61-B9DB5DE3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33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FCDAF112-C8F9-457A-A401-4C7B71D3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2414717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12">
            <a:extLst xmlns:a="http://schemas.openxmlformats.org/drawingml/2006/main">
              <a:ext uri="{FF2B5EF4-FFF2-40B4-BE49-F238E27FC236}">
                <a16:creationId xmlns:a16="http://schemas.microsoft.com/office/drawing/2014/main" id="{45EEE44D-E215-401C-B4D4-2C896231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B2B DATA · 3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3215382C-E261-4191-94CD-8A71F46E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자동화보다 오류의 중단·복구 조건을 먼저 정했습니다</a:t>
            </a:r>
          </a:p>
        </p:txBody>
      </p:sp>
      <p:sp>
        <p:nvSpPr>
          <p:cNvPr id="3" name="top-rule-12">
            <a:extLst xmlns:a="http://schemas.openxmlformats.org/drawingml/2006/main">
              <a:ext uri="{FF2B5EF4-FFF2-40B4-BE49-F238E27FC236}">
                <a16:creationId xmlns:a16="http://schemas.microsoft.com/office/drawing/2014/main" id="{4B6C1826-3560-4E04-BC42-02E1090E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overy-sub">
            <a:extLst xmlns:a="http://schemas.openxmlformats.org/drawingml/2006/main">
              <a:ext uri="{FF2B5EF4-FFF2-40B4-BE49-F238E27FC236}">
                <a16:creationId xmlns:a16="http://schemas.microsoft.com/office/drawing/2014/main" id="{0E6F66EF-FA14-4ACA-A8E7-A428538A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2026-08-26 기준 자동 처리창과 수기 통관 예외를 분리한 운영 정책</a:t>
            </a:r>
          </a:p>
        </p:txBody>
      </p:sp>
      <p:sp>
        <p:nvSpPr>
          <p:cNvPr id="5" name="recovery-line">
            <a:extLst xmlns:a="http://schemas.openxmlformats.org/drawingml/2006/main">
              <a:ext uri="{FF2B5EF4-FFF2-40B4-BE49-F238E27FC236}">
                <a16:creationId xmlns:a16="http://schemas.microsoft.com/office/drawing/2014/main" id="{F822B1E4-ABCA-4325-B1B7-1DC57416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695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overy-node-0">
            <a:extLst xmlns:a="http://schemas.openxmlformats.org/drawingml/2006/main">
              <a:ext uri="{FF2B5EF4-FFF2-40B4-BE49-F238E27FC236}">
                <a16:creationId xmlns:a16="http://schemas.microsoft.com/office/drawing/2014/main" id="{5994F981-3079-44BE-ABDD-3488D72B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recovery-time-0">
            <a:extLst xmlns:a="http://schemas.openxmlformats.org/drawingml/2006/main">
              <a:ext uri="{FF2B5EF4-FFF2-40B4-BE49-F238E27FC236}">
                <a16:creationId xmlns:a16="http://schemas.microsoft.com/office/drawing/2014/main" id="{13E8D258-7BFE-412E-83FA-3A029A5F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11:10</a:t>
            </a:r>
          </a:p>
        </p:txBody>
      </p:sp>
      <p:sp>
        <p:nvSpPr>
          <p:cNvPr id="8" name="recovery-action-0">
            <a:extLst xmlns:a="http://schemas.openxmlformats.org/drawingml/2006/main">
              <a:ext uri="{FF2B5EF4-FFF2-40B4-BE49-F238E27FC236}">
                <a16:creationId xmlns:a16="http://schemas.microsoft.com/office/drawing/2014/main" id="{B36BC0E4-1E7E-4D7D-957D-5F06B8F6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HBL 수집</a:t>
            </a:r>
          </a:p>
        </p:txBody>
      </p:sp>
      <p:sp>
        <p:nvSpPr>
          <p:cNvPr id="9" name="recovery-node-1">
            <a:extLst xmlns:a="http://schemas.openxmlformats.org/drawingml/2006/main">
              <a:ext uri="{FF2B5EF4-FFF2-40B4-BE49-F238E27FC236}">
                <a16:creationId xmlns:a16="http://schemas.microsoft.com/office/drawing/2014/main" id="{CA8ED00F-DF22-499B-AD74-ED242F90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670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recovery-time-1">
            <a:extLst xmlns:a="http://schemas.openxmlformats.org/drawingml/2006/main">
              <a:ext uri="{FF2B5EF4-FFF2-40B4-BE49-F238E27FC236}">
                <a16:creationId xmlns:a16="http://schemas.microsoft.com/office/drawing/2014/main" id="{96313209-9CD5-4AFC-9208-3FA7B355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051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1" name="recovery-action-1">
            <a:extLst xmlns:a="http://schemas.openxmlformats.org/drawingml/2006/main">
              <a:ext uri="{FF2B5EF4-FFF2-40B4-BE49-F238E27FC236}">
                <a16:creationId xmlns:a16="http://schemas.microsoft.com/office/drawing/2014/main" id="{056EB144-A90E-4809-951D-55C07A2D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필드 검증</a:t>
            </a:r>
          </a:p>
        </p:txBody>
      </p:sp>
      <p:sp>
        <p:nvSpPr>
          <p:cNvPr id="12" name="recovery-node-2">
            <a:extLst xmlns:a="http://schemas.openxmlformats.org/drawingml/2006/main">
              <a:ext uri="{FF2B5EF4-FFF2-40B4-BE49-F238E27FC236}">
                <a16:creationId xmlns:a16="http://schemas.microsoft.com/office/drawing/2014/main" id="{69786A8D-01D5-4A45-9F1D-672E9021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ecovery-time-2">
            <a:extLst xmlns:a="http://schemas.openxmlformats.org/drawingml/2006/main">
              <a:ext uri="{FF2B5EF4-FFF2-40B4-BE49-F238E27FC236}">
                <a16:creationId xmlns:a16="http://schemas.microsoft.com/office/drawing/2014/main" id="{EEE533D5-0B55-466A-B35C-168EDF20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051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TRA</a:t>
            </a:r>
          </a:p>
        </p:txBody>
      </p:sp>
      <p:sp>
        <p:nvSpPr>
          <p:cNvPr id="14" name="recovery-action-2">
            <a:extLst xmlns:a="http://schemas.openxmlformats.org/drawingml/2006/main">
              <a:ext uri="{FF2B5EF4-FFF2-40B4-BE49-F238E27FC236}">
                <a16:creationId xmlns:a16="http://schemas.microsoft.com/office/drawing/2014/main" id="{466422B3-F5F6-47CF-ACAA-8D7539E8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제출·오류 확인</a:t>
            </a:r>
          </a:p>
        </p:txBody>
      </p:sp>
      <p:sp>
        <p:nvSpPr>
          <p:cNvPr id="15" name="recovery-node-3">
            <a:extLst xmlns:a="http://schemas.openxmlformats.org/drawingml/2006/main">
              <a:ext uri="{FF2B5EF4-FFF2-40B4-BE49-F238E27FC236}">
                <a16:creationId xmlns:a16="http://schemas.microsoft.com/office/drawing/2014/main" id="{9EE763E3-F7AD-4308-968A-68B18B27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67000"/>
            <a:ext cx="1714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recovery-time-3">
            <a:extLst xmlns:a="http://schemas.openxmlformats.org/drawingml/2006/main">
              <a:ext uri="{FF2B5EF4-FFF2-40B4-BE49-F238E27FC236}">
                <a16:creationId xmlns:a16="http://schemas.microsoft.com/office/drawing/2014/main" id="{2FAF7291-F105-43A3-A747-69A58193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051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11:50</a:t>
            </a:r>
          </a:p>
        </p:txBody>
      </p:sp>
      <p:sp>
        <p:nvSpPr>
          <p:cNvPr id="17" name="recovery-action-3">
            <a:extLst xmlns:a="http://schemas.openxmlformats.org/drawingml/2006/main">
              <a:ext uri="{FF2B5EF4-FFF2-40B4-BE49-F238E27FC236}">
                <a16:creationId xmlns:a16="http://schemas.microsoft.com/office/drawing/2014/main" id="{E4806B0A-B98B-4FB3-BF78-D0F4B23A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삭제 요청 마감</a:t>
            </a:r>
          </a:p>
        </p:txBody>
      </p:sp>
      <p:sp>
        <p:nvSpPr>
          <p:cNvPr id="18" name="manual-clearance">
            <a:extLst xmlns:a="http://schemas.openxmlformats.org/drawingml/2006/main">
              <a:ext uri="{FF2B5EF4-FFF2-40B4-BE49-F238E27FC236}">
                <a16:creationId xmlns:a16="http://schemas.microsoft.com/office/drawing/2014/main" id="{1A870CA7-B4B9-4323-B735-6408CC99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23431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anual-clearance-title">
            <a:extLst xmlns:a="http://schemas.openxmlformats.org/drawingml/2006/main">
              <a:ext uri="{FF2B5EF4-FFF2-40B4-BE49-F238E27FC236}">
                <a16:creationId xmlns:a16="http://schemas.microsoft.com/office/drawing/2014/main" id="{3C82A5F9-F023-418F-8100-97B185B7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1937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미확정·삭제 실패</a:t>
            </a:r>
          </a:p>
        </p:txBody>
      </p:sp>
      <p:sp>
        <p:nvSpPr>
          <p:cNvPr id="20" name="manual-clearance-code">
            <a:extLst xmlns:a="http://schemas.openxmlformats.org/drawingml/2006/main">
              <a:ext uri="{FF2B5EF4-FFF2-40B4-BE49-F238E27FC236}">
                <a16:creationId xmlns:a16="http://schemas.microsoft.com/office/drawing/2014/main" id="{EEA9EC8A-A586-4C53-AE25-75D39537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6705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MANUAL_</a:t>
            </a:r>
          </a:p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CLEARANCE_</a:t>
            </a:r>
          </a:p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REQUIRED</a:t>
            </a:r>
          </a:p>
        </p:txBody>
      </p:sp>
      <p:sp>
        <p:nvSpPr>
          <p:cNvPr id="21" name="recovery-status">
            <a:extLst xmlns:a="http://schemas.openxmlformats.org/drawingml/2006/main">
              <a:ext uri="{FF2B5EF4-FFF2-40B4-BE49-F238E27FC236}">
                <a16:creationId xmlns:a16="http://schemas.microsoft.com/office/drawing/2014/main" id="{869F3284-7BF8-4D0D-8705-069CF0D7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recovery-status-title">
            <a:extLst xmlns:a="http://schemas.openxmlformats.org/drawingml/2006/main">
              <a:ext uri="{FF2B5EF4-FFF2-40B4-BE49-F238E27FC236}">
                <a16:creationId xmlns:a16="http://schemas.microsoft.com/office/drawing/2014/main" id="{26B1A4ED-D507-431A-A31D-24281CA2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검증 상태</a:t>
            </a:r>
          </a:p>
        </p:txBody>
      </p:sp>
      <p:sp>
        <p:nvSpPr>
          <p:cNvPr id="23" name="recovery-status-body">
            <a:extLst xmlns:a="http://schemas.openxmlformats.org/drawingml/2006/main">
              <a:ext uri="{FF2B5EF4-FFF2-40B4-BE49-F238E27FC236}">
                <a16:creationId xmlns:a16="http://schemas.microsoft.com/office/drawing/2014/main" id="{C77AF987-EDAD-447D-BA26-FE86523B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29175"/>
            <a:ext cx="849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단계별 테스트 API 7종을 인수했고 2026-08-28 당사 직접 테스트 대상으로 관리했습니다.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전체 운영 E2E 통과로 표현하지 않습니다.</a:t>
            </a:r>
          </a:p>
        </p:txBody>
      </p:sp>
      <p:sp>
        <p:nvSpPr>
          <p:cNvPr id="24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D654655B-A074-429D-A57A-BCBDB9BF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25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53064F1B-EA59-486B-8AE6-D77ABC67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5074596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3">
            <a:extLst xmlns:a="http://schemas.openxmlformats.org/drawingml/2006/main">
              <a:ext uri="{FF2B5EF4-FFF2-40B4-BE49-F238E27FC236}">
                <a16:creationId xmlns:a16="http://schemas.microsoft.com/office/drawing/2014/main" id="{E5C1368A-B14D-4BC3-BE75-C2A6FBFB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AI PRODUCT DESIGN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F97C0CA0-E15F-47EF-A2AB-CC1B4E71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AI가 쓴 문장보다 승인 가능한 결과를 설계했습니다</a:t>
            </a:r>
          </a:p>
        </p:txBody>
      </p:sp>
      <p:sp>
        <p:nvSpPr>
          <p:cNvPr id="3" name="top-rule-13">
            <a:extLst xmlns:a="http://schemas.openxmlformats.org/drawingml/2006/main">
              <a:ext uri="{FF2B5EF4-FFF2-40B4-BE49-F238E27FC236}">
                <a16:creationId xmlns:a16="http://schemas.microsoft.com/office/drawing/2014/main" id="{5209C78E-2DC6-4653-87AB-D9A23ADE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rket-policy-backing">
            <a:extLst xmlns:a="http://schemas.openxmlformats.org/drawingml/2006/main">
              <a:ext uri="{FF2B5EF4-FFF2-40B4-BE49-F238E27FC236}">
                <a16:creationId xmlns:a16="http://schemas.microsoft.com/office/drawing/2014/main" id="{D6B37CB7-9758-4005-B7DB-62AF9C15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858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313602dd343a1"/>
          <a:stretch xmlns:a="http://schemas.openxmlformats.org/drawingml/2006/main"/>
        </p:blipFill>
        <p:spPr>
          <a:xfrm xmlns:a="http://schemas.openxmlformats.org/drawingml/2006/main">
            <a:off x="628650" y="1911552"/>
            <a:ext cx="6819900" cy="3834995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6" name="market-status">
            <a:extLst xmlns:a="http://schemas.openxmlformats.org/drawingml/2006/main">
              <a:ext uri="{FF2B5EF4-FFF2-40B4-BE49-F238E27FC236}">
                <a16:creationId xmlns:a16="http://schemas.microsoft.com/office/drawing/2014/main" id="{536DAD4C-D41A-414E-AF76-F601C0F2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P0 설계안</a:t>
            </a:r>
          </a:p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개발 전</a:t>
            </a:r>
          </a:p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검증 대기</a:t>
            </a:r>
          </a:p>
        </p:txBody>
      </p:sp>
      <p:sp>
        <p:nvSpPr>
          <p:cNvPr id="7" name="market-b1">
            <a:extLst xmlns:a="http://schemas.openxmlformats.org/drawingml/2006/main">
              <a:ext uri="{FF2B5EF4-FFF2-40B4-BE49-F238E27FC236}">
                <a16:creationId xmlns:a16="http://schemas.microsoft.com/office/drawing/2014/main" id="{8CACE7C2-488E-4C18-8F90-180659AC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81375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근거</a:t>
            </a:r>
            <a:r>
              <a:rPr>
                <a:solidFill>
                  <a:srgbClr val="111111"/>
                </a:solidFill>
              </a:rPr>
              <a:t> — 조사 결과와 SKU를 먼저 연결</a:t>
            </a:r>
          </a:p>
        </p:txBody>
      </p:sp>
      <p:sp>
        <p:nvSpPr>
          <p:cNvPr id="8" name="market-b2">
            <a:extLst xmlns:a="http://schemas.openxmlformats.org/drawingml/2006/main">
              <a:ext uri="{FF2B5EF4-FFF2-40B4-BE49-F238E27FC236}">
                <a16:creationId xmlns:a16="http://schemas.microsoft.com/office/drawing/2014/main" id="{8A7C53AA-42AB-40D4-9E91-D1310461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14775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검사</a:t>
            </a:r>
            <a:r>
              <a:rPr>
                <a:solidFill>
                  <a:srgbClr val="111111"/>
                </a:solidFill>
              </a:rPr>
              <a:t> — 출처 없는 수치·단정·후기 위장 차단</a:t>
            </a:r>
          </a:p>
        </p:txBody>
      </p:sp>
      <p:sp>
        <p:nvSpPr>
          <p:cNvPr id="9" name="market-b3">
            <a:extLst xmlns:a="http://schemas.openxmlformats.org/drawingml/2006/main">
              <a:ext uri="{FF2B5EF4-FFF2-40B4-BE49-F238E27FC236}">
                <a16:creationId xmlns:a16="http://schemas.microsoft.com/office/drawing/2014/main" id="{665BFCC0-3D0B-4C43-9D68-05B27314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24375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buChar char="•"/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b="1">
                <a:solidFill>
                  <a:srgbClr val="111111"/>
                </a:solidFill>
              </a:rPr>
              <a:t>승인</a:t>
            </a:r>
            <a:r>
              <a:rPr>
                <a:solidFill>
                  <a:srgbClr val="111111"/>
                </a:solidFill>
              </a:rPr>
              <a:t> — 사람 승인 없이는 게시·추적 링크 생성 불가</a:t>
            </a:r>
          </a:p>
        </p:txBody>
      </p:sp>
      <p:sp>
        <p:nvSpPr>
          <p:cNvPr id="10" name="market-gap">
            <a:extLst xmlns:a="http://schemas.openxmlformats.org/drawingml/2006/main">
              <a:ext uri="{FF2B5EF4-FFF2-40B4-BE49-F238E27FC236}">
                <a16:creationId xmlns:a16="http://schemas.microsoft.com/office/drawing/2014/main" id="{F4B0D858-8BB5-4498-A43A-AD0DF24D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7685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3A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43A3A"/>
                </a:solidFill>
                <a:latin typeface="Malgun Gothic"/>
                <a:ea typeface="Malgun Gothic"/>
                <a:cs typeface="Malgun Gothic"/>
              </a:rPr>
              <a:t>남은 증거: 평가셋 · 실패 로그 · 사용자 테스트 · 실제 제품 반영</a:t>
            </a:r>
          </a:p>
        </p:txBody>
      </p:sp>
      <p:sp>
        <p:nvSpPr>
          <p:cNvPr id="11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E8F02FE1-9A9D-44C2-9FF7-436A035B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원더무브 맞춤 포트폴리오</a:t>
            </a:r>
          </a:p>
        </p:txBody>
      </p:sp>
      <p:sp>
        <p:nvSpPr>
          <p:cNvPr id="12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5FBEC43C-E5C0-4D91-B3F6-495C7478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4424949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89C02FBF-AF52-40F7-B8EC-0C1356A2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381A6548-EE6E-408B-928D-B6F97D5C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WHY WONDERMOVE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84AD4F6E-8753-4949-8F87-23400BE1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6667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사용자가 AI를 믿고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통제할 조건을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설계하겠습니다</a:t>
            </a:r>
          </a:p>
        </p:txBody>
      </p:sp>
      <p:sp>
        <p:nvSpPr>
          <p:cNvPr id="4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2E77525F-F99A-449D-8A0F-DB5DE327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정책은 사람의 기억이 아니라 시스템에 남기고,</a:t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AI는 답변이 아니라 근거·승인·복구를 포함한 흐름으로 다루겠습니다.</a:t>
            </a:r>
          </a:p>
        </p:txBody>
      </p:sp>
      <p:sp>
        <p:nvSpPr>
          <p:cNvPr id="5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FEA6EE03-5FB1-4B0F-BFFE-81BEBCB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ing-principle-0">
            <a:extLst xmlns:a="http://schemas.openxmlformats.org/drawingml/2006/main">
              <a:ext uri="{FF2B5EF4-FFF2-40B4-BE49-F238E27FC236}">
                <a16:creationId xmlns:a16="http://schemas.microsoft.com/office/drawing/2014/main" id="{D72EE7B6-DBF4-45EF-AEBB-3FF4B392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054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EVIDENCE</a:t>
            </a:r>
          </a:p>
        </p:txBody>
      </p:sp>
      <p:sp>
        <p:nvSpPr>
          <p:cNvPr id="7" name="closing-principle-body-0">
            <a:extLst xmlns:a="http://schemas.openxmlformats.org/drawingml/2006/main">
              <a:ext uri="{FF2B5EF4-FFF2-40B4-BE49-F238E27FC236}">
                <a16:creationId xmlns:a16="http://schemas.microsoft.com/office/drawing/2014/main" id="{B8450A66-B4D1-401A-A82C-98E4B739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사실·가설·미확인</a:t>
            </a:r>
          </a:p>
        </p:txBody>
      </p:sp>
      <p:sp>
        <p:nvSpPr>
          <p:cNvPr id="8" name="closing-principle-1">
            <a:extLst xmlns:a="http://schemas.openxmlformats.org/drawingml/2006/main">
              <a:ext uri="{FF2B5EF4-FFF2-40B4-BE49-F238E27FC236}">
                <a16:creationId xmlns:a16="http://schemas.microsoft.com/office/drawing/2014/main" id="{827389AE-14A0-4A9B-8A83-0102700D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054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CONTROL</a:t>
            </a:r>
          </a:p>
        </p:txBody>
      </p:sp>
      <p:sp>
        <p:nvSpPr>
          <p:cNvPr id="9" name="closing-principle-body-1">
            <a:extLst xmlns:a="http://schemas.openxmlformats.org/drawingml/2006/main">
              <a:ext uri="{FF2B5EF4-FFF2-40B4-BE49-F238E27FC236}">
                <a16:creationId xmlns:a16="http://schemas.microsoft.com/office/drawing/2014/main" id="{F64A0DEF-0CD3-4558-A045-009A4E45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648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승인·권한·중단</a:t>
            </a:r>
          </a:p>
        </p:txBody>
      </p:sp>
      <p:sp>
        <p:nvSpPr>
          <p:cNvPr id="10" name="closing-principle-2">
            <a:extLst xmlns:a="http://schemas.openxmlformats.org/drawingml/2006/main">
              <a:ext uri="{FF2B5EF4-FFF2-40B4-BE49-F238E27FC236}">
                <a16:creationId xmlns:a16="http://schemas.microsoft.com/office/drawing/2014/main" id="{A29CCE1E-C45A-40A3-BB8F-22BF5D22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054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RECOVERY</a:t>
            </a:r>
          </a:p>
        </p:txBody>
      </p:sp>
      <p:sp>
        <p:nvSpPr>
          <p:cNvPr id="11" name="closing-principle-body-2">
            <a:extLst xmlns:a="http://schemas.openxmlformats.org/drawingml/2006/main">
              <a:ext uri="{FF2B5EF4-FFF2-40B4-BE49-F238E27FC236}">
                <a16:creationId xmlns:a16="http://schemas.microsoft.com/office/drawing/2014/main" id="{A65AAFA5-343A-407B-904C-384D1B0E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48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예외·원복·재검증</a:t>
            </a:r>
          </a:p>
        </p:txBody>
      </p:sp>
      <p:sp>
        <p:nvSpPr>
          <p:cNvPr id="12" name="closing-name">
            <a:extLst xmlns:a="http://schemas.openxmlformats.org/drawingml/2006/main">
              <a:ext uri="{FF2B5EF4-FFF2-40B4-BE49-F238E27FC236}">
                <a16:creationId xmlns:a16="http://schemas.microsoft.com/office/drawing/2014/main" id="{51D7C976-6402-49DE-B8CB-8D7D5FB9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722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박종혁 · 신입 웹·앱 서비스 기획자</a:t>
            </a:r>
          </a:p>
        </p:txBody>
      </p:sp>
      <p:sp>
        <p:nvSpPr>
          <p:cNvPr id="13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82D3DBBA-BF8B-4A8E-BB1E-B2F641C5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722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331985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2026-08-27T16:50:19.4360000Z</dcterms:created>
  <dcterms:modified xsi:type="dcterms:W3CDTF">2026-08-27T16:50:19.4360000Z</dcterms:modified>
</coreProperties>
</file>