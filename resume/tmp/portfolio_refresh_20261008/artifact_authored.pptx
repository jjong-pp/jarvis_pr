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64e33d78144e1" /><Relationship Type="http://schemas.openxmlformats.org/officeDocument/2006/relationships/extended-properties" Target="/docProps/app.xml" Id="R1c0808fc92614a82" /><Relationship Type="http://schemas.openxmlformats.org/officeDocument/2006/relationships/officeDocument" Target="/ppt/presentation.xml" Id="Re7e62c4ad6a747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cfc62db7354975"/>
  </p:sldMasterIdLst>
  <p:notesMasterIdLst>
    <p:notesMasterId xmlns:r="http://schemas.openxmlformats.org/officeDocument/2006/relationships" r:id="R8dfcd75ddd164268"/>
  </p:notesMasterIdLst>
  <p:sldIdLst>
    <p:sldId xmlns:r="http://schemas.openxmlformats.org/officeDocument/2006/relationships" id="256" r:id="R70564c6cd68342d0"/>
    <p:sldId xmlns:r="http://schemas.openxmlformats.org/officeDocument/2006/relationships" id="257" r:id="R906001cd0989427d"/>
    <p:sldId xmlns:r="http://schemas.openxmlformats.org/officeDocument/2006/relationships" id="258" r:id="R7958f2eaa5cf4ff3"/>
    <p:sldId xmlns:r="http://schemas.openxmlformats.org/officeDocument/2006/relationships" id="259" r:id="Rb779ff5d47294db0"/>
    <p:sldId xmlns:r="http://schemas.openxmlformats.org/officeDocument/2006/relationships" id="260" r:id="R2df15796f20e42f5"/>
    <p:sldId xmlns:r="http://schemas.openxmlformats.org/officeDocument/2006/relationships" id="261" r:id="R889191d87e294737"/>
    <p:sldId xmlns:r="http://schemas.openxmlformats.org/officeDocument/2006/relationships" id="262" r:id="Ra383c70050934997"/>
    <p:sldId xmlns:r="http://schemas.openxmlformats.org/officeDocument/2006/relationships" id="263" r:id="Rfef7874e48ba4af7"/>
    <p:sldId xmlns:r="http://schemas.openxmlformats.org/officeDocument/2006/relationships" id="264" r:id="R85313a70f4174783"/>
    <p:sldId xmlns:r="http://schemas.openxmlformats.org/officeDocument/2006/relationships" id="265" r:id="R7a2d9918f4c2418f"/>
    <p:sldId xmlns:r="http://schemas.openxmlformats.org/officeDocument/2006/relationships" id="266" r:id="Rc59ba7abea5e4cef"/>
    <p:sldId xmlns:r="http://schemas.openxmlformats.org/officeDocument/2006/relationships" id="267" r:id="R37d1b39bf3bf40d2"/>
    <p:sldId xmlns:r="http://schemas.openxmlformats.org/officeDocument/2006/relationships" id="268" r:id="R012bab87c0a7432c"/>
    <p:sldId xmlns:r="http://schemas.openxmlformats.org/officeDocument/2006/relationships" id="269" r:id="Re436c3c43cc14739"/>
    <p:sldId xmlns:r="http://schemas.openxmlformats.org/officeDocument/2006/relationships" id="270" r:id="Rda77cdae38b44466"/>
    <p:sldId xmlns:r="http://schemas.openxmlformats.org/officeDocument/2006/relationships" id="271" r:id="R58d9a0ba169247c7"/>
    <p:sldId xmlns:r="http://schemas.openxmlformats.org/officeDocument/2006/relationships" id="272" r:id="Rac0d5a5518cf4e82"/>
    <p:sldId xmlns:r="http://schemas.openxmlformats.org/officeDocument/2006/relationships" id="273" r:id="R7956bd926950448e"/>
    <p:sldId xmlns:r="http://schemas.openxmlformats.org/officeDocument/2006/relationships" id="274" r:id="R67a88765592f4172"/>
    <p:sldId xmlns:r="http://schemas.openxmlformats.org/officeDocument/2006/relationships" id="275" r:id="R3f9864afa424412a"/>
    <p:sldId xmlns:r="http://schemas.openxmlformats.org/officeDocument/2006/relationships" id="276" r:id="Rfb4006a795014b18"/>
    <p:sldId xmlns:r="http://schemas.openxmlformats.org/officeDocument/2006/relationships" id="277" r:id="R55b8eb38ccc14c87"/>
    <p:sldId xmlns:r="http://schemas.openxmlformats.org/officeDocument/2006/relationships" id="278" r:id="Rd7020eeb26c14807"/>
    <p:sldId xmlns:r="http://schemas.openxmlformats.org/officeDocument/2006/relationships" id="279" r:id="R1c1b085f89c34e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4241a4d45840fa" /><Relationship Type="http://schemas.openxmlformats.org/officeDocument/2006/relationships/slideMaster" Target="/ppt/slideMasters/slideMaster1.xml" Id="Rcfcfc62db7354975" /><Relationship Type="http://schemas.openxmlformats.org/officeDocument/2006/relationships/notesMaster" Target="/ppt/notesMasters/notesMaster1.xml" Id="R8dfcd75ddd164268" /><Relationship Type="http://schemas.openxmlformats.org/officeDocument/2006/relationships/presProps" Target="/ppt/presProps.xml" Id="R871135f3bd974078" /><Relationship Type="http://schemas.openxmlformats.org/officeDocument/2006/relationships/viewProps" Target="/ppt/viewProps.xml" Id="R2a34a4ce418e4aad" /><Relationship Type="http://schemas.openxmlformats.org/officeDocument/2006/relationships/tableStyles" Target="/ppt/tableStyles.xml" Id="Rdde30ec86c4e4663" /><Relationship Type="http://schemas.openxmlformats.org/officeDocument/2006/relationships/slide" Target="/ppt/slides/slide1.xml" Id="R70564c6cd68342d0" /><Relationship Type="http://schemas.openxmlformats.org/officeDocument/2006/relationships/slide" Target="/ppt/slides/slide2.xml" Id="R906001cd0989427d" /><Relationship Type="http://schemas.openxmlformats.org/officeDocument/2006/relationships/slide" Target="/ppt/slides/slide3.xml" Id="R7958f2eaa5cf4ff3" /><Relationship Type="http://schemas.openxmlformats.org/officeDocument/2006/relationships/slide" Target="/ppt/slides/slide4.xml" Id="Rb779ff5d47294db0" /><Relationship Type="http://schemas.openxmlformats.org/officeDocument/2006/relationships/slide" Target="/ppt/slides/slide5.xml" Id="R2df15796f20e42f5" /><Relationship Type="http://schemas.openxmlformats.org/officeDocument/2006/relationships/slide" Target="/ppt/slides/slide6.xml" Id="R889191d87e294737" /><Relationship Type="http://schemas.openxmlformats.org/officeDocument/2006/relationships/slide" Target="/ppt/slides/slide7.xml" Id="Ra383c70050934997" /><Relationship Type="http://schemas.openxmlformats.org/officeDocument/2006/relationships/slide" Target="/ppt/slides/slide8.xml" Id="Rfef7874e48ba4af7" /><Relationship Type="http://schemas.openxmlformats.org/officeDocument/2006/relationships/slide" Target="/ppt/slides/slide9.xml" Id="R85313a70f4174783" /><Relationship Type="http://schemas.openxmlformats.org/officeDocument/2006/relationships/slide" Target="/ppt/slides/slide10.xml" Id="R7a2d9918f4c2418f" /><Relationship Type="http://schemas.openxmlformats.org/officeDocument/2006/relationships/slide" Target="/ppt/slides/slide11.xml" Id="Rc59ba7abea5e4cef" /><Relationship Type="http://schemas.openxmlformats.org/officeDocument/2006/relationships/slide" Target="/ppt/slides/slide12.xml" Id="R37d1b39bf3bf40d2" /><Relationship Type="http://schemas.openxmlformats.org/officeDocument/2006/relationships/slide" Target="/ppt/slides/slide13.xml" Id="R012bab87c0a7432c" /><Relationship Type="http://schemas.openxmlformats.org/officeDocument/2006/relationships/slide" Target="/ppt/slides/slide14.xml" Id="Re436c3c43cc14739" /><Relationship Type="http://schemas.openxmlformats.org/officeDocument/2006/relationships/slide" Target="/ppt/slides/slide15.xml" Id="Rda77cdae38b44466" /><Relationship Type="http://schemas.openxmlformats.org/officeDocument/2006/relationships/slide" Target="/ppt/slides/slide16.xml" Id="R58d9a0ba169247c7" /><Relationship Type="http://schemas.openxmlformats.org/officeDocument/2006/relationships/slide" Target="/ppt/slides/slide17.xml" Id="Rac0d5a5518cf4e82" /><Relationship Type="http://schemas.openxmlformats.org/officeDocument/2006/relationships/slide" Target="/ppt/slides/slide18.xml" Id="R7956bd926950448e" /><Relationship Type="http://schemas.openxmlformats.org/officeDocument/2006/relationships/slide" Target="/ppt/slides/slide19.xml" Id="R67a88765592f4172" /><Relationship Type="http://schemas.openxmlformats.org/officeDocument/2006/relationships/slide" Target="/ppt/slides/slide20.xml" Id="R3f9864afa424412a" /><Relationship Type="http://schemas.openxmlformats.org/officeDocument/2006/relationships/slide" Target="/ppt/slides/slide21.xml" Id="Rfb4006a795014b18" /><Relationship Type="http://schemas.openxmlformats.org/officeDocument/2006/relationships/slide" Target="/ppt/slides/slide22.xml" Id="R55b8eb38ccc14c87" /><Relationship Type="http://schemas.openxmlformats.org/officeDocument/2006/relationships/slide" Target="/ppt/slides/slide23.xml" Id="Rd7020eeb26c14807" /><Relationship Type="http://schemas.openxmlformats.org/officeDocument/2006/relationships/slide" Target="/ppt/slides/slide24.xml" Id="R1c1b085f89c34e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53c838682d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99a0e6eb084d03" /><Relationship Type="http://schemas.openxmlformats.org/officeDocument/2006/relationships/notesMaster" Target="/ppt/notesMasters/notesMaster1.xml" Id="R6f928ea64443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58a4601844d73" /><Relationship Type="http://schemas.openxmlformats.org/officeDocument/2006/relationships/notesMaster" Target="/ppt/notesMasters/notesMaster1.xml" Id="R8dc896882bd041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40453c73ba4851" /><Relationship Type="http://schemas.openxmlformats.org/officeDocument/2006/relationships/notesMaster" Target="/ppt/notesMasters/notesMaster1.xml" Id="R6cf78b749df041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4aa4c3dadf459c" /><Relationship Type="http://schemas.openxmlformats.org/officeDocument/2006/relationships/notesMaster" Target="/ppt/notesMasters/notesMaster1.xml" Id="Rb70bee5647124f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8ee77613dc48a5" /><Relationship Type="http://schemas.openxmlformats.org/officeDocument/2006/relationships/notesMaster" Target="/ppt/notesMasters/notesMaster1.xml" Id="Rced20308e50b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30feb18d04186" /><Relationship Type="http://schemas.openxmlformats.org/officeDocument/2006/relationships/notesMaster" Target="/ppt/notesMasters/notesMaster1.xml" Id="R684a0c8ea83c4f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4840d202304823" /><Relationship Type="http://schemas.openxmlformats.org/officeDocument/2006/relationships/notesMaster" Target="/ppt/notesMasters/notesMaster1.xml" Id="R9c7a42962baa45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4a3660db9e46f8" /><Relationship Type="http://schemas.openxmlformats.org/officeDocument/2006/relationships/notesMaster" Target="/ppt/notesMasters/notesMaster1.xml" Id="R9595d526732143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73c3ec7cd1420b" /><Relationship Type="http://schemas.openxmlformats.org/officeDocument/2006/relationships/notesMaster" Target="/ppt/notesMasters/notesMaster1.xml" Id="Rf30d7cbc003349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7f846edcf646b2" /><Relationship Type="http://schemas.openxmlformats.org/officeDocument/2006/relationships/notesMaster" Target="/ppt/notesMasters/notesMaster1.xml" Id="Rd79f4b3e6f4643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fb87777b124abe" /><Relationship Type="http://schemas.openxmlformats.org/officeDocument/2006/relationships/notesMaster" Target="/ppt/notesMasters/notesMaster1.xml" Id="Ra9f90e62d2854f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d13a25d3b94e04" /><Relationship Type="http://schemas.openxmlformats.org/officeDocument/2006/relationships/notesMaster" Target="/ppt/notesMasters/notesMaster1.xml" Id="R501785b4bacd41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f871263b334cca" /><Relationship Type="http://schemas.openxmlformats.org/officeDocument/2006/relationships/notesMaster" Target="/ppt/notesMasters/notesMaster1.xml" Id="Raf55671f641645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53a53f0f63479e" /><Relationship Type="http://schemas.openxmlformats.org/officeDocument/2006/relationships/notesMaster" Target="/ppt/notesMasters/notesMaster1.xml" Id="R98aebc0f02ef40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523c10e0c348de" /><Relationship Type="http://schemas.openxmlformats.org/officeDocument/2006/relationships/notesMaster" Target="/ppt/notesMasters/notesMaster1.xml" Id="R7098992af7fa4b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ac7d587a2f41f0" /><Relationship Type="http://schemas.openxmlformats.org/officeDocument/2006/relationships/notesMaster" Target="/ppt/notesMasters/notesMaster1.xml" Id="Rf21366f6a98d4c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64fd7661464ee1" /><Relationship Type="http://schemas.openxmlformats.org/officeDocument/2006/relationships/notesMaster" Target="/ppt/notesMasters/notesMaster1.xml" Id="Rc6a64a58d19940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dfa4eaba21457c" /><Relationship Type="http://schemas.openxmlformats.org/officeDocument/2006/relationships/notesMaster" Target="/ppt/notesMasters/notesMaster1.xml" Id="R8343f743891f40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d1d24a2cd24049" /><Relationship Type="http://schemas.openxmlformats.org/officeDocument/2006/relationships/notesMaster" Target="/ppt/notesMasters/notesMaster1.xml" Id="Rc5f2f24753d146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5b21cecf6b4be4" /><Relationship Type="http://schemas.openxmlformats.org/officeDocument/2006/relationships/notesMaster" Target="/ppt/notesMasters/notesMaster1.xml" Id="R0fd505e0aa884a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f619d19ede41c9" /><Relationship Type="http://schemas.openxmlformats.org/officeDocument/2006/relationships/notesMaster" Target="/ppt/notesMasters/notesMaster1.xml" Id="R47a75fc8e83c44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18a6ddb3fe4f2e" /><Relationship Type="http://schemas.openxmlformats.org/officeDocument/2006/relationships/notesMaster" Target="/ppt/notesMasters/notesMaster1.xml" Id="Rd723ce003ac548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860dab9fc34f65" /><Relationship Type="http://schemas.openxmlformats.org/officeDocument/2006/relationships/notesMaster" Target="/ppt/notesMasters/notesMaster1.xml" Id="Ra574a97f3e4e4c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c6ea9dd3b14ee4" /><Relationship Type="http://schemas.openxmlformats.org/officeDocument/2006/relationships/notesMaster" Target="/ppt/notesMasters/notesMaster1.xml" Id="R82f7abcd74e3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C-002·003·010a·025·039·050·055·058·059·078·086.</a:t>
            </a:r>
          </a:p>
          <a:p xmlns:a="http://schemas.openxmlformats.org/drawingml/2006/main">
            <a:r>
              <a:t>BIGSEE는 별도 공동 서비스. 개발 구현은 동료 담당.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C-027·031·039·040·050·055·058·059.</a:t>
            </a:r>
          </a:p>
          <a:p xmlns:a="http://schemas.openxmlformats.org/drawingml/2006/main">
            <a:r>
              <a:t>포함판은 일반 주니어 PM용. 최신 resume/AGENTS.md의 B2B 우선 원칙 적용.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C-030~039·076. 사업 규모와 확정 일정. 계약 항목 전체 완료와 핵심 서비스 가동을 구분.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C-033·129. 산후조리원몰_과업내역_처리결과.html 과업1, 228~250행. 수치가 포함된 계정·상품 데이터는 캡처에서 제외.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C-034. 산후조리원몰_과업내역_처리결과.html 322~327행. 실제 주문을 재현한 로그가 아닌 정책 설명 시뮬레이션.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C-036·130. 산후조리원몰_과업내역_처리결과.html 452~477행. 자동 실행 대신 담당자 확인 후 실행 결정과 안전장치 근거.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C-038·046·131.</a:t>
            </a:r>
          </a:p>
          <a:p xmlns:a="http://schemas.openxmlformats.org/drawingml/2006/main">
            <a:r>
              <a:t>화면: .build/v4_3/b2b_raw/safe-statement-before.png, safe-statement-after.png. 운영 회의·문의 피드백이며 정식 사용자 인터뷰/실험으로 확대하지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C-050·050a·050b·054·055·058·059, 11절.</a:t>
            </a:r>
          </a:p>
          <a:p xmlns:a="http://schemas.openxmlformats.org/drawingml/2006/main">
            <a:r>
              <a:t>기간 C-051 제외. 기출시 SaaS 인수/단독 개발/PMF 완료 표현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C-056·060b·060c·059.</a:t>
            </a:r>
          </a:p>
          <a:p xmlns:a="http://schemas.openxmlformats.org/drawingml/2006/main">
            <a:r>
              <a:t>표의 제안 문구는 정본의 고객별 업무를 요약. 사용 빈도·시간 절감 수치는 근거가 없어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C-055·060d·060e·058.</a:t>
            </a:r>
          </a:p>
          <a:p xmlns:a="http://schemas.openxmlformats.org/drawingml/2006/main">
            <a:r>
              <a:t>제외 이유 문구는 출처의 범위 결정을 요약한 기획 해석. 배포/개발 완료 주장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C-060d·058·057.</a:t>
            </a:r>
          </a:p>
          <a:p xmlns:a="http://schemas.openxmlformats.org/drawingml/2006/main">
            <a:r>
              <a:t>원장의 흐름을 요약한 편집 가능한 설계 도표. 상태는 기획이며 모든 분기 구현 완료와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C-058.</a:t>
            </a:r>
          </a:p>
          <a:p xmlns:a="http://schemas.openxmlformats.org/drawingml/2006/main">
            <a:r>
              <a:t>포트폴리오/evidence/bigsee/current/마켓빅시_AI응답정책_발췌_2026-09-03.md. 정책은 설계 확정, 항목별 구현 완료 별도.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C-059·059a·059b.</a:t>
            </a:r>
          </a:p>
          <a:p xmlns:a="http://schemas.openxmlformats.org/drawingml/2006/main">
            <a:r>
              <a:t>H-011→H-012는 문서상의 가설 수정. 동일 기간 비교 의미는 설계에 대한 해석이며 실험 실행·결과로 확대하지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C-050·050b·054~059.</a:t>
            </a:r>
          </a:p>
          <a:p xmlns:a="http://schemas.openxmlformats.org/drawingml/2006/main">
            <a:r>
              <a:t>유입부터 팀 초대까지의 전체 이벤트 정의안은 C-057. 표는 제품 판단에 필요한 일부를 발췌. 상단 첫 열은 현재 운영 사실, 후속 두 열은 설계·검증 범위. 하단 이벤트는 정의안이며 구현·측정 완료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C-020~028·101·126. 운영 시작과 전체 자동화 완료는 구분.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C-025·028·101·126. planning_v7.html 4·8·9절. 원본은 내부 문서로 도표를 일반화해 재구성.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C-022·027·100·102·103.</a:t>
            </a:r>
          </a:p>
          <a:p xmlns:a="http://schemas.openxmlformats.org/drawingml/2006/main">
            <a:r>
              <a:t>일평균 300건은 발생 주문 규모이고 API 호출/전량 신규 자동화율이 아님. 원천: 2026-09-15 사용자 운영기간 집계 확인. 테스트 세부 건수 배분/개선율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C-025·027·029·034~040·050·055·058·059.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3de2cf0234a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7fa87a78745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8c21c3d6e4e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c46a0a2a146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e80d7ad094d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060a0fe9a47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faef3ba4a43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bacfb928849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7e9b26bf142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2144f02804cb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117f2b66d4fd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6fc2035d74695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915CF38-D933-F635-8D11-281879570E6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4ED935F5-D02E-398C-4374-D206DC6E52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9AD0F29-F62D-8752-EDAA-12B467AE5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BD8BED0-938D-CB6B-BBAE-2484BDB4B9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34B80A7-8858-4B31-8F95-0609FDD54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D9E94E6-CD7D-0A1C-596B-D4315E6C5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A09128C-F1F9-0329-587C-6223A0708C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6EF3B05-4106-E31A-FA1C-23EC73C76B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1F8CA5F-542D-E8DF-1CE1-892915372D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DB7A4EBA-F287-1641-4876-5DC477ACA4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9A2F0D7-C3E6-7982-7F35-B490DE30B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81C3C54-C2BC-ACF3-4EF6-68076AAD9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35DA1DB0-B37F-437D-0791-6A3680D34D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CFCC979A-F2C6-F128-1E27-D40605C7ED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6A760B4A-F9DA-EAC9-BD13-7AE77D4625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5730257-58DA-ECBD-5D05-A4E0180E8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A2FB2143-115D-FBCF-9A93-D177290247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5B4AA1B8-8370-6CCD-11E8-3E7A7F5130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E01DE7E1-4026-22A1-8D80-C0A59E6C64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C6A4D32-82B2-395A-07C2-4E5956B4CB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A37D8F0-6E3E-AF65-F35E-50B4D334F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8E3A5D4-9121-23A3-5BFC-578BF698A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F60C0FF-4B12-2CE9-FEEE-6F7C196B56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9635D39-5DB8-7A54-FB83-B57A6F5507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A11C5D9-878B-C43C-5216-BB4396AC838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9136206B-01F5-CF67-FE6D-46367352DA3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C370FB1F-A174-8469-D8C4-3FB4803AD6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B8A7F267-3854-B8A2-A776-746673ADC8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45EFAED5-283F-6FFC-3844-06AFC8A581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24006B1-E5FF-3179-EA03-B3B95886F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21B512C1-67E4-BCE8-EE2E-DB80CE0FCB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8CA9CD9F-A2A3-A9B4-8B9D-BAA225418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E05E0E7-8873-49F8-A90C-9CD6F236F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506481D-FEF3-4ADE-5F0D-D998F5BDC5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CF489814-7927-E412-1B0E-39F2E651A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0F6AB25B-88CA-1890-DDFB-6F65410204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AFBAA9E-6E84-3569-E438-D0E00F125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C2823879-1ED1-D98B-762B-8F90015D2C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D80ECDD0-72DC-82FE-B2B2-BC7BF9F410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19780077-8B96-A392-8B3A-609DD57492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1379A14-3E12-5EAA-539B-75559FB11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7B9BC6F7-706A-2144-001B-40E1BF081D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58CDEAC-A5D5-0084-AABA-07F18FE7F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578A5A7D-7315-EB0A-6980-725A29B13DA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A424CEE0-C28E-F4BB-5DD3-CEFFE865B4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C05F11C-212F-20F6-1648-77BD662946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02BC8AD9-1B7B-E9D5-977B-90BE710750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04131896-4AC8-BA2E-FAEA-C3A20FBF23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24D7FF4-05E9-7DD8-21DC-19F1AE1ED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6B919D1-EB97-FCD4-4F2B-A38238DD6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F0EE79B-8FF6-BE4D-8EFB-BC896F238E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16DD126-0868-CCBE-0D2B-6FD3D3D60C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3AF01E8-57FB-33CC-1A55-EE7D347652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A28162DC-AB37-DDB2-63D7-513D23A63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E4B0D14-D28C-2980-1D11-BED583BB6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F242735-0E57-D236-B376-0BB5CD51DB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1083E7C-93A4-FEDC-14B8-2C1D41723B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8FA8A2B-7952-3EAC-A310-ED07A36852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cd62e7386746da" /><Relationship Type="http://schemas.openxmlformats.org/officeDocument/2006/relationships/slideLayout" Target="/ppt/slideLayouts/slideLayout1.xml" Id="R03e64929badc45f6" /><Relationship Type="http://schemas.openxmlformats.org/officeDocument/2006/relationships/slideLayout" Target="/ppt/slideLayouts/slideLayout2.xml" Id="Rd294ebd06a434cfa" /><Relationship Type="http://schemas.openxmlformats.org/officeDocument/2006/relationships/slideLayout" Target="/ppt/slideLayouts/slideLayout3.xml" Id="R315bb06db0a7419a" /><Relationship Type="http://schemas.openxmlformats.org/officeDocument/2006/relationships/slideLayout" Target="/ppt/slideLayouts/slideLayout4.xml" Id="R953f5928b11445a5" /><Relationship Type="http://schemas.openxmlformats.org/officeDocument/2006/relationships/slideLayout" Target="/ppt/slideLayouts/slideLayout5.xml" Id="Rcecbf4714ece46c7" /><Relationship Type="http://schemas.openxmlformats.org/officeDocument/2006/relationships/slideLayout" Target="/ppt/slideLayouts/slideLayout6.xml" Id="R891752449571436b" /><Relationship Type="http://schemas.openxmlformats.org/officeDocument/2006/relationships/slideLayout" Target="/ppt/slideLayouts/slideLayout7.xml" Id="R7c4e56ceb62a4fa3" /><Relationship Type="http://schemas.openxmlformats.org/officeDocument/2006/relationships/slideLayout" Target="/ppt/slideLayouts/slideLayout8.xml" Id="Rd452052f16db4e01" /><Relationship Type="http://schemas.openxmlformats.org/officeDocument/2006/relationships/slideLayout" Target="/ppt/slideLayouts/slideLayout9.xml" Id="R49d1f02446994f62" /><Relationship Type="http://schemas.openxmlformats.org/officeDocument/2006/relationships/slideLayout" Target="/ppt/slideLayouts/slideLayout10.xml" Id="R458687e489cf45ed" /><Relationship Type="http://schemas.openxmlformats.org/officeDocument/2006/relationships/slideLayout" Target="/ppt/slideLayouts/slideLayout11.xml" Id="R3c70d839eb1045b9" /><Relationship Type="http://schemas.openxmlformats.org/officeDocument/2006/relationships/slideLayout" Target="/ppt/slideLayouts/slideLayout12.xml" Id="R3af2cc25a71a42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EECC886C-E290-E084-622D-053928ADE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1A08201-CE7B-B00C-7566-0380E6FB02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3AA900E-8EF7-D61D-783B-D2A03B4D3C5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E88304E-843A-4040-8F9F-C7481AF65B33}" type="datetimeFigureOut">
              <a:t>2026-10-08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FCF4036-8532-B207-5753-CF63D6BB47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7DD00EF5-33BF-7D1F-61F2-60B7FD4764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5183B57-CB0E-4DC0-8CF0-3DFE4DF65D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e64929badc45f6"/>
    <p:sldLayoutId xmlns:r="http://schemas.openxmlformats.org/officeDocument/2006/relationships" id="2147483650" r:id="Rd294ebd06a434cfa"/>
    <p:sldLayoutId xmlns:r="http://schemas.openxmlformats.org/officeDocument/2006/relationships" id="2147483651" r:id="R315bb06db0a7419a"/>
    <p:sldLayoutId xmlns:r="http://schemas.openxmlformats.org/officeDocument/2006/relationships" id="2147483652" r:id="R953f5928b11445a5"/>
    <p:sldLayoutId xmlns:r="http://schemas.openxmlformats.org/officeDocument/2006/relationships" id="2147483653" r:id="Rcecbf4714ece46c7"/>
    <p:sldLayoutId xmlns:r="http://schemas.openxmlformats.org/officeDocument/2006/relationships" id="2147483654" r:id="R891752449571436b"/>
    <p:sldLayoutId xmlns:r="http://schemas.openxmlformats.org/officeDocument/2006/relationships" id="2147483655" r:id="R7c4e56ceb62a4fa3"/>
    <p:sldLayoutId xmlns:r="http://schemas.openxmlformats.org/officeDocument/2006/relationships" id="2147483656" r:id="Rd452052f16db4e01"/>
    <p:sldLayoutId xmlns:r="http://schemas.openxmlformats.org/officeDocument/2006/relationships" id="2147483657" r:id="R49d1f02446994f62"/>
    <p:sldLayoutId xmlns:r="http://schemas.openxmlformats.org/officeDocument/2006/relationships" id="2147483658" r:id="R458687e489cf45ed"/>
    <p:sldLayoutId xmlns:r="http://schemas.openxmlformats.org/officeDocument/2006/relationships" id="2147483659" r:id="R3c70d839eb1045b9"/>
    <p:sldLayoutId xmlns:r="http://schemas.openxmlformats.org/officeDocument/2006/relationships" id="2147483660" r:id="R3af2cc25a71a421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b1462d7b614f18" /><Relationship Type="http://schemas.openxmlformats.org/officeDocument/2006/relationships/image" Target="/ppt/media/image.png" Id="R9675b01885b8466b" /><Relationship Type="http://schemas.openxmlformats.org/officeDocument/2006/relationships/notesSlide" Target="/ppt/notesSlides/notesSlide1.xml" Id="R6f3b1b11778248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fa58226ec44160" /><Relationship Type="http://schemas.openxmlformats.org/officeDocument/2006/relationships/notesSlide" Target="/ppt/notesSlides/notesSlide2.xml" Id="R22b8776adb68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881b18573043b6" /><Relationship Type="http://schemas.openxmlformats.org/officeDocument/2006/relationships/notesSlide" Target="/ppt/notesSlides/notesSlide3.xml" Id="R48135e8007a049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0dc2357eeb54695" /><Relationship Type="http://schemas.openxmlformats.org/officeDocument/2006/relationships/notesSlide" Target="/ppt/notesSlides/notesSlide4.xml" Id="R075c9542146f4c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08d6a7073b43f0" /><Relationship Type="http://schemas.openxmlformats.org/officeDocument/2006/relationships/notesSlide" Target="/ppt/notesSlides/notesSlide5.xml" Id="R561c6f8b6b8f4c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17f560b5d64f19" /><Relationship Type="http://schemas.openxmlformats.org/officeDocument/2006/relationships/image" Target="/ppt/media/image2.png" Id="R65ee7515cbb54f16" /><Relationship Type="http://schemas.openxmlformats.org/officeDocument/2006/relationships/notesSlide" Target="/ppt/notesSlides/notesSlide6.xml" Id="Rd81dd18917e44a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9a75c081f34b78" /><Relationship Type="http://schemas.openxmlformats.org/officeDocument/2006/relationships/image" Target="/ppt/media/image3.png" Id="Rbe9b03b613a74a21" /><Relationship Type="http://schemas.openxmlformats.org/officeDocument/2006/relationships/notesSlide" Target="/ppt/notesSlides/notesSlide7.xml" Id="Rd5d0dc505a474e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9c0a44c90443bc" /><Relationship Type="http://schemas.openxmlformats.org/officeDocument/2006/relationships/notesSlide" Target="/ppt/notesSlides/notesSlide8.xml" Id="R74d99fa169f546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e4c2287f7940ae" /><Relationship Type="http://schemas.openxmlformats.org/officeDocument/2006/relationships/image" Target="/ppt/media/image4.png" Id="Ra78427cb726a47de" /><Relationship Type="http://schemas.openxmlformats.org/officeDocument/2006/relationships/image" Target="/ppt/media/image5.png" Id="R96363d351002497a" /><Relationship Type="http://schemas.openxmlformats.org/officeDocument/2006/relationships/notesSlide" Target="/ppt/notesSlides/notesSlide9.xml" Id="Rdfb0eb9bbfef41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5c1830117443db" /><Relationship Type="http://schemas.openxmlformats.org/officeDocument/2006/relationships/notesSlide" Target="/ppt/notesSlides/notesSlide10.xml" Id="Ra066507012a448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b2fe88961e46ed" /><Relationship Type="http://schemas.openxmlformats.org/officeDocument/2006/relationships/notesSlide" Target="/ppt/notesSlides/notesSlide11.xml" Id="R1a4a129d76cc46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246e8b87244f87" /><Relationship Type="http://schemas.openxmlformats.org/officeDocument/2006/relationships/notesSlide" Target="/ppt/notesSlides/notesSlide12.xml" Id="Rac156cee2c664c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75743df81942f0" /><Relationship Type="http://schemas.openxmlformats.org/officeDocument/2006/relationships/notesSlide" Target="/ppt/notesSlides/notesSlide13.xml" Id="R398079087b6b4c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217f4d859b4bca" /><Relationship Type="http://schemas.openxmlformats.org/officeDocument/2006/relationships/image" Target="/ppt/media/image.jpeg" Id="R291aece6fc0c43d0" /><Relationship Type="http://schemas.openxmlformats.org/officeDocument/2006/relationships/notesSlide" Target="/ppt/notesSlides/notesSlide14.xml" Id="R726a0e033a1d40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23db4d05274b7a" /><Relationship Type="http://schemas.openxmlformats.org/officeDocument/2006/relationships/image" Target="/ppt/media/image2.jpeg" Id="Rd5d61a29a2ba4468" /><Relationship Type="http://schemas.openxmlformats.org/officeDocument/2006/relationships/notesSlide" Target="/ppt/notesSlides/notesSlide15.xml" Id="R95812b042e0b4b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9a46133cb5460a" /><Relationship Type="http://schemas.openxmlformats.org/officeDocument/2006/relationships/notesSlide" Target="/ppt/notesSlides/notesSlide16.xml" Id="Rfe080c0b600d42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ae0c747a914b0d" /><Relationship Type="http://schemas.openxmlformats.org/officeDocument/2006/relationships/notesSlide" Target="/ppt/notesSlides/notesSlide17.xml" Id="R2a08cd6b89fa4b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3a72db7d0ab4f4e" /><Relationship Type="http://schemas.openxmlformats.org/officeDocument/2006/relationships/notesSlide" Target="/ppt/notesSlides/notesSlide18.xml" Id="R8d710df75b8a49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188cf5295647c0" /><Relationship Type="http://schemas.openxmlformats.org/officeDocument/2006/relationships/notesSlide" Target="/ppt/notesSlides/notesSlide19.xml" Id="Rb12c5592f7084a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98a211b6d14398" /><Relationship Type="http://schemas.openxmlformats.org/officeDocument/2006/relationships/notesSlide" Target="/ppt/notesSlides/notesSlide20.xml" Id="R780f46d2256e44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66ed94f83e4c04" /><Relationship Type="http://schemas.openxmlformats.org/officeDocument/2006/relationships/notesSlide" Target="/ppt/notesSlides/notesSlide21.xml" Id="R112bc43fa14941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32b1506c564ffa" /><Relationship Type="http://schemas.openxmlformats.org/officeDocument/2006/relationships/notesSlide" Target="/ppt/notesSlides/notesSlide22.xml" Id="Rd2efbdc80fcf43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a7a68f2202944c9" /><Relationship Type="http://schemas.openxmlformats.org/officeDocument/2006/relationships/notesSlide" Target="/ppt/notesSlides/notesSlide23.xml" Id="R8087aa1f160946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7fdb8be3c24425" /><Relationship Type="http://schemas.openxmlformats.org/officeDocument/2006/relationships/notesSlide" Target="/ppt/notesSlides/notesSlide24.xml" Id="R6deca98b1e31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6B538CE8-6E16-4549-BECC-44689CF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90D692-9C27-445B-9B2E-3B40453D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발견한 문제를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제품의 기준으로 정하고, 운영에서 확인합니다.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360D60-72D7-460B-8B80-8903D8F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683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컴퓨터소프트웨어를 전공하고 아이베 SCM팀에서 운영 실무를 맡았습니다.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주문 오류를 시스템 규칙으로 바꾸고, 통관 연동의 오류 복구를 설계했습니다.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발주 검토 자료를 모으는 반복 업무는 직접 대시보드로 구현하고,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시트와 병행 검증하며 팀원들의 사용 의견을 반영했습니다.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4D13B1-325E-4933-853F-57BF6EA5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C1C69E8-711D-41B7-8764-7ADF78AB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일하는 방식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7FA070E-6A44-40D7-9BF6-0289351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357D59E-082A-4249-8406-839B381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문제와 범위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1D31481-3B07-42D3-BEC1-5649F70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반복되는 업무에서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바꿀 부분을 정함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228202A-1665-4686-A7DC-F09325DA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07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솔루션과 제외 범위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06E74E6-AAF5-4371-9A72-C39F074E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CED92FE-8CCF-4C34-A67C-125F233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예외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E65A963-DEDE-47A4-A648-87A186A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판단 기준을 사용자 흐름과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요구사항으로 구체화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3548CA1-BCD5-4D6A-A567-89DEEA43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207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6A98E60-A739-4AEC-84CD-7D35ABB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9CFD80C-79A5-46FA-9003-28634514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검증과 다음 판단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EC0F95B-9689-4500-B603-41D4A4A0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확인한 결과와 가설을 나눠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다음 검증 기준을 정함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4B9CE98-241C-4AC1-8137-802CCD2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207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SCM · 병행 검증과 운영 개선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AD37FEF7-54F0-431C-AF3C-0880D6A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1336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 전용몰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정책·실행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66A7B742-8663-4147-9FFC-417D0176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10250"/>
            <a:ext cx="21336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SCM 대시보드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자료 취합·운영 검증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EF51153-D33D-44D3-B3E2-00D59C0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10250"/>
            <a:ext cx="21336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 연동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데이터·오류 복구</a:t>
            </a:r>
          </a:p>
        </p:txBody>
      </p:sp>
      <p:pic>
        <p:nvPicPr>
          <p:cNvPr id="57" name="그림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5b01885b8466b"/>
          <a:stretch xmlns:a="http://schemas.openxmlformats.org/drawingml/2006/main"/>
        </p:blipFill>
        <p:spPr>
          <a:xfrm xmlns:a="http://schemas.openxmlformats.org/drawingml/2006/main">
            <a:off x="8126852" y="828675"/>
            <a:ext cx="1491372" cy="2124075"/>
          </a:xfrm>
          <a:prstGeom xmlns:a="http://schemas.openxmlformats.org/drawingml/2006/main" prst="rect">
            <a:avLst/>
          </a:prstGeom>
        </p:spPr>
      </p:pic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B7363E88-F63C-4B56-BA2C-D1E7D75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239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267812B3-95D0-4497-B59A-805E7841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E243863E-8A14-4A92-AB25-57BB9CE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95C338FF-9A8D-4EFE-90C2-7CD7230C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50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ADF24606-389F-46CE-806C-6EBFEC80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2027-02 졸업 예정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5945C57E-2F7A-4EEE-B4FE-09623955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C7FEB900-45A6-4E68-B102-7D14DD9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481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37631DA1-CFDD-4B3B-84FF-E73FF3D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576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9564C667-E535-4C0C-A4D2-AAB5C86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19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DE4ED048-062A-4712-B936-49726AF9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339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4B5FB252-C91D-4CE5-A574-3B17BF19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2001867E-0C56-4362-A179-FE46F6A9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43600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FA2A0752-B6BB-449A-93A9-004B3CD8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2960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298943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060A05E0-9526-4890-9444-05C32B0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FC8347-734D-4254-8657-7509CCE5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F8A19C-4A5C-42B0-BD0F-7F3E330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BCA641-7924-4FE5-A549-FB51A667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171575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5D23A449-9FBD-40D5-8D7E-2BECEF08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DF95B1-FB89-410B-B23E-1D93A98E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143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5F692E-4CB8-415C-AB5A-3B467170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28750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537E893-9111-4F3A-925F-D563BEC4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876425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03–10   계약 조건을 주문 규칙으로 바꾸고 운영에서 검수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34834E4-20D5-4C2A-9B72-30BE9BBC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86000"/>
            <a:ext cx="580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흐름 운영 · 초기 결과 관찰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B084AB5-112E-4C2A-806C-4AE2B387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90800"/>
            <a:ext cx="580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예외 정책 · QA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65BF35D-AD2B-4FDA-A601-29A8AC0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DEAA18AA-86B4-4C0B-AFEF-B886758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67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CDA3742-7C8B-4579-90F7-FC07FEF2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9718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발주 검토 자료 자동취합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E4ECB64-F688-4A31-90A5-0A4B0BBF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57550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SCM 대시보드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205BBF2-FB21-44C6-AE9D-D86A797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705225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11–17   데이터의 의미를 구분하고 월간 검토 자료로 검증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D2B65C0-23D6-433C-9AA6-31389DA0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580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2026-04 시범 배포 · 06월부터 기준 자료로 사용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E399796-C46D-4A25-896A-A33A752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419600"/>
            <a:ext cx="580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데이터 설계 · 직접 구현 · 병행 검증 · 운영 개선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768B805-24B4-4127-8B39-E49E532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9175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258BBD7D-C529-4EB9-9612-79CD4B8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FA0B4B3-E346-4E8E-B27A-A9630CB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00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연동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5E5D8B9-19A4-4135-B519-BC599A9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086350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7F9FD9D-3D0F-4595-9AF9-63FC1763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534025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18–23   주문·포장 기준과 오류 수정·재제출 책임을 조율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A15D816-EA9C-48A3-92AE-3A4BD013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43600"/>
            <a:ext cx="580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신규·기존 방식 병행 · 시나리오 30건 검증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B4C1C942-9AAE-4C2A-BD0B-1EB2125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248400"/>
            <a:ext cx="580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구조 · 의사결정 · 오류 복구 · 운영 검증</a:t>
            </a:r>
          </a:p>
        </p:txBody>
      </p:sp>
    </p:spTree>
    <p:extLst>
      <p:ext uri="{BB962C8B-B14F-4D97-AF65-F5344CB8AC3E}">
        <p14:creationId xmlns:p14="http://schemas.microsoft.com/office/powerpoint/2010/main" val="986782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6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03 / 24</a:t>
            </a:r>
            <a:endParaRPr sz="788" b="0">
              <a:solidFill>
                <a:srgbClr val="A6D5B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</a:t>
            </a: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디지털화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5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6D5B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66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66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협업</a:t>
            </a:r>
          </a:p>
        </p:txBody>
      </p:sp>
    </p:spTree>
    <p:extLst>
      <p:ext uri="{BB962C8B-B14F-4D97-AF65-F5344CB8AC3E}">
        <p14:creationId xmlns:p14="http://schemas.microsoft.com/office/powerpoint/2010/main" val="3752822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0">
            <a:extLst xmlns:a="http://schemas.openxmlformats.org/drawingml/2006/main"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528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2432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62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53244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62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6247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054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0542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 xmlns:a="http://schemas.openxmlformats.org/drawingml/2006/main"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79162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20" name="표 17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457450"/>
                <a:gridCol w="4686300"/>
                <a:gridCol w="1590675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74853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21" name="표 17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73342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790700"/>
                <a:gridCol w="1628775"/>
                <a:gridCol w="1666875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05025"/>
            <a:ext cx="2352675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66950"/>
            <a:ext cx="1933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05100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 xmlns:a="http://schemas.openxmlformats.org/drawingml/2006/main"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 xmlns:a="http://schemas.openxmlformats.org/drawingml/2006/main"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6" name="그림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e7515cbb54f16"/>
          <a:stretch xmlns:a="http://schemas.openxmlformats.org/drawingml/2006/main"/>
        </p:blipFill>
        <p:spPr>
          <a:xfrm xmlns:a="http://schemas.openxmlformats.org/drawingml/2006/main">
            <a:off x="728412" y="4838700"/>
            <a:ext cx="10735176" cy="16383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3FEA89C-59A2-1316-377B-5485053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4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처리결과의 기능 화면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직접 운영 캡처 아님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고객정보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·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내부 수치 제외</a:t>
            </a:r>
          </a:p>
        </p:txBody>
      </p:sp>
    </p:spTree>
    <p:extLst>
      <p:ext uri="{BB962C8B-B14F-4D97-AF65-F5344CB8AC3E}">
        <p14:creationId xmlns:p14="http://schemas.microsoft.com/office/powerpoint/2010/main" val="1432080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292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40982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31457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6" name="표 22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5838825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43325"/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8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b03b613a74a21"/>
          <a:stretch xmlns:a="http://schemas.openxmlformats.org/drawingml/2006/main"/>
        </p:blipFill>
        <p:spPr>
          <a:xfrm xmlns:a="http://schemas.openxmlformats.org/drawingml/2006/main">
            <a:off x="7050626" y="2171700"/>
            <a:ext cx="3567622" cy="23241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</p:spTree>
    <p:extLst>
      <p:ext uri="{BB962C8B-B14F-4D97-AF65-F5344CB8AC3E}">
        <p14:creationId xmlns:p14="http://schemas.microsoft.com/office/powerpoint/2010/main" val="3664027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8" name="표 45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3048000"/>
                <a:gridCol w="3352800"/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69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75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44234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88A8F240-B97C-4DAD-BEE5-9D9F84C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7FFF93-C6E5-41CD-956E-7E49EB69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D9274D-3CD6-4F76-B2A9-DA96E0A7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화면에서 검수하고, 운영 요청을 반영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2E59D7-4E68-4179-95D9-037DE09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완료 통보 뒤에도 운영 서버에서 재현하고 실제 사용 흐름을 다시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527A93-030A-47C8-8986-2F7C2BD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화면이 열리지 않았던 사례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7F2D0BFC-1742-4EE0-8E96-77D1E4C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809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E9E8BC-FC24-42B0-B162-193A08C7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764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 정보 수정에 진입할 수 없음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5155F00C-F35C-46F1-8A43-7BD6876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809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8119517-638A-41B9-86E2-1CE66E5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구 차단 로직 잔존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82BAC316-66BB-4490-9430-59FE05D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809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7EBC520-208C-4009-96C0-4F39DC2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337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실제 계정에서 기대한 화면까지 진입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F56D463-36E1-44C7-8091-1BB92538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335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 접근을 주문내역으로 이동</a:t>
            </a:r>
          </a:p>
        </p:txBody>
      </p:sp>
      <p:pic>
        <p:nvPicPr>
          <p:cNvPr id="40" name="그림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427cb726a47de"/>
          <a:stretch xmlns:a="http://schemas.openxmlformats.org/drawingml/2006/main"/>
        </p:blipFill>
        <p:spPr>
          <a:xfrm xmlns:a="http://schemas.openxmlformats.org/drawingml/2006/main">
            <a:off x="6613092" y="2190750"/>
            <a:ext cx="1623291" cy="1409700"/>
          </a:xfrm>
          <a:prstGeom xmlns:a="http://schemas.openxmlformats.org/drawingml/2006/main" prst="rect">
            <a:avLst/>
          </a:prstGeom>
        </p:spPr>
      </p:pic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1DCF610C-4B21-467C-9B0A-21C8F0C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pic>
        <p:nvPicPr>
          <p:cNvPr id="42" name="그림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63d351002497a"/>
          <a:stretch xmlns:a="http://schemas.openxmlformats.org/drawingml/2006/main"/>
        </p:blipFill>
        <p:spPr>
          <a:xfrm xmlns:a="http://schemas.openxmlformats.org/drawingml/2006/main">
            <a:off x="9537267" y="2190750"/>
            <a:ext cx="1623291" cy="1409700"/>
          </a:xfrm>
          <a:prstGeom xmlns:a="http://schemas.openxmlformats.org/drawingml/2006/main" prst="rect">
            <a:avLst/>
          </a:prstGeom>
        </p:spPr>
      </p:pic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930D97B1-31CE-4771-8C77-E499E05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변경 전</a:t>
            </a:r>
          </a:p>
        </p:txBody>
      </p:sp>
      <p:sp>
        <p:nvSpPr>
          <p:cNvPr id="17" name="text-14">
            <a:extLst xmlns:a="http://schemas.openxmlformats.org/drawingml/2006/main">
              <a:ext uri="{FF2B5EF4-FFF2-40B4-BE49-F238E27FC236}">
                <a16:creationId xmlns:a16="http://schemas.microsoft.com/office/drawing/2014/main" id="{0C274734-F476-47F2-8FEC-4E897051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147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8" name="text-15">
            <a:extLst xmlns:a="http://schemas.openxmlformats.org/drawingml/2006/main">
              <a:ext uri="{FF2B5EF4-FFF2-40B4-BE49-F238E27FC236}">
                <a16:creationId xmlns:a16="http://schemas.microsoft.com/office/drawing/2014/main" id="{16931122-C302-4FE3-8919-4ECA2BBA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0527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 · 취소·환불 주문 제외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2026-08-13 운영 반영 후 고객 화면 확인</a:t>
            </a:r>
          </a:p>
        </p:txBody>
      </p:sp>
      <p:sp>
        <p:nvSpPr>
          <p:cNvPr id="19" name="직선 연결선 18">
            <a:extLst xmlns:a="http://schemas.openxmlformats.org/drawingml/2006/main">
              <a:ext uri="{FF2B5EF4-FFF2-40B4-BE49-F238E27FC236}">
                <a16:creationId xmlns:a16="http://schemas.microsoft.com/office/drawing/2014/main" id="{52F20294-53AF-480F-AD42-207C3870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17">
            <a:extLst xmlns:a="http://schemas.openxmlformats.org/drawingml/2006/main">
              <a:ext uri="{FF2B5EF4-FFF2-40B4-BE49-F238E27FC236}">
                <a16:creationId xmlns:a16="http://schemas.microsoft.com/office/drawing/2014/main" id="{C3DBEB18-2A66-4397-A217-33B182F0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기획·검수: 본인 / 수정 구현: 개발사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73FA7A-607A-4FB4-A4A3-DCDA190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8107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-19">
            <a:extLst xmlns:a="http://schemas.openxmlformats.org/drawingml/2006/main">
              <a:ext uri="{FF2B5EF4-FFF2-40B4-BE49-F238E27FC236}">
                <a16:creationId xmlns:a16="http://schemas.microsoft.com/office/drawing/2014/main" id="{AE70C8DE-7615-40CE-BFAC-B924EC9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현장 요청을 다시 반영</a:t>
            </a:r>
          </a:p>
        </p:txBody>
      </p:sp>
      <p:sp>
        <p:nvSpPr>
          <p:cNvPr id="23" name="text-20">
            <a:extLst xmlns:a="http://schemas.openxmlformats.org/drawingml/2006/main">
              <a:ext uri="{FF2B5EF4-FFF2-40B4-BE49-F238E27FC236}">
                <a16:creationId xmlns:a16="http://schemas.microsoft.com/office/drawing/2014/main" id="{B32C54BF-A1DE-4620-B167-1365DA6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8010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1차 QA에서 제거한 배송 메시지 입력칸을 복원했습니다.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 정리 뒤에도 실제 배송 요청을 받을 수 있어야 했습니다.</a:t>
            </a:r>
          </a:p>
        </p:txBody>
      </p:sp>
      <p:sp>
        <p:nvSpPr>
          <p:cNvPr id="24" name="text-21">
            <a:extLst xmlns:a="http://schemas.openxmlformats.org/drawingml/2006/main">
              <a:ext uri="{FF2B5EF4-FFF2-40B4-BE49-F238E27FC236}">
                <a16:creationId xmlns:a16="http://schemas.microsoft.com/office/drawing/2014/main" id="{1552B54E-CC7E-4CFB-8ABD-5A12D5DF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· 직접 운영 캡처 아님 · 고객정보·주문번호·가격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41647310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038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14550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717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 xmlns:a="http://schemas.openxmlformats.org/drawingml/2006/main"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13430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786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05425"/>
            <a:ext cx="1050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CF5BE2-1F66-A451-16BE-82CFF018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4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출고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·CS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이력과 사용자 확인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92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1941699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B44B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0">
            <a:extLst xmlns:a="http://schemas.openxmlformats.org/drawingml/2006/main">
              <a:ext uri="{FF2B5EF4-FFF2-40B4-BE49-F238E27FC236}">
                <a16:creationId xmlns:a16="http://schemas.microsoft.com/office/drawing/2014/main" id="{7D3716C6-0914-4AA3-A099-C1AC030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11 / 24</a:t>
            </a:r>
            <a:endParaRPr sz="788" b="0">
              <a:solidFill>
                <a:srgbClr val="F0BB9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6542A4-069B-4FF6-BD9F-3DAC247D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발주 검토 자료 자동취합</a:t>
            </a: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370D47F6-4C23-4702-A4F3-50B97F8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SCM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72DF5C-AE83-4E1E-B85D-C4AFF52D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검토 자료 자동취합 대시보드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60E3DD-5D5D-4F93-9D0F-58348822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5686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판매·출고·재고 자료를 Excel 업로드로 모아,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월간 발주 검토에 사용할 수 있는 기준 자료로 만들었습니다.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522FA5-D046-47B6-8D73-FFC50934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289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2435DBF-55F8-416B-9BD5-0DE8470D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9925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담당자 1명이 매월 6~12시간 취합 · 값 오류 보통 2~3건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25A67B-AE0D-4FB2-B324-8FCB893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576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607F123-91DB-445A-B420-598AB887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38575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상품별 재고와 공급사 발주안을 검토하는 SCM 담당자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D7AF36E-5B4A-4DFD-8F5B-37339F1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63B061E-97F0-400B-BFDD-E464486E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67225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 취합을 줄이고 자료 확인과 발주 검토에 집중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7B40DC1-08C5-4CCD-901A-2B21DC44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95625"/>
          </a:xfrm>
          <a:prstGeom xmlns:a="http://schemas.openxmlformats.org/drawingml/2006/main" prst="roundRect">
            <a:avLst>
              <a:gd name="adj" fmla="val 3385"/>
            </a:avLst>
          </a:prstGeom>
          <a:solidFill xmlns:a="http://schemas.openxmlformats.org/drawingml/2006/main">
            <a:srgbClr val="903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2F9E833-026B-4F29-9AF3-B3071BE4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직접 구현하고 운영에서 검증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BFA54E77-5999-4673-BE01-A63FBA39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0275"/>
            <a:ext cx="3238500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8B7085E-F74B-4B72-8757-C6EE0BC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6695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기획·설계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C3A733E-B5F5-4065-8593-816B09E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판매·출고 구분과 데이터 구조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EA40E1E-F4F3-4E79-8A66-B359063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3238500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250D545-7499-4764-923A-BD924AC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83845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개발·배포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B54C2F1-D717-476F-BE42-AEA5F989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4800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AI 코딩 도구로 직접 구현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00239858-803F-4ADC-A2C3-3749A8CF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43275"/>
            <a:ext cx="3238500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804647B-9B69-4461-9D5B-A99677A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0995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검증·협업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ACC3797-C1D0-4E7A-BEEB-37664D25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61950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기존 시트 대조 · 팀원 의견 반영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88BBAD0-72B1-46BC-870A-419E9B5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14775"/>
            <a:ext cx="3238500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15306DCA-F793-4203-BFCB-E2B7F4B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8145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AB27A6E-C387-41CA-9C2A-2CBB6187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19100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월간 검토 자료로 사용·개선</a:t>
            </a:r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55788E16-A965-455B-8782-094A0D51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F0BB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80E0F96D-3CF5-4D2E-A427-0A85F623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FA7D38D-B2F2-430C-959B-1279F5BB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57825"/>
            <a:ext cx="966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2026-04 시범 배포 ~ 현재 / 약 2개월 병행 검증 / 2026-06 기준 자료 사용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D69DD052-F6F6-41CF-ACE0-4EB13A8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CEF84D0-9FAC-4728-B411-B157529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743575"/>
            <a:ext cx="966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기획·데이터 설계·개발·배포, 운영 피드백 반영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1D5CA92C-427D-4D56-8EBF-0869941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BD60A349-3234-48FE-ADA6-8176E46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029325"/>
            <a:ext cx="966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SCM 팀원과 자료·사용 흐름 확인 / 담당자 발주안 작성 / 팀장 협의·승인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2056C305-2417-422C-B04A-31DC3BB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실무 적용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617CAB5-71DB-4477-B7CA-B88350E0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315075"/>
            <a:ext cx="966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2026-04~08 월간 공급사 발주 검토 5회에 취합 자료 활용</a:t>
            </a:r>
          </a:p>
        </p:txBody>
      </p:sp>
    </p:spTree>
    <p:extLst>
      <p:ext uri="{BB962C8B-B14F-4D97-AF65-F5344CB8AC3E}">
        <p14:creationId xmlns:p14="http://schemas.microsoft.com/office/powerpoint/2010/main" val="2265816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7A9944A-C3DC-4109-97A5-51EF544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ECD43C9-CEC3-49D7-AEF3-6760ED5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3E1F38-0791-4884-A8A1-11E57A1E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자료를 모으기 전에 숫자의 의미부터 맞췄습니다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71E022-E488-4BB4-A188-7CA393F8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판매량과 재고 감소량이 달라지는 업무를 구분하고, 발주 검토에 필요한 집계 기준을 정했습니다.</a:t>
            </a:r>
          </a:p>
        </p:txBody>
      </p:sp>
      <p:graphicFrame>
        <p:nvGraphicFramePr>
          <p:cNvPr id="17" name="표 14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2657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3905250"/>
                <a:gridCol w="4838700"/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실무에서 확인한 차이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정한 집계·조회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판매실적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매출에 잡히는 판매 수량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추이를 확인할 때 사용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출고량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교환·영업용 사용도 재고를 감소시킴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판매와 구분해 실제 출고량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현재고·입고계획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창고와 유통기한에 따라 가용 재고가 달라짐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창고·기한별 재고와 입고예정 자료 조회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66A95C1-A08C-428A-BD98-E4788DD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기존 취합에서 발생한 부담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16E81F6-830E-4B6F-BC6C-EEC999D1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267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담당자 1명이 매월 약 6~12시간 사용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자료를 합치는 과정에서 값 오류 보통 2~3건 발생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6D6BF9C-BFE6-4020-9121-39572CF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38700"/>
            <a:ext cx="524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먼저 맞춘 데이터의 기준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C8F71C0-6760-4505-9B1D-2B012EB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48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판매실적과 교환·영업용 사용을 포함한 출고량을 구분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 합계와 함께 창고·유통기한별 재고를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0C183E7-B9B6-4050-8E3A-24942E8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SCM 실무 기록·사용자 확인 / 시간과 오류는 도입 전 자료 취합 업무 기준</a:t>
            </a:r>
          </a:p>
        </p:txBody>
      </p:sp>
    </p:spTree>
    <p:extLst>
      <p:ext uri="{BB962C8B-B14F-4D97-AF65-F5344CB8AC3E}">
        <p14:creationId xmlns:p14="http://schemas.microsoft.com/office/powerpoint/2010/main" val="1033738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5EB53FE3-FF2C-409B-9EE4-0674F22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143C5F-75E1-4253-B21C-E4B8C05E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8922D2-B928-4B5F-859E-B801EED7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취합부터 발주 검토까지 범위를 정했습니다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083BB25-8C4C-4E6D-AA36-1A66A277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Excel 자료를 저장·집계하는 흐름을 구현하고, 발주안을 정할 때 담당자가 확인할 조건을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9E3678-9C94-4DFE-AE19-80DEE8F7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구현한 자료 처리 흐름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78806C66-FF6D-459C-86C2-34223055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19100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73555AF-A6F9-40AA-99F4-4840033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288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입력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253A6E4-985E-4453-BE60-B16E4B3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669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판매·출고·재고·입고계획 업로드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D710709-B772-4EAE-96F1-1A532158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19100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5C1791E-2B7A-433F-9C2E-DEB70540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622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저장·집계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C90658E-3F23-4363-AE17-8A44171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0003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데이터를 DB에 저장하고 취합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344CE24E-BD5F-4F36-9932-D75EFB1B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3A9D591-5E73-4A52-B82B-03ABCD9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확인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3F1BEA3-3B27-41FD-A164-5F001EF4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338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상품·창고·유통기한별 재고 조회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7324501-F2C4-4AC7-9072-ED603F61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419100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3574601-34C2-447E-815A-494F74AE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발주 검토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4499E4D-4BC2-41BB-8BB3-D76F4B95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672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가정에 따른 재고 시나리오 확인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E69EB19-CA70-4B1D-8169-810D1BDB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발주 판단에 남긴 확인 기준</a:t>
            </a:r>
          </a:p>
        </p:txBody>
      </p:sp>
      <p:graphicFrame>
        <p:nvGraphicFramePr>
          <p:cNvPr id="42" name="표 39"/>
          <p:cNvGraphicFramePr/>
          <p:nvPr/>
        </p:nvGraphicFramePr>
        <p:xfrm>
          <a:off xmlns:a="http://schemas.openxmlformats.org/drawingml/2006/main" x="6257925" y="2190750"/>
          <a:ext xmlns:a="http://schemas.openxmlformats.org/drawingml/2006/main" cx="5324475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7475"/>
                <a:gridCol w="2667000"/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검토 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담당자가 확인할 내용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세일즈 전망 · 리드타임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전망과 입고 시점을 함께 검토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목표재고 · MOQ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확보할 재고와 최소주문수량 검토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현금흐름 ·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 영향을 확인하고 팀장과 협의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BEE8BD00-8830-43E8-89B2-C07A5526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Excel 업로드  →  자동 취합·조회  →  담당자 발주안  →  팀장 협의·승인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2E4096CC-31E6-4615-B11E-8604613C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구현 범위: 자료 취합·조회와 가중치 시나리오 / 원천 Excel 업로드와 발주 판단·승인은 담당자 수행</a:t>
            </a:r>
          </a:p>
        </p:txBody>
      </p:sp>
    </p:spTree>
    <p:extLst>
      <p:ext uri="{BB962C8B-B14F-4D97-AF65-F5344CB8AC3E}">
        <p14:creationId xmlns:p14="http://schemas.microsoft.com/office/powerpoint/2010/main" val="5163588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98DBBB4B-9BDE-4283-8E91-F6C22E1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F1600C-4A4B-49F2-9703-4E766446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557955-2C2E-4921-98DC-C2C24D37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창고·유통기한별 재고를 한 화면에서 확인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8498C38-2A7E-4F03-811B-820902A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상품별 합계에서 필요한 재고를 다시 찾는 부담을 줄이도록, 창고와 유통기한을 함께 조회하게 했습니다.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10C58AD3-829D-4F30-A15A-A879882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09550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고객·SKU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510239BA-E458-4842-BFC9-2D419CC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095500" cy="71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조사할 맥락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00522E-528D-4BD2-9E91-D65BB200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BA511C1C-3664-4955-A8FE-EB2F6DF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24050"/>
            <a:ext cx="209550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조사 브리프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ACF19CE4-2CB1-4301-AED8-8225F575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47925"/>
            <a:ext cx="2095500" cy="71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목적·대상·기간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48DC193-17CD-44E1-9A03-E12B132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BF16DA5E-93DF-48E7-8CC5-C48B27EE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209550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근거 기반 초안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36DC6256-F7B2-4150-8391-0E539F4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47925"/>
            <a:ext cx="2095500" cy="71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출처와 미확인값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7C8BF67-49CE-4005-8929-755FDE57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2D2F0963-1039-4AED-A8DE-A381B6A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24050"/>
            <a:ext cx="209550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승인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FC91785C-AA65-44AF-9910-9FE49E6B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47925"/>
            <a:ext cx="2095500" cy="71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게시 전 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CE180E1-C324-4079-8806-4A5748C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F3DE651-80D4-4793-AA15-7268C673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24050"/>
            <a:ext cx="209550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캠페인 연결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37EC115-88E8-4F6F-BDEC-0BB1702F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47925"/>
            <a:ext cx="2095500" cy="71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추적 링크·후속 결과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1754F9C-AB0E-44D5-8AC0-5F6686C1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5300"/>
            <a:ext cx="109728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Excel 업로드와 창고별 현재고 조회</a:t>
            </a:r>
          </a:p>
        </p:txBody>
      </p:sp>
      <p:graphicFrame>
        <p:nvGraphicFramePr>
          <p:cNvPr id="44" name="표 40"/>
          <p:cNvGraphicFramePr/>
          <p:nvPr/>
        </p:nvGraphicFramePr>
        <p:xfrm>
          <a:off xmlns:a="http://schemas.openxmlformats.org/drawingml/2006/main" x="609600" y="4000500"/>
          <a:ext xmlns:a="http://schemas.openxmlformats.org/drawingml/2006/main" cx="10972800" cy="2162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4762500"/>
                <a:gridCol w="4000500"/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기획한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남길 정보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조사 → 초안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근거와 상품 맥락을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· 수집일 · 미확인값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초안 →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금지 표현을 확인하고 사람이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결과 · 승인 · 버전 이력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→ 다음 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사용과 사업 결과를 구분해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리드·구매 · 사용량·원가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6216A66F-6CF7-4778-865B-E1D9737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샘플 실행 화면 · 합성 데이터 시연 / 화면의 수량·금액은 성과 측정값이 아님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aece6fc0c43d0"/>
          <a:stretch xmlns:a="http://schemas.openxmlformats.org/drawingml/2006/main"/>
        </p:blipFill>
        <p:spPr>
          <a:xfrm xmlns:a="http://schemas.openxmlformats.org/drawingml/2006/main">
            <a:off x="4006725" y="2235200"/>
            <a:ext cx="4178550" cy="39323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31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067C1031-04F0-48A1-BD9C-D23F1C5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A9AF98B-F7C4-472D-A405-B855EFBF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393110-2F90-452B-8264-7F2B872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가중치 시나리오를 발주 검토에 활용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C092DD-08AA-440B-971E-5D3EE26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담당자가 설정한 가정으로 재고를 검토하고, 실제 발주안은 사업 조건을 함께 확인한 뒤 정했습니다.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4C74968D-C2A3-40F8-B3C9-3D236524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9900"/>
            <a:ext cx="3467100" cy="31750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가정 설정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8276B8BD-5F6B-42CD-A6E6-40C1B46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8200"/>
            <a:ext cx="3467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기간별 가중치와 수량 설정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2289553-EB97-45D8-8F80-FA24FB5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97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94BF60F8-28F2-435C-9113-F3FC16EF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9900"/>
            <a:ext cx="3467100" cy="31750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 검토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448E28D2-B78C-4DE8-BAFE-9AC88A0E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08200"/>
            <a:ext cx="3467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가정에 따른 재고 변화를 확인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F8B5597-D4E1-4A64-ABCF-EFF30D0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97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2575A30-7CF2-4111-BCF7-B75788C6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9900"/>
            <a:ext cx="3467100" cy="31750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B44B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발주안·승인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F2575888-42E8-4813-B80F-C398810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8200"/>
            <a:ext cx="3467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세일즈 전망·납기·자금 조건 검토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9EA35E0-24C7-42D6-B554-7B3605F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7800"/>
            <a:ext cx="109728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담당자가 직접 조정하는 검토 화면</a:t>
            </a:r>
          </a:p>
        </p:txBody>
      </p:sp>
      <p:graphicFrame>
        <p:nvGraphicFramePr>
          <p:cNvPr id="32" name="표 28"/>
          <p:cNvGraphicFramePr/>
          <p:nvPr/>
        </p:nvGraphicFramePr>
        <p:xfrm>
          <a:off xmlns:a="http://schemas.openxmlformats.org/drawingml/2006/main" x="609600" y="4200525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019800"/>
              </a:tblGrid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입력·초안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정책에 따른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효과 수치에 연결된 출처가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없는 수치로 검사 · 미확인값은 UNKNOWN 표시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초안이 고객 후기처럼 작성됨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후기 위장 표현으로 검사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승인되지 않은 초안을 캠페인에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승인 후에만 연결하도록 설계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625D8F26-B704-41C0-AB18-ABB36BD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샘플 실행 화면 · 합성 데이터 시연 / 가중치는 담당자 가정이며 발주 수량과 승인 결과가 아님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61a29a2ba4468"/>
          <a:stretch xmlns:a="http://schemas.openxmlformats.org/drawingml/2006/main"/>
        </p:blipFill>
        <p:spPr>
          <a:xfrm xmlns:a="http://schemas.openxmlformats.org/drawingml/2006/main">
            <a:off x="4449605" y="3124200"/>
            <a:ext cx="3292790" cy="309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219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22560CF5-7FD2-414D-97B1-B3E861E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D519173-280C-4D15-B04A-2E4CD6BC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41E92C0-95A9-4B17-9775-5984C77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기존 시트와 병행하며 팀의 사용 방식에 맞췄습니다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064117-0493-4E0F-92FD-FBCC3464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약 2개월 동안 업로드 결과를 기존 자료와 대조하고, 팀원들의 확인 순서와 사용 의견을 반영했습니다.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C4F4521-2F1F-4817-9DAE-7B4999E7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시범 배포에서 월간 검토 기준 자료로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3DCEE7C-5E02-4D7F-8565-A68760A5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47625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2026-04  시범 배포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시트와 대시보드 결과를 병행 확인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708EEDE-73CD-408E-98EA-B5798A2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33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CA4A53D2-CFA0-49E1-BB57-4C03DFE2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53340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0E5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2026-06  실무 기준 자료로 사용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월간 발주 검토에 필요한 자료를 대시보드로 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390FAFE-E34B-4626-943A-266656ED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익숙한 자료와 결과를 비교할 수 있게 하고, 실제로 사용하는 동료들의 의견을 받아 개선했습니다.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5024D2-B7D4-4806-BBD9-5318164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검증과 협업에서 확인한 기준</a:t>
            </a:r>
          </a:p>
        </p:txBody>
      </p:sp>
      <p:graphicFrame>
        <p:nvGraphicFramePr>
          <p:cNvPr id="26" name="표 23"/>
          <p:cNvGraphicFramePr/>
          <p:nvPr/>
        </p:nvGraphicFramePr>
        <p:xfrm>
          <a:off xmlns:a="http://schemas.openxmlformats.org/drawingml/2006/main" x="609600" y="4457700"/>
          <a:ext xmlns:a="http://schemas.openxmlformats.org/drawingml/2006/main" cx="10972800" cy="1209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52625"/>
                <a:gridCol w="2867025"/>
                <a:gridCol w="2819400"/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대조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의견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개선 반영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실무 적용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시트와 업로드 결과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팀원의 자료 확인 순서 파악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조회·확인 흐름을 의견에 맞춰 개선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공급사 발주 검토에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</a:tr>
            </a:tbl>
          </a:graphicData>
        </a:graphic>
      </p:graphicFrame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FD618CF-C546-445C-915B-62DAC73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적용 기준  취합 결과의 일치와 동료의 자료 확인 흐름을 함께 확인하며 운영에 반영했습니다.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A6B26420-37EC-45ED-8AEE-E343DBE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SCM 업무성과 C-081·C-094·C-095 및 사용자 확인 / 병행 검증 약 2개월</a:t>
            </a:r>
          </a:p>
        </p:txBody>
      </p:sp>
    </p:spTree>
    <p:extLst>
      <p:ext uri="{BB962C8B-B14F-4D97-AF65-F5344CB8AC3E}">
        <p14:creationId xmlns:p14="http://schemas.microsoft.com/office/powerpoint/2010/main" val="11913787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C8FF70E-0FE5-490F-998D-1DACBDB3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DC0004-96B6-4A02-93FD-87EC3863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46630D-FCA8-473F-85DD-8F278BCC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취합 시간을 줄이고, 결과의 범위를 확인했습니다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154F35-8B20-4844-A47A-DC98F7F4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업로드와 검토에 드는 시간, 취합 과정 오류, 실제 발주 검토 활용을 나누어 확인했습니다.</a:t>
            </a:r>
          </a:p>
        </p:txBody>
      </p:sp>
      <p:graphicFrame>
        <p:nvGraphicFramePr>
          <p:cNvPr id="16" name="표 12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취합 시간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과정 오류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발주 검토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6~12시간 → 1시간 이내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 1명 · 업로드와 결과 검토 포함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전 보통 2~3건 → 관찰 중 0건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후 약 3개월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2026-04~08 총 5회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2026-06부터 기준 자료로 사용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709A53F-8DE6-4FEA-B403-D408E1C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실무 적용과 결과를 읽는 기준</a:t>
            </a:r>
          </a:p>
        </p:txBody>
      </p:sp>
      <p:graphicFrame>
        <p:nvGraphicFramePr>
          <p:cNvPr id="18" name="표 14"/>
          <p:cNvGraphicFramePr/>
          <p:nvPr/>
        </p:nvGraphicFramePr>
        <p:xfrm>
          <a:off xmlns:a="http://schemas.openxmlformats.org/drawingml/2006/main" x="609600" y="4124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0450"/>
                <a:gridCol w="3124200"/>
                <a:gridCol w="4248150"/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확인한 내용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해석 범위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효율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자료를 다시 합치는 작업 감소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시간은 자료 업로드·결과 검토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검증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대시보드 취합 과정 오류 0건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원천 자료의 양식·내용 오류와 구분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발주 의사결정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 검토와 팀장 협의·승인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 시나리오는 담당자가 설정한 가정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25882435-6FDC-42B6-A3D5-FF50DC5A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SCM 업무성과 C-080·C-081·C-104·C-113 및 사용자 확인 / 초기 관찰값으로 장기 효과와 구분</a:t>
            </a:r>
          </a:p>
        </p:txBody>
      </p:sp>
    </p:spTree>
    <p:extLst>
      <p:ext uri="{BB962C8B-B14F-4D97-AF65-F5344CB8AC3E}">
        <p14:creationId xmlns:p14="http://schemas.microsoft.com/office/powerpoint/2010/main" val="1847836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1549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18 / 24</a:t>
            </a:r>
            <a:endParaRPr sz="788" b="0">
              <a:solidFill>
                <a:srgbClr val="A4C7E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03.  </a:t>
            </a: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규제 대응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관세법 개정 대응, ERP·통관 연동 기획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관련 요건 강화에 대응해,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채널 주문부터 ERP·WMS·통관까지 처리 흐름을 조율했습니다.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457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4C7E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~ 2026-08-28 / 신규 연동과 기존 통관 방식 병행</a:t>
            </a:r>
            <a:endParaRPr sz="938" b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367C173-A01F-A8B3-4107-DC4D6E78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4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·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조율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·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/ 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 시스템 구현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92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해당 개발사</a:t>
            </a:r>
          </a:p>
        </p:txBody>
      </p:sp>
    </p:spTree>
    <p:extLst>
      <p:ext uri="{BB962C8B-B14F-4D97-AF65-F5344CB8AC3E}">
        <p14:creationId xmlns:p14="http://schemas.microsoft.com/office/powerpoint/2010/main" val="40799198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0">
            <a:extLst xmlns:a="http://schemas.openxmlformats.org/drawingml/2006/main"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98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290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4175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914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41704954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0">
            <a:extLst xmlns:a="http://schemas.openxmlformats.org/drawingml/2006/main"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22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52959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14650"/>
            <a:ext cx="1628775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5267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선 연결선 12">
            <a:extLst xmlns:a="http://schemas.openxmlformats.org/drawingml/2006/main"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0" cy="9715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선 연결선 14">
            <a:extLst xmlns:a="http://schemas.openxmlformats.org/drawingml/2006/main"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4638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3840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3375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 xmlns:a="http://schemas.openxmlformats.org/drawingml/2006/main"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336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2902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직선 연결선 22">
            <a:extLst xmlns:a="http://schemas.openxmlformats.org/drawingml/2006/main"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33675"/>
            <a:ext cx="0" cy="8953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직선 연결선 23">
            <a:extLst xmlns:a="http://schemas.openxmlformats.org/drawingml/2006/main"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05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1981200" cy="115252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9" name="표 56"/>
          <p:cNvGraphicFramePr/>
          <p:nvPr/>
        </p:nvGraphicFramePr>
        <p:xfrm>
          <a:off xmlns:a="http://schemas.openxmlformats.org/drawingml/2006/main" x="609600" y="4981575"/>
          <a:ext xmlns:a="http://schemas.openxmlformats.org/drawingml/2006/main" cx="109728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8477250"/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7767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7" name="표 34"/>
          <p:cNvGraphicFramePr/>
          <p:nvPr/>
        </p:nvGraphicFramePr>
        <p:xfrm>
          <a:off xmlns:a="http://schemas.openxmlformats.org/drawingml/2006/main" x="609600" y="4276725"/>
          <a:ext xmlns:a="http://schemas.openxmlformats.org/drawingml/2006/main" cx="109728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3333750"/>
                <a:gridCol w="5191125"/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9D9E0"/>
                      </a:solidFill>
                      <a:prstDash val="soli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39275297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0">
            <a:extLst xmlns:a="http://schemas.openxmlformats.org/drawingml/2006/main"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 xmlns:a="http://schemas.openxmlformats.org/drawingml/2006/main"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35843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2AD8618F-D2FC-461C-97DC-6ADCAA0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6DDCBA-655E-418B-BCD8-FD9C0D23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C730DA-86FB-46E3-A3EF-6CBF2860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정상·오류·재제출 시나리오를 검증했습니다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050499D-8935-4F6A-B5DB-2C19CF97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운영환경의 기대 결과 검증과, 신규·기존 방식이 함께 사용된 주문 집계 결과를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A9E044B-2B04-4723-8E66-77E987B0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테스트 목적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71FAD52-723A-42F0-AD2C-F28C6430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4191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4C4491B-226F-4F40-A294-A25EBE3A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5742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7460801-BD9B-4B9F-9FC4-736BBA59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14575"/>
            <a:ext cx="311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요청의 접수 확인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5E8B32D6-7E90-43D6-A3A1-CA7B71E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191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9646F69-9BF8-4519-964E-451A2A8B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1465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5E8A516-B000-4D07-9B63-B08E665F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71800"/>
            <a:ext cx="311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조건에서 기대한 응답 확인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190CC4BA-3DE1-45EC-96AC-00A6E743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191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E4F930D-9A24-4160-A057-A791FC3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718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70F3BCD-9193-4322-9BBC-A880B6C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29025"/>
            <a:ext cx="311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원천 보완 후 다시 제출해 성공 확인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5C8FFDC-5D2C-4280-9466-1562B243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295900" cy="1990725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27DED97-85E9-4430-BDBA-B455337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4787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 / 30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B23F281-FE9B-4B27-8114-04AA0F25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43225"/>
            <a:ext cx="4686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 30건 · 테스트 목적 통과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의도 오류를 포함한 검증으로, 전건 정상 신고 성공과 구분</a:t>
            </a:r>
          </a:p>
        </p:txBody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781D78EE-41C6-44F1-AE94-42C70D27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46F10EA-19FA-4083-8BFA-5161E10C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집계 기간의 운영 결과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1E6DC900-775C-43AA-B908-9C6E90E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27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일평균 약 300건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9317C88-9EF1-4254-ADB6-198E917B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27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2026-08-28 ~ 2026-09-15 집계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자사몰 약 230건 · 외부 채널 약 70건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7A1140DE-5ECA-408D-A10C-B6407579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 완료 범위와 후속 보완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18CCDEB-86E1-44A4-94FA-2703D95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주문은 전체 통관 완료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연동과 기존 방식이 함께 사용된 운영 결과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98427010-96CD-43FE-916A-751A4007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29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주문의 출고 보류·정보 보완·재처리를 관리</a:t>
            </a:r>
          </a:p>
        </p:txBody>
      </p:sp>
    </p:spTree>
    <p:extLst>
      <p:ext uri="{BB962C8B-B14F-4D97-AF65-F5344CB8AC3E}">
        <p14:creationId xmlns:p14="http://schemas.microsoft.com/office/powerpoint/2010/main" val="476519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3434F6B-A35B-4935-A0A0-DF071F6E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0"/>
            <a:ext cx="389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D2339-9FC6-479A-AD36-340E9EC8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058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 구체적인 기준으로 바꾸고,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확인한 결과로 다음 판단을 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D27BF12-2AC2-47E3-907F-F3ADD1B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663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세 프로젝트에서 보여드린 일하는 방식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EF3C7E-A232-4FB2-B6C2-1E93389E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BBC360-1E82-4991-9637-D7CE9C1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먼저 바꿀 범위와 제외할 일을 정합니다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90F8981-9ACF-474F-AF28-8AF070D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B2B몰의 도입 범위를 선택하고, 발주 검토에 필요한 자료의 취합 흐름을 구현했습니다.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92FD025-7487-4442-A4B7-4B1921B6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2EFFD22-D686-4B91-AA03-68A8A37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사용자와 운영자의 예외를 정책으로 구체화합니다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5A60643-3249-4E58-BD4A-A61EC088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카테고리 혼합주문, 판매와 출고의 구분, 주문·포장의 처리 단위를 정의했습니다.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AE9A629-B063-4052-AC5B-CACB4AC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58697EC-C7A7-4F37-8C29-296DAE07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검증하고, 동료의 사용 방식에 맞춥니다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B7A3C1A-6438-4720-AE8A-7C1C970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화면과 오류 복구를 검수하고, 대시보드는 기존 시트와 대조하며 개선했습니다.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C498E2B-E9F2-400E-B7BC-5B3ABB6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8280621-A425-42EC-905C-B93B111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3362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F9F5C56-D99F-4AFB-97D3-782AAB1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859315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2026-10-07T16:05:51.9890000Z</dcterms:created>
  <dcterms:modified xsi:type="dcterms:W3CDTF">2026-10-07T16:05:51.9890000Z</dcterms:modified>
</coreProperties>
</file>