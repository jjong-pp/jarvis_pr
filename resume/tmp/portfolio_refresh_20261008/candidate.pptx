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67" r:id="rId4"/>
    <p:sldId id="268" r:id="rId5"/>
    <p:sldId id="269" r:id="rId6"/>
    <p:sldId id="270" r:id="rId7"/>
    <p:sldId id="272" r:id="rId8"/>
    <p:sldId id="273" r:id="rId9"/>
    <p:sldId id="258" r:id="rId10"/>
    <p:sldId id="276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77" r:id="rId19"/>
    <p:sldId id="278" r:id="rId20"/>
    <p:sldId id="279" r:id="rId21"/>
    <p:sldId id="280" r:id="rId22"/>
    <p:sldId id="281" r:id="rId23"/>
    <p:sldId id="266" r:id="rId24"/>
    <p:sldId id="282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77C0C-CF9D-4DA8-88A2-8CCE9C2D3A00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C09A-1111-4338-BB54-757B2986C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046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2026-10-08 기본 포트폴리오 갱신. B2B 주문몰, SCM 대시보드, ERP·통관 연동의 세 사례로 구성. 사용자 제공 이력과 공통자료/SCM_업무성과.md, 공통자료/PM_프로젝트성과.md 기준. 기존 양식의 글꼴·색·레이아웃과 열린 파일의 사용자 편집을 보존. 원본은 저장되지 않은 상태로 열려 있어 별도 수정본으로 제공.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1195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2026-10-08 기본 포트폴리오 갱신. B2B 주문몰, SCM 대시보드, ERP·통관 연동의 세 사례로 구성. 사용자 제공 이력과 공통자료/SCM_업무성과.md, 공통자료/PM_프로젝트성과.md 기준. 기존 양식의 글꼴·색·레이아웃과 열린 파일의 사용자 편집을 보존. 원본은 저장되지 않은 상태로 열려 있어 별도 수정본으로 제공.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6592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2026-10-08 사용자 제공 이력과 공통자료/PM_프로젝트성과.md. B2B 2026-06~08, 핵심 흐름 2026-07-16 가동, 08-31 후속 최종 검수. 정책·요구사항·개발사 조율·운영 QA는 본인, 구현은 개발사. 공급사 수는 외부 공개 내용에서 제외.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0338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C-030·035·040·042·043. 기준 디자인 원본 10장 업무 흐름. 초기 오출고 전체 측정 범위와 문의 환산 기준은 결과 장에 명시.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553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C-035·036·130. 대안 비교와 범위 제외 근거. 공급사 직접 입력·입금자동매칭은 구현 증빙 수준이 달라 핵심 성과에서 제외.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9869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C-033·129. 산후조리원몰_과업내역_처리결과.html 과업1, 228~250행. 수치가 포함된 계정·상품 데이터는 캡처에서 제외.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9209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C-034. 산후조리원몰_과업내역_처리결과.html 322~327행. 실제 주문을 재현한 로그가 아닌 정책 설명 시뮬레이션.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15525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C-036·130. 산후조리원몰_과업내역_처리결과.html 452~477행. 자동 실행 대신 담당자 확인 후 실행 결정과 안전장치 근거.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8154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C-038·046·131.</a:t>
            </a:r>
          </a:p>
          <a:p>
            <a:r>
              <a:t>화면: .build/v4_3/b2b_raw/safe-statement-before.png, safe-statement-after.png. 운영 회의·문의 피드백이며 정식 사용자 인터뷰/실험으로 확대하지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1301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C-031·040·042·043·044. 정산시간 C-041은 비교 월 미확인으로 제외. 입금자동매칭 완료·서비스 밖 문의 개선을 주장하지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6943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2026-10-08 사용자 제공 이력. 공통자료/SCM_업무성과.md C-080, C-081, C-094, C-095, C-104, C-113. 구현 참조: C:/MyMain/Eibe/SCM-Dashboard/app 및 web.</a:t>
            </a:r>
          </a:p>
          <a:p>
            <a:r>
              <a:t>성과는 사용자 확인과 업무 기록 기준. 자료 업로드·결과 검토 1시간 이내, 도입 후 약 3개월 취합 과정 오류 0건. 원천 자료 오류 및 발주 판단·승인 시간과 구분. 월간 발주 검토 2026-04~08 5회.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65319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2026-10-08 사용자 제공 이력. 공통자료/SCM_업무성과.md C-080, C-081, C-094, C-095, C-104, C-113. 구현 참조: C:/MyMain/Eibe/SCM-Dashboard/app 및 web.</a:t>
            </a:r>
          </a:p>
          <a:p>
            <a:r>
              <a:t>성과는 사용자 확인과 업무 기록 기준. 자료 업로드·결과 검토 1시간 이내, 도입 후 약 3개월 취합 과정 오류 0건. 원천 자료 오류 및 발주 판단·승인 시간과 구분. 월간 발주 검토 2026-04~08 5회.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36734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2026-10-08 사용자 제공 이력. 공통자료/SCM_업무성과.md C-080, C-081, C-094, C-095, C-104, C-113. 구현 참조: C:/MyMain/Eibe/SCM-Dashboard/app 및 web.</a:t>
            </a:r>
          </a:p>
          <a:p>
            <a:r>
              <a:t>성과는 사용자 확인과 업무 기록 기준. 자료 업로드·결과 검토 1시간 이내, 도입 후 약 3개월 취합 과정 오류 0건. 원천 자료 오류 및 발주 판단·승인 시간과 구분. 월간 발주 검토 2026-04~08 5회.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66862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2026-10-08 사용자 제공 이력. 공통자료/SCM_업무성과.md C-080, C-081, C-094, C-095, C-104, C-113. 구현 참조: C:/MyMain/Eibe/SCM-Dashboard/app 및 web.</a:t>
            </a:r>
          </a:p>
          <a:p>
            <a:r>
              <a:t>성과는 사용자 확인과 업무 기록 기준. 자료 업로드·결과 검토 1시간 이내, 도입 후 약 3개월 취합 과정 오류 0건. 원천 자료 오류 및 발주 판단·승인 시간과 구분. 월간 발주 검토 2026-04~08 5회.</a:t>
            </a:r>
          </a:p>
          <a:p>
            <a:r>
              <a:t>샘플 화면: 실제 v1 앱을 격리 복제해 합성 SKU·창고·재고로 실행. 운영 DB는 사용하지 않음. 시연용 inventory.html에서 초기 배열·필터 로드 순서, 창고 ID 타입, product_code 매핑을 보정함. 원본 코드와 디자인은 변경하지 않음. 표시 수량·금액·날짜는 합성값이며 성과의 증거가 아님. /order-plan은 전체 품목(요약) 화면이며 가중치 가정에 따른 시나리오.</a:t>
            </a:r>
          </a:p>
          <a:p>
            <a:r>
              <a:t>화면 제작 기록: resume/tmp/portfolio_dashboard_20261008/DEMO_README.md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9123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2026-10-08 사용자 제공 이력. 공통자료/SCM_업무성과.md C-080, C-081, C-094, C-095, C-104, C-113. 구현 참조: C:/MyMain/Eibe/SCM-Dashboard/app 및 web.</a:t>
            </a:r>
          </a:p>
          <a:p>
            <a:r>
              <a:t>성과는 사용자 확인과 업무 기록 기준. 자료 업로드·결과 검토 1시간 이내, 도입 후 약 3개월 취합 과정 오류 0건. 원천 자료 오류 및 발주 판단·승인 시간과 구분. 월간 발주 검토 2026-04~08 5회.</a:t>
            </a:r>
          </a:p>
          <a:p>
            <a:r>
              <a:t>샘플 화면: 실제 v1 앱을 격리 복제해 합성 SKU·창고·재고로 실행. 운영 DB는 사용하지 않음. 시연용 inventory.html에서 초기 배열·필터 로드 순서, 창고 ID 타입, product_code 매핑을 보정함. 원본 코드와 디자인은 변경하지 않음. 표시 수량·금액·날짜는 합성값이며 성과의 증거가 아님. /order-plan은 전체 품목(요약) 화면이며 가중치 가정에 따른 시나리오.</a:t>
            </a:r>
          </a:p>
          <a:p>
            <a:r>
              <a:t>화면 제작 기록: resume/tmp/portfolio_dashboard_20261008/DEMO_README.md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9790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2026-10-08 사용자 제공 이력. 공통자료/SCM_업무성과.md C-080, C-081, C-094, C-095, C-104, C-113. 구현 참조: C:/MyMain/Eibe/SCM-Dashboard/app 및 web.</a:t>
            </a:r>
          </a:p>
          <a:p>
            <a:r>
              <a:t>성과는 사용자 확인과 업무 기록 기준. 자료 업로드·결과 검토 1시간 이내, 도입 후 약 3개월 취합 과정 오류 0건. 원천 자료 오류 및 발주 판단·승인 시간과 구분. 월간 발주 검토 2026-04~08 5회.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73058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2026-10-08 사용자 제공 이력. 공통자료/SCM_업무성과.md C-080, C-081, C-094, C-095, C-104, C-113. 구현 참조: C:/MyMain/Eibe/SCM-Dashboard/app 및 web.</a:t>
            </a:r>
          </a:p>
          <a:p>
            <a:r>
              <a:t>성과는 사용자 확인과 업무 기록 기준. 자료 업로드·결과 검토 1시간 이내, 도입 후 약 3개월 취합 과정 오류 0건. 원천 자료 오류 및 발주 판단·승인 시간과 구분. 월간 발주 검토 2026-04~08 5회.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15384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2026-10-08 사용자 제공 이력; 공통자료/PM_프로젝트성과.md C-021, C-022, C-027, C-100, C-102. 프로젝트 기간 2026-02~2026-08-28. 운영환경 시나리오 30건 기대 결과 확인. 2026-08-28~09-15 집계 일평균 약 300건(자사몰230+외부70), 신규와 기존 통관 방식 병행 집계. 전 채널 신규 API 완료나 무인 자동화 실적으로 해석하지 않음. 참조: 관세청/planning/planning_v7.html 및 관세청_PM_운영_인수인계_20261004.md.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8028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C-025·028·101·126. planning_v7.html 4·8·9절. 원본은 내부 문서로 도표를 일반화해 재구성.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59876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C-029. planning_v7.html 8절 공통 식별자. orderNo는 원주문번호, erpPackageOrderNo는 ERP 포장번호, 병합키는 hwbNo+orderNo. 시뮬레이션은 실제 주문·운영 로그가 아님.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78181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C-127. 리스크·질의대장 2026-08-26 협의 이력(572·622행). 실제 당시 의사결정 사례이며 현재 모든 채널에 적용되는 일괄 정책으로 확대하지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29762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C-128. planning_v7.html 9절 상태와 재시도. merged는 통관 완료가 아니며 pending은 대기와 검증 실패를 조회로 구분. 구현 완료 상태는 주장하지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65362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2026-10-08 사용자 제공 이력; 공통자료/PM_프로젝트성과.md C-021, C-022, C-027, C-100, C-102. 프로젝트 기간 2026-02~2026-08-28. 운영환경 시나리오 30건 기대 결과 확인. 2026-08-28~09-15 집계 일평균 약 300건(자사몰230+외부70), 신규와 기존 통관 방식 병행 집계. 전 채널 신규 API 완료나 무인 자동화 실적으로 해석하지 않음. 참조: 관세청/planning/planning_v7.html 및 관세청_PM_운영_인수인계_20261004.md.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77598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2026-10-08 기본 포트폴리오 갱신. B2B 주문몰, SCM 대시보드, ERP·통관 연동의 세 사례로 구성. 사용자 제공 이력과 공통자료/SCM_업무성과.md, 공통자료/PM_프로젝트성과.md 기준. 기존 양식의 글꼴·색·레이아웃과 열린 파일의 사용자 편집을 보존. 원본은 저장되지 않은 상태로 열려 있어 별도 수정본으로 제공.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8835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5CF38-D933-F635-8D11-281879570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ED935F5-D02E-398C-4374-D206DC6E5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AD0F29-F62D-8752-EDAA-12B467AE5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D8BED0-938D-CB6B-BBAE-2484BDB4B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4B80A7-8858-4B31-8F95-0609FDD54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50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9E94E6-CD7D-0A1C-596B-D4315E6C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09128C-F1F9-0329-587C-6223A0708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EF3B05-4106-E31A-FA1C-23EC73C76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F8CA5F-542D-E8DF-1CE1-892915372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7A4EBA-F287-1641-4876-5DC477ACA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860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2F0D7-C3E6-7982-7F35-B490DE30B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1C3C54-C2BC-ACF3-4EF6-68076AAD9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DA1DB0-B37F-437D-0791-6A3680D34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CC979A-F2C6-F128-1E27-D40605C7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760B4A-F9DA-EAC9-BD13-7AE77D462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558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30257-58DA-ECBD-5D05-A4E0180E8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FB2143-115D-FBCF-9A93-D17729024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4AA1B8-8370-6CCD-11E8-3E7A7F513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1DE7E1-4026-22A1-8D80-C0A59E6C6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6A4D32-82B2-395A-07C2-4E5956B4C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37D8F0-6E3E-AF65-F35E-50B4D334F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464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E3A5D4-9121-23A3-5BFC-578BF698A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60C0FF-4B12-2CE9-FEEE-6F7C196B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635D39-5DB8-7A54-FB83-B57A6F550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11C5D9-878B-C43C-5216-BB4396AC83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36206B-01F5-CF67-FE6D-46367352DA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370FB1F-A174-8469-D8C4-3FB4803A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A7F267-3854-B8A2-A776-746673ADC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5EFAED5-283F-6FFC-3844-06AFC8A58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88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006B1-E5FF-3179-EA03-B3B95886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1B512C1-67E4-BCE8-EE2E-DB80CE0FC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CA9CD9F-A2A3-A9B4-8B9D-BAA225418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05E0E7-8873-49F8-A90C-9CD6F236F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90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06481D-FEF3-4ADE-5F0D-D998F5BDC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489814-7927-E412-1B0E-39F2E651A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6AB25B-88CA-1890-DDFB-6F6541020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242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FBAA9E-6E84-3569-E438-D0E00F125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823879-1ED1-D98B-762B-8F90015D2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0ECDD0-72DC-82FE-B2B2-BC7BF9F41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780077-8B96-A392-8B3A-609DD5749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379A14-3E12-5EAA-539B-75559FB1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9BC6F7-706A-2144-001B-40E1BF08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406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8CDEAC-A5D5-0084-AABA-07F18FE7F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8A5A7D-7315-EB0A-6980-725A29B13D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24CEE0-C28E-F4BB-5DD3-CEFFE865B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05F11C-212F-20F6-1648-77BD6629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BC8AD9-1B7B-E9D5-977B-90BE71075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131896-4AC8-BA2E-FAEA-C3A20FBF2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84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D7FF4-05E9-7DD8-21DC-19F1AE1E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B919D1-EB97-FCD4-4F2B-A38238DD6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0EE79B-8FF6-BE4D-8EFB-BC896F23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DD126-0868-CCBE-0D2B-6FD3D3D60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AF01E8-57FB-33CC-1A55-EE7D34765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272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8162DC-AB37-DDB2-63D7-513D23A630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4B0D14-D28C-2980-1D11-BED583BB6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242735-0E57-D236-B376-0BB5CD51D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083E7C-93A4-FEDC-14B8-2C1D4172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FA8A2B-7952-3EAC-A310-ED07A3685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264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237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ECC886C-E290-E084-622D-053928AD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A08201-CE7B-B00C-7566-0380E6FB0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AA900E-8EF7-D61D-783B-D2A03B4D3C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CF4036-8532-B207-5753-CF63D6BB4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D00EF5-33BF-7D1F-61F2-60B7FD476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833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PortfolioScreenshot" Type="http://schemas.openxmlformats.org/officeDocument/2006/relationships/image" Target="../media/portfolio_scm_14.jpg"/></Relationships>
</file>

<file path=ppt/slides/_rels/slide1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PortfolioScreenshot" Type="http://schemas.openxmlformats.org/officeDocument/2006/relationships/image" Target="../media/portfolio_scm_15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6B538CE8-6E16-4549-BECC-44689CFFEFE9}"/>
              </a:ext>
            </a:extLst>
          </p:cNvPr>
          <p:cNvSpPr>
            <a:spLocks noGrp="1"/>
          </p:cNvSpPr>
          <p:nvPr/>
        </p:nvSpPr>
        <p:spPr>
          <a:xfrm>
            <a:off x="7734300" y="0"/>
            <a:ext cx="4457700" cy="685800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990D692-9C27-445B-9B2E-3B40453DE995}"/>
              </a:ext>
            </a:extLst>
          </p:cNvPr>
          <p:cNvSpPr>
            <a:spLocks noGrp="1"/>
          </p:cNvSpPr>
          <p:nvPr/>
        </p:nvSpPr>
        <p:spPr>
          <a:xfrm>
            <a:off x="514350" y="666750"/>
            <a:ext cx="6858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현장에서 발견한 문제를</a:t>
            </a:r>
          </a:p>
          <a:p>
            <a:pPr algn="l">
              <a:lnSpc>
                <a:spcPct val="122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제품의 기준으로 정하고, 운영에서 확인합니다.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9360D60-72D7-460B-8B80-8903D8F9E125}"/>
              </a:ext>
            </a:extLst>
          </p:cNvPr>
          <p:cNvSpPr>
            <a:spLocks noGrp="1"/>
          </p:cNvSpPr>
          <p:nvPr/>
        </p:nvSpPr>
        <p:spPr>
          <a:xfrm>
            <a:off x="514350" y="1666875"/>
            <a:ext cx="683895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컴퓨터소프트웨어를 전공하고 아이베 SCM팀에서 운영 실무를 맡았습니다.</a:t>
            </a: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계약별 주문 오류를 시스템 규칙으로 바꾸고, 통관 연동의 오류 복구를 설계했습니다.</a:t>
            </a: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발주 검토 자료를 모으는 반복 업무는 직접 대시보드로 구현하고,</a:t>
            </a: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기존 시트와 병행 검증하며 팀원들의 사용 의견을 반영했습니다.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94D13B1-325E-4933-853F-57BF6EA59B95}"/>
              </a:ext>
            </a:extLst>
          </p:cNvPr>
          <p:cNvSpPr>
            <a:spLocks noGrp="1"/>
          </p:cNvSpPr>
          <p:nvPr/>
        </p:nvSpPr>
        <p:spPr>
          <a:xfrm>
            <a:off x="514350" y="3076575"/>
            <a:ext cx="66675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박종혁  /  PM 포트폴리오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4C1C69E8-711D-41B7-8764-7ADF78ABA31D}"/>
              </a:ext>
            </a:extLst>
          </p:cNvPr>
          <p:cNvSpPr>
            <a:spLocks noGrp="1"/>
          </p:cNvSpPr>
          <p:nvPr/>
        </p:nvSpPr>
        <p:spPr>
          <a:xfrm>
            <a:off x="609600" y="3648075"/>
            <a:ext cx="6191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일하는 방식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67FA070E-6A44-40D7-9BF6-028935119B84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3357D59E-082A-4249-8406-839B38161CCD}"/>
              </a:ext>
            </a:extLst>
          </p:cNvPr>
          <p:cNvSpPr>
            <a:spLocks noGrp="1"/>
          </p:cNvSpPr>
          <p:nvPr/>
        </p:nvSpPr>
        <p:spPr>
          <a:xfrm>
            <a:off x="609600" y="429577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문제와 범위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A1D31481-3B07-42D3-BEC1-5649F70812BF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반복되는 업무에서</a:t>
            </a:r>
          </a:p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먼저 바꿀 부분을 정함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3228202A-1665-4686-A7DC-F09325DA915C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20764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B2B · 솔루션과 제외 범위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806E74E6-AAF5-4371-9A72-C39F074E8CC0}"/>
              </a:ext>
            </a:extLst>
          </p:cNvPr>
          <p:cNvSpPr>
            <a:spLocks noGrp="1"/>
          </p:cNvSpPr>
          <p:nvPr/>
        </p:nvSpPr>
        <p:spPr>
          <a:xfrm>
            <a:off x="2971800" y="39814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FCED92FE-8CCF-4C34-A67C-125F233EF319}"/>
              </a:ext>
            </a:extLst>
          </p:cNvPr>
          <p:cNvSpPr>
            <a:spLocks noGrp="1"/>
          </p:cNvSpPr>
          <p:nvPr/>
        </p:nvSpPr>
        <p:spPr>
          <a:xfrm>
            <a:off x="2971800" y="429577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정책과 예외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6E65A963-DEDE-47A4-A648-87A186AE2BA3}"/>
              </a:ext>
            </a:extLst>
          </p:cNvPr>
          <p:cNvSpPr>
            <a:spLocks noGrp="1"/>
          </p:cNvSpPr>
          <p:nvPr/>
        </p:nvSpPr>
        <p:spPr>
          <a:xfrm>
            <a:off x="2971800" y="468630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판단 기준을 사용자 흐름과</a:t>
            </a:r>
          </a:p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 요구사항으로 구체화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F3548CA1-BCD5-4D6A-A567-89DEEA43F180}"/>
              </a:ext>
            </a:extLst>
          </p:cNvPr>
          <p:cNvSpPr>
            <a:spLocks noGrp="1"/>
          </p:cNvSpPr>
          <p:nvPr/>
        </p:nvSpPr>
        <p:spPr>
          <a:xfrm>
            <a:off x="2971800" y="5248275"/>
            <a:ext cx="20764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관세청 · 주문과 포장 분리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96A98E60-A739-4AEC-84CD-7D35ABBF6C11}"/>
              </a:ext>
            </a:extLst>
          </p:cNvPr>
          <p:cNvSpPr>
            <a:spLocks noGrp="1"/>
          </p:cNvSpPr>
          <p:nvPr/>
        </p:nvSpPr>
        <p:spPr>
          <a:xfrm>
            <a:off x="5334000" y="39814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B9CFD80C-79A5-46FA-9003-2863451466EB}"/>
              </a:ext>
            </a:extLst>
          </p:cNvPr>
          <p:cNvSpPr>
            <a:spLocks noGrp="1"/>
          </p:cNvSpPr>
          <p:nvPr/>
        </p:nvSpPr>
        <p:spPr>
          <a:xfrm>
            <a:off x="5334000" y="429577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검증과 다음 판단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0EC0F95B-9689-4500-B603-41D4A4A05FAA}"/>
              </a:ext>
            </a:extLst>
          </p:cNvPr>
          <p:cNvSpPr>
            <a:spLocks noGrp="1"/>
          </p:cNvSpPr>
          <p:nvPr/>
        </p:nvSpPr>
        <p:spPr>
          <a:xfrm>
            <a:off x="5334000" y="468630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확인한 결과와 가설을 나눠</a:t>
            </a:r>
          </a:p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다음 검증 기준을 정함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44B9CE98-241C-4AC1-8137-802CCD2AEDD0}"/>
              </a:ext>
            </a:extLst>
          </p:cNvPr>
          <p:cNvSpPr>
            <a:spLocks noGrp="1"/>
          </p:cNvSpPr>
          <p:nvPr/>
        </p:nvSpPr>
        <p:spPr>
          <a:xfrm>
            <a:off x="5334000" y="5248275"/>
            <a:ext cx="20764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SCM · 병행 검증과 운영 개선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D37FEF7-54F0-431C-AF3C-0880D6A1BF20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133600" cy="6096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01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B2B 전용몰</a:t>
            </a:r>
          </a:p>
          <a:p>
            <a:pPr algn="l">
              <a:lnSpc>
                <a:spcPct val="120000"/>
              </a:lnSpc>
              <a:buNone/>
              <a:defRPr sz="101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 정책·실행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6A7B742-8663-4147-9FFC-417D0176F7F9}"/>
              </a:ext>
            </a:extLst>
          </p:cNvPr>
          <p:cNvSpPr>
            <a:spLocks noGrp="1"/>
          </p:cNvSpPr>
          <p:nvPr/>
        </p:nvSpPr>
        <p:spPr>
          <a:xfrm>
            <a:off x="2905125" y="5810250"/>
            <a:ext cx="2133600" cy="6096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013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SCM 대시보드</a:t>
            </a:r>
          </a:p>
          <a:p>
            <a:pPr algn="l">
              <a:lnSpc>
                <a:spcPct val="120000"/>
              </a:lnSpc>
              <a:buNone/>
              <a:defRPr sz="1013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자료 취합·운영 검증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EF51153-D33D-44D3-B3E2-00D59C05EB33}"/>
              </a:ext>
            </a:extLst>
          </p:cNvPr>
          <p:cNvSpPr>
            <a:spLocks noGrp="1"/>
          </p:cNvSpPr>
          <p:nvPr/>
        </p:nvSpPr>
        <p:spPr>
          <a:xfrm>
            <a:off x="5200650" y="5810250"/>
            <a:ext cx="2133600" cy="6096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01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관세청 연동</a:t>
            </a:r>
          </a:p>
          <a:p>
            <a:pPr algn="l">
              <a:lnSpc>
                <a:spcPct val="120000"/>
              </a:lnSpc>
              <a:buNone/>
              <a:defRPr sz="101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데이터·오류 복구</a:t>
            </a:r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26852" y="828675"/>
            <a:ext cx="1491372" cy="2124075"/>
          </a:xfrm>
          <a:prstGeom prst="rect">
            <a:avLst/>
          </a:prstGeom>
        </p:spPr>
      </p:pic>
      <p:sp>
        <p:nvSpPr>
          <p:cNvPr id="22" name="text-20">
            <a:extLst>
              <a:ext uri="{FF2B5EF4-FFF2-40B4-BE49-F238E27FC236}">
                <a16:creationId xmlns:a16="http://schemas.microsoft.com/office/drawing/2014/main" id="{B7363E88-F63C-4B56-BA2C-D1E7D75C03E3}"/>
              </a:ext>
            </a:extLst>
          </p:cNvPr>
          <p:cNvSpPr>
            <a:spLocks noGrp="1"/>
          </p:cNvSpPr>
          <p:nvPr/>
        </p:nvSpPr>
        <p:spPr>
          <a:xfrm>
            <a:off x="10096500" y="923925"/>
            <a:ext cx="1581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경력</a:t>
            </a:r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267812B3-95D0-4497-B59A-805E78414B53}"/>
              </a:ext>
            </a:extLst>
          </p:cNvPr>
          <p:cNvSpPr>
            <a:spLocks noGrp="1"/>
          </p:cNvSpPr>
          <p:nvPr/>
        </p:nvSpPr>
        <p:spPr>
          <a:xfrm>
            <a:off x="10096500" y="1200150"/>
            <a:ext cx="1581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아이베 SCM팀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E243863E-8A14-4A92-AB25-57BB9CEFB134}"/>
              </a:ext>
            </a:extLst>
          </p:cNvPr>
          <p:cNvSpPr>
            <a:spLocks noGrp="1"/>
          </p:cNvSpPr>
          <p:nvPr/>
        </p:nvSpPr>
        <p:spPr>
          <a:xfrm>
            <a:off x="10096500" y="1466850"/>
            <a:ext cx="15811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2025-09-08 ~ 재직 중</a:t>
            </a:r>
          </a:p>
          <a:p>
            <a:pPr algn="l">
              <a:lnSpc>
                <a:spcPct val="122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SCM 실무·프로젝트 PM</a:t>
            </a:r>
          </a:p>
        </p:txBody>
      </p:sp>
      <p:sp>
        <p:nvSpPr>
          <p:cNvPr id="25" name="text-23">
            <a:extLst>
              <a:ext uri="{FF2B5EF4-FFF2-40B4-BE49-F238E27FC236}">
                <a16:creationId xmlns:a16="http://schemas.microsoft.com/office/drawing/2014/main" id="{95C338FF-9A8D-4EFE-90C2-7CD7230C5003}"/>
              </a:ext>
            </a:extLst>
          </p:cNvPr>
          <p:cNvSpPr>
            <a:spLocks noGrp="1"/>
          </p:cNvSpPr>
          <p:nvPr/>
        </p:nvSpPr>
        <p:spPr>
          <a:xfrm>
            <a:off x="10096500" y="2105025"/>
            <a:ext cx="157162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학력</a:t>
            </a:r>
          </a:p>
        </p:txBody>
      </p:sp>
      <p:sp>
        <p:nvSpPr>
          <p:cNvPr id="26" name="text-24">
            <a:extLst>
              <a:ext uri="{FF2B5EF4-FFF2-40B4-BE49-F238E27FC236}">
                <a16:creationId xmlns:a16="http://schemas.microsoft.com/office/drawing/2014/main" id="{ADF24606-389F-46CE-806C-6EBFEC801A40}"/>
              </a:ext>
            </a:extLst>
          </p:cNvPr>
          <p:cNvSpPr>
            <a:spLocks noGrp="1"/>
          </p:cNvSpPr>
          <p:nvPr/>
        </p:nvSpPr>
        <p:spPr>
          <a:xfrm>
            <a:off x="10096500" y="2381250"/>
            <a:ext cx="15811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고려사이버대학교</a:t>
            </a:r>
          </a:p>
          <a:p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AI·데이터과학부 재학</a:t>
            </a:r>
          </a:p>
          <a:p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2027-02 졸업 예정</a:t>
            </a:r>
          </a:p>
        </p:txBody>
      </p:sp>
      <p:sp>
        <p:nvSpPr>
          <p:cNvPr id="27" name="text-25">
            <a:extLst>
              <a:ext uri="{FF2B5EF4-FFF2-40B4-BE49-F238E27FC236}">
                <a16:creationId xmlns:a16="http://schemas.microsoft.com/office/drawing/2014/main" id="{5945C57E-2F7A-4EEE-B4FE-096239550652}"/>
              </a:ext>
            </a:extLst>
          </p:cNvPr>
          <p:cNvSpPr>
            <a:spLocks noGrp="1"/>
          </p:cNvSpPr>
          <p:nvPr/>
        </p:nvSpPr>
        <p:spPr>
          <a:xfrm>
            <a:off x="10096500" y="3105150"/>
            <a:ext cx="15811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부천대 컴퓨터소프트웨어과</a:t>
            </a:r>
          </a:p>
          <a:p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2019-03 ~ 2024-02 졸업</a:t>
            </a:r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C7FEB900-45A6-4E68-B102-7D14DD9F36ED}"/>
              </a:ext>
            </a:extLst>
          </p:cNvPr>
          <p:cNvSpPr>
            <a:spLocks noGrp="1"/>
          </p:cNvSpPr>
          <p:nvPr/>
        </p:nvSpPr>
        <p:spPr>
          <a:xfrm>
            <a:off x="8181975" y="3848100"/>
            <a:ext cx="3181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SKILL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7631DA1-CFDD-4B3B-84FF-E73FF3DFCEEB}"/>
              </a:ext>
            </a:extLst>
          </p:cNvPr>
          <p:cNvSpPr>
            <a:spLocks noGrp="1"/>
          </p:cNvSpPr>
          <p:nvPr/>
        </p:nvSpPr>
        <p:spPr>
          <a:xfrm>
            <a:off x="8181975" y="4257675"/>
            <a:ext cx="628650" cy="228600"/>
          </a:xfrm>
          <a:prstGeom prst="roundRect">
            <a:avLst>
              <a:gd name="adj" fmla="val 20833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기획</a:t>
            </a:r>
          </a:p>
        </p:txBody>
      </p:sp>
      <p:sp>
        <p:nvSpPr>
          <p:cNvPr id="30" name="text-28">
            <a:extLst>
              <a:ext uri="{FF2B5EF4-FFF2-40B4-BE49-F238E27FC236}">
                <a16:creationId xmlns:a16="http://schemas.microsoft.com/office/drawing/2014/main" id="{9564C667-E535-4C0C-A4D2-AAB5C863C8E9}"/>
              </a:ext>
            </a:extLst>
          </p:cNvPr>
          <p:cNvSpPr>
            <a:spLocks noGrp="1"/>
          </p:cNvSpPr>
          <p:nvPr/>
        </p:nvSpPr>
        <p:spPr>
          <a:xfrm>
            <a:off x="8181975" y="4619625"/>
            <a:ext cx="328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요구사항 정의, 정책 설계, 데이터 흐름, QA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E4ED048-062A-4712-B936-49726AF94B05}"/>
              </a:ext>
            </a:extLst>
          </p:cNvPr>
          <p:cNvSpPr>
            <a:spLocks noGrp="1"/>
          </p:cNvSpPr>
          <p:nvPr/>
        </p:nvSpPr>
        <p:spPr>
          <a:xfrm>
            <a:off x="8181975" y="5133975"/>
            <a:ext cx="628650" cy="228600"/>
          </a:xfrm>
          <a:prstGeom prst="roundRect">
            <a:avLst>
              <a:gd name="adj" fmla="val 20833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기술</a:t>
            </a:r>
          </a:p>
        </p:txBody>
      </p:sp>
      <p:sp>
        <p:nvSpPr>
          <p:cNvPr id="32" name="text-30">
            <a:extLst>
              <a:ext uri="{FF2B5EF4-FFF2-40B4-BE49-F238E27FC236}">
                <a16:creationId xmlns:a16="http://schemas.microsoft.com/office/drawing/2014/main" id="{4B5FB252-C91D-4CE5-A574-3B17BF199E8E}"/>
              </a:ext>
            </a:extLst>
          </p:cNvPr>
          <p:cNvSpPr>
            <a:spLocks noGrp="1"/>
          </p:cNvSpPr>
          <p:nvPr/>
        </p:nvSpPr>
        <p:spPr>
          <a:xfrm>
            <a:off x="8181975" y="5495925"/>
            <a:ext cx="3286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Python, SQL, REST API, Git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001867E-0C56-4362-A179-FE46F6A992FA}"/>
              </a:ext>
            </a:extLst>
          </p:cNvPr>
          <p:cNvSpPr>
            <a:spLocks noGrp="1"/>
          </p:cNvSpPr>
          <p:nvPr/>
        </p:nvSpPr>
        <p:spPr>
          <a:xfrm>
            <a:off x="8181975" y="5943600"/>
            <a:ext cx="628650" cy="228600"/>
          </a:xfrm>
          <a:prstGeom prst="roundRect">
            <a:avLst>
              <a:gd name="adj" fmla="val 20833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</a:t>
            </a:r>
          </a:p>
        </p:txBody>
      </p:sp>
      <p:sp>
        <p:nvSpPr>
          <p:cNvPr id="34" name="text-32">
            <a:extLst>
              <a:ext uri="{FF2B5EF4-FFF2-40B4-BE49-F238E27FC236}">
                <a16:creationId xmlns:a16="http://schemas.microsoft.com/office/drawing/2014/main" id="{FA2A0752-B6BB-449A-93A9-004B3CD8BD35}"/>
              </a:ext>
            </a:extLst>
          </p:cNvPr>
          <p:cNvSpPr>
            <a:spLocks noGrp="1"/>
          </p:cNvSpPr>
          <p:nvPr/>
        </p:nvSpPr>
        <p:spPr>
          <a:xfrm>
            <a:off x="8181975" y="6296025"/>
            <a:ext cx="32861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개발사 조율, 운영 피드백, 지표와 검수 기준</a:t>
            </a:r>
          </a:p>
        </p:txBody>
      </p:sp>
    </p:spTree>
    <p:extLst>
      <p:ext uri="{BB962C8B-B14F-4D97-AF65-F5344CB8AC3E}">
        <p14:creationId xmlns:p14="http://schemas.microsoft.com/office/powerpoint/2010/main" val="2298943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">
            <a:extLst>
              <a:ext uri="{FF2B5EF4-FFF2-40B4-BE49-F238E27FC236}">
                <a16:creationId xmlns:a16="http://schemas.microsoft.com/office/drawing/2014/main" id="{060A05E0-9526-4890-9444-05C32B022D70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02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CFC8347-734D-4254-8657-7509CCE514D8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Portfolio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6DF8A19C-4A5C-42B0-BD0F-7F3E3307876A}"/>
              </a:ext>
            </a:extLst>
          </p:cNvPr>
          <p:cNvSpPr>
            <a:spLocks noGrp="1"/>
          </p:cNvSpPr>
          <p:nvPr/>
        </p:nvSpPr>
        <p:spPr>
          <a:xfrm>
            <a:off x="609600" y="2981325"/>
            <a:ext cx="3238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Project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46BCA641-7924-4FE5-A549-FB51A667DBA5}"/>
              </a:ext>
            </a:extLst>
          </p:cNvPr>
          <p:cNvSpPr>
            <a:spLocks noGrp="1"/>
          </p:cNvSpPr>
          <p:nvPr/>
        </p:nvSpPr>
        <p:spPr>
          <a:xfrm>
            <a:off x="4305300" y="1171575"/>
            <a:ext cx="86677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23A449-9FBD-40D5-8D7E-2BECEF08017B}"/>
              </a:ext>
            </a:extLst>
          </p:cNvPr>
          <p:cNvSpPr>
            <a:spLocks noGrp="1"/>
          </p:cNvSpPr>
          <p:nvPr/>
        </p:nvSpPr>
        <p:spPr>
          <a:xfrm>
            <a:off x="5248275" y="1238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endParaRPr/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9FDF95B1-FB89-410B-B23E-1D93A98E5CE4}"/>
              </a:ext>
            </a:extLst>
          </p:cNvPr>
          <p:cNvSpPr>
            <a:spLocks noGrp="1"/>
          </p:cNvSpPr>
          <p:nvPr/>
        </p:nvSpPr>
        <p:spPr>
          <a:xfrm>
            <a:off x="5610225" y="1143000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 디지털화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805F692E-4CB8-415C-AB5A-3B467170FE73}"/>
              </a:ext>
            </a:extLst>
          </p:cNvPr>
          <p:cNvSpPr>
            <a:spLocks noGrp="1"/>
          </p:cNvSpPr>
          <p:nvPr/>
        </p:nvSpPr>
        <p:spPr>
          <a:xfrm>
            <a:off x="5610225" y="1428750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산후조리원 전용 B2B 몰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4537E893-9111-4F3A-925F-D563BEC49593}"/>
              </a:ext>
            </a:extLst>
          </p:cNvPr>
          <p:cNvSpPr>
            <a:spLocks noGrp="1"/>
          </p:cNvSpPr>
          <p:nvPr/>
        </p:nvSpPr>
        <p:spPr>
          <a:xfrm>
            <a:off x="5610225" y="1876425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03–10   계약 조건을 주문 규칙으로 바꾸고 운영에서 검수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734834E4-20D5-4C2A-9B72-30BE9BBCDD9A}"/>
              </a:ext>
            </a:extLst>
          </p:cNvPr>
          <p:cNvSpPr>
            <a:spLocks noGrp="1"/>
          </p:cNvSpPr>
          <p:nvPr/>
        </p:nvSpPr>
        <p:spPr>
          <a:xfrm>
            <a:off x="5610225" y="2286000"/>
            <a:ext cx="58007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핵심 흐름 운영 · 초기 결과 관찰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FB084AB5-112E-4C2A-806C-4AE2B3871D07}"/>
              </a:ext>
            </a:extLst>
          </p:cNvPr>
          <p:cNvSpPr>
            <a:spLocks noGrp="1"/>
          </p:cNvSpPr>
          <p:nvPr/>
        </p:nvSpPr>
        <p:spPr>
          <a:xfrm>
            <a:off x="5610225" y="2590800"/>
            <a:ext cx="5800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 · 범위 결정 · 예외 정책 · QA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565BF35D-AD2B-4FDA-A601-29A8AC0A5616}"/>
              </a:ext>
            </a:extLst>
          </p:cNvPr>
          <p:cNvSpPr>
            <a:spLocks noGrp="1"/>
          </p:cNvSpPr>
          <p:nvPr/>
        </p:nvSpPr>
        <p:spPr>
          <a:xfrm>
            <a:off x="4305300" y="3000375"/>
            <a:ext cx="86677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EAA18AA-86B4-4C0B-AFEF-B886758E6DCC}"/>
              </a:ext>
            </a:extLst>
          </p:cNvPr>
          <p:cNvSpPr>
            <a:spLocks noGrp="1"/>
          </p:cNvSpPr>
          <p:nvPr/>
        </p:nvSpPr>
        <p:spPr>
          <a:xfrm>
            <a:off x="5248275" y="3067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B44B00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endParaRPr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BCDA3742-7C8B-4579-90F7-FC07FEF26566}"/>
              </a:ext>
            </a:extLst>
          </p:cNvPr>
          <p:cNvSpPr>
            <a:spLocks noGrp="1"/>
          </p:cNvSpPr>
          <p:nvPr/>
        </p:nvSpPr>
        <p:spPr>
          <a:xfrm>
            <a:off x="5610225" y="2971800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발주 검토 자료 자동취합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FE4ECB64-F688-4A31-90A5-0A4B0BBF3F90}"/>
              </a:ext>
            </a:extLst>
          </p:cNvPr>
          <p:cNvSpPr>
            <a:spLocks noGrp="1"/>
          </p:cNvSpPr>
          <p:nvPr/>
        </p:nvSpPr>
        <p:spPr>
          <a:xfrm>
            <a:off x="5610225" y="3257550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SCM 대시보드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7205BBF2-FB21-44C6-AE9D-D86A79704381}"/>
              </a:ext>
            </a:extLst>
          </p:cNvPr>
          <p:cNvSpPr>
            <a:spLocks noGrp="1"/>
          </p:cNvSpPr>
          <p:nvPr/>
        </p:nvSpPr>
        <p:spPr>
          <a:xfrm>
            <a:off x="5610225" y="3705225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11–17   데이터의 의미를 구분하고 월간 검토 자료로 검증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1D2B65C0-23D6-433C-9AA6-31389DA0A0BE}"/>
              </a:ext>
            </a:extLst>
          </p:cNvPr>
          <p:cNvSpPr>
            <a:spLocks noGrp="1"/>
          </p:cNvSpPr>
          <p:nvPr/>
        </p:nvSpPr>
        <p:spPr>
          <a:xfrm>
            <a:off x="5610225" y="4114800"/>
            <a:ext cx="58007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2026-04 시범 배포 · 06월부터 기준 자료로 사용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EE399796-C46D-4A25-896A-A33A7524788A}"/>
              </a:ext>
            </a:extLst>
          </p:cNvPr>
          <p:cNvSpPr>
            <a:spLocks noGrp="1"/>
          </p:cNvSpPr>
          <p:nvPr/>
        </p:nvSpPr>
        <p:spPr>
          <a:xfrm>
            <a:off x="5610225" y="4419600"/>
            <a:ext cx="5800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데이터 설계 · 직접 구현 · 병행 검증 · 운영 개선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C768B805-24B4-4127-8B39-E49E532913BA}"/>
              </a:ext>
            </a:extLst>
          </p:cNvPr>
          <p:cNvSpPr>
            <a:spLocks noGrp="1"/>
          </p:cNvSpPr>
          <p:nvPr/>
        </p:nvSpPr>
        <p:spPr>
          <a:xfrm>
            <a:off x="4305300" y="4829175"/>
            <a:ext cx="86677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58BBD7D-C529-4EB9-9612-79CD4B8BE8AF}"/>
              </a:ext>
            </a:extLst>
          </p:cNvPr>
          <p:cNvSpPr>
            <a:spLocks noGrp="1"/>
          </p:cNvSpPr>
          <p:nvPr/>
        </p:nvSpPr>
        <p:spPr>
          <a:xfrm>
            <a:off x="5248275" y="4895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endParaRPr/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EFA0B4B3-E346-4E8E-B27A-A9630CB9B607}"/>
              </a:ext>
            </a:extLst>
          </p:cNvPr>
          <p:cNvSpPr>
            <a:spLocks noGrp="1"/>
          </p:cNvSpPr>
          <p:nvPr/>
        </p:nvSpPr>
        <p:spPr>
          <a:xfrm>
            <a:off x="5610225" y="4800600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 연동</a:t>
            </a:r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E5E5D8B9-19A4-4135-B519-BC599A9C25FA}"/>
              </a:ext>
            </a:extLst>
          </p:cNvPr>
          <p:cNvSpPr>
            <a:spLocks noGrp="1"/>
          </p:cNvSpPr>
          <p:nvPr/>
        </p:nvSpPr>
        <p:spPr>
          <a:xfrm>
            <a:off x="5610225" y="5086350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관세청 통관 연동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07F9FD9D-3D0F-4595-9AF9-63FC176384D4}"/>
              </a:ext>
            </a:extLst>
          </p:cNvPr>
          <p:cNvSpPr>
            <a:spLocks noGrp="1"/>
          </p:cNvSpPr>
          <p:nvPr/>
        </p:nvSpPr>
        <p:spPr>
          <a:xfrm>
            <a:off x="5610225" y="5534025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18–23   주문·포장 기준과 오류 수정·재제출 책임을 조율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BA15D816-EA9C-48A3-92AE-3A4BD013086C}"/>
              </a:ext>
            </a:extLst>
          </p:cNvPr>
          <p:cNvSpPr>
            <a:spLocks noGrp="1"/>
          </p:cNvSpPr>
          <p:nvPr/>
        </p:nvSpPr>
        <p:spPr>
          <a:xfrm>
            <a:off x="5610225" y="5943600"/>
            <a:ext cx="58007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신규·기존 방식 병행 · 시나리오 30건 검증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B4C1C942-9AAE-4C2A-BD0B-1EB2125E7DA4}"/>
              </a:ext>
            </a:extLst>
          </p:cNvPr>
          <p:cNvSpPr>
            <a:spLocks noGrp="1"/>
          </p:cNvSpPr>
          <p:nvPr/>
        </p:nvSpPr>
        <p:spPr>
          <a:xfrm>
            <a:off x="5610225" y="6248400"/>
            <a:ext cx="5800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 구조 · 의사결정 · 오류 복구 · 운영 검증</a:t>
            </a:r>
          </a:p>
        </p:txBody>
      </p:sp>
    </p:spTree>
    <p:extLst>
      <p:ext uri="{BB962C8B-B14F-4D97-AF65-F5344CB8AC3E}">
        <p14:creationId xmlns:p14="http://schemas.microsoft.com/office/powerpoint/2010/main" val="986782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-0">
            <a:extLst>
              <a:ext uri="{FF2B5EF4-FFF2-40B4-BE49-F238E27FC236}">
                <a16:creationId xmlns:a16="http://schemas.microsoft.com/office/drawing/2014/main" id="{DB02EF33-5A6C-458D-9802-080C9C20650B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03 / 24</a:t>
            </a:r>
            <a:endParaRPr sz="788" b="0">
              <a:solidFill>
                <a:srgbClr val="A6D5B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38AF7427-D3D4-4C54-A048-5382D37F0B73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01.  </a:t>
            </a:r>
            <a:r>
              <a:rPr lang="ko-KR" altLang="en-US"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 디지털화</a:t>
            </a:r>
            <a:endParaRPr sz="142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43271EF-8AD8-4345-8D9B-E34F5E2B7432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885825" cy="87630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B2B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DD793EA-5289-4005-8A44-62AE72634E6C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57245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산후조리원 전용 B2B 몰 구축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42D51082-4B92-47B0-807D-829AAF5595BF}"/>
              </a:ext>
            </a:extLst>
          </p:cNvPr>
          <p:cNvSpPr>
            <a:spLocks noGrp="1"/>
          </p:cNvSpPr>
          <p:nvPr/>
        </p:nvSpPr>
        <p:spPr>
          <a:xfrm>
            <a:off x="1752600" y="2143125"/>
            <a:ext cx="56864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계약별 주문·결제·포인트 규칙을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운영자가 설정하고 확인하는 구조로 바꿨습니다.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92959424-44D5-4E99-AE9F-4A124261FB92}"/>
              </a:ext>
            </a:extLst>
          </p:cNvPr>
          <p:cNvSpPr>
            <a:spLocks noGrp="1"/>
          </p:cNvSpPr>
          <p:nvPr/>
        </p:nvSpPr>
        <p:spPr>
          <a:xfrm>
            <a:off x="1752600" y="3028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D75A4740-9751-46ED-AA9F-79A8ED99E541}"/>
              </a:ext>
            </a:extLst>
          </p:cNvPr>
          <p:cNvSpPr>
            <a:spLocks noGrp="1"/>
          </p:cNvSpPr>
          <p:nvPr/>
        </p:nvSpPr>
        <p:spPr>
          <a:xfrm>
            <a:off x="1752600" y="331470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계정별 상품·결제 조건을 사람이 매번 다시 판단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4A8F32DA-56FC-4F44-8AA3-00EDC574CA13}"/>
              </a:ext>
            </a:extLst>
          </p:cNvPr>
          <p:cNvSpPr>
            <a:spLocks noGrp="1"/>
          </p:cNvSpPr>
          <p:nvPr/>
        </p:nvSpPr>
        <p:spPr>
          <a:xfrm>
            <a:off x="1752600" y="37814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D2D4C030-019B-4BB3-BBCC-B96C61F74E52}"/>
              </a:ext>
            </a:extLst>
          </p:cNvPr>
          <p:cNvSpPr>
            <a:spLocks noGrp="1"/>
          </p:cNvSpPr>
          <p:nvPr/>
        </p:nvSpPr>
        <p:spPr>
          <a:xfrm>
            <a:off x="1752600" y="4067175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담당자, 내부 운영팀, 공급사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E7544839-815A-4195-9FED-CF8A01EFDF77}"/>
              </a:ext>
            </a:extLst>
          </p:cNvPr>
          <p:cNvSpPr>
            <a:spLocks noGrp="1"/>
          </p:cNvSpPr>
          <p:nvPr/>
        </p:nvSpPr>
        <p:spPr>
          <a:xfrm>
            <a:off x="1752600" y="45339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46F798A2-8E8B-4D26-8480-49EE911345D3}"/>
              </a:ext>
            </a:extLst>
          </p:cNvPr>
          <p:cNvSpPr>
            <a:spLocks noGrp="1"/>
          </p:cNvSpPr>
          <p:nvPr/>
        </p:nvSpPr>
        <p:spPr>
          <a:xfrm>
            <a:off x="1752600" y="481965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오출고 예방과 주문 확인 부담 감소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A9EF27F-256A-4307-9787-B44DBB0E9BDC}"/>
              </a:ext>
            </a:extLst>
          </p:cNvPr>
          <p:cNvSpPr>
            <a:spLocks noGrp="1"/>
          </p:cNvSpPr>
          <p:nvPr/>
        </p:nvSpPr>
        <p:spPr>
          <a:xfrm>
            <a:off x="7734300" y="1600200"/>
            <a:ext cx="3848100" cy="3038475"/>
          </a:xfrm>
          <a:prstGeom prst="roundRect">
            <a:avLst>
              <a:gd name="adj" fmla="val 3448"/>
            </a:avLst>
          </a:prstGeom>
          <a:solidFill>
            <a:srgbClr val="19583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40D3F2AA-1376-4AD1-BF98-5E2128E2AC8D}"/>
              </a:ext>
            </a:extLst>
          </p:cNvPr>
          <p:cNvSpPr>
            <a:spLocks noGrp="1"/>
          </p:cNvSpPr>
          <p:nvPr/>
        </p:nvSpPr>
        <p:spPr>
          <a:xfrm>
            <a:off x="8020050" y="1838325"/>
            <a:ext cx="3267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 예외를 정책으로 정리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A7D3BA1-8E99-4F58-9577-AA0ED1999CDB}"/>
              </a:ext>
            </a:extLst>
          </p:cNvPr>
          <p:cNvSpPr>
            <a:spLocks noGrp="1"/>
          </p:cNvSpPr>
          <p:nvPr/>
        </p:nvSpPr>
        <p:spPr>
          <a:xfrm>
            <a:off x="8039100" y="2190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5E9A2F12-67FA-44B3-804C-6F36C84490E3}"/>
              </a:ext>
            </a:extLst>
          </p:cNvPr>
          <p:cNvSpPr>
            <a:spLocks noGrp="1"/>
          </p:cNvSpPr>
          <p:nvPr/>
        </p:nvSpPr>
        <p:spPr>
          <a:xfrm>
            <a:off x="8229600" y="2247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회원 등급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75F24B53-BB6C-4FB6-9FB7-44C35A2C3818}"/>
              </a:ext>
            </a:extLst>
          </p:cNvPr>
          <p:cNvSpPr>
            <a:spLocks noGrp="1"/>
          </p:cNvSpPr>
          <p:nvPr/>
        </p:nvSpPr>
        <p:spPr>
          <a:xfrm>
            <a:off x="8229600" y="2466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상품·결제수단 분기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EA24B1-02B1-451E-B3DA-CC81D2C910E9}"/>
              </a:ext>
            </a:extLst>
          </p:cNvPr>
          <p:cNvSpPr>
            <a:spLocks noGrp="1"/>
          </p:cNvSpPr>
          <p:nvPr/>
        </p:nvSpPr>
        <p:spPr>
          <a:xfrm>
            <a:off x="8039100" y="2762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BD4DF818-8D74-4AB9-82F1-A3079A3E092A}"/>
              </a:ext>
            </a:extLst>
          </p:cNvPr>
          <p:cNvSpPr>
            <a:spLocks noGrp="1"/>
          </p:cNvSpPr>
          <p:nvPr/>
        </p:nvSpPr>
        <p:spPr>
          <a:xfrm>
            <a:off x="8229600" y="2819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혼합주문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65EA8DA0-B621-4CB9-85A7-EE2A76745C25}"/>
              </a:ext>
            </a:extLst>
          </p:cNvPr>
          <p:cNvSpPr>
            <a:spLocks noGrp="1"/>
          </p:cNvSpPr>
          <p:nvPr/>
        </p:nvSpPr>
        <p:spPr>
          <a:xfrm>
            <a:off x="8229600" y="3038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분유와 물품 분리 주문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0AE4B56-F9E0-4A4D-952C-242B4B74C1BB}"/>
              </a:ext>
            </a:extLst>
          </p:cNvPr>
          <p:cNvSpPr>
            <a:spLocks noGrp="1"/>
          </p:cNvSpPr>
          <p:nvPr/>
        </p:nvSpPr>
        <p:spPr>
          <a:xfrm>
            <a:off x="8039100" y="3333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66360D95-DD7B-429C-AF51-F64DD80F7169}"/>
              </a:ext>
            </a:extLst>
          </p:cNvPr>
          <p:cNvSpPr>
            <a:spLocks noGrp="1"/>
          </p:cNvSpPr>
          <p:nvPr/>
        </p:nvSpPr>
        <p:spPr>
          <a:xfrm>
            <a:off x="8229600" y="3390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포인트 정리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441B0B78-D525-4FE1-92D5-C97F803C03BF}"/>
              </a:ext>
            </a:extLst>
          </p:cNvPr>
          <p:cNvSpPr>
            <a:spLocks noGrp="1"/>
          </p:cNvSpPr>
          <p:nvPr/>
        </p:nvSpPr>
        <p:spPr>
          <a:xfrm>
            <a:off x="8229600" y="3609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ED0A7E4-0A8F-47F0-B332-9D4DC4B568C5}"/>
              </a:ext>
            </a:extLst>
          </p:cNvPr>
          <p:cNvSpPr>
            <a:spLocks noGrp="1"/>
          </p:cNvSpPr>
          <p:nvPr/>
        </p:nvSpPr>
        <p:spPr>
          <a:xfrm>
            <a:off x="8039100" y="3905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1079F066-9917-4D92-A909-1F162FACB461}"/>
              </a:ext>
            </a:extLst>
          </p:cNvPr>
          <p:cNvSpPr>
            <a:spLocks noGrp="1"/>
          </p:cNvSpPr>
          <p:nvPr/>
        </p:nvSpPr>
        <p:spPr>
          <a:xfrm>
            <a:off x="8229600" y="3962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 QA</a:t>
            </a:r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B15A0E18-C2FA-41D4-9EF6-31771ED61477}"/>
              </a:ext>
            </a:extLst>
          </p:cNvPr>
          <p:cNvSpPr>
            <a:spLocks noGrp="1"/>
          </p:cNvSpPr>
          <p:nvPr/>
        </p:nvSpPr>
        <p:spPr>
          <a:xfrm>
            <a:off x="8229600" y="4181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고객 화면에서 기대 결과 확인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D438205C-9393-48CD-B42B-36DD43BD9B3D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0"/>
          </a:xfrm>
          <a:prstGeom prst="line">
            <a:avLst/>
          </a:prstGeom>
          <a:ln w="7620">
            <a:solidFill>
              <a:srgbClr val="A6D5B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A7A9AE68-3178-47F7-B854-AE7F0D3E39AD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F5B065D3-F92E-46EC-BD4D-6AB946120CB1}"/>
              </a:ext>
            </a:extLst>
          </p:cNvPr>
          <p:cNvSpPr>
            <a:spLocks noGrp="1"/>
          </p:cNvSpPr>
          <p:nvPr/>
        </p:nvSpPr>
        <p:spPr>
          <a:xfrm>
            <a:off x="1419225" y="539115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2026-06 기획 / 07-02 개발 착수 / 07-16 핵심 흐름 가동 / 08-31 최종 검수</a:t>
            </a:r>
          </a:p>
        </p:txBody>
      </p:sp>
      <p:sp>
        <p:nvSpPr>
          <p:cNvPr id="29" name="text-28">
            <a:extLst>
              <a:ext uri="{FF2B5EF4-FFF2-40B4-BE49-F238E27FC236}">
                <a16:creationId xmlns:a16="http://schemas.microsoft.com/office/drawing/2014/main" id="{037CB305-DEBE-453B-A848-6399198BAFC8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24D23A3F-CD34-48C9-843F-518890A9C60A}"/>
              </a:ext>
            </a:extLst>
          </p:cNvPr>
          <p:cNvSpPr>
            <a:spLocks noGrp="1"/>
          </p:cNvSpPr>
          <p:nvPr/>
        </p:nvSpPr>
        <p:spPr>
          <a:xfrm>
            <a:off x="1419225" y="5667375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 정의, 정책·요구사항 작성, 외주 개발사 조율, 운영 QA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D203645B-6447-4B62-BA69-B6FD9053BA1C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2BBDCCE2-915D-4860-8C3C-0F6B252C72E9}"/>
              </a:ext>
            </a:extLst>
          </p:cNvPr>
          <p:cNvSpPr>
            <a:spLocks noGrp="1"/>
          </p:cNvSpPr>
          <p:nvPr/>
        </p:nvSpPr>
        <p:spPr>
          <a:xfrm>
            <a:off x="1419225" y="594360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커머스 솔루션 개발사, 내부 운영팀, 영업매니저, 공급사</a:t>
            </a:r>
          </a:p>
        </p:txBody>
      </p:sp>
      <p:sp>
        <p:nvSpPr>
          <p:cNvPr id="35" name="text-34">
            <a:extLst>
              <a:ext uri="{FF2B5EF4-FFF2-40B4-BE49-F238E27FC236}">
                <a16:creationId xmlns:a16="http://schemas.microsoft.com/office/drawing/2014/main" id="{A8470276-BC54-4324-83BD-69C353622C18}"/>
              </a:ext>
            </a:extLst>
          </p:cNvPr>
          <p:cNvSpPr>
            <a:spLocks noGrp="1"/>
          </p:cNvSpPr>
          <p:nvPr/>
        </p:nvSpPr>
        <p:spPr>
          <a:xfrm>
            <a:off x="609600" y="621665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규모</a:t>
            </a:r>
          </a:p>
        </p:txBody>
      </p:sp>
      <p:sp>
        <p:nvSpPr>
          <p:cNvPr id="36" name="text-35">
            <a:extLst>
              <a:ext uri="{FF2B5EF4-FFF2-40B4-BE49-F238E27FC236}">
                <a16:creationId xmlns:a16="http://schemas.microsoft.com/office/drawing/2014/main" id="{9CD2B0FC-4BE2-4734-91CE-95BB7832660A}"/>
              </a:ext>
            </a:extLst>
          </p:cNvPr>
          <p:cNvSpPr>
            <a:spLocks noGrp="1"/>
          </p:cNvSpPr>
          <p:nvPr/>
        </p:nvSpPr>
        <p:spPr>
          <a:xfrm>
            <a:off x="1419225" y="621665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약 140개소 / 물품 지원 계약 약 77개소 / 공급사 협업</a:t>
            </a:r>
          </a:p>
        </p:txBody>
      </p:sp>
    </p:spTree>
    <p:extLst>
      <p:ext uri="{BB962C8B-B14F-4D97-AF65-F5344CB8AC3E}">
        <p14:creationId xmlns:p14="http://schemas.microsoft.com/office/powerpoint/2010/main" val="3752822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-0">
            <a:extLst>
              <a:ext uri="{FF2B5EF4-FFF2-40B4-BE49-F238E27FC236}">
                <a16:creationId xmlns:a16="http://schemas.microsoft.com/office/drawing/2014/main" id="{24FC555A-2A90-4532-A578-FFA25FA23C8B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04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CFB8FAE-0615-470E-8091-83F8BDB4EA5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F70C426-009A-4294-866F-38F2F968E4C2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AS-IS 업무 흐름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62369C6-D705-4BF3-B851-FC43D8539508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같은 주문을 여러 곳에 옮겨 적고, 계약 조건을 사람이 다시 확인하는 일이 반복됐습니다.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5A3DCE7-F830-4A1D-BDE5-B7868D6308EB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636D525D-A891-47FA-9D8D-EC5CC0661996}"/>
              </a:ext>
            </a:extLst>
          </p:cNvPr>
          <p:cNvSpPr>
            <a:spLocks noGrp="1"/>
          </p:cNvSpPr>
          <p:nvPr/>
        </p:nvSpPr>
        <p:spPr>
          <a:xfrm>
            <a:off x="742950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구글 폼 주문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4941983-0FA4-44D8-99B9-EFA48BD4D57E}"/>
              </a:ext>
            </a:extLst>
          </p:cNvPr>
          <p:cNvSpPr>
            <a:spLocks noGrp="1"/>
          </p:cNvSpPr>
          <p:nvPr/>
        </p:nvSpPr>
        <p:spPr>
          <a:xfrm>
            <a:off x="742950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조리원 담당자 작성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06282A5E-D282-4F62-A9EB-06289F9F61FB}"/>
              </a:ext>
            </a:extLst>
          </p:cNvPr>
          <p:cNvSpPr>
            <a:spLocks noGrp="1"/>
          </p:cNvSpPr>
          <p:nvPr/>
        </p:nvSpPr>
        <p:spPr>
          <a:xfrm>
            <a:off x="2333625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77B5698-5338-439B-AD9D-6DF7AA178529}"/>
              </a:ext>
            </a:extLst>
          </p:cNvPr>
          <p:cNvSpPr>
            <a:spLocks noGrp="1"/>
          </p:cNvSpPr>
          <p:nvPr/>
        </p:nvSpPr>
        <p:spPr>
          <a:xfrm>
            <a:off x="2466975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8F64075B-5596-4EFD-B683-3597F0F38DFF}"/>
              </a:ext>
            </a:extLst>
          </p:cNvPr>
          <p:cNvSpPr>
            <a:spLocks noGrp="1"/>
          </p:cNvSpPr>
          <p:nvPr/>
        </p:nvSpPr>
        <p:spPr>
          <a:xfrm>
            <a:off x="2600325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시트 취합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92925F13-A906-454F-9EF4-0ECF592DF566}"/>
              </a:ext>
            </a:extLst>
          </p:cNvPr>
          <p:cNvSpPr>
            <a:spLocks noGrp="1"/>
          </p:cNvSpPr>
          <p:nvPr/>
        </p:nvSpPr>
        <p:spPr>
          <a:xfrm>
            <a:off x="2600325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 수기 정리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D252640B-0662-4B41-B1F3-D1C6B0294043}"/>
              </a:ext>
            </a:extLst>
          </p:cNvPr>
          <p:cNvSpPr>
            <a:spLocks noGrp="1"/>
          </p:cNvSpPr>
          <p:nvPr/>
        </p:nvSpPr>
        <p:spPr>
          <a:xfrm>
            <a:off x="4191000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76CAD71-4918-4775-89EF-4564340ACFC6}"/>
              </a:ext>
            </a:extLst>
          </p:cNvPr>
          <p:cNvSpPr>
            <a:spLocks noGrp="1"/>
          </p:cNvSpPr>
          <p:nvPr/>
        </p:nvSpPr>
        <p:spPr>
          <a:xfrm>
            <a:off x="4324350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95CC13BF-3D04-479C-B151-7E3ABABE66E7}"/>
              </a:ext>
            </a:extLst>
          </p:cNvPr>
          <p:cNvSpPr>
            <a:spLocks noGrp="1"/>
          </p:cNvSpPr>
          <p:nvPr/>
        </p:nvSpPr>
        <p:spPr>
          <a:xfrm>
            <a:off x="4457700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입금 대조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40BD4B11-0B74-4615-AAD8-666A46756537}"/>
              </a:ext>
            </a:extLst>
          </p:cNvPr>
          <p:cNvSpPr>
            <a:spLocks noGrp="1"/>
          </p:cNvSpPr>
          <p:nvPr/>
        </p:nvSpPr>
        <p:spPr>
          <a:xfrm>
            <a:off x="4457700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계좌와 주문 확인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F2C446CD-5A0C-4491-A7E3-FB4063A4BDC6}"/>
              </a:ext>
            </a:extLst>
          </p:cNvPr>
          <p:cNvSpPr>
            <a:spLocks noGrp="1"/>
          </p:cNvSpPr>
          <p:nvPr/>
        </p:nvSpPr>
        <p:spPr>
          <a:xfrm>
            <a:off x="6048375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F667181-DF1E-4A05-BF9B-A0E07B030E27}"/>
              </a:ext>
            </a:extLst>
          </p:cNvPr>
          <p:cNvSpPr>
            <a:spLocks noGrp="1"/>
          </p:cNvSpPr>
          <p:nvPr/>
        </p:nvSpPr>
        <p:spPr>
          <a:xfrm>
            <a:off x="6181725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7DF18E97-7DC7-48F4-9E86-B44AF97942EA}"/>
              </a:ext>
            </a:extLst>
          </p:cNvPr>
          <p:cNvSpPr>
            <a:spLocks noGrp="1"/>
          </p:cNvSpPr>
          <p:nvPr/>
        </p:nvSpPr>
        <p:spPr>
          <a:xfrm>
            <a:off x="6315075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거래명세서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2832E02A-31B5-4A83-84B2-D03319303BBE}"/>
              </a:ext>
            </a:extLst>
          </p:cNvPr>
          <p:cNvSpPr>
            <a:spLocks noGrp="1"/>
          </p:cNvSpPr>
          <p:nvPr/>
        </p:nvSpPr>
        <p:spPr>
          <a:xfrm>
            <a:off x="6315075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건별 메일 발송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7DCD179A-DAF2-4912-95E6-409F7EC55DE7}"/>
              </a:ext>
            </a:extLst>
          </p:cNvPr>
          <p:cNvSpPr>
            <a:spLocks noGrp="1"/>
          </p:cNvSpPr>
          <p:nvPr/>
        </p:nvSpPr>
        <p:spPr>
          <a:xfrm>
            <a:off x="7905750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88346F6-6FA6-4675-A89A-B843D5B736B1}"/>
              </a:ext>
            </a:extLst>
          </p:cNvPr>
          <p:cNvSpPr>
            <a:spLocks noGrp="1"/>
          </p:cNvSpPr>
          <p:nvPr/>
        </p:nvSpPr>
        <p:spPr>
          <a:xfrm>
            <a:off x="8039100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9796C060-93DD-4594-844A-05FDC3C1CC84}"/>
              </a:ext>
            </a:extLst>
          </p:cNvPr>
          <p:cNvSpPr>
            <a:spLocks noGrp="1"/>
          </p:cNvSpPr>
          <p:nvPr/>
        </p:nvSpPr>
        <p:spPr>
          <a:xfrm>
            <a:off x="8172450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 등록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C7473085-9D58-46FA-997C-1AB70E3B538F}"/>
              </a:ext>
            </a:extLst>
          </p:cNvPr>
          <p:cNvSpPr>
            <a:spLocks noGrp="1"/>
          </p:cNvSpPr>
          <p:nvPr/>
        </p:nvSpPr>
        <p:spPr>
          <a:xfrm>
            <a:off x="8172450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재입력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BA10A052-F7B6-455B-BA29-70E4CA2E9F95}"/>
              </a:ext>
            </a:extLst>
          </p:cNvPr>
          <p:cNvSpPr>
            <a:spLocks noGrp="1"/>
          </p:cNvSpPr>
          <p:nvPr/>
        </p:nvSpPr>
        <p:spPr>
          <a:xfrm>
            <a:off x="9763125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83F6EE4-6CB2-451A-A875-E38E51742BEB}"/>
              </a:ext>
            </a:extLst>
          </p:cNvPr>
          <p:cNvSpPr>
            <a:spLocks noGrp="1"/>
          </p:cNvSpPr>
          <p:nvPr/>
        </p:nvSpPr>
        <p:spPr>
          <a:xfrm>
            <a:off x="9896475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2716A620-DA2B-4698-8E42-556317618A06}"/>
              </a:ext>
            </a:extLst>
          </p:cNvPr>
          <p:cNvSpPr>
            <a:spLocks noGrp="1"/>
          </p:cNvSpPr>
          <p:nvPr/>
        </p:nvSpPr>
        <p:spPr>
          <a:xfrm>
            <a:off x="10029825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월말 정산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2358A9D9-7004-462E-BD00-96ACB4F8D028}"/>
              </a:ext>
            </a:extLst>
          </p:cNvPr>
          <p:cNvSpPr>
            <a:spLocks noGrp="1"/>
          </p:cNvSpPr>
          <p:nvPr/>
        </p:nvSpPr>
        <p:spPr>
          <a:xfrm>
            <a:off x="10029825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자료 대조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3209EEBA-740C-4643-A757-71CB0121C593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운영에서 확인한 부담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18521B8-ADED-4EB2-9143-5B7AC0F9595A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5257800" cy="552450"/>
          </a:xfrm>
          <a:prstGeom prst="roundRect">
            <a:avLst>
              <a:gd name="adj" fmla="val 8621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82969BDC-36EC-4DC6-A2A9-A013E2B4CD63}"/>
              </a:ext>
            </a:extLst>
          </p:cNvPr>
          <p:cNvSpPr>
            <a:spLocks noGrp="1"/>
          </p:cNvSpPr>
          <p:nvPr/>
        </p:nvSpPr>
        <p:spPr>
          <a:xfrm>
            <a:off x="781050" y="3419475"/>
            <a:ext cx="16859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매일 입금 대조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CB021BF6-5B0B-411A-9BEE-233756FE9AC0}"/>
              </a:ext>
            </a:extLst>
          </p:cNvPr>
          <p:cNvSpPr>
            <a:spLocks noGrp="1"/>
          </p:cNvSpPr>
          <p:nvPr/>
        </p:nvSpPr>
        <p:spPr>
          <a:xfrm>
            <a:off x="2552700" y="3419475"/>
            <a:ext cx="13430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15~30분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D508D593-20AA-41FE-A328-69B8064599B7}"/>
              </a:ext>
            </a:extLst>
          </p:cNvPr>
          <p:cNvSpPr>
            <a:spLocks noGrp="1"/>
          </p:cNvSpPr>
          <p:nvPr/>
        </p:nvSpPr>
        <p:spPr>
          <a:xfrm>
            <a:off x="4105275" y="3352800"/>
            <a:ext cx="1600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입금자명·금액을 주문과 확인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EC72EC9-D3B1-41B6-9CA3-E00A6E16F0FA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5257800" cy="552450"/>
          </a:xfrm>
          <a:prstGeom prst="roundRect">
            <a:avLst>
              <a:gd name="adj" fmla="val 8621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-33">
            <a:extLst>
              <a:ext uri="{FF2B5EF4-FFF2-40B4-BE49-F238E27FC236}">
                <a16:creationId xmlns:a16="http://schemas.microsoft.com/office/drawing/2014/main" id="{9E997DE9-FFAD-4110-AAED-2BF85FCBA36E}"/>
              </a:ext>
            </a:extLst>
          </p:cNvPr>
          <p:cNvSpPr>
            <a:spLocks noGrp="1"/>
          </p:cNvSpPr>
          <p:nvPr/>
        </p:nvSpPr>
        <p:spPr>
          <a:xfrm>
            <a:off x="781050" y="4124325"/>
            <a:ext cx="16859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35" name="text-34">
            <a:extLst>
              <a:ext uri="{FF2B5EF4-FFF2-40B4-BE49-F238E27FC236}">
                <a16:creationId xmlns:a16="http://schemas.microsoft.com/office/drawing/2014/main" id="{C9545234-C0CF-4892-BBDA-C89D7DC6FCFC}"/>
              </a:ext>
            </a:extLst>
          </p:cNvPr>
          <p:cNvSpPr>
            <a:spLocks noGrp="1"/>
          </p:cNvSpPr>
          <p:nvPr/>
        </p:nvSpPr>
        <p:spPr>
          <a:xfrm>
            <a:off x="2552700" y="4124325"/>
            <a:ext cx="13430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월 2~3건</a:t>
            </a:r>
          </a:p>
        </p:txBody>
      </p:sp>
      <p:sp>
        <p:nvSpPr>
          <p:cNvPr id="36" name="text-35">
            <a:extLst>
              <a:ext uri="{FF2B5EF4-FFF2-40B4-BE49-F238E27FC236}">
                <a16:creationId xmlns:a16="http://schemas.microsoft.com/office/drawing/2014/main" id="{354CC168-DF44-4C9E-9173-E24DCE2C6A7E}"/>
              </a:ext>
            </a:extLst>
          </p:cNvPr>
          <p:cNvSpPr>
            <a:spLocks noGrp="1"/>
          </p:cNvSpPr>
          <p:nvPr/>
        </p:nvSpPr>
        <p:spPr>
          <a:xfrm>
            <a:off x="4105275" y="4057650"/>
            <a:ext cx="1600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직전 6개월 월평균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1543E50-D031-4986-AEF9-9C75D6E6C63D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5257800" cy="552450"/>
          </a:xfrm>
          <a:prstGeom prst="roundRect">
            <a:avLst>
              <a:gd name="adj" fmla="val 8621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-37">
            <a:extLst>
              <a:ext uri="{FF2B5EF4-FFF2-40B4-BE49-F238E27FC236}">
                <a16:creationId xmlns:a16="http://schemas.microsoft.com/office/drawing/2014/main" id="{EAE0FE83-44FE-416D-9FC1-84D9EB2099ED}"/>
              </a:ext>
            </a:extLst>
          </p:cNvPr>
          <p:cNvSpPr>
            <a:spLocks noGrp="1"/>
          </p:cNvSpPr>
          <p:nvPr/>
        </p:nvSpPr>
        <p:spPr>
          <a:xfrm>
            <a:off x="781050" y="4829175"/>
            <a:ext cx="16859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39" name="text-38">
            <a:extLst>
              <a:ext uri="{FF2B5EF4-FFF2-40B4-BE49-F238E27FC236}">
                <a16:creationId xmlns:a16="http://schemas.microsoft.com/office/drawing/2014/main" id="{741764D3-D3D4-449D-AC86-F5DCCCE39428}"/>
              </a:ext>
            </a:extLst>
          </p:cNvPr>
          <p:cNvSpPr>
            <a:spLocks noGrp="1"/>
          </p:cNvSpPr>
          <p:nvPr/>
        </p:nvSpPr>
        <p:spPr>
          <a:xfrm>
            <a:off x="2552700" y="4829175"/>
            <a:ext cx="13430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환산 32건</a:t>
            </a:r>
          </a:p>
        </p:txBody>
      </p:sp>
      <p:sp>
        <p:nvSpPr>
          <p:cNvPr id="40" name="text-39">
            <a:extLst>
              <a:ext uri="{FF2B5EF4-FFF2-40B4-BE49-F238E27FC236}">
                <a16:creationId xmlns:a16="http://schemas.microsoft.com/office/drawing/2014/main" id="{62FAF6D8-CA83-4105-A027-A5580D1E1F24}"/>
              </a:ext>
            </a:extLst>
          </p:cNvPr>
          <p:cNvSpPr>
            <a:spLocks noGrp="1"/>
          </p:cNvSpPr>
          <p:nvPr/>
        </p:nvSpPr>
        <p:spPr>
          <a:xfrm>
            <a:off x="4105275" y="4762500"/>
            <a:ext cx="1600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2026-01~06 인입 이력 기준</a:t>
            </a:r>
          </a:p>
        </p:txBody>
      </p:sp>
      <p:sp>
        <p:nvSpPr>
          <p:cNvPr id="41" name="text-40">
            <a:extLst>
              <a:ext uri="{FF2B5EF4-FFF2-40B4-BE49-F238E27FC236}">
                <a16:creationId xmlns:a16="http://schemas.microsoft.com/office/drawing/2014/main" id="{74153BA8-B90D-4B8E-82DD-C3C6B4732C55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527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 대조는 도입 전 소요시간 / 오출고·문의는 운영팀 출고·CS 이력</a:t>
            </a:r>
          </a:p>
        </p:txBody>
      </p:sp>
      <p:sp>
        <p:nvSpPr>
          <p:cNvPr id="42" name="text-41">
            <a:extLst>
              <a:ext uri="{FF2B5EF4-FFF2-40B4-BE49-F238E27FC236}">
                <a16:creationId xmlns:a16="http://schemas.microsoft.com/office/drawing/2014/main" id="{9AD87C95-DC8F-49FE-ACCF-5818DB77BE22}"/>
              </a:ext>
            </a:extLst>
          </p:cNvPr>
          <p:cNvSpPr>
            <a:spLocks noGrp="1"/>
          </p:cNvSpPr>
          <p:nvPr/>
        </p:nvSpPr>
        <p:spPr>
          <a:xfrm>
            <a:off x="6257925" y="28575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24F8862-8523-4AA1-80E1-7E4705978774}"/>
              </a:ext>
            </a:extLst>
          </p:cNvPr>
          <p:cNvSpPr>
            <a:spLocks noGrp="1"/>
          </p:cNvSpPr>
          <p:nvPr/>
        </p:nvSpPr>
        <p:spPr>
          <a:xfrm>
            <a:off x="6257925" y="3276600"/>
            <a:ext cx="5324475" cy="1009650"/>
          </a:xfrm>
          <a:prstGeom prst="roundRect">
            <a:avLst>
              <a:gd name="adj" fmla="val 6604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-43">
            <a:extLst>
              <a:ext uri="{FF2B5EF4-FFF2-40B4-BE49-F238E27FC236}">
                <a16:creationId xmlns:a16="http://schemas.microsoft.com/office/drawing/2014/main" id="{910B4278-68F7-4140-A0D3-A9C8BDB6505E}"/>
              </a:ext>
            </a:extLst>
          </p:cNvPr>
          <p:cNvSpPr>
            <a:spLocks noGrp="1"/>
          </p:cNvSpPr>
          <p:nvPr/>
        </p:nvSpPr>
        <p:spPr>
          <a:xfrm>
            <a:off x="6496050" y="3476625"/>
            <a:ext cx="4857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계약·결제·주문 상태를</a:t>
            </a:r>
          </a:p>
          <a:p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사람의 기억으로 매번 판단하는 구조</a:t>
            </a:r>
          </a:p>
        </p:txBody>
      </p:sp>
      <p:sp>
        <p:nvSpPr>
          <p:cNvPr id="45" name="text-44">
            <a:extLst>
              <a:ext uri="{FF2B5EF4-FFF2-40B4-BE49-F238E27FC236}">
                <a16:creationId xmlns:a16="http://schemas.microsoft.com/office/drawing/2014/main" id="{D3895448-331B-4AB8-8CB2-F1322B688F23}"/>
              </a:ext>
            </a:extLst>
          </p:cNvPr>
          <p:cNvSpPr>
            <a:spLocks noGrp="1"/>
          </p:cNvSpPr>
          <p:nvPr/>
        </p:nvSpPr>
        <p:spPr>
          <a:xfrm>
            <a:off x="6257925" y="456247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6" name="text-45">
            <a:extLst>
              <a:ext uri="{FF2B5EF4-FFF2-40B4-BE49-F238E27FC236}">
                <a16:creationId xmlns:a16="http://schemas.microsoft.com/office/drawing/2014/main" id="{90C1991A-9845-4C85-BC67-060D3F8A8F51}"/>
              </a:ext>
            </a:extLst>
          </p:cNvPr>
          <p:cNvSpPr>
            <a:spLocks noGrp="1"/>
          </p:cNvSpPr>
          <p:nvPr/>
        </p:nvSpPr>
        <p:spPr>
          <a:xfrm>
            <a:off x="6638925" y="4562475"/>
            <a:ext cx="48387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등급별 상품과 결제 조건이 화면·서버에서 일치해야 함</a:t>
            </a:r>
          </a:p>
        </p:txBody>
      </p:sp>
      <p:sp>
        <p:nvSpPr>
          <p:cNvPr id="47" name="text-46">
            <a:extLst>
              <a:ext uri="{FF2B5EF4-FFF2-40B4-BE49-F238E27FC236}">
                <a16:creationId xmlns:a16="http://schemas.microsoft.com/office/drawing/2014/main" id="{9537554C-64F7-4535-811C-4085A62CCCE6}"/>
              </a:ext>
            </a:extLst>
          </p:cNvPr>
          <p:cNvSpPr>
            <a:spLocks noGrp="1"/>
          </p:cNvSpPr>
          <p:nvPr/>
        </p:nvSpPr>
        <p:spPr>
          <a:xfrm>
            <a:off x="6257925" y="530542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8" name="text-47">
            <a:extLst>
              <a:ext uri="{FF2B5EF4-FFF2-40B4-BE49-F238E27FC236}">
                <a16:creationId xmlns:a16="http://schemas.microsoft.com/office/drawing/2014/main" id="{2C3FD799-5102-4EE9-836B-7AB4456F74F1}"/>
              </a:ext>
            </a:extLst>
          </p:cNvPr>
          <p:cNvSpPr>
            <a:spLocks noGrp="1"/>
          </p:cNvSpPr>
          <p:nvPr/>
        </p:nvSpPr>
        <p:spPr>
          <a:xfrm>
            <a:off x="6638925" y="5305425"/>
            <a:ext cx="48387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잘못된 조합은 주문 전에 막고 고객이 다음 행동을 알 수 있어야 함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9F27EB40-662B-4509-B3BE-23F6CD2531AD}"/>
              </a:ext>
            </a:extLst>
          </p:cNvPr>
          <p:cNvSpPr>
            <a:spLocks noGrp="1"/>
          </p:cNvSpPr>
          <p:nvPr/>
        </p:nvSpPr>
        <p:spPr>
          <a:xfrm>
            <a:off x="609600" y="6134100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우선 해결할 문제를 주문 오류 예방과 반복 확인 업무의 감소로 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1279162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0">
            <a:extLst>
              <a:ext uri="{FF2B5EF4-FFF2-40B4-BE49-F238E27FC236}">
                <a16:creationId xmlns:a16="http://schemas.microsoft.com/office/drawing/2014/main" id="{5F18638D-B1F0-4865-8310-B5C5DC8E6D20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05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BBE6032-FE00-44A8-B392-29FBF828AAF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E273A2D-2405-4495-B632-2CDB9D3F3181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대안 비교와 오픈 범위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377AEBA7-813C-4EC0-B9CF-AE2D7298E54B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운영팀이 익숙한 플랫폼 위에 계약별 정책을 추가하는 방식을 선택했습니다.</a:t>
            </a:r>
          </a:p>
        </p:txBody>
      </p:sp>
      <p:graphicFrame>
        <p:nvGraphicFramePr>
          <p:cNvPr id="18" name="표 17"/>
          <p:cNvGraphicFramePr/>
          <p:nvPr/>
        </p:nvGraphicFramePr>
        <p:xfrm>
          <a:off x="609600" y="1695450"/>
          <a:ext cx="10972800" cy="222885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판단한 제약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맞춤형 웹서비스 개발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요구사항을 자유롭게 구현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 운영과 유지보수 책임이 내부로 확대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다른 쇼핑몰 솔루션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기능을 빠르게 활용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운영팀이 새 환경을 학습하고 기존 인프라와 이원화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솔루션 + 정책 맞춤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인프라와 운영 방식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정책 예외를 구체화하고 별도 개발 범위를 관리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B37C2AB-22D4-4616-B855-3ABCB6300E8D}"/>
              </a:ext>
            </a:extLst>
          </p:cNvPr>
          <p:cNvSpPr>
            <a:spLocks noGrp="1"/>
          </p:cNvSpPr>
          <p:nvPr/>
        </p:nvSpPr>
        <p:spPr>
          <a:xfrm>
            <a:off x="609600" y="4105275"/>
            <a:ext cx="10972800" cy="371475"/>
          </a:xfrm>
          <a:prstGeom prst="roundRect">
            <a:avLst>
              <a:gd name="adj" fmla="val 12821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결정 기준  ① 운영팀 학습 부담    ② 기존 인프라    ③ 유지보수 책임    ④ 구축비용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A2FDB9B3-FEF3-4FB1-8EA3-EC69E4B39DA4}"/>
              </a:ext>
            </a:extLst>
          </p:cNvPr>
          <p:cNvSpPr>
            <a:spLocks noGrp="1"/>
          </p:cNvSpPr>
          <p:nvPr/>
        </p:nvSpPr>
        <p:spPr>
          <a:xfrm>
            <a:off x="609600" y="484822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범위에서 뺀 기능과 이유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38C1991-5C50-405B-85E7-94A46FA1AC31}"/>
              </a:ext>
            </a:extLst>
          </p:cNvPr>
          <p:cNvSpPr>
            <a:spLocks noGrp="1"/>
          </p:cNvSpPr>
          <p:nvPr/>
        </p:nvSpPr>
        <p:spPr>
          <a:xfrm>
            <a:off x="609600" y="5267325"/>
            <a:ext cx="3524250" cy="361950"/>
          </a:xfrm>
          <a:prstGeom prst="roundRect">
            <a:avLst>
              <a:gd name="adj" fmla="val 13158"/>
            </a:avLst>
          </a:prstGeom>
          <a:solidFill>
            <a:srgbClr val="FFF6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PG 결제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F87E8D49-65E5-4DF4-B933-424398111709}"/>
              </a:ext>
            </a:extLst>
          </p:cNvPr>
          <p:cNvSpPr>
            <a:spLocks noGrp="1"/>
          </p:cNvSpPr>
          <p:nvPr/>
        </p:nvSpPr>
        <p:spPr>
          <a:xfrm>
            <a:off x="742950" y="5791200"/>
            <a:ext cx="32575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B2B 마진 대비 수수료 부담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6E58401-005A-47FA-A5D8-B08A78F19C15}"/>
              </a:ext>
            </a:extLst>
          </p:cNvPr>
          <p:cNvSpPr>
            <a:spLocks noGrp="1"/>
          </p:cNvSpPr>
          <p:nvPr/>
        </p:nvSpPr>
        <p:spPr>
          <a:xfrm>
            <a:off x="4362450" y="5267325"/>
            <a:ext cx="3524250" cy="361950"/>
          </a:xfrm>
          <a:prstGeom prst="roundRect">
            <a:avLst>
              <a:gd name="adj" fmla="val 13158"/>
            </a:avLst>
          </a:prstGeom>
          <a:solidFill>
            <a:srgbClr val="FFF6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견적서 신규 개발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48981E89-AC58-44B8-BD4F-FDF8586DE561}"/>
              </a:ext>
            </a:extLst>
          </p:cNvPr>
          <p:cNvSpPr>
            <a:spLocks noGrp="1"/>
          </p:cNvSpPr>
          <p:nvPr/>
        </p:nvSpPr>
        <p:spPr>
          <a:xfrm>
            <a:off x="4495800" y="5791200"/>
            <a:ext cx="32575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기존 거래명세서로 대체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FFAA69D-30D6-4AC6-9808-44961AD25A96}"/>
              </a:ext>
            </a:extLst>
          </p:cNvPr>
          <p:cNvSpPr>
            <a:spLocks noGrp="1"/>
          </p:cNvSpPr>
          <p:nvPr/>
        </p:nvSpPr>
        <p:spPr>
          <a:xfrm>
            <a:off x="8115300" y="5267325"/>
            <a:ext cx="3524250" cy="361950"/>
          </a:xfrm>
          <a:prstGeom prst="roundRect">
            <a:avLst>
              <a:gd name="adj" fmla="val 13158"/>
            </a:avLst>
          </a:prstGeom>
          <a:solidFill>
            <a:srgbClr val="FFF6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포인트 완전 자동화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16CB18DA-CB62-48AC-B923-5DF0960C20D2}"/>
              </a:ext>
            </a:extLst>
          </p:cNvPr>
          <p:cNvSpPr>
            <a:spLocks noGrp="1"/>
          </p:cNvSpPr>
          <p:nvPr/>
        </p:nvSpPr>
        <p:spPr>
          <a:xfrm>
            <a:off x="8248650" y="5791200"/>
            <a:ext cx="32575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 변경과 비가역 차감 위험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</p:spTree>
    <p:extLst>
      <p:ext uri="{BB962C8B-B14F-4D97-AF65-F5344CB8AC3E}">
        <p14:creationId xmlns:p14="http://schemas.microsoft.com/office/powerpoint/2010/main" val="1748538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2E59B9E4-EF7F-4E1A-B0FD-706FCB8A081C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06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226D11E-1055-4668-81BF-4BDE100A783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03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C37ECE6-AF06-4ADB-947F-1DF96ED7D9F0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계정 정책을 설정표로 고정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2750716-1E1F-45FD-88DF-143F1CB6014D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회원 등급과 상품 카테고리를 조합해, 고객 화면과 서버가 같은 결제 규칙을 쓰도록 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51B6BA7-D03B-4026-8247-CAA699805BA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991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회원 등급 × 상품 카테고리</a:t>
            </a:r>
          </a:p>
        </p:txBody>
      </p:sp>
      <p:graphicFrame>
        <p:nvGraphicFramePr>
          <p:cNvPr id="18" name="표 17"/>
          <p:cNvGraphicFramePr/>
          <p:nvPr/>
        </p:nvGraphicFramePr>
        <p:xfrm>
          <a:off x="609600" y="2105025"/>
          <a:ext cx="7334250" cy="2057400"/>
        </p:xfrm>
        <a:graphic>
          <a:graphicData uri="http://schemas.openxmlformats.org/drawingml/2006/table">
            <a:tbl>
              <a:tblPr/>
              <a:tblGrid>
                <a:gridCol w="22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등급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미분류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물품계약(선불)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물품계약(후불)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선불입금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C15F40E-D5C4-4E2C-88C9-E224BD246C44}"/>
              </a:ext>
            </a:extLst>
          </p:cNvPr>
          <p:cNvSpPr>
            <a:spLocks noGrp="1"/>
          </p:cNvSpPr>
          <p:nvPr/>
        </p:nvSpPr>
        <p:spPr>
          <a:xfrm>
            <a:off x="9229725" y="2105025"/>
            <a:ext cx="2352675" cy="2057400"/>
          </a:xfrm>
          <a:prstGeom prst="roundRect">
            <a:avLst>
              <a:gd name="adj" fmla="val 2778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D497DA74-6BB2-4929-957A-0618DE0DEB23}"/>
              </a:ext>
            </a:extLst>
          </p:cNvPr>
          <p:cNvSpPr>
            <a:spLocks noGrp="1"/>
          </p:cNvSpPr>
          <p:nvPr/>
        </p:nvSpPr>
        <p:spPr>
          <a:xfrm>
            <a:off x="9439275" y="2266950"/>
            <a:ext cx="19335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설계한 규칙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59174B72-8521-4982-BCFF-097D4C62734A}"/>
              </a:ext>
            </a:extLst>
          </p:cNvPr>
          <p:cNvSpPr>
            <a:spLocks noGrp="1"/>
          </p:cNvSpPr>
          <p:nvPr/>
        </p:nvSpPr>
        <p:spPr>
          <a:xfrm>
            <a:off x="9439275" y="2705100"/>
            <a:ext cx="1943100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새 등급·카테고리 설정</a:t>
            </a:r>
          </a:p>
          <a:p>
            <a:endParaRPr sz="1088" b="0">
              <a:solidFill>
                <a:srgbClr val="4E4E53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미분류 상품의 기본값 관리</a:t>
            </a:r>
          </a:p>
          <a:p>
            <a:endParaRPr sz="1088" b="0">
              <a:solidFill>
                <a:srgbClr val="4E4E53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서버에서 결제수단 재검증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D53CCEE8-A1B2-4709-B690-CB75F12A43E6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운영자가 직접 수정하는 설정 화면 · 핵심 2개 등급 발췌</a:t>
            </a: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8412" y="4838700"/>
            <a:ext cx="10735176" cy="1638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FEA89C-59A2-1316-377B-548505340416}"/>
              </a:ext>
            </a:extLst>
          </p:cNvPr>
          <p:cNvSpPr txBox="1"/>
          <p:nvPr/>
        </p:nvSpPr>
        <p:spPr>
          <a:xfrm>
            <a:off x="609600" y="6534150"/>
            <a:ext cx="10972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개발사 처리결과의 기능 화면 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직접 운영 캡처 아님 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고객정보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내부 수치 제외</a:t>
            </a:r>
          </a:p>
        </p:txBody>
      </p:sp>
    </p:spTree>
    <p:extLst>
      <p:ext uri="{BB962C8B-B14F-4D97-AF65-F5344CB8AC3E}">
        <p14:creationId xmlns:p14="http://schemas.microsoft.com/office/powerpoint/2010/main" val="143208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0">
            <a:extLst>
              <a:ext uri="{FF2B5EF4-FFF2-40B4-BE49-F238E27FC236}">
                <a16:creationId xmlns:a16="http://schemas.microsoft.com/office/drawing/2014/main" id="{283E7D23-E6B8-452A-A995-6B5965432282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07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8831A65E-8FCB-4605-AD2C-751B6412854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04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262E09C-447E-4118-A3E0-5EA3A244A58E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결제방식이 같아도 혼합주문을 차단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1BA933C-8682-4ECB-B240-D7C2FA049ED2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결제방식이 같은 경우에도 분유와 물품은 나눠 주문해야 한다는 운영 규칙을 반영했습니다.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C39DB0E-4A72-47B7-9386-E7897F42BE11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5229225" cy="333375"/>
          </a:xfrm>
          <a:prstGeom prst="roundRect">
            <a:avLst>
              <a:gd name="adj" fmla="val 14286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가상 예시: 선불입금 회원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DBC9143-2C1A-44FD-BA81-3A998BA2456E}"/>
              </a:ext>
            </a:extLst>
          </p:cNvPr>
          <p:cNvSpPr>
            <a:spLocks noGrp="1"/>
          </p:cNvSpPr>
          <p:nvPr/>
        </p:nvSpPr>
        <p:spPr>
          <a:xfrm>
            <a:off x="609600" y="2228850"/>
            <a:ext cx="2409825" cy="752475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분유</a:t>
            </a: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C01E91E5-C40D-4111-A816-EFB696E349EF}"/>
              </a:ext>
            </a:extLst>
          </p:cNvPr>
          <p:cNvSpPr>
            <a:spLocks noGrp="1"/>
          </p:cNvSpPr>
          <p:nvPr/>
        </p:nvSpPr>
        <p:spPr>
          <a:xfrm>
            <a:off x="3105150" y="2400300"/>
            <a:ext cx="342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4540612-8385-4047-9345-E288DA03956C}"/>
              </a:ext>
            </a:extLst>
          </p:cNvPr>
          <p:cNvSpPr>
            <a:spLocks noGrp="1"/>
          </p:cNvSpPr>
          <p:nvPr/>
        </p:nvSpPr>
        <p:spPr>
          <a:xfrm>
            <a:off x="3524250" y="2228850"/>
            <a:ext cx="2314575" cy="752475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물품</a:t>
            </a: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graphicFrame>
        <p:nvGraphicFramePr>
          <p:cNvPr id="23" name="표 22"/>
          <p:cNvGraphicFramePr/>
          <p:nvPr/>
        </p:nvGraphicFramePr>
        <p:xfrm>
          <a:off x="609600" y="3390900"/>
          <a:ext cx="5838825" cy="15240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처리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이전: 결제방식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둘 다 무통장이므로 혼합주문 통과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보완: 카테고리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분류가 다르면 차단하고 분리 주문 안내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-8">
            <a:extLst>
              <a:ext uri="{FF2B5EF4-FFF2-40B4-BE49-F238E27FC236}">
                <a16:creationId xmlns:a16="http://schemas.microsoft.com/office/drawing/2014/main" id="{3A2053C0-AD86-416D-9A66-67B9F6494AF0}"/>
              </a:ext>
            </a:extLst>
          </p:cNvPr>
          <p:cNvSpPr>
            <a:spLocks noGrp="1"/>
          </p:cNvSpPr>
          <p:nvPr/>
        </p:nvSpPr>
        <p:spPr>
          <a:xfrm>
            <a:off x="6248400" y="171450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고객에게 보여준 다음 행동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50626" y="2171700"/>
            <a:ext cx="3567622" cy="2324100"/>
          </a:xfrm>
          <a:prstGeom prst="rect">
            <a:avLst/>
          </a:prstGeom>
        </p:spPr>
      </p:pic>
      <p:sp>
        <p:nvSpPr>
          <p:cNvPr id="12" name="text-9">
            <a:extLst>
              <a:ext uri="{FF2B5EF4-FFF2-40B4-BE49-F238E27FC236}">
                <a16:creationId xmlns:a16="http://schemas.microsoft.com/office/drawing/2014/main" id="{CEF08852-118A-4331-9D21-0F433E5811CD}"/>
              </a:ext>
            </a:extLst>
          </p:cNvPr>
          <p:cNvSpPr>
            <a:spLocks noGrp="1"/>
          </p:cNvSpPr>
          <p:nvPr/>
        </p:nvSpPr>
        <p:spPr>
          <a:xfrm>
            <a:off x="6248400" y="4772025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막힌 이유와 분류별 주문 방법을 함께 안내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AE229B7-F496-40D9-85ED-81FAE97729C3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정책의 기준을 결제수단에서 상품 분류로 옮겨, 같은 결제수단의 예외까지 막았습니다.</a:t>
            </a:r>
          </a:p>
        </p:txBody>
      </p:sp>
    </p:spTree>
    <p:extLst>
      <p:ext uri="{BB962C8B-B14F-4D97-AF65-F5344CB8AC3E}">
        <p14:creationId xmlns:p14="http://schemas.microsoft.com/office/powerpoint/2010/main" val="3664027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-0">
            <a:extLst>
              <a:ext uri="{FF2B5EF4-FFF2-40B4-BE49-F238E27FC236}">
                <a16:creationId xmlns:a16="http://schemas.microsoft.com/office/drawing/2014/main" id="{E83DEC50-3C5E-4BB3-8156-C6DB7F6CBBE2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08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CFA91CA-02DF-4559-A2BA-BFFC2F1E6FE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05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205B371-38B2-4674-83B5-487871C98F19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포인트 정리의 실행 안전장치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2114ADA8-C6CD-4EDF-A55E-DE9686710BAB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 1회 발생하는 비가역 작업이어서, 대상과 차감 결과를 확인한 뒤 실행하도록 범위를 조정했습니다.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F49C0F5-9A12-4811-950B-E340885076C0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70D459CA-4266-40AC-A239-26421EED93D8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미리보기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5193ACA5-0437-402A-9938-C6DD90C8A048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현재·차감·잔여 확인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1EF99D44-6E75-4883-9067-6B9266D800ED}"/>
              </a:ext>
            </a:extLst>
          </p:cNvPr>
          <p:cNvSpPr>
            <a:spLocks noGrp="1"/>
          </p:cNvSpPr>
          <p:nvPr/>
        </p:nvSpPr>
        <p:spPr>
          <a:xfrm>
            <a:off x="3248025" y="1943100"/>
            <a:ext cx="13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D763B8A-7237-463C-8669-205D3CA7E86F}"/>
              </a:ext>
            </a:extLst>
          </p:cNvPr>
          <p:cNvSpPr>
            <a:spLocks noGrp="1"/>
          </p:cNvSpPr>
          <p:nvPr/>
        </p:nvSpPr>
        <p:spPr>
          <a:xfrm>
            <a:off x="33909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3D4FE294-C663-4D35-BEB0-A86A3F99DE9F}"/>
              </a:ext>
            </a:extLst>
          </p:cNvPr>
          <p:cNvSpPr>
            <a:spLocks noGrp="1"/>
          </p:cNvSpPr>
          <p:nvPr/>
        </p:nvSpPr>
        <p:spPr>
          <a:xfrm>
            <a:off x="35242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대상 선택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A65AF0AC-F5AA-464D-AE22-A782A69B44AD}"/>
              </a:ext>
            </a:extLst>
          </p:cNvPr>
          <p:cNvSpPr>
            <a:spLocks noGrp="1"/>
          </p:cNvSpPr>
          <p:nvPr/>
        </p:nvSpPr>
        <p:spPr>
          <a:xfrm>
            <a:off x="35242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처리할 회원 선택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4B5FD714-0BB4-4415-87B1-389AC155F89C}"/>
              </a:ext>
            </a:extLst>
          </p:cNvPr>
          <p:cNvSpPr>
            <a:spLocks noGrp="1"/>
          </p:cNvSpPr>
          <p:nvPr/>
        </p:nvSpPr>
        <p:spPr>
          <a:xfrm>
            <a:off x="6029325" y="1943100"/>
            <a:ext cx="13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E80AAA9-AB19-4CE2-B7E7-DE93DBC10EBE}"/>
              </a:ext>
            </a:extLst>
          </p:cNvPr>
          <p:cNvSpPr>
            <a:spLocks noGrp="1"/>
          </p:cNvSpPr>
          <p:nvPr/>
        </p:nvSpPr>
        <p:spPr>
          <a:xfrm>
            <a:off x="61722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9F9A0017-2815-42DF-94C0-E29568B71D4F}"/>
              </a:ext>
            </a:extLst>
          </p:cNvPr>
          <p:cNvSpPr>
            <a:spLocks noGrp="1"/>
          </p:cNvSpPr>
          <p:nvPr/>
        </p:nvSpPr>
        <p:spPr>
          <a:xfrm>
            <a:off x="63055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최종 확인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CCDC3C39-6847-4622-B865-A0FAF17E4C45}"/>
              </a:ext>
            </a:extLst>
          </p:cNvPr>
          <p:cNvSpPr>
            <a:spLocks noGrp="1"/>
          </p:cNvSpPr>
          <p:nvPr/>
        </p:nvSpPr>
        <p:spPr>
          <a:xfrm>
            <a:off x="63055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대상과 합계를 재확인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51653402-5A5F-4873-B133-884B98F50E20}"/>
              </a:ext>
            </a:extLst>
          </p:cNvPr>
          <p:cNvSpPr>
            <a:spLocks noGrp="1"/>
          </p:cNvSpPr>
          <p:nvPr/>
        </p:nvSpPr>
        <p:spPr>
          <a:xfrm>
            <a:off x="8810625" y="1943100"/>
            <a:ext cx="13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CDEA5C1-916E-447E-A81B-FAE753B23171}"/>
              </a:ext>
            </a:extLst>
          </p:cNvPr>
          <p:cNvSpPr>
            <a:spLocks noGrp="1"/>
          </p:cNvSpPr>
          <p:nvPr/>
        </p:nvSpPr>
        <p:spPr>
          <a:xfrm>
            <a:off x="89535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DC3316CD-C938-4B3C-8850-D472492FFC36}"/>
              </a:ext>
            </a:extLst>
          </p:cNvPr>
          <p:cNvSpPr>
            <a:spLocks noGrp="1"/>
          </p:cNvSpPr>
          <p:nvPr/>
        </p:nvSpPr>
        <p:spPr>
          <a:xfrm>
            <a:off x="90868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실행·기록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10605DDE-5518-4F0F-B342-BFF23B39361C}"/>
              </a:ext>
            </a:extLst>
          </p:cNvPr>
          <p:cNvSpPr>
            <a:spLocks noGrp="1"/>
          </p:cNvSpPr>
          <p:nvPr/>
        </p:nvSpPr>
        <p:spPr>
          <a:xfrm>
            <a:off x="90868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 상태 재검증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83F01000-1FFB-4FEB-B111-D23E9465315A}"/>
              </a:ext>
            </a:extLst>
          </p:cNvPr>
          <p:cNvSpPr>
            <a:spLocks noGrp="1"/>
          </p:cNvSpPr>
          <p:nvPr/>
        </p:nvSpPr>
        <p:spPr>
          <a:xfrm>
            <a:off x="609600" y="290512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조회한 뒤 회원 상태가 바뀐다면</a:t>
            </a:r>
          </a:p>
        </p:txBody>
      </p:sp>
      <p:graphicFrame>
        <p:nvGraphicFramePr>
          <p:cNvPr id="46" name="표 45"/>
          <p:cNvGraphicFramePr/>
          <p:nvPr/>
        </p:nvGraphicFramePr>
        <p:xfrm>
          <a:off x="609600" y="3333750"/>
          <a:ext cx="10972800" cy="21907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가상 대상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조회 후 상황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 시 처리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막으려는 문제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A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 변동 없음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선택한 대상만 정리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 외 회원의 임의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B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 사용 또는 등급 변경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변경 회원 자동 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오래된 화면 값으로 과다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조건 재실행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운영자가 실행을 다시 누름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차감하지 않음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중복 실행으로 반복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C7BBBB0-E9A0-4A62-A7FF-CBC443C5C1E0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972800" cy="485775"/>
          </a:xfrm>
          <a:prstGeom prst="roundRect">
            <a:avLst>
              <a:gd name="adj" fmla="val 11765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1C26C4D1-EFF7-4ABD-A4CE-3E4DA985D2A7}"/>
              </a:ext>
            </a:extLst>
          </p:cNvPr>
          <p:cNvSpPr>
            <a:spLocks noGrp="1"/>
          </p:cNvSpPr>
          <p:nvPr/>
        </p:nvSpPr>
        <p:spPr>
          <a:xfrm>
            <a:off x="781050" y="5991225"/>
            <a:ext cx="695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판단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9FA61850-4331-4A85-9AAA-111BBF482AB9}"/>
              </a:ext>
            </a:extLst>
          </p:cNvPr>
          <p:cNvSpPr>
            <a:spLocks noGrp="1"/>
          </p:cNvSpPr>
          <p:nvPr/>
        </p:nvSpPr>
        <p:spPr>
          <a:xfrm>
            <a:off x="1581150" y="5981700"/>
            <a:ext cx="9753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정기 자동 실행의 추가 운영 부담과 잘못된 회수 위험을 비교해, 담당자 확인 방식으로 조정했습니다.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444234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">
            <a:extLst>
              <a:ext uri="{FF2B5EF4-FFF2-40B4-BE49-F238E27FC236}">
                <a16:creationId xmlns:a16="http://schemas.microsoft.com/office/drawing/2014/main" id="{88A8F240-B97C-4DAD-BEE5-9D9F84CFAC44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09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77FFF93-C6E5-41CD-956E-7E49EB69CB6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7ED9274D-3CD6-4F76-B2A9-DA96E0A74682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고객 화면에서 검수하고, 운영 요청을 반영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62E59D7-4E68-4179-95D9-037DE09E1EE7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 완료 통보 뒤에도 운영 서버에서 재현하고 실제 사용 흐름을 다시 확인했습니다.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E3527A93-030A-47C8-8986-2F7C2BD216D9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정보 수정 화면이 열리지 않았던 사례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F2D0BFC-1742-4EE0-8E96-77D1E4C92BF9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09625" cy="361950"/>
          </a:xfrm>
          <a:prstGeom prst="roundRect">
            <a:avLst>
              <a:gd name="adj" fmla="val 13158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현상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D3E9E8BC-FC24-42B0-B162-193A08C7B3AD}"/>
              </a:ext>
            </a:extLst>
          </p:cNvPr>
          <p:cNvSpPr>
            <a:spLocks noGrp="1"/>
          </p:cNvSpPr>
          <p:nvPr/>
        </p:nvSpPr>
        <p:spPr>
          <a:xfrm>
            <a:off x="1619250" y="2276475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마이페이지 정보 수정에 진입할 수 없음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155F00C-F35C-46F1-8A43-7BD68764689D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809625" cy="361950"/>
          </a:xfrm>
          <a:prstGeom prst="roundRect">
            <a:avLst>
              <a:gd name="adj" fmla="val 13158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98119517-638A-41B9-86E2-1CE66E511CC7}"/>
              </a:ext>
            </a:extLst>
          </p:cNvPr>
          <p:cNvSpPr>
            <a:spLocks noGrp="1"/>
          </p:cNvSpPr>
          <p:nvPr/>
        </p:nvSpPr>
        <p:spPr>
          <a:xfrm>
            <a:off x="1619250" y="2905125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서버 미반영과 구 차단 로직 잔존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2BAC316-66BB-4490-9430-59FE05D8CCD2}"/>
              </a:ext>
            </a:extLst>
          </p:cNvPr>
          <p:cNvSpPr>
            <a:spLocks noGrp="1"/>
          </p:cNvSpPr>
          <p:nvPr/>
        </p:nvSpPr>
        <p:spPr>
          <a:xfrm>
            <a:off x="609600" y="3467100"/>
            <a:ext cx="809625" cy="361950"/>
          </a:xfrm>
          <a:prstGeom prst="roundRect">
            <a:avLst>
              <a:gd name="adj" fmla="val 13158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기준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17EBC520-208C-4009-96C0-4F39DC23E6DE}"/>
              </a:ext>
            </a:extLst>
          </p:cNvPr>
          <p:cNvSpPr>
            <a:spLocks noGrp="1"/>
          </p:cNvSpPr>
          <p:nvPr/>
        </p:nvSpPr>
        <p:spPr>
          <a:xfrm>
            <a:off x="1619250" y="3533775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실제 계정에서 기대한 화면까지 진입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7F56D463-36E1-44C7-8091-1BB92538A6D2}"/>
              </a:ext>
            </a:extLst>
          </p:cNvPr>
          <p:cNvSpPr>
            <a:spLocks noGrp="1"/>
          </p:cNvSpPr>
          <p:nvPr/>
        </p:nvSpPr>
        <p:spPr>
          <a:xfrm>
            <a:off x="6248400" y="173355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거래명세서 접근을 주문내역으로 이동</a:t>
            </a: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13092" y="2190750"/>
            <a:ext cx="1623291" cy="1409700"/>
          </a:xfrm>
          <a:prstGeom prst="rect">
            <a:avLst/>
          </a:prstGeom>
        </p:spPr>
      </p:pic>
      <p:sp>
        <p:nvSpPr>
          <p:cNvPr id="14" name="text-12">
            <a:extLst>
              <a:ext uri="{FF2B5EF4-FFF2-40B4-BE49-F238E27FC236}">
                <a16:creationId xmlns:a16="http://schemas.microsoft.com/office/drawing/2014/main" id="{1DCF610C-4B21-467C-9B0A-21C8F0C5FC96}"/>
              </a:ext>
            </a:extLst>
          </p:cNvPr>
          <p:cNvSpPr>
            <a:spLocks noGrp="1"/>
          </p:cNvSpPr>
          <p:nvPr/>
        </p:nvSpPr>
        <p:spPr>
          <a:xfrm>
            <a:off x="8791575" y="272415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37267" y="2190750"/>
            <a:ext cx="1623291" cy="1409700"/>
          </a:xfrm>
          <a:prstGeom prst="rect">
            <a:avLst/>
          </a:prstGeom>
        </p:spPr>
      </p:pic>
      <p:sp>
        <p:nvSpPr>
          <p:cNvPr id="16" name="text-13">
            <a:extLst>
              <a:ext uri="{FF2B5EF4-FFF2-40B4-BE49-F238E27FC236}">
                <a16:creationId xmlns:a16="http://schemas.microsoft.com/office/drawing/2014/main" id="{930D97B1-31CE-4771-8C77-E499E0579741}"/>
              </a:ext>
            </a:extLst>
          </p:cNvPr>
          <p:cNvSpPr>
            <a:spLocks noGrp="1"/>
          </p:cNvSpPr>
          <p:nvPr/>
        </p:nvSpPr>
        <p:spPr>
          <a:xfrm>
            <a:off x="6257925" y="3714750"/>
            <a:ext cx="2333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변경 전</a:t>
            </a:r>
          </a:p>
        </p:txBody>
      </p:sp>
      <p:sp>
        <p:nvSpPr>
          <p:cNvPr id="17" name="text-14">
            <a:extLst>
              <a:ext uri="{FF2B5EF4-FFF2-40B4-BE49-F238E27FC236}">
                <a16:creationId xmlns:a16="http://schemas.microsoft.com/office/drawing/2014/main" id="{0C274734-F476-47F2-8FEC-4E89705154B9}"/>
              </a:ext>
            </a:extLst>
          </p:cNvPr>
          <p:cNvSpPr>
            <a:spLocks noGrp="1"/>
          </p:cNvSpPr>
          <p:nvPr/>
        </p:nvSpPr>
        <p:spPr>
          <a:xfrm>
            <a:off x="9182100" y="3714750"/>
            <a:ext cx="2333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반영 후</a:t>
            </a:r>
          </a:p>
        </p:txBody>
      </p:sp>
      <p:sp>
        <p:nvSpPr>
          <p:cNvPr id="18" name="text-15">
            <a:extLst>
              <a:ext uri="{FF2B5EF4-FFF2-40B4-BE49-F238E27FC236}">
                <a16:creationId xmlns:a16="http://schemas.microsoft.com/office/drawing/2014/main" id="{16931122-C302-4FE3-8919-4ECA2BBA7FC1}"/>
              </a:ext>
            </a:extLst>
          </p:cNvPr>
          <p:cNvSpPr>
            <a:spLocks noGrp="1"/>
          </p:cNvSpPr>
          <p:nvPr/>
        </p:nvSpPr>
        <p:spPr>
          <a:xfrm>
            <a:off x="6248400" y="4105275"/>
            <a:ext cx="5257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주문당 버튼 1개 · 취소·환불 주문 제외</a:t>
            </a: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2026-08-13 운영 반영 후 고객 화면 확인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52F20294-53AF-480F-AD42-207C3870662A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5257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-17">
            <a:extLst>
              <a:ext uri="{FF2B5EF4-FFF2-40B4-BE49-F238E27FC236}">
                <a16:creationId xmlns:a16="http://schemas.microsoft.com/office/drawing/2014/main" id="{C3DBEB18-2A66-4397-A217-33B182F03347}"/>
              </a:ext>
            </a:extLst>
          </p:cNvPr>
          <p:cNvSpPr>
            <a:spLocks noGrp="1"/>
          </p:cNvSpPr>
          <p:nvPr/>
        </p:nvSpPr>
        <p:spPr>
          <a:xfrm>
            <a:off x="609600" y="4695825"/>
            <a:ext cx="5257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기획·검수: 본인 / 수정 구현: 개발사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873FA7A-607A-4FB4-A4A3-DCDA190FFEDD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972800" cy="981075"/>
          </a:xfrm>
          <a:prstGeom prst="roundRect">
            <a:avLst>
              <a:gd name="adj" fmla="val 5825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-19">
            <a:extLst>
              <a:ext uri="{FF2B5EF4-FFF2-40B4-BE49-F238E27FC236}">
                <a16:creationId xmlns:a16="http://schemas.microsoft.com/office/drawing/2014/main" id="{AE70C8DE-7615-40CE-BFAC-B924EC9B524F}"/>
              </a:ext>
            </a:extLst>
          </p:cNvPr>
          <p:cNvSpPr>
            <a:spLocks noGrp="1"/>
          </p:cNvSpPr>
          <p:nvPr/>
        </p:nvSpPr>
        <p:spPr>
          <a:xfrm>
            <a:off x="809625" y="5429250"/>
            <a:ext cx="2400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현장 요청을 다시 반영</a:t>
            </a:r>
          </a:p>
        </p:txBody>
      </p:sp>
      <p:sp>
        <p:nvSpPr>
          <p:cNvPr id="23" name="text-20">
            <a:extLst>
              <a:ext uri="{FF2B5EF4-FFF2-40B4-BE49-F238E27FC236}">
                <a16:creationId xmlns:a16="http://schemas.microsoft.com/office/drawing/2014/main" id="{B32C54BF-A1DE-4620-B167-1365DA63398E}"/>
              </a:ext>
            </a:extLst>
          </p:cNvPr>
          <p:cNvSpPr>
            <a:spLocks noGrp="1"/>
          </p:cNvSpPr>
          <p:nvPr/>
        </p:nvSpPr>
        <p:spPr>
          <a:xfrm>
            <a:off x="3333750" y="5410200"/>
            <a:ext cx="80105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1차 QA에서 제거한 배송 메시지 입력칸을 복원했습니다.</a:t>
            </a:r>
          </a:p>
          <a:p>
            <a:pPr algn="l">
              <a:lnSpc>
                <a:spcPct val="122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화면 정리 뒤에도 실제 배송 요청을 받을 수 있어야 했습니다.</a:t>
            </a:r>
          </a:p>
        </p:txBody>
      </p:sp>
      <p:sp>
        <p:nvSpPr>
          <p:cNvPr id="24" name="text-21">
            <a:extLst>
              <a:ext uri="{FF2B5EF4-FFF2-40B4-BE49-F238E27FC236}">
                <a16:creationId xmlns:a16="http://schemas.microsoft.com/office/drawing/2014/main" id="{1552B54E-CC7E-4CFB-8ABD-5A12D5DFFC2E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 처리결과 문서의 기능 화면 · 직접 운영 캡처 아님 · 고객정보·주문번호·가격 영역 제외</a:t>
            </a:r>
          </a:p>
        </p:txBody>
      </p:sp>
    </p:spTree>
    <p:extLst>
      <p:ext uri="{BB962C8B-B14F-4D97-AF65-F5344CB8AC3E}">
        <p14:creationId xmlns:p14="http://schemas.microsoft.com/office/powerpoint/2010/main" val="4164731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-0">
            <a:extLst>
              <a:ext uri="{FF2B5EF4-FFF2-40B4-BE49-F238E27FC236}">
                <a16:creationId xmlns:a16="http://schemas.microsoft.com/office/drawing/2014/main" id="{217D92B1-EA3D-4BC7-9E42-E0F59213FF08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10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1E0B271-3182-40D0-A7B4-61D679F593F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07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38C5738-3870-4809-83BF-F66EE61F70B7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초기 운영 결과와 측정 범위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3E9D590-F8BB-4C75-ACA8-E64C24BBDDCC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출고·문의 지표의 초기 관찰과, 계약상 전체 개발요구의 검수를 구분했습니다.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7AF908E-1327-46A0-B338-F463E31DF34C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854EC673-3BFF-4191-B5C0-AEDB99738F25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30384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월평균 2~3건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4E725E29-D7C2-4633-89DD-F0A68363536A}"/>
              </a:ext>
            </a:extLst>
          </p:cNvPr>
          <p:cNvSpPr>
            <a:spLocks noGrp="1"/>
          </p:cNvSpPr>
          <p:nvPr/>
        </p:nvSpPr>
        <p:spPr>
          <a:xfrm>
            <a:off x="3886200" y="2114550"/>
            <a:ext cx="18288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0건</a:t>
            </a:r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475165D9-7A2A-4A58-A540-42601C07CA46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5257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F1E33F31-501B-49C2-815E-CEF3585BF26D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52578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직전 6개월 월평균과 2026-07-16 전체 가동 후</a:t>
            </a:r>
          </a:p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약 1개월을 비교한 전체 측정 범위의 관찰값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DB3CDF83-0CAF-4DB9-A300-ED399631E829}"/>
              </a:ext>
            </a:extLst>
          </p:cNvPr>
          <p:cNvSpPr>
            <a:spLocks noGrp="1"/>
          </p:cNvSpPr>
          <p:nvPr/>
        </p:nvSpPr>
        <p:spPr>
          <a:xfrm>
            <a:off x="6324600" y="17526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3514CD5E-4C4C-4E7E-B1D7-A12824A1BBCA}"/>
              </a:ext>
            </a:extLst>
          </p:cNvPr>
          <p:cNvSpPr>
            <a:spLocks noGrp="1"/>
          </p:cNvSpPr>
          <p:nvPr/>
        </p:nvSpPr>
        <p:spPr>
          <a:xfrm>
            <a:off x="6324600" y="2181225"/>
            <a:ext cx="26574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2주 32건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027CAA48-1898-4898-B2CF-1E8360C481B6}"/>
              </a:ext>
            </a:extLst>
          </p:cNvPr>
          <p:cNvSpPr>
            <a:spLocks noGrp="1"/>
          </p:cNvSpPr>
          <p:nvPr/>
        </p:nvSpPr>
        <p:spPr>
          <a:xfrm>
            <a:off x="9134475" y="2171700"/>
            <a:ext cx="24479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19건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70B48FED-E767-4D60-AE26-92E6DFC6FC7C}"/>
              </a:ext>
            </a:extLst>
          </p:cNvPr>
          <p:cNvSpPr>
            <a:spLocks noGrp="1"/>
          </p:cNvSpPr>
          <p:nvPr/>
        </p:nvSpPr>
        <p:spPr>
          <a:xfrm>
            <a:off x="6324600" y="2990850"/>
            <a:ext cx="5257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25A2769D-F87B-4CBF-8D63-59B70272F6C2}"/>
              </a:ext>
            </a:extLst>
          </p:cNvPr>
          <p:cNvSpPr>
            <a:spLocks noGrp="1"/>
          </p:cNvSpPr>
          <p:nvPr/>
        </p:nvSpPr>
        <p:spPr>
          <a:xfrm>
            <a:off x="6324600" y="3219450"/>
            <a:ext cx="52578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2026-01~06 CS 인입의 2주 환산치와</a:t>
            </a:r>
          </a:p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2026-07~08 배포 구간 2주 집계를 비교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7F2DFCB-8E46-4F05-AC73-3B9E8F653BED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10972800" cy="1343025"/>
          </a:xfrm>
          <a:prstGeom prst="roundRect">
            <a:avLst>
              <a:gd name="adj" fmla="val 4255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183B8E0D-2D30-409A-9C95-F244318DD885}"/>
              </a:ext>
            </a:extLst>
          </p:cNvPr>
          <p:cNvSpPr>
            <a:spLocks noGrp="1"/>
          </p:cNvSpPr>
          <p:nvPr/>
        </p:nvSpPr>
        <p:spPr>
          <a:xfrm>
            <a:off x="809625" y="4552950"/>
            <a:ext cx="28479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운영과 검수의 경계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0B33AA4A-B010-4D7E-8CE5-783887E36843}"/>
              </a:ext>
            </a:extLst>
          </p:cNvPr>
          <p:cNvSpPr>
            <a:spLocks noGrp="1"/>
          </p:cNvSpPr>
          <p:nvPr/>
        </p:nvSpPr>
        <p:spPr>
          <a:xfrm>
            <a:off x="3467100" y="4543425"/>
            <a:ext cx="78676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핵심 흐름은 2026-07-16 가동 후 약 1개월 관찰</a:t>
            </a:r>
          </a:p>
          <a:p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계약상 기본 개발요구 22건은 2026-08-31 최종검수까지 운영 QA 지속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00632E57-3594-4EBD-92D3-AC0C277FE9E1}"/>
              </a:ext>
            </a:extLst>
          </p:cNvPr>
          <p:cNvSpPr>
            <a:spLocks noGrp="1"/>
          </p:cNvSpPr>
          <p:nvPr/>
        </p:nvSpPr>
        <p:spPr>
          <a:xfrm>
            <a:off x="809625" y="5305425"/>
            <a:ext cx="105060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2026-08-13 검수 기록: 배포·QA 필요 17건 / 부분·수정·구현변경 후 QA 각 1건 / 진행 중 계약 항목 2건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B430013-941B-4387-BF65-DEE786137AE4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측정은 입금 대조 시간과 오출고·CS 문의의 장기 추이입니다.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CF5BE2-1F66-A451-16BE-82CFF018A506}"/>
              </a:ext>
            </a:extLst>
          </p:cNvPr>
          <p:cNvSpPr txBox="1"/>
          <p:nvPr/>
        </p:nvSpPr>
        <p:spPr>
          <a:xfrm>
            <a:off x="609600" y="6534150"/>
            <a:ext cx="10972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원천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: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운영팀 출고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·CS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이력과 사용자 확인 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초기 관찰이며 장기 지속 효과와 단독 인과는 미검증</a:t>
            </a:r>
          </a:p>
        </p:txBody>
      </p:sp>
    </p:spTree>
    <p:extLst>
      <p:ext uri="{BB962C8B-B14F-4D97-AF65-F5344CB8AC3E}">
        <p14:creationId xmlns:p14="http://schemas.microsoft.com/office/powerpoint/2010/main" val="1941699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4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-0">
            <a:extLst>
              <a:ext uri="{FF2B5EF4-FFF2-40B4-BE49-F238E27FC236}">
                <a16:creationId xmlns:a16="http://schemas.microsoft.com/office/drawing/2014/main" id="{7D3716C6-0914-4AA3-A099-C1AC03086810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11 / 24</a:t>
            </a:r>
            <a:endParaRPr sz="788" b="0">
              <a:solidFill>
                <a:srgbClr val="F0BB9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D6542A4-069B-4FF6-BD9F-3DAC247DF79A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02.  발주 검토 자료 자동취합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70D47F6-4C23-4702-A4F3-50B97F82DBA6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885825" cy="87630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SCM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2072DF5C-AE83-4E1E-B85D-C4AFF52DD617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57245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발주 검토 자료 자동취합 대시보드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E760E3DD-5D5D-4F93-9D0F-583488226056}"/>
              </a:ext>
            </a:extLst>
          </p:cNvPr>
          <p:cNvSpPr>
            <a:spLocks noGrp="1"/>
          </p:cNvSpPr>
          <p:nvPr/>
        </p:nvSpPr>
        <p:spPr>
          <a:xfrm>
            <a:off x="1752600" y="2247900"/>
            <a:ext cx="56864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3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판매·출고·재고 자료를 Excel 업로드로 모아,</a:t>
            </a:r>
          </a:p>
          <a:p>
            <a:pPr algn="l">
              <a:lnSpc>
                <a:spcPct val="122000"/>
              </a:lnSpc>
              <a:buNone/>
              <a:defRPr sz="123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월간 발주 검토에 사용할 수 있는 기준 자료로 만들었습니다.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3F522FA5-D046-47B6-8D73-FFC50934A450}"/>
              </a:ext>
            </a:extLst>
          </p:cNvPr>
          <p:cNvSpPr>
            <a:spLocks noGrp="1"/>
          </p:cNvSpPr>
          <p:nvPr/>
        </p:nvSpPr>
        <p:spPr>
          <a:xfrm>
            <a:off x="1752600" y="3228975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22435DBF-55F8-416B-9BD5-0DE8470D8E5E}"/>
              </a:ext>
            </a:extLst>
          </p:cNvPr>
          <p:cNvSpPr>
            <a:spLocks noGrp="1"/>
          </p:cNvSpPr>
          <p:nvPr/>
        </p:nvSpPr>
        <p:spPr>
          <a:xfrm>
            <a:off x="2619375" y="3209925"/>
            <a:ext cx="481012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담당자 1명이 매월 6~12시간 취합 · 값 오류 보통 2~3건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7425A67B-AE0D-4FB2-B324-8FCB89350C70}"/>
              </a:ext>
            </a:extLst>
          </p:cNvPr>
          <p:cNvSpPr>
            <a:spLocks noGrp="1"/>
          </p:cNvSpPr>
          <p:nvPr/>
        </p:nvSpPr>
        <p:spPr>
          <a:xfrm>
            <a:off x="1752600" y="3857625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0607F123-91DB-445A-B420-598AB887C883}"/>
              </a:ext>
            </a:extLst>
          </p:cNvPr>
          <p:cNvSpPr>
            <a:spLocks noGrp="1"/>
          </p:cNvSpPr>
          <p:nvPr/>
        </p:nvSpPr>
        <p:spPr>
          <a:xfrm>
            <a:off x="2619375" y="3838575"/>
            <a:ext cx="481012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상품별 재고와 공급사 발주안을 검토하는 SCM 담당자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9D7AF36E-5B4A-4DFD-8F5B-37339F153CC6}"/>
              </a:ext>
            </a:extLst>
          </p:cNvPr>
          <p:cNvSpPr>
            <a:spLocks noGrp="1"/>
          </p:cNvSpPr>
          <p:nvPr/>
        </p:nvSpPr>
        <p:spPr>
          <a:xfrm>
            <a:off x="1752600" y="4486275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263B061E-97F0-400B-BFDD-E464486E9F48}"/>
              </a:ext>
            </a:extLst>
          </p:cNvPr>
          <p:cNvSpPr>
            <a:spLocks noGrp="1"/>
          </p:cNvSpPr>
          <p:nvPr/>
        </p:nvSpPr>
        <p:spPr>
          <a:xfrm>
            <a:off x="2619375" y="4467225"/>
            <a:ext cx="481012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반복 취합을 줄이고 자료 확인과 발주 검토에 집중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7B40DC1-08C5-4CCD-901A-2B21DC447279}"/>
              </a:ext>
            </a:extLst>
          </p:cNvPr>
          <p:cNvSpPr>
            <a:spLocks noGrp="1"/>
          </p:cNvSpPr>
          <p:nvPr/>
        </p:nvSpPr>
        <p:spPr>
          <a:xfrm>
            <a:off x="7734300" y="1600200"/>
            <a:ext cx="3848100" cy="3095625"/>
          </a:xfrm>
          <a:prstGeom prst="roundRect">
            <a:avLst>
              <a:gd name="adj" fmla="val 3385"/>
            </a:avLst>
          </a:prstGeom>
          <a:solidFill>
            <a:srgbClr val="903B0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C2F9E833-026B-4F29-9AF3-B3071BE4FF77}"/>
              </a:ext>
            </a:extLst>
          </p:cNvPr>
          <p:cNvSpPr>
            <a:spLocks noGrp="1"/>
          </p:cNvSpPr>
          <p:nvPr/>
        </p:nvSpPr>
        <p:spPr>
          <a:xfrm>
            <a:off x="8020050" y="1838325"/>
            <a:ext cx="3267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직접 구현하고 운영에서 검증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FA54E77-5999-4673-BE01-A63FBA399E77}"/>
              </a:ext>
            </a:extLst>
          </p:cNvPr>
          <p:cNvSpPr>
            <a:spLocks noGrp="1"/>
          </p:cNvSpPr>
          <p:nvPr/>
        </p:nvSpPr>
        <p:spPr>
          <a:xfrm>
            <a:off x="8039100" y="2200275"/>
            <a:ext cx="3238500" cy="504825"/>
          </a:xfrm>
          <a:prstGeom prst="roundRect">
            <a:avLst>
              <a:gd name="adj" fmla="val 11321"/>
            </a:avLst>
          </a:prstGeom>
          <a:solidFill>
            <a:srgbClr val="B44B0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18B7085E-F74B-4B72-8757-C6EE0BC6EC05}"/>
              </a:ext>
            </a:extLst>
          </p:cNvPr>
          <p:cNvSpPr>
            <a:spLocks noGrp="1"/>
          </p:cNvSpPr>
          <p:nvPr/>
        </p:nvSpPr>
        <p:spPr>
          <a:xfrm>
            <a:off x="8201025" y="226695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기획·설계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BC3A733E-B5F5-4065-8593-816B09E0E746}"/>
              </a:ext>
            </a:extLst>
          </p:cNvPr>
          <p:cNvSpPr>
            <a:spLocks noGrp="1"/>
          </p:cNvSpPr>
          <p:nvPr/>
        </p:nvSpPr>
        <p:spPr>
          <a:xfrm>
            <a:off x="8201025" y="247650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판매·출고 구분과 데이터 구조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EA40E1E-F4F3-4E79-8A66-B35906391872}"/>
              </a:ext>
            </a:extLst>
          </p:cNvPr>
          <p:cNvSpPr>
            <a:spLocks noGrp="1"/>
          </p:cNvSpPr>
          <p:nvPr/>
        </p:nvSpPr>
        <p:spPr>
          <a:xfrm>
            <a:off x="8039100" y="2771775"/>
            <a:ext cx="3238500" cy="504825"/>
          </a:xfrm>
          <a:prstGeom prst="roundRect">
            <a:avLst>
              <a:gd name="adj" fmla="val 11321"/>
            </a:avLst>
          </a:prstGeom>
          <a:solidFill>
            <a:srgbClr val="B44B0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7250D545-7499-4764-923A-BD924ACCBE06}"/>
              </a:ext>
            </a:extLst>
          </p:cNvPr>
          <p:cNvSpPr>
            <a:spLocks noGrp="1"/>
          </p:cNvSpPr>
          <p:nvPr/>
        </p:nvSpPr>
        <p:spPr>
          <a:xfrm>
            <a:off x="8201025" y="283845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개발·배포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BB54C2F1-D717-476F-BE42-AEA5F9896477}"/>
              </a:ext>
            </a:extLst>
          </p:cNvPr>
          <p:cNvSpPr>
            <a:spLocks noGrp="1"/>
          </p:cNvSpPr>
          <p:nvPr/>
        </p:nvSpPr>
        <p:spPr>
          <a:xfrm>
            <a:off x="8201025" y="304800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AI 코딩 도구로 직접 구현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0239858-803F-4ADC-A2C3-3749A8CF4FD3}"/>
              </a:ext>
            </a:extLst>
          </p:cNvPr>
          <p:cNvSpPr>
            <a:spLocks noGrp="1"/>
          </p:cNvSpPr>
          <p:nvPr/>
        </p:nvSpPr>
        <p:spPr>
          <a:xfrm>
            <a:off x="8039100" y="3343275"/>
            <a:ext cx="3238500" cy="504825"/>
          </a:xfrm>
          <a:prstGeom prst="roundRect">
            <a:avLst>
              <a:gd name="adj" fmla="val 11321"/>
            </a:avLst>
          </a:prstGeom>
          <a:solidFill>
            <a:srgbClr val="B44B0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3804647B-9B69-4461-9D5B-A99677AC0526}"/>
              </a:ext>
            </a:extLst>
          </p:cNvPr>
          <p:cNvSpPr>
            <a:spLocks noGrp="1"/>
          </p:cNvSpPr>
          <p:nvPr/>
        </p:nvSpPr>
        <p:spPr>
          <a:xfrm>
            <a:off x="8201025" y="340995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검증·협업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9ACC3797-C1D0-4E7A-BEEB-37664D254C87}"/>
              </a:ext>
            </a:extLst>
          </p:cNvPr>
          <p:cNvSpPr>
            <a:spLocks noGrp="1"/>
          </p:cNvSpPr>
          <p:nvPr/>
        </p:nvSpPr>
        <p:spPr>
          <a:xfrm>
            <a:off x="8201025" y="361950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기존 시트 대조 · 팀원 의견 반영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88BBAD0-72B1-46BC-870A-419E9B5387EE}"/>
              </a:ext>
            </a:extLst>
          </p:cNvPr>
          <p:cNvSpPr>
            <a:spLocks noGrp="1"/>
          </p:cNvSpPr>
          <p:nvPr/>
        </p:nvSpPr>
        <p:spPr>
          <a:xfrm>
            <a:off x="8039100" y="3914775"/>
            <a:ext cx="3238500" cy="504825"/>
          </a:xfrm>
          <a:prstGeom prst="roundRect">
            <a:avLst>
              <a:gd name="adj" fmla="val 11321"/>
            </a:avLst>
          </a:prstGeom>
          <a:solidFill>
            <a:srgbClr val="B44B0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15306DCA-F793-4203-BFCB-E2B7F4B3A9B1}"/>
              </a:ext>
            </a:extLst>
          </p:cNvPr>
          <p:cNvSpPr>
            <a:spLocks noGrp="1"/>
          </p:cNvSpPr>
          <p:nvPr/>
        </p:nvSpPr>
        <p:spPr>
          <a:xfrm>
            <a:off x="8201025" y="398145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</a:t>
            </a:r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4AB27A6E-C387-41CA-9C2A-2CBB6187E8E5}"/>
              </a:ext>
            </a:extLst>
          </p:cNvPr>
          <p:cNvSpPr>
            <a:spLocks noGrp="1"/>
          </p:cNvSpPr>
          <p:nvPr/>
        </p:nvSpPr>
        <p:spPr>
          <a:xfrm>
            <a:off x="8201025" y="419100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월간 검토 자료로 사용·개선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55788E16-A965-455B-8782-094A0D51A3B2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972800" cy="0"/>
          </a:xfrm>
          <a:prstGeom prst="line">
            <a:avLst/>
          </a:prstGeom>
          <a:ln w="7620">
            <a:solidFill>
              <a:srgbClr val="F0BB9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80E0F96D-3CF5-4D2E-A427-0A85F62395DA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3FA7D38D-B2F2-430C-959B-1279F5BB0E2A}"/>
              </a:ext>
            </a:extLst>
          </p:cNvPr>
          <p:cNvSpPr>
            <a:spLocks noGrp="1"/>
          </p:cNvSpPr>
          <p:nvPr/>
        </p:nvSpPr>
        <p:spPr>
          <a:xfrm>
            <a:off x="1819275" y="5457825"/>
            <a:ext cx="9667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2026-04 시범 배포 ~ 현재 / 약 2개월 병행 검증 / 2026-06 기준 자료 사용</a:t>
            </a:r>
          </a:p>
        </p:txBody>
      </p:sp>
      <p:sp>
        <p:nvSpPr>
          <p:cNvPr id="29" name="text-28">
            <a:extLst>
              <a:ext uri="{FF2B5EF4-FFF2-40B4-BE49-F238E27FC236}">
                <a16:creationId xmlns:a16="http://schemas.microsoft.com/office/drawing/2014/main" id="{D69DD052-F6F6-41CF-ACE0-4EB13A84EE27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ACEF84D0-9FAC-4728-B411-B157529A1FAF}"/>
              </a:ext>
            </a:extLst>
          </p:cNvPr>
          <p:cNvSpPr>
            <a:spLocks noGrp="1"/>
          </p:cNvSpPr>
          <p:nvPr/>
        </p:nvSpPr>
        <p:spPr>
          <a:xfrm>
            <a:off x="1819275" y="5743575"/>
            <a:ext cx="9667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 정의, 기획·데이터 설계·개발·배포, 운영 피드백 반영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1D5CA92C-427D-4D56-8EBF-08699418D150}"/>
              </a:ext>
            </a:extLst>
          </p:cNvPr>
          <p:cNvSpPr>
            <a:spLocks noGrp="1"/>
          </p:cNvSpPr>
          <p:nvPr/>
        </p:nvSpPr>
        <p:spPr>
          <a:xfrm>
            <a:off x="609600" y="60293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BD60A349-3234-48FE-ADA6-8176E46069CB}"/>
              </a:ext>
            </a:extLst>
          </p:cNvPr>
          <p:cNvSpPr>
            <a:spLocks noGrp="1"/>
          </p:cNvSpPr>
          <p:nvPr/>
        </p:nvSpPr>
        <p:spPr>
          <a:xfrm>
            <a:off x="1819275" y="6029325"/>
            <a:ext cx="9667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SCM 팀원과 자료·사용 흐름 확인 / 담당자 발주안 작성 / 팀장 협의·승인</a:t>
            </a:r>
          </a:p>
        </p:txBody>
      </p:sp>
      <p:sp>
        <p:nvSpPr>
          <p:cNvPr id="33" name="text-32">
            <a:extLst>
              <a:ext uri="{FF2B5EF4-FFF2-40B4-BE49-F238E27FC236}">
                <a16:creationId xmlns:a16="http://schemas.microsoft.com/office/drawing/2014/main" id="{2056C305-2417-422C-B04A-31DC3BBE3857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실무 적용</a:t>
            </a:r>
          </a:p>
        </p:txBody>
      </p:sp>
      <p:sp>
        <p:nvSpPr>
          <p:cNvPr id="34" name="text-33">
            <a:extLst>
              <a:ext uri="{FF2B5EF4-FFF2-40B4-BE49-F238E27FC236}">
                <a16:creationId xmlns:a16="http://schemas.microsoft.com/office/drawing/2014/main" id="{2617CAB5-71DB-4477-B7CA-B88350E032A1}"/>
              </a:ext>
            </a:extLst>
          </p:cNvPr>
          <p:cNvSpPr>
            <a:spLocks noGrp="1"/>
          </p:cNvSpPr>
          <p:nvPr/>
        </p:nvSpPr>
        <p:spPr>
          <a:xfrm>
            <a:off x="1819275" y="6315075"/>
            <a:ext cx="9667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2026-04~08 월간 공급사 발주 검토 5회에 취합 자료 활용</a:t>
            </a:r>
          </a:p>
        </p:txBody>
      </p:sp>
    </p:spTree>
    <p:extLst>
      <p:ext uri="{BB962C8B-B14F-4D97-AF65-F5344CB8AC3E}">
        <p14:creationId xmlns:p14="http://schemas.microsoft.com/office/powerpoint/2010/main" val="2265816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0">
            <a:extLst>
              <a:ext uri="{FF2B5EF4-FFF2-40B4-BE49-F238E27FC236}">
                <a16:creationId xmlns:a16="http://schemas.microsoft.com/office/drawing/2014/main" id="{57A9944A-C3DC-4109-97A5-51EF54416637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12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DECD43C9-CEC3-49D7-AEF3-6760ED50501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C3E1F38-0791-4884-A8A1-11E57A1E9FE7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자료를 모으기 전에 숫자의 의미부터 맞췄습니다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F71E022-E488-4BB4-A188-7CA393F8771F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판매량과 재고 감소량이 달라지는 업무를 구분하고, 발주 검토에 필요한 집계 기준을 정했습니다.</a:t>
            </a:r>
          </a:p>
        </p:txBody>
      </p:sp>
      <p:graphicFrame>
        <p:nvGraphicFramePr>
          <p:cNvPr id="15" name="표 14"/>
          <p:cNvGraphicFramePr/>
          <p:nvPr/>
        </p:nvGraphicFramePr>
        <p:xfrm>
          <a:off x="609600" y="1781175"/>
          <a:ext cx="10972800" cy="2657475"/>
        </p:xfrm>
        <a:graphic>
          <a:graphicData uri="http://schemas.openxmlformats.org/drawingml/2006/table">
            <a:tbl>
              <a:tblPr/>
              <a:tblGrid>
                <a:gridCol w="22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실무에서 확인한 차이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정한 집계·조회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판매실적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매출에 잡히는 판매 수량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추이를 확인할 때 사용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출고량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교환·영업용 사용도 재고를 감소시킴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판매와 구분해 실제 출고량 확인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현재고·입고계획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창고와 유통기한에 따라 가용 재고가 달라짐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창고·기한별 재고와 입고예정 자료 조회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366A95C1-A08C-428A-BD98-E4788DD7A289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52006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기존 취합에서 발생한 부담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616E81F6-830E-4B6F-BC6C-EEC999D151F5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52673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담당자 1명이 매월 약 6~12시간 사용</a:t>
            </a:r>
          </a:p>
          <a:p>
            <a:pPr algn="l">
              <a:lnSpc>
                <a:spcPct val="122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자료를 합치는 과정에서 값 오류 보통 2~3건 발생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36D6BF9C-BFE6-4020-9121-39572CFAA85C}"/>
              </a:ext>
            </a:extLst>
          </p:cNvPr>
          <p:cNvSpPr>
            <a:spLocks noGrp="1"/>
          </p:cNvSpPr>
          <p:nvPr/>
        </p:nvSpPr>
        <p:spPr>
          <a:xfrm>
            <a:off x="6334125" y="4838700"/>
            <a:ext cx="5248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먼저 맞춘 데이터의 기준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8C8F71C0-6760-4505-9B1D-2B012EB7D64A}"/>
              </a:ext>
            </a:extLst>
          </p:cNvPr>
          <p:cNvSpPr>
            <a:spLocks noGrp="1"/>
          </p:cNvSpPr>
          <p:nvPr/>
        </p:nvSpPr>
        <p:spPr>
          <a:xfrm>
            <a:off x="6334125" y="5238750"/>
            <a:ext cx="52482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판매실적과 교환·영업용 사용을 포함한 출고량을 구분</a:t>
            </a: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상품 합계와 함께 창고·유통기한별 재고를 확인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30C183E7-B9B6-4050-8E3A-24942E8B3DAA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원천: SCM 실무 기록·사용자 확인 / 시간과 오류는 도입 전 자료 취합 업무 기준</a:t>
            </a:r>
          </a:p>
        </p:txBody>
      </p:sp>
    </p:spTree>
    <p:extLst>
      <p:ext uri="{BB962C8B-B14F-4D97-AF65-F5344CB8AC3E}">
        <p14:creationId xmlns:p14="http://schemas.microsoft.com/office/powerpoint/2010/main" val="1033738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-0">
            <a:extLst>
              <a:ext uri="{FF2B5EF4-FFF2-40B4-BE49-F238E27FC236}">
                <a16:creationId xmlns:a16="http://schemas.microsoft.com/office/drawing/2014/main" id="{5EB53FE3-FF2C-409B-9EE4-0674F2200DAB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13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5143C5F-75E1-4253-B21C-E4B8C05E224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5D8922D2-B928-4B5F-859E-B801EED76CCA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자료 취합부터 발주 검토까지 범위를 정했습니다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083BB25-8C4C-4E6D-AA36-1A66A277C023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Excel 자료를 저장·집계하는 흐름을 구현하고, 발주안을 정할 때 담당자가 확인할 조건을 구분했습니다.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FE9E3678-9C94-4DFE-AE19-80DEE8F7EE10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구현한 자료 처리 흐름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8806C66-FF6D-459C-86C2-342230554206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19100" cy="352425"/>
          </a:xfrm>
          <a:prstGeom prst="roundRect">
            <a:avLst>
              <a:gd name="adj" fmla="val 13514"/>
            </a:avLst>
          </a:prstGeom>
          <a:solidFill>
            <a:srgbClr val="FCF0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73555AF-A6F9-40AA-99F4-4840033144D8}"/>
              </a:ext>
            </a:extLst>
          </p:cNvPr>
          <p:cNvSpPr>
            <a:spLocks noGrp="1"/>
          </p:cNvSpPr>
          <p:nvPr/>
        </p:nvSpPr>
        <p:spPr>
          <a:xfrm>
            <a:off x="1190625" y="22288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자료 입력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1253A6E4-985E-4453-BE60-B16E4B35F26D}"/>
              </a:ext>
            </a:extLst>
          </p:cNvPr>
          <p:cNvSpPr>
            <a:spLocks noGrp="1"/>
          </p:cNvSpPr>
          <p:nvPr/>
        </p:nvSpPr>
        <p:spPr>
          <a:xfrm>
            <a:off x="2771775" y="2266950"/>
            <a:ext cx="30289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판매·출고·재고·입고계획 업로드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D710709-B772-4EAE-96F1-1A5321586E26}"/>
              </a:ext>
            </a:extLst>
          </p:cNvPr>
          <p:cNvSpPr>
            <a:spLocks noGrp="1"/>
          </p:cNvSpPr>
          <p:nvPr/>
        </p:nvSpPr>
        <p:spPr>
          <a:xfrm>
            <a:off x="609600" y="2981325"/>
            <a:ext cx="419100" cy="352425"/>
          </a:xfrm>
          <a:prstGeom prst="roundRect">
            <a:avLst>
              <a:gd name="adj" fmla="val 13514"/>
            </a:avLst>
          </a:prstGeom>
          <a:solidFill>
            <a:srgbClr val="FCF0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05C1791E-2B7A-433F-9C2E-DEB705405010}"/>
              </a:ext>
            </a:extLst>
          </p:cNvPr>
          <p:cNvSpPr>
            <a:spLocks noGrp="1"/>
          </p:cNvSpPr>
          <p:nvPr/>
        </p:nvSpPr>
        <p:spPr>
          <a:xfrm>
            <a:off x="1190625" y="29622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저장·집계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EC90658E-3F23-4363-AE17-8A4417104EA2}"/>
              </a:ext>
            </a:extLst>
          </p:cNvPr>
          <p:cNvSpPr>
            <a:spLocks noGrp="1"/>
          </p:cNvSpPr>
          <p:nvPr/>
        </p:nvSpPr>
        <p:spPr>
          <a:xfrm>
            <a:off x="2771775" y="3000375"/>
            <a:ext cx="30289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데이터를 DB에 저장하고 취합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44CE24E-BD5F-4F36-9932-D75EFB1B8810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19100" cy="352425"/>
          </a:xfrm>
          <a:prstGeom prst="roundRect">
            <a:avLst>
              <a:gd name="adj" fmla="val 13514"/>
            </a:avLst>
          </a:prstGeom>
          <a:solidFill>
            <a:srgbClr val="FCF0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83A9D591-5E73-4A52-B82B-03ABCD905860}"/>
              </a:ext>
            </a:extLst>
          </p:cNvPr>
          <p:cNvSpPr>
            <a:spLocks noGrp="1"/>
          </p:cNvSpPr>
          <p:nvPr/>
        </p:nvSpPr>
        <p:spPr>
          <a:xfrm>
            <a:off x="1190625" y="369570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자료 확인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A3F1BEA3-3B27-41FD-A164-5F001EF45329}"/>
              </a:ext>
            </a:extLst>
          </p:cNvPr>
          <p:cNvSpPr>
            <a:spLocks noGrp="1"/>
          </p:cNvSpPr>
          <p:nvPr/>
        </p:nvSpPr>
        <p:spPr>
          <a:xfrm>
            <a:off x="2771775" y="3733800"/>
            <a:ext cx="30289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상품·창고·유통기한별 재고 조회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7324501-F2C4-4AC7-9072-ED603F613E66}"/>
              </a:ext>
            </a:extLst>
          </p:cNvPr>
          <p:cNvSpPr>
            <a:spLocks noGrp="1"/>
          </p:cNvSpPr>
          <p:nvPr/>
        </p:nvSpPr>
        <p:spPr>
          <a:xfrm>
            <a:off x="609600" y="4448175"/>
            <a:ext cx="419100" cy="352425"/>
          </a:xfrm>
          <a:prstGeom prst="roundRect">
            <a:avLst>
              <a:gd name="adj" fmla="val 13514"/>
            </a:avLst>
          </a:prstGeom>
          <a:solidFill>
            <a:srgbClr val="FCF0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23574601-34C2-447E-815A-494F74AE6D96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발주 검토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24499E4D-4BC2-41BB-8BB3-D76F4B95648F}"/>
              </a:ext>
            </a:extLst>
          </p:cNvPr>
          <p:cNvSpPr>
            <a:spLocks noGrp="1"/>
          </p:cNvSpPr>
          <p:nvPr/>
        </p:nvSpPr>
        <p:spPr>
          <a:xfrm>
            <a:off x="2771775" y="4467225"/>
            <a:ext cx="30289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가정에 따른 재고 시나리오 확인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7E69EB19-CA70-4B1D-8169-810D1BDB52C8}"/>
              </a:ext>
            </a:extLst>
          </p:cNvPr>
          <p:cNvSpPr>
            <a:spLocks noGrp="1"/>
          </p:cNvSpPr>
          <p:nvPr/>
        </p:nvSpPr>
        <p:spPr>
          <a:xfrm>
            <a:off x="6257925" y="175260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발주 판단에 남긴 확인 기준</a:t>
            </a:r>
          </a:p>
        </p:txBody>
      </p:sp>
      <p:graphicFrame>
        <p:nvGraphicFramePr>
          <p:cNvPr id="40" name="표 39"/>
          <p:cNvGraphicFramePr/>
          <p:nvPr/>
        </p:nvGraphicFramePr>
        <p:xfrm>
          <a:off x="6257925" y="2190750"/>
          <a:ext cx="5324475" cy="2638425"/>
        </p:xfrm>
        <a:graphic>
          <a:graphicData uri="http://schemas.openxmlformats.org/drawingml/2006/table">
            <a:tbl>
              <a:tblPr/>
              <a:tblGrid>
                <a:gridCol w="265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검토 조건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담당자가 확인할 내용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세일즈 전망 · 리드타임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전망과 입고 시점을 함께 검토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목표재고 · MOQ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확보할 재고와 최소주문수량 검토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현금흐름 · 승인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자금 영향을 확인하고 팀장과 협의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EE8BD00-8830-43E8-89B2-C07A552628E2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972800" cy="466725"/>
          </a:xfrm>
          <a:prstGeom prst="roundRect">
            <a:avLst>
              <a:gd name="adj" fmla="val 10204"/>
            </a:avLst>
          </a:prstGeom>
          <a:solidFill>
            <a:srgbClr val="FCF0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Excel 업로드  →  자동 취합·조회  →  담당자 발주안  →  팀장 협의·승인</a:t>
            </a:r>
          </a:p>
        </p:txBody>
      </p:sp>
      <p:sp>
        <p:nvSpPr>
          <p:cNvPr id="21" name="text-19">
            <a:extLst>
              <a:ext uri="{FF2B5EF4-FFF2-40B4-BE49-F238E27FC236}">
                <a16:creationId xmlns:a16="http://schemas.microsoft.com/office/drawing/2014/main" id="{2E4096CC-31E6-4615-B11E-8604613C907A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구현 범위: 자료 취합·조회와 가중치 시나리오 / 원천 Excel 업로드와 발주 판단·승인은 담당자 수행</a:t>
            </a:r>
          </a:p>
        </p:txBody>
      </p:sp>
    </p:spTree>
    <p:extLst>
      <p:ext uri="{BB962C8B-B14F-4D97-AF65-F5344CB8AC3E}">
        <p14:creationId xmlns:p14="http://schemas.microsoft.com/office/powerpoint/2010/main" val="516358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-0">
            <a:extLst>
              <a:ext uri="{FF2B5EF4-FFF2-40B4-BE49-F238E27FC236}">
                <a16:creationId xmlns:a16="http://schemas.microsoft.com/office/drawing/2014/main" id="{98DBBB4B-9BDE-4283-8E91-F6C22E143E6D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14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FF1600C-4A4B-49F2-9703-4E76644657E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A557955-2C2E-4921-98DC-C2C24D373B4A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창고·유통기한별 재고를 한 화면에서 확인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8498C38-2A7E-4F03-811B-820902A1DE47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상품별 합계에서 필요한 재고를 다시 찾는 부담을 줄이도록, 창고와 유통기한을 함께 조회하게 했습니다.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D1754F9C-AB0E-44D5-8AC0-5F6686C18CCD}"/>
              </a:ext>
            </a:extLst>
          </p:cNvPr>
          <p:cNvSpPr>
            <a:spLocks noGrp="1"/>
          </p:cNvSpPr>
          <p:nvPr/>
        </p:nvSpPr>
        <p:spPr>
          <a:xfrm>
            <a:off x="609600" y="1765300"/>
            <a:ext cx="109728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Excel 업로드와 창고별 현재고 조회</a:t>
            </a:r>
          </a:p>
        </p:txBody>
      </p:sp>
      <p:sp>
        <p:nvSpPr>
          <p:cNvPr id="21" name="text-19">
            <a:extLst>
              <a:ext uri="{FF2B5EF4-FFF2-40B4-BE49-F238E27FC236}">
                <a16:creationId xmlns:a16="http://schemas.microsoft.com/office/drawing/2014/main" id="{6216A66F-6CF7-4778-865B-E1D97371E577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샘플 실행 화면 · 합성 데이터 시연 / 화면의 수량·금액은 성과 측정값이 아님</a:t>
            </a:r>
          </a:p>
        </p:txBody>
      </p:sp>
      <p:pic>
        <p:nvPicPr>
          <p:cNvPr id="1001" name="SCM sample screenshot 14" descr="창고·유통기한별 재고 조회. 격리 앱에서 합성 데이터로 실행한 샘플 화면."/>
          <p:cNvPicPr>
            <a:picLocks noChangeAspect="1"/>
          </p:cNvPicPr>
          <p:nvPr/>
        </p:nvPicPr>
        <p:blipFill>
          <a:blip r:embed="rIdPortfolioScreenshot"/>
          <a:srcRect l="20811" t="22114" r="3826" b="49187"/>
          <a:stretch>
            <a:fillRect/>
          </a:stretch>
        </p:blipFill>
        <p:spPr>
          <a:xfrm>
            <a:off x="609600" y="2235200"/>
            <a:ext cx="10972800" cy="393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23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0">
            <a:extLst>
              <a:ext uri="{FF2B5EF4-FFF2-40B4-BE49-F238E27FC236}">
                <a16:creationId xmlns:a16="http://schemas.microsoft.com/office/drawing/2014/main" id="{067C1031-04F0-48A1-BD9C-D23F1C5D2641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15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A9AF98B-F7C4-472D-A405-B855EFBF483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8393110-2F90-452B-8264-7F2B872454F3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가중치 시나리오를 발주 검토에 활용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4C092DD-08AA-440B-971E-5D3EE2606A6F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담당자가 설정한 가정으로 재고를 검토하고, 실제 발주안은 사업 조건을 함께 확인한 뒤 정했습니다.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C74968D-C2A3-40F8-B3C9-3D2365243719}"/>
              </a:ext>
            </a:extLst>
          </p:cNvPr>
          <p:cNvSpPr>
            <a:spLocks noGrp="1"/>
          </p:cNvSpPr>
          <p:nvPr/>
        </p:nvSpPr>
        <p:spPr>
          <a:xfrm>
            <a:off x="609600" y="1739900"/>
            <a:ext cx="3467100" cy="317500"/>
          </a:xfrm>
          <a:prstGeom prst="roundRect">
            <a:avLst>
              <a:gd name="adj" fmla="val 11628"/>
            </a:avLst>
          </a:prstGeom>
          <a:solidFill>
            <a:srgbClr val="B44B00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가정 설정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276B8BD-5F6B-42CD-A6E6-40C1B46DCC26}"/>
              </a:ext>
            </a:extLst>
          </p:cNvPr>
          <p:cNvSpPr>
            <a:spLocks noGrp="1"/>
          </p:cNvSpPr>
          <p:nvPr/>
        </p:nvSpPr>
        <p:spPr>
          <a:xfrm>
            <a:off x="609600" y="2108200"/>
            <a:ext cx="3467100" cy="457200"/>
          </a:xfrm>
          <a:prstGeom prst="roundRect">
            <a:avLst>
              <a:gd name="adj" fmla="val 5000"/>
            </a:avLst>
          </a:prstGeom>
          <a:solidFill>
            <a:srgbClr val="FCF0E5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가중치와 발주 수량 설정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82289553-EB97-45D8-8F80-FA24FB5A8450}"/>
              </a:ext>
            </a:extLst>
          </p:cNvPr>
          <p:cNvSpPr>
            <a:spLocks noGrp="1"/>
          </p:cNvSpPr>
          <p:nvPr/>
        </p:nvSpPr>
        <p:spPr>
          <a:xfrm>
            <a:off x="4124325" y="21971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4BF60F8-28F2-435C-9113-F3FC16EF7DFA}"/>
              </a:ext>
            </a:extLst>
          </p:cNvPr>
          <p:cNvSpPr>
            <a:spLocks noGrp="1"/>
          </p:cNvSpPr>
          <p:nvPr/>
        </p:nvSpPr>
        <p:spPr>
          <a:xfrm>
            <a:off x="4362450" y="1739900"/>
            <a:ext cx="3467100" cy="317500"/>
          </a:xfrm>
          <a:prstGeom prst="roundRect">
            <a:avLst>
              <a:gd name="adj" fmla="val 11628"/>
            </a:avLst>
          </a:prstGeom>
          <a:solidFill>
            <a:srgbClr val="B44B00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시나리오 검토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48E28D2-B78C-4DE8-BAFE-9AC88A0EC84E}"/>
              </a:ext>
            </a:extLst>
          </p:cNvPr>
          <p:cNvSpPr>
            <a:spLocks noGrp="1"/>
          </p:cNvSpPr>
          <p:nvPr/>
        </p:nvSpPr>
        <p:spPr>
          <a:xfrm>
            <a:off x="4362450" y="2108200"/>
            <a:ext cx="3467100" cy="457200"/>
          </a:xfrm>
          <a:prstGeom prst="roundRect">
            <a:avLst>
              <a:gd name="adj" fmla="val 5000"/>
            </a:avLst>
          </a:prstGeom>
          <a:solidFill>
            <a:srgbClr val="FCF0E5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가정에 따른 재고 변화를 확인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3F8B5597-D4E1-4A64-ABCF-EFF30D0CEA60}"/>
              </a:ext>
            </a:extLst>
          </p:cNvPr>
          <p:cNvSpPr>
            <a:spLocks noGrp="1"/>
          </p:cNvSpPr>
          <p:nvPr/>
        </p:nvSpPr>
        <p:spPr>
          <a:xfrm>
            <a:off x="7877175" y="21971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2575A30-7CF2-4111-BCF7-B75788C65A6A}"/>
              </a:ext>
            </a:extLst>
          </p:cNvPr>
          <p:cNvSpPr>
            <a:spLocks noGrp="1"/>
          </p:cNvSpPr>
          <p:nvPr/>
        </p:nvSpPr>
        <p:spPr>
          <a:xfrm>
            <a:off x="8115300" y="1739900"/>
            <a:ext cx="3467100" cy="317500"/>
          </a:xfrm>
          <a:prstGeom prst="roundRect">
            <a:avLst>
              <a:gd name="adj" fmla="val 11628"/>
            </a:avLst>
          </a:prstGeom>
          <a:solidFill>
            <a:srgbClr val="B44B00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발주안·승인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2575888-42E8-4813-B80F-C3988103B6E0}"/>
              </a:ext>
            </a:extLst>
          </p:cNvPr>
          <p:cNvSpPr>
            <a:spLocks noGrp="1"/>
          </p:cNvSpPr>
          <p:nvPr/>
        </p:nvSpPr>
        <p:spPr>
          <a:xfrm>
            <a:off x="8115300" y="2108200"/>
            <a:ext cx="3467100" cy="457200"/>
          </a:xfrm>
          <a:prstGeom prst="roundRect">
            <a:avLst>
              <a:gd name="adj" fmla="val 5000"/>
            </a:avLst>
          </a:prstGeom>
          <a:solidFill>
            <a:srgbClr val="FCF0E5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세일즈 전망·납기·자금 조건 검토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39EA35E0-24C7-42D6-B554-7B3605FAB85F}"/>
              </a:ext>
            </a:extLst>
          </p:cNvPr>
          <p:cNvSpPr>
            <a:spLocks noGrp="1"/>
          </p:cNvSpPr>
          <p:nvPr/>
        </p:nvSpPr>
        <p:spPr>
          <a:xfrm>
            <a:off x="609600" y="2717800"/>
            <a:ext cx="109728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담당자가 직접 조정하는 검토 화면</a:t>
            </a:r>
          </a:p>
        </p:txBody>
      </p:sp>
      <p:sp>
        <p:nvSpPr>
          <p:cNvPr id="15" name="text-13">
            <a:extLst>
              <a:ext uri="{FF2B5EF4-FFF2-40B4-BE49-F238E27FC236}">
                <a16:creationId xmlns:a16="http://schemas.microsoft.com/office/drawing/2014/main" id="{625D8F26-B704-41C0-AB18-ABB36BD320DC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샘플 실행 화면 · 합성 데이터 시연 / 가중치는 담당자 가정이며 발주 수량과 승인 결과가 아님</a:t>
            </a:r>
          </a:p>
        </p:txBody>
      </p:sp>
      <p:pic>
        <p:nvPicPr>
          <p:cNvPr id="1001" name="SCM sample screenshot 15" descr="발주 검토 가중치와 수량 설정. 담당자 가정에 따른 시나리오 샘플 화면."/>
          <p:cNvPicPr>
            <a:picLocks noChangeAspect="1"/>
          </p:cNvPicPr>
          <p:nvPr/>
        </p:nvPicPr>
        <p:blipFill>
          <a:blip r:embed="rIdPortfolioScreenshot"/>
          <a:srcRect l="20811" t="11301" r="3826" b="63333"/>
          <a:stretch>
            <a:fillRect/>
          </a:stretch>
        </p:blipFill>
        <p:spPr>
          <a:xfrm>
            <a:off x="1204468" y="3124200"/>
            <a:ext cx="9783064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21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0">
            <a:extLst>
              <a:ext uri="{FF2B5EF4-FFF2-40B4-BE49-F238E27FC236}">
                <a16:creationId xmlns:a16="http://schemas.microsoft.com/office/drawing/2014/main" id="{22560CF5-7FD2-414D-97B1-B3E861E1E0DD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16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D519173-280C-4D15-B04A-2E4CD6BC1D5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641E92C0-95A9-4B17-9775-5984C771D45A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기존 시트와 병행하며 팀의 사용 방식에 맞췄습니다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6064117-0493-4E0F-92FD-FBCC3464D060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약 2개월 동안 업로드 결과를 기존 자료와 대조하고, 팀원들의 확인 순서와 사용 의견을 반영했습니다.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9C4F4521-2F1F-4817-9DAE-7B4999E7F1EB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시범 배포에서 월간 검토 기준 자료로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3DCEE7C-5E02-4D7F-8565-A68760A59D36}"/>
              </a:ext>
            </a:extLst>
          </p:cNvPr>
          <p:cNvSpPr>
            <a:spLocks noGrp="1"/>
          </p:cNvSpPr>
          <p:nvPr/>
        </p:nvSpPr>
        <p:spPr>
          <a:xfrm>
            <a:off x="609600" y="2200275"/>
            <a:ext cx="4762500" cy="95250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2026-04  시범 배포</a:t>
            </a: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기존 시트와 대시보드 결과를 병행 확인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708EEDE-73CD-408E-98EA-B5798A2E21D7}"/>
              </a:ext>
            </a:extLst>
          </p:cNvPr>
          <p:cNvSpPr>
            <a:spLocks noGrp="1"/>
          </p:cNvSpPr>
          <p:nvPr/>
        </p:nvSpPr>
        <p:spPr>
          <a:xfrm>
            <a:off x="5734050" y="253365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A4A53D2-CFA0-49E1-BB57-4C03DFE2C92C}"/>
              </a:ext>
            </a:extLst>
          </p:cNvPr>
          <p:cNvSpPr>
            <a:spLocks noGrp="1"/>
          </p:cNvSpPr>
          <p:nvPr/>
        </p:nvSpPr>
        <p:spPr>
          <a:xfrm>
            <a:off x="6248400" y="2200275"/>
            <a:ext cx="5334000" cy="952500"/>
          </a:xfrm>
          <a:prstGeom prst="roundRect">
            <a:avLst>
              <a:gd name="adj" fmla="val 5000"/>
            </a:avLst>
          </a:prstGeom>
          <a:solidFill>
            <a:srgbClr val="FCF0E5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2026-06  실무 기준 자료로 사용</a:t>
            </a: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월간 발주 검토에 필요한 자료를 대시보드로 확인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2390FAFE-E34B-4626-943A-266656EDEEC6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먼저 익숙한 자료와 결과를 비교할 수 있게 하고, 실제로 사용하는 동료들의 의견을 받아 개선했습니다.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B35024D2-B7D4-4806-BBD9-531816407759}"/>
              </a:ext>
            </a:extLst>
          </p:cNvPr>
          <p:cNvSpPr>
            <a:spLocks noGrp="1"/>
          </p:cNvSpPr>
          <p:nvPr/>
        </p:nvSpPr>
        <p:spPr>
          <a:xfrm>
            <a:off x="609600" y="404812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검증과 협업에서 확인한 기준</a:t>
            </a:r>
          </a:p>
        </p:txBody>
      </p:sp>
      <p:graphicFrame>
        <p:nvGraphicFramePr>
          <p:cNvPr id="24" name="표 23"/>
          <p:cNvGraphicFramePr/>
          <p:nvPr/>
        </p:nvGraphicFramePr>
        <p:xfrm>
          <a:off x="609600" y="4457700"/>
          <a:ext cx="10972800" cy="1209675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7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결과 대조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 의견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개선 반영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실무 적용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시트와 업로드 결과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팀원의 자료 확인 순서 파악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조회·확인 흐름을 의견에 맞춰 개선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월간 공급사 발주 검토에 활용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-10">
            <a:extLst>
              <a:ext uri="{FF2B5EF4-FFF2-40B4-BE49-F238E27FC236}">
                <a16:creationId xmlns:a16="http://schemas.microsoft.com/office/drawing/2014/main" id="{1FD618CF-C546-445C-915B-62DAC738A0E6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적용 기준  취합 결과의 일치와 동료의 자료 확인 흐름을 함께 확인하며 운영에 반영했습니다.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A6B26420-37EC-45ED-8AEE-E343DBEC9F68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원천: SCM 업무 기록·사용자 확인 / 병행 검증 약 2개월</a:t>
            </a:r>
          </a:p>
        </p:txBody>
      </p:sp>
    </p:spTree>
    <p:extLst>
      <p:ext uri="{BB962C8B-B14F-4D97-AF65-F5344CB8AC3E}">
        <p14:creationId xmlns:p14="http://schemas.microsoft.com/office/powerpoint/2010/main" val="1191378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2C8FF70E-0FE5-490F-998D-1DACBDB381D6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17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9DC0004-96B6-4A02-93FD-87EC386397B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7846630D-FCA8-473F-85DD-8F278BCC469E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취합 시간을 줄이고, 결과의 범위를 확인했습니다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CA154F35-8B20-4844-A47A-DC98F7F41FA9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업로드와 검토에 드는 시간, 취합 과정 오류, 실제 발주 검토 활용을 나누어 확인했습니다.</a:t>
            </a:r>
          </a:p>
        </p:txBody>
      </p:sp>
      <p:graphicFrame>
        <p:nvGraphicFramePr>
          <p:cNvPr id="13" name="표 12"/>
          <p:cNvGraphicFramePr/>
          <p:nvPr/>
        </p:nvGraphicFramePr>
        <p:xfrm>
          <a:off x="609600" y="1790700"/>
          <a:ext cx="10972800" cy="146685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 취합 시간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취합 과정 오류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월간 발주 검토 활용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5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6~12시간 → 1시간 이내</a:t>
                      </a:r>
                    </a:p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담당자 1명 · 업로드와 결과 검토 포함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도입 전 보통 2~3건 → 관찰 중 0건</a:t>
                      </a:r>
                    </a:p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도입 후 약 3개월 확인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2026-04~08 총 5회</a:t>
                      </a:r>
                    </a:p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2026-06부터 기준 자료로 사용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4709A53F-8DE6-4FEA-B403-D408E1C7C07A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실무 적용과 결과를 읽는 기준</a:t>
            </a:r>
          </a:p>
        </p:txBody>
      </p:sp>
      <p:graphicFrame>
        <p:nvGraphicFramePr>
          <p:cNvPr id="15" name="표 14"/>
          <p:cNvGraphicFramePr/>
          <p:nvPr/>
        </p:nvGraphicFramePr>
        <p:xfrm>
          <a:off x="609600" y="4124325"/>
          <a:ext cx="10972800" cy="1952625"/>
        </p:xfrm>
        <a:graphic>
          <a:graphicData uri="http://schemas.openxmlformats.org/drawingml/2006/table">
            <a:tbl>
              <a:tblPr/>
              <a:tblGrid>
                <a:gridCol w="360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확인한 내용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해석 범위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취합 효율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자료를 다시 합치는 작업 감소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시간은 자료 업로드·결과 검토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취합 검증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대시보드 취합 과정 오류 0건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원천 자료의 양식·내용 오류와 구분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발주 의사결정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담당자 검토와 팀장 협의·승인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가중치 시나리오는 담당자가 설정한 가정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-5">
            <a:extLst>
              <a:ext uri="{FF2B5EF4-FFF2-40B4-BE49-F238E27FC236}">
                <a16:creationId xmlns:a16="http://schemas.microsoft.com/office/drawing/2014/main" id="{25882435-6FDC-42B6-A3D5-FF50DC5AC235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원천: SCM 자료 취합·발주 검토 기록과 사용자 확인 / 초기 관찰값으로 장기 효과와 구분</a:t>
            </a:r>
          </a:p>
        </p:txBody>
      </p:sp>
    </p:spTree>
    <p:extLst>
      <p:ext uri="{BB962C8B-B14F-4D97-AF65-F5344CB8AC3E}">
        <p14:creationId xmlns:p14="http://schemas.microsoft.com/office/powerpoint/2010/main" val="1847836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54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-0">
            <a:extLst>
              <a:ext uri="{FF2B5EF4-FFF2-40B4-BE49-F238E27FC236}">
                <a16:creationId xmlns:a16="http://schemas.microsoft.com/office/drawing/2014/main" id="{16975EF0-ECB0-448B-8BFC-CBBA6EB9F77E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18 / 24</a:t>
            </a:r>
            <a:endParaRPr sz="788" b="0">
              <a:solidFill>
                <a:srgbClr val="A4C7EE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9F0550E5-4474-4697-B0FE-3F7E54F184F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03.  </a:t>
            </a:r>
            <a:r>
              <a:rPr lang="ko-KR" altLang="en-US"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규제 대응</a:t>
            </a:r>
            <a:endParaRPr sz="142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D36EF6-407F-4CB3-B10D-93CEF2EC3B6B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885825" cy="87630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KCS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0B419F7-1118-4A3F-A875-0010AC742E26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57245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관세법 개정 대응, ERP·통관 연동 기획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65385AC3-641A-4F59-8E83-D3E29A686E3F}"/>
              </a:ext>
            </a:extLst>
          </p:cNvPr>
          <p:cNvSpPr>
            <a:spLocks noGrp="1"/>
          </p:cNvSpPr>
          <p:nvPr/>
        </p:nvSpPr>
        <p:spPr>
          <a:xfrm>
            <a:off x="1752600" y="2143125"/>
            <a:ext cx="56864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개인통관고유부호 관련 요건 강화에 대응해,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채널 주문부터 ERP·WMS·통관까지 처리 흐름을 조율했습니다.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581C82CB-7BD8-4B1C-9591-9BAA3ECF6268}"/>
              </a:ext>
            </a:extLst>
          </p:cNvPr>
          <p:cNvSpPr>
            <a:spLocks noGrp="1"/>
          </p:cNvSpPr>
          <p:nvPr/>
        </p:nvSpPr>
        <p:spPr>
          <a:xfrm>
            <a:off x="1752600" y="3028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663279C-58C5-4B53-89E4-63A1DF3D3F89}"/>
              </a:ext>
            </a:extLst>
          </p:cNvPr>
          <p:cNvSpPr>
            <a:spLocks noGrp="1"/>
          </p:cNvSpPr>
          <p:nvPr/>
        </p:nvSpPr>
        <p:spPr>
          <a:xfrm>
            <a:off x="1752600" y="331470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시스템마다 다른 주문 단위와 완료 기준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B9E1FC3A-4AF6-450D-817F-7B60802FFB6A}"/>
              </a:ext>
            </a:extLst>
          </p:cNvPr>
          <p:cNvSpPr>
            <a:spLocks noGrp="1"/>
          </p:cNvSpPr>
          <p:nvPr/>
        </p:nvSpPr>
        <p:spPr>
          <a:xfrm>
            <a:off x="1752600" y="37814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D12A93D6-DB91-44DE-9DB0-B64098124D72}"/>
              </a:ext>
            </a:extLst>
          </p:cNvPr>
          <p:cNvSpPr>
            <a:spLocks noGrp="1"/>
          </p:cNvSpPr>
          <p:nvPr/>
        </p:nvSpPr>
        <p:spPr>
          <a:xfrm>
            <a:off x="1752600" y="4067175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해외직구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고객과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주문·출고·통관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운영팀</a:t>
            </a:r>
            <a:endParaRPr sz="1163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43109DFF-44EA-480B-8801-EEC150991228}"/>
              </a:ext>
            </a:extLst>
          </p:cNvPr>
          <p:cNvSpPr>
            <a:spLocks noGrp="1"/>
          </p:cNvSpPr>
          <p:nvPr/>
        </p:nvSpPr>
        <p:spPr>
          <a:xfrm>
            <a:off x="1752600" y="45339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CCD2F13D-7A41-4FDD-90AF-9A949988ED01}"/>
              </a:ext>
            </a:extLst>
          </p:cNvPr>
          <p:cNvSpPr>
            <a:spLocks noGrp="1"/>
          </p:cNvSpPr>
          <p:nvPr/>
        </p:nvSpPr>
        <p:spPr>
          <a:xfrm>
            <a:off x="1752600" y="481965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누락을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발견하고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오류를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수정·재제출할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있는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흐름</a:t>
            </a:r>
            <a:endParaRPr sz="1163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C393079-D134-4A43-925A-F873D358D60F}"/>
              </a:ext>
            </a:extLst>
          </p:cNvPr>
          <p:cNvSpPr>
            <a:spLocks noGrp="1"/>
          </p:cNvSpPr>
          <p:nvPr/>
        </p:nvSpPr>
        <p:spPr>
          <a:xfrm>
            <a:off x="7734300" y="1600200"/>
            <a:ext cx="3848100" cy="3038475"/>
          </a:xfrm>
          <a:prstGeom prst="roundRect">
            <a:avLst>
              <a:gd name="adj" fmla="val 3448"/>
            </a:avLst>
          </a:prstGeom>
          <a:solidFill>
            <a:srgbClr val="19457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B78949DD-54DA-4FDF-8824-44C2B5DC86C7}"/>
              </a:ext>
            </a:extLst>
          </p:cNvPr>
          <p:cNvSpPr>
            <a:spLocks noGrp="1"/>
          </p:cNvSpPr>
          <p:nvPr/>
        </p:nvSpPr>
        <p:spPr>
          <a:xfrm>
            <a:off x="8020050" y="1838325"/>
            <a:ext cx="3267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데이터를 나눠 가진 주체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2D63758-1B0A-4216-BC51-0F69CBDC9F98}"/>
              </a:ext>
            </a:extLst>
          </p:cNvPr>
          <p:cNvSpPr>
            <a:spLocks noGrp="1"/>
          </p:cNvSpPr>
          <p:nvPr/>
        </p:nvSpPr>
        <p:spPr>
          <a:xfrm>
            <a:off x="8039100" y="2190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66FDAB06-6399-496E-90A1-F272DCF2BD04}"/>
              </a:ext>
            </a:extLst>
          </p:cNvPr>
          <p:cNvSpPr>
            <a:spLocks noGrp="1"/>
          </p:cNvSpPr>
          <p:nvPr/>
        </p:nvSpPr>
        <p:spPr>
          <a:xfrm>
            <a:off x="8229600" y="2247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0EA7F828-2CF8-49CE-8F79-52E53A8FB169}"/>
              </a:ext>
            </a:extLst>
          </p:cNvPr>
          <p:cNvSpPr>
            <a:spLocks noGrp="1"/>
          </p:cNvSpPr>
          <p:nvPr/>
        </p:nvSpPr>
        <p:spPr>
          <a:xfrm>
            <a:off x="8229600" y="2466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주문·결제·고객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601887B-F817-4C8D-B24A-E934D5098475}"/>
              </a:ext>
            </a:extLst>
          </p:cNvPr>
          <p:cNvSpPr>
            <a:spLocks noGrp="1"/>
          </p:cNvSpPr>
          <p:nvPr/>
        </p:nvSpPr>
        <p:spPr>
          <a:xfrm>
            <a:off x="8039100" y="2762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E3F286E9-A73C-422D-AD6B-A6A54E84720C}"/>
              </a:ext>
            </a:extLst>
          </p:cNvPr>
          <p:cNvSpPr>
            <a:spLocks noGrp="1"/>
          </p:cNvSpPr>
          <p:nvPr/>
        </p:nvSpPr>
        <p:spPr>
          <a:xfrm>
            <a:off x="8229600" y="2819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B8E29023-2B60-4CBD-BEC1-D52FD30F2825}"/>
              </a:ext>
            </a:extLst>
          </p:cNvPr>
          <p:cNvSpPr>
            <a:spLocks noGrp="1"/>
          </p:cNvSpPr>
          <p:nvPr/>
        </p:nvSpPr>
        <p:spPr>
          <a:xfrm>
            <a:off x="8229600" y="3038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D6B9338-871B-4294-8F0B-122381307636}"/>
              </a:ext>
            </a:extLst>
          </p:cNvPr>
          <p:cNvSpPr>
            <a:spLocks noGrp="1"/>
          </p:cNvSpPr>
          <p:nvPr/>
        </p:nvSpPr>
        <p:spPr>
          <a:xfrm>
            <a:off x="8039100" y="3333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17087C01-487C-4C6B-8F6B-83491AB4F869}"/>
              </a:ext>
            </a:extLst>
          </p:cNvPr>
          <p:cNvSpPr>
            <a:spLocks noGrp="1"/>
          </p:cNvSpPr>
          <p:nvPr/>
        </p:nvSpPr>
        <p:spPr>
          <a:xfrm>
            <a:off x="8229600" y="3390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90CDDA7F-5076-4A7B-96CF-CC04AD563506}"/>
              </a:ext>
            </a:extLst>
          </p:cNvPr>
          <p:cNvSpPr>
            <a:spLocks noGrp="1"/>
          </p:cNvSpPr>
          <p:nvPr/>
        </p:nvSpPr>
        <p:spPr>
          <a:xfrm>
            <a:off x="8229600" y="3609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1C20444-18ED-4378-8B73-8B18EAAAF963}"/>
              </a:ext>
            </a:extLst>
          </p:cNvPr>
          <p:cNvSpPr>
            <a:spLocks noGrp="1"/>
          </p:cNvSpPr>
          <p:nvPr/>
        </p:nvSpPr>
        <p:spPr>
          <a:xfrm>
            <a:off x="8039100" y="3905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D0113A1C-C903-4FD8-B914-B71E2D4893DA}"/>
              </a:ext>
            </a:extLst>
          </p:cNvPr>
          <p:cNvSpPr>
            <a:spLocks noGrp="1"/>
          </p:cNvSpPr>
          <p:nvPr/>
        </p:nvSpPr>
        <p:spPr>
          <a:xfrm>
            <a:off x="8229600" y="3962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7B154763-EC26-4E09-B069-68204CD9E0C6}"/>
              </a:ext>
            </a:extLst>
          </p:cNvPr>
          <p:cNvSpPr>
            <a:spLocks noGrp="1"/>
          </p:cNvSpPr>
          <p:nvPr/>
        </p:nvSpPr>
        <p:spPr>
          <a:xfrm>
            <a:off x="8229600" y="4181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 병합·수입신고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2970B2E2-4263-47B8-BA59-8852490A62A0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0"/>
          </a:xfrm>
          <a:prstGeom prst="line">
            <a:avLst/>
          </a:prstGeom>
          <a:ln w="7620">
            <a:solidFill>
              <a:srgbClr val="A4C7E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D3F9BECA-B77E-4B98-B7B8-B23A88978A28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3155DB6D-E19D-4DA8-BDD6-AA9FBB2783DC}"/>
              </a:ext>
            </a:extLst>
          </p:cNvPr>
          <p:cNvSpPr>
            <a:spLocks noGrp="1"/>
          </p:cNvSpPr>
          <p:nvPr/>
        </p:nvSpPr>
        <p:spPr>
          <a:xfrm>
            <a:off x="1419225" y="539115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2026-02 ~ 2026-08-28 / 신규 연동과 기존 통관 방식 병행</a:t>
            </a:r>
          </a:p>
        </p:txBody>
      </p:sp>
      <p:sp>
        <p:nvSpPr>
          <p:cNvPr id="29" name="text-28">
            <a:extLst>
              <a:ext uri="{FF2B5EF4-FFF2-40B4-BE49-F238E27FC236}">
                <a16:creationId xmlns:a16="http://schemas.microsoft.com/office/drawing/2014/main" id="{83725686-BE9C-436C-8491-ADA1C4E5C998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BE152604-B9F8-48CD-984B-14AEF3DA1658}"/>
              </a:ext>
            </a:extLst>
          </p:cNvPr>
          <p:cNvSpPr>
            <a:spLocks noGrp="1"/>
          </p:cNvSpPr>
          <p:nvPr/>
        </p:nvSpPr>
        <p:spPr>
          <a:xfrm>
            <a:off x="1419225" y="5667375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프로젝트 PM: 정책·데이터 계약 정의, API 요건 조율, 오류 복구와 운영 검증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69855CDB-E59F-49E0-8F01-C903B8C5D70F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1921F731-BBF8-40A1-9134-4D827722D9E4}"/>
              </a:ext>
            </a:extLst>
          </p:cNvPr>
          <p:cNvSpPr>
            <a:spLocks noGrp="1"/>
          </p:cNvSpPr>
          <p:nvPr/>
        </p:nvSpPr>
        <p:spPr>
          <a:xfrm>
            <a:off x="1419225" y="594360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 개발사, ERP 개발사, 물류 개발사, 통관대행사, 본인확인기관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67C173-A01F-A8B3-4107-DC4D6E782930}"/>
              </a:ext>
            </a:extLst>
          </p:cNvPr>
          <p:cNvSpPr txBox="1"/>
          <p:nvPr/>
        </p:nvSpPr>
        <p:spPr>
          <a:xfrm>
            <a:off x="609600" y="6534150"/>
            <a:ext cx="10972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기획</a:t>
            </a:r>
            <a:r>
              <a:rPr lang="en-US" altLang="ko-KR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</a:t>
            </a:r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조율</a:t>
            </a:r>
            <a:r>
              <a:rPr lang="en-US" altLang="ko-KR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</a:t>
            </a:r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검증</a:t>
            </a:r>
            <a:r>
              <a:rPr lang="en-US" altLang="ko-KR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: </a:t>
            </a:r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본인 </a:t>
            </a:r>
            <a:r>
              <a:rPr lang="en-US" altLang="ko-KR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/ </a:t>
            </a:r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각 시스템 구현</a:t>
            </a:r>
            <a:r>
              <a:rPr lang="en-US" altLang="ko-KR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: </a:t>
            </a:r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해당 개발사</a:t>
            </a:r>
          </a:p>
        </p:txBody>
      </p:sp>
    </p:spTree>
    <p:extLst>
      <p:ext uri="{BB962C8B-B14F-4D97-AF65-F5344CB8AC3E}">
        <p14:creationId xmlns:p14="http://schemas.microsoft.com/office/powerpoint/2010/main" val="4079919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-0">
            <a:extLst>
              <a:ext uri="{FF2B5EF4-FFF2-40B4-BE49-F238E27FC236}">
                <a16:creationId xmlns:a16="http://schemas.microsoft.com/office/drawing/2014/main" id="{0DCFF78D-38D6-4B57-A43A-3F1AF6211834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19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E3E4054-5CAD-489A-AC8A-FD3BCEBD4A2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  <a:endParaRPr sz="1950" b="1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7E6FDC0-017D-4440-A6D7-D09A1D5D0BE6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문제 정의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3F369C85-86FF-475F-9112-594A9EFB77F3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한 건이 통관·출고로 이어지는 과정에서 데이터와 책임이 갈라져 있었습니다.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3147AC70-66CB-4781-815B-806394FDD279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286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데이터는 각 시스템에, 판단은 담당자에게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4CDD4CB-3816-4379-BE6D-355038D7E344}"/>
              </a:ext>
            </a:extLst>
          </p:cNvPr>
          <p:cNvSpPr>
            <a:spLocks noGrp="1"/>
          </p:cNvSpPr>
          <p:nvPr/>
        </p:nvSpPr>
        <p:spPr>
          <a:xfrm>
            <a:off x="609600" y="20669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4FA91079-E654-46E3-A77B-6CD9941F177A}"/>
              </a:ext>
            </a:extLst>
          </p:cNvPr>
          <p:cNvSpPr>
            <a:spLocks noGrp="1"/>
          </p:cNvSpPr>
          <p:nvPr/>
        </p:nvSpPr>
        <p:spPr>
          <a:xfrm>
            <a:off x="800100" y="22002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54558DB5-2657-4B97-8319-0BF574CFDEE2}"/>
              </a:ext>
            </a:extLst>
          </p:cNvPr>
          <p:cNvSpPr>
            <a:spLocks noGrp="1"/>
          </p:cNvSpPr>
          <p:nvPr/>
        </p:nvSpPr>
        <p:spPr>
          <a:xfrm>
            <a:off x="2457450" y="22002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주문·결제·고객 정보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ED5D73E-1FF7-4725-A738-CB83A46DFA79}"/>
              </a:ext>
            </a:extLst>
          </p:cNvPr>
          <p:cNvSpPr>
            <a:spLocks noGrp="1"/>
          </p:cNvSpPr>
          <p:nvPr/>
        </p:nvSpPr>
        <p:spPr>
          <a:xfrm>
            <a:off x="609600" y="26765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E83F97E0-C36A-46E7-B663-006F2BB71307}"/>
              </a:ext>
            </a:extLst>
          </p:cNvPr>
          <p:cNvSpPr>
            <a:spLocks noGrp="1"/>
          </p:cNvSpPr>
          <p:nvPr/>
        </p:nvSpPr>
        <p:spPr>
          <a:xfrm>
            <a:off x="800100" y="28098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8048D134-8A14-4331-AE9C-C4DF676F3AB2}"/>
              </a:ext>
            </a:extLst>
          </p:cNvPr>
          <p:cNvSpPr>
            <a:spLocks noGrp="1"/>
          </p:cNvSpPr>
          <p:nvPr/>
        </p:nvSpPr>
        <p:spPr>
          <a:xfrm>
            <a:off x="2457450" y="28098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6DE5EB7-D04C-49CD-B6B8-A7FFF6BBC42C}"/>
              </a:ext>
            </a:extLst>
          </p:cNvPr>
          <p:cNvSpPr>
            <a:spLocks noGrp="1"/>
          </p:cNvSpPr>
          <p:nvPr/>
        </p:nvSpPr>
        <p:spPr>
          <a:xfrm>
            <a:off x="609600" y="32861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2B0BFCF6-915D-4DD8-B01B-61F5344B30F2}"/>
              </a:ext>
            </a:extLst>
          </p:cNvPr>
          <p:cNvSpPr>
            <a:spLocks noGrp="1"/>
          </p:cNvSpPr>
          <p:nvPr/>
        </p:nvSpPr>
        <p:spPr>
          <a:xfrm>
            <a:off x="800100" y="34194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C93A21FE-CA60-45E5-8DDE-87C9DF30344E}"/>
              </a:ext>
            </a:extLst>
          </p:cNvPr>
          <p:cNvSpPr>
            <a:spLocks noGrp="1"/>
          </p:cNvSpPr>
          <p:nvPr/>
        </p:nvSpPr>
        <p:spPr>
          <a:xfrm>
            <a:off x="2457450" y="34194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F3AAF30-E65C-425C-AFAA-A31A604869F3}"/>
              </a:ext>
            </a:extLst>
          </p:cNvPr>
          <p:cNvSpPr>
            <a:spLocks noGrp="1"/>
          </p:cNvSpPr>
          <p:nvPr/>
        </p:nvSpPr>
        <p:spPr>
          <a:xfrm>
            <a:off x="609600" y="38957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78296CA6-2DC7-4BC5-AB5B-5463CB283E3B}"/>
              </a:ext>
            </a:extLst>
          </p:cNvPr>
          <p:cNvSpPr>
            <a:spLocks noGrp="1"/>
          </p:cNvSpPr>
          <p:nvPr/>
        </p:nvSpPr>
        <p:spPr>
          <a:xfrm>
            <a:off x="800100" y="40290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CA9F8460-310B-41F1-9730-D83583E7F11C}"/>
              </a:ext>
            </a:extLst>
          </p:cNvPr>
          <p:cNvSpPr>
            <a:spLocks noGrp="1"/>
          </p:cNvSpPr>
          <p:nvPr/>
        </p:nvSpPr>
        <p:spPr>
          <a:xfrm>
            <a:off x="2457450" y="40290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병합·수입신고·통관 상태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B83062DC-A8EF-4F15-806C-0DC05C81E358}"/>
              </a:ext>
            </a:extLst>
          </p:cNvPr>
          <p:cNvSpPr>
            <a:spLocks noGrp="1"/>
          </p:cNvSpPr>
          <p:nvPr/>
        </p:nvSpPr>
        <p:spPr>
          <a:xfrm>
            <a:off x="6248400" y="16764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수기 전송만으로 남는 운영 공백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2B977250-6B64-47BE-BA73-E991EC115888}"/>
              </a:ext>
            </a:extLst>
          </p:cNvPr>
          <p:cNvSpPr>
            <a:spLocks noGrp="1"/>
          </p:cNvSpPr>
          <p:nvPr/>
        </p:nvSpPr>
        <p:spPr>
          <a:xfrm>
            <a:off x="6248400" y="2152650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D0FA9D4F-8B4C-4A31-A555-460AAAE0E612}"/>
              </a:ext>
            </a:extLst>
          </p:cNvPr>
          <p:cNvSpPr>
            <a:spLocks noGrp="1"/>
          </p:cNvSpPr>
          <p:nvPr/>
        </p:nvSpPr>
        <p:spPr>
          <a:xfrm>
            <a:off x="6629400" y="2152650"/>
            <a:ext cx="47434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주문번호와 포장번호가 달라 같은 주문을 대조하기 어려움</a:t>
            </a:r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A943ACDA-A447-48FB-A1C7-60282B412D16}"/>
              </a:ext>
            </a:extLst>
          </p:cNvPr>
          <p:cNvSpPr>
            <a:spLocks noGrp="1"/>
          </p:cNvSpPr>
          <p:nvPr/>
        </p:nvSpPr>
        <p:spPr>
          <a:xfrm>
            <a:off x="6248400" y="292417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F1B93F1B-8FF1-4316-8881-5F47CC87F348}"/>
              </a:ext>
            </a:extLst>
          </p:cNvPr>
          <p:cNvSpPr>
            <a:spLocks noGrp="1"/>
          </p:cNvSpPr>
          <p:nvPr/>
        </p:nvSpPr>
        <p:spPr>
          <a:xfrm>
            <a:off x="6629400" y="2924175"/>
            <a:ext cx="47434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응답과 통관 완료를 같은 상태로 오인할 수 있음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3141C3C7-1A4E-4E90-B2B1-2773AE942D62}"/>
              </a:ext>
            </a:extLst>
          </p:cNvPr>
          <p:cNvSpPr>
            <a:spLocks noGrp="1"/>
          </p:cNvSpPr>
          <p:nvPr/>
        </p:nvSpPr>
        <p:spPr>
          <a:xfrm>
            <a:off x="6248400" y="3695700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D7026395-F677-4A0D-8E6E-61917947A297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7434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오류가 났을 때 수정할 원천과 재처리 담당이 불명확함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6D45921-BE1C-4169-AB14-B65E933EE3F7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10972800" cy="1076325"/>
          </a:xfrm>
          <a:prstGeom prst="roundRect">
            <a:avLst>
              <a:gd name="adj" fmla="val 5310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99432F87-61BA-4F1B-B8C8-317C4837B2D8}"/>
              </a:ext>
            </a:extLst>
          </p:cNvPr>
          <p:cNvSpPr>
            <a:spLocks noGrp="1"/>
          </p:cNvSpPr>
          <p:nvPr/>
        </p:nvSpPr>
        <p:spPr>
          <a:xfrm>
            <a:off x="800100" y="5153025"/>
            <a:ext cx="1276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57689664-402D-4CBF-8AAE-0EEBE7C64D33}"/>
              </a:ext>
            </a:extLst>
          </p:cNvPr>
          <p:cNvSpPr>
            <a:spLocks noGrp="1"/>
          </p:cNvSpPr>
          <p:nvPr/>
        </p:nvSpPr>
        <p:spPr>
          <a:xfrm>
            <a:off x="2171700" y="5162550"/>
            <a:ext cx="91440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누가 어떤 데이터를 책임지고,</a:t>
            </a:r>
          </a:p>
          <a:p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어느 상태를 근거로 다음 작업을 진행할 것인가</a:t>
            </a:r>
          </a:p>
        </p:txBody>
      </p:sp>
    </p:spTree>
    <p:extLst>
      <p:ext uri="{BB962C8B-B14F-4D97-AF65-F5344CB8AC3E}">
        <p14:creationId xmlns:p14="http://schemas.microsoft.com/office/powerpoint/2010/main" val="4170495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-0">
            <a:extLst>
              <a:ext uri="{FF2B5EF4-FFF2-40B4-BE49-F238E27FC236}">
                <a16:creationId xmlns:a16="http://schemas.microsoft.com/office/drawing/2014/main" id="{BC69C2D6-C833-48F7-9D62-2030055813F8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20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3553D003-EFCC-4B19-9D12-C952278D26F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  <a:endParaRPr sz="1950" b="1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A0B45EF3-D51D-4086-B9EC-88452D28CF0F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주문번호와 포장번호를 분리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C8993C3-152C-4392-967C-4CBC83AC2C2C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추적 기준을 유지하면서 분할 출고와 합배송을 설명할 수 있도록 관계를 정의했습니다.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2863173-CE24-43CF-92ED-631673553D92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52292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분할 출고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13AC7F24-444B-48CC-9014-F40761B00029}"/>
              </a:ext>
            </a:extLst>
          </p:cNvPr>
          <p:cNvSpPr>
            <a:spLocks noGrp="1"/>
          </p:cNvSpPr>
          <p:nvPr/>
        </p:nvSpPr>
        <p:spPr>
          <a:xfrm>
            <a:off x="6286500" y="1704975"/>
            <a:ext cx="5219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합배송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9947F0B-5FB0-48E9-A1E8-6AE742A7B279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257800" cy="2686050"/>
          </a:xfrm>
          <a:prstGeom prst="roundRect">
            <a:avLst>
              <a:gd name="adj" fmla="val 2482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814B14C-02F9-4B18-BFAE-A9283355D2D4}"/>
              </a:ext>
            </a:extLst>
          </p:cNvPr>
          <p:cNvSpPr>
            <a:spLocks noGrp="1"/>
          </p:cNvSpPr>
          <p:nvPr/>
        </p:nvSpPr>
        <p:spPr>
          <a:xfrm>
            <a:off x="6286500" y="2105025"/>
            <a:ext cx="5295900" cy="2686050"/>
          </a:xfrm>
          <a:prstGeom prst="roundRect">
            <a:avLst>
              <a:gd name="adj" fmla="val 2482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2FA5AF9-264D-4BD4-9D24-375DB5954C62}"/>
              </a:ext>
            </a:extLst>
          </p:cNvPr>
          <p:cNvSpPr>
            <a:spLocks noGrp="1"/>
          </p:cNvSpPr>
          <p:nvPr/>
        </p:nvSpPr>
        <p:spPr>
          <a:xfrm>
            <a:off x="847725" y="2914650"/>
            <a:ext cx="1628775" cy="51435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원주문 A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3ED24A7-BD51-4E36-BEC8-CD12BD854C7F}"/>
              </a:ext>
            </a:extLst>
          </p:cNvPr>
          <p:cNvSpPr>
            <a:spLocks noGrp="1"/>
          </p:cNvSpPr>
          <p:nvPr/>
        </p:nvSpPr>
        <p:spPr>
          <a:xfrm>
            <a:off x="3286125" y="2352675"/>
            <a:ext cx="2219325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A-1</a:t>
            </a:r>
          </a:p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1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DC8D1D3-96B4-40D3-AF7A-2D44117C0F44}"/>
              </a:ext>
            </a:extLst>
          </p:cNvPr>
          <p:cNvSpPr>
            <a:spLocks noGrp="1"/>
          </p:cNvSpPr>
          <p:nvPr/>
        </p:nvSpPr>
        <p:spPr>
          <a:xfrm>
            <a:off x="3286125" y="3324225"/>
            <a:ext cx="2219325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A-2</a:t>
            </a:r>
          </a:p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2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7C4B7E14-0CD6-43A4-B1AA-9FAB4B597B94}"/>
              </a:ext>
            </a:extLst>
          </p:cNvPr>
          <p:cNvSpPr>
            <a:spLocks noGrp="1"/>
          </p:cNvSpPr>
          <p:nvPr/>
        </p:nvSpPr>
        <p:spPr>
          <a:xfrm>
            <a:off x="2476500" y="3171825"/>
            <a:ext cx="38100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9E4AAC0F-9D1E-4F45-8168-535B11472B3C}"/>
              </a:ext>
            </a:extLst>
          </p:cNvPr>
          <p:cNvSpPr>
            <a:spLocks noGrp="1"/>
          </p:cNvSpPr>
          <p:nvPr/>
        </p:nvSpPr>
        <p:spPr>
          <a:xfrm>
            <a:off x="2857500" y="2743200"/>
            <a:ext cx="0" cy="971550"/>
          </a:xfrm>
          <a:prstGeom prst="line">
            <a:avLst/>
          </a:prstGeom>
          <a:ln w="1143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3337A2A6-FF72-4681-A71B-AF2F96E47570}"/>
              </a:ext>
            </a:extLst>
          </p:cNvPr>
          <p:cNvSpPr>
            <a:spLocks noGrp="1"/>
          </p:cNvSpPr>
          <p:nvPr/>
        </p:nvSpPr>
        <p:spPr>
          <a:xfrm>
            <a:off x="2857500" y="2743200"/>
            <a:ext cx="28575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59DE8CE6-4046-418F-AE37-771FA565B7A0}"/>
              </a:ext>
            </a:extLst>
          </p:cNvPr>
          <p:cNvSpPr>
            <a:spLocks noGrp="1"/>
          </p:cNvSpPr>
          <p:nvPr/>
        </p:nvSpPr>
        <p:spPr>
          <a:xfrm>
            <a:off x="2857500" y="3714750"/>
            <a:ext cx="28575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23BA80A5-F293-421A-91DB-DC8781F61384}"/>
              </a:ext>
            </a:extLst>
          </p:cNvPr>
          <p:cNvSpPr>
            <a:spLocks noGrp="1"/>
          </p:cNvSpPr>
          <p:nvPr/>
        </p:nvSpPr>
        <p:spPr>
          <a:xfrm>
            <a:off x="3105150" y="260985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C18565DF-E6DD-4EF8-B200-1D3B139E4930}"/>
              </a:ext>
            </a:extLst>
          </p:cNvPr>
          <p:cNvSpPr>
            <a:spLocks noGrp="1"/>
          </p:cNvSpPr>
          <p:nvPr/>
        </p:nvSpPr>
        <p:spPr>
          <a:xfrm>
            <a:off x="3105150" y="358140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EC3FAD7A-19E7-4998-8986-2DBCDB1E31AF}"/>
              </a:ext>
            </a:extLst>
          </p:cNvPr>
          <p:cNvSpPr>
            <a:spLocks noGrp="1"/>
          </p:cNvSpPr>
          <p:nvPr/>
        </p:nvSpPr>
        <p:spPr>
          <a:xfrm>
            <a:off x="866775" y="4286250"/>
            <a:ext cx="46386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외부에 보내는 원주문번호는 A로 유지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6100DFF-ACD3-4B42-9190-B54666B48C51}"/>
              </a:ext>
            </a:extLst>
          </p:cNvPr>
          <p:cNvSpPr>
            <a:spLocks noGrp="1"/>
          </p:cNvSpPr>
          <p:nvPr/>
        </p:nvSpPr>
        <p:spPr>
          <a:xfrm>
            <a:off x="6562725" y="2438400"/>
            <a:ext cx="1962150" cy="581025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B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60C5192-C6BC-4200-BCB9-F8A4071FF8FE}"/>
              </a:ext>
            </a:extLst>
          </p:cNvPr>
          <p:cNvSpPr>
            <a:spLocks noGrp="1"/>
          </p:cNvSpPr>
          <p:nvPr/>
        </p:nvSpPr>
        <p:spPr>
          <a:xfrm>
            <a:off x="6562725" y="3333750"/>
            <a:ext cx="1962150" cy="581025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C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8DA5347A-3B6F-4C98-B9E7-FB345CE9BCD6}"/>
              </a:ext>
            </a:extLst>
          </p:cNvPr>
          <p:cNvSpPr>
            <a:spLocks noGrp="1"/>
          </p:cNvSpPr>
          <p:nvPr/>
        </p:nvSpPr>
        <p:spPr>
          <a:xfrm>
            <a:off x="8524875" y="2733675"/>
            <a:ext cx="314325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4E29C878-73DE-4A3D-B513-3A3F4FE6DE38}"/>
              </a:ext>
            </a:extLst>
          </p:cNvPr>
          <p:cNvSpPr>
            <a:spLocks noGrp="1"/>
          </p:cNvSpPr>
          <p:nvPr/>
        </p:nvSpPr>
        <p:spPr>
          <a:xfrm>
            <a:off x="8524875" y="3629025"/>
            <a:ext cx="314325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4419D325-5C57-4559-B265-8406A439DFA3}"/>
              </a:ext>
            </a:extLst>
          </p:cNvPr>
          <p:cNvSpPr>
            <a:spLocks noGrp="1"/>
          </p:cNvSpPr>
          <p:nvPr/>
        </p:nvSpPr>
        <p:spPr>
          <a:xfrm>
            <a:off x="8839200" y="2733675"/>
            <a:ext cx="0" cy="895350"/>
          </a:xfrm>
          <a:prstGeom prst="line">
            <a:avLst/>
          </a:prstGeom>
          <a:ln w="1143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1A1F99DA-54E8-4B6E-A38F-714DC539028B}"/>
              </a:ext>
            </a:extLst>
          </p:cNvPr>
          <p:cNvSpPr>
            <a:spLocks noGrp="1"/>
          </p:cNvSpPr>
          <p:nvPr/>
        </p:nvSpPr>
        <p:spPr>
          <a:xfrm>
            <a:off x="8839200" y="3238500"/>
            <a:ext cx="22860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24980566-C420-4E99-903F-B49F23E33EBD}"/>
              </a:ext>
            </a:extLst>
          </p:cNvPr>
          <p:cNvSpPr>
            <a:spLocks noGrp="1"/>
          </p:cNvSpPr>
          <p:nvPr/>
        </p:nvSpPr>
        <p:spPr>
          <a:xfrm>
            <a:off x="9039225" y="310515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8D28454-130C-4063-8BE2-89FCD77FD0F7}"/>
              </a:ext>
            </a:extLst>
          </p:cNvPr>
          <p:cNvSpPr>
            <a:spLocks noGrp="1"/>
          </p:cNvSpPr>
          <p:nvPr/>
        </p:nvSpPr>
        <p:spPr>
          <a:xfrm>
            <a:off x="9229725" y="2667000"/>
            <a:ext cx="1981200" cy="1152525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3</a:t>
            </a:r>
          </a:p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주문별 거래정보 2건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CF0C6271-5DD9-4E01-82F5-201DCB97C187}"/>
              </a:ext>
            </a:extLst>
          </p:cNvPr>
          <p:cNvSpPr>
            <a:spLocks noGrp="1"/>
          </p:cNvSpPr>
          <p:nvPr/>
        </p:nvSpPr>
        <p:spPr>
          <a:xfrm>
            <a:off x="6572250" y="42957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하나에 묶여도 거래정보는 주문별 유지</a:t>
            </a:r>
          </a:p>
        </p:txBody>
      </p:sp>
      <p:graphicFrame>
        <p:nvGraphicFramePr>
          <p:cNvPr id="57" name="표 56"/>
          <p:cNvGraphicFramePr/>
          <p:nvPr/>
        </p:nvGraphicFramePr>
        <p:xfrm>
          <a:off x="609600" y="4981575"/>
          <a:ext cx="10972800" cy="1295400"/>
        </p:xfrm>
        <a:graphic>
          <a:graphicData uri="http://schemas.openxmlformats.org/drawingml/2006/table">
            <a:tbl>
              <a:tblPr/>
              <a:tblGrid>
                <a:gridCol w="249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보존할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의미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원주문번호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채널의 원주문번호를 전 구간에서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포장번호·운송장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물류 처리 단위를 별도 보존하고 원주문과 연결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병합키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운송장 + 원주문번호가 양쪽 데이터에서 일치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776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-0">
            <a:extLst>
              <a:ext uri="{FF2B5EF4-FFF2-40B4-BE49-F238E27FC236}">
                <a16:creationId xmlns:a16="http://schemas.microsoft.com/office/drawing/2014/main" id="{8745A7EC-D890-430D-9981-2AC9B1DD1203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21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BD856EFD-7D7E-4884-889F-853FFC6B05B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  <a:endParaRPr sz="1950" b="1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1D5199B-5E5B-4C05-BBB4-4E8BC6126330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혼재 주문의 선출고 요청을 조정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D28F673-6415-47B6-81C3-0665F413CA4B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2026-08-26 협의 사례: 국내 상품과 해외직구 상품이 섞인 주문의 처리 단위를 맞췄습니다.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78AF243-52DD-4EFE-8DAA-634BFC00EF51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3524250" cy="390525"/>
          </a:xfrm>
          <a:prstGeom prst="roundRect">
            <a:avLst>
              <a:gd name="adj" fmla="val 12195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처음 요청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E15F91C-9478-46A1-A29F-8969B7642E8F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352425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D8905555-198D-47B1-B16C-EFB165282731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31051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국내 상품은 통관과 무관하므로 먼저 출고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38020C59-62E7-41D5-8188-D7B3F3A6B7A1}"/>
              </a:ext>
            </a:extLst>
          </p:cNvPr>
          <p:cNvSpPr>
            <a:spLocks noGrp="1"/>
          </p:cNvSpPr>
          <p:nvPr/>
        </p:nvSpPr>
        <p:spPr>
          <a:xfrm>
            <a:off x="4171950" y="2714625"/>
            <a:ext cx="1619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856727B-AF45-4D5E-A8E1-ADA50D627968}"/>
              </a:ext>
            </a:extLst>
          </p:cNvPr>
          <p:cNvSpPr>
            <a:spLocks noGrp="1"/>
          </p:cNvSpPr>
          <p:nvPr/>
        </p:nvSpPr>
        <p:spPr>
          <a:xfrm>
            <a:off x="4362450" y="1733550"/>
            <a:ext cx="3524250" cy="390525"/>
          </a:xfrm>
          <a:prstGeom prst="roundRect">
            <a:avLst>
              <a:gd name="adj" fmla="val 12195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확인한 제약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8EACD31-0FAA-41AC-B609-291E531DFCFC}"/>
              </a:ext>
            </a:extLst>
          </p:cNvPr>
          <p:cNvSpPr>
            <a:spLocks noGrp="1"/>
          </p:cNvSpPr>
          <p:nvPr/>
        </p:nvSpPr>
        <p:spPr>
          <a:xfrm>
            <a:off x="4362450" y="2257425"/>
            <a:ext cx="352425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FCD9DCDE-4496-4FFB-AC85-76763F0105B4}"/>
              </a:ext>
            </a:extLst>
          </p:cNvPr>
          <p:cNvSpPr>
            <a:spLocks noGrp="1"/>
          </p:cNvSpPr>
          <p:nvPr/>
        </p:nvSpPr>
        <p:spPr>
          <a:xfrm>
            <a:off x="4572000" y="2333625"/>
            <a:ext cx="31051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ERP는 원주문 단위로 삭제·재생성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부분 재처리 시 내수 주문의 중복 위험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5A93A491-F896-441A-9C16-9A828C11FCB2}"/>
              </a:ext>
            </a:extLst>
          </p:cNvPr>
          <p:cNvSpPr>
            <a:spLocks noGrp="1"/>
          </p:cNvSpPr>
          <p:nvPr/>
        </p:nvSpPr>
        <p:spPr>
          <a:xfrm>
            <a:off x="7924800" y="2714625"/>
            <a:ext cx="1619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A0B5BF2-C077-4655-BE9A-FCE799FE6505}"/>
              </a:ext>
            </a:extLst>
          </p:cNvPr>
          <p:cNvSpPr>
            <a:spLocks noGrp="1"/>
          </p:cNvSpPr>
          <p:nvPr/>
        </p:nvSpPr>
        <p:spPr>
          <a:xfrm>
            <a:off x="8115300" y="1733550"/>
            <a:ext cx="3524250" cy="390525"/>
          </a:xfrm>
          <a:prstGeom prst="roundRect">
            <a:avLst>
              <a:gd name="adj" fmla="val 12195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 결정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A90FBF6-3FA7-419B-906A-DD45E9789786}"/>
              </a:ext>
            </a:extLst>
          </p:cNvPr>
          <p:cNvSpPr>
            <a:spLocks noGrp="1"/>
          </p:cNvSpPr>
          <p:nvPr/>
        </p:nvSpPr>
        <p:spPr>
          <a:xfrm>
            <a:off x="8115300" y="2257425"/>
            <a:ext cx="3524250" cy="1257300"/>
          </a:xfrm>
          <a:prstGeom prst="roundRect">
            <a:avLst>
              <a:gd name="adj" fmla="val 4545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3D54E3C1-CF9F-4EB6-B1C3-F2673570E572}"/>
              </a:ext>
            </a:extLst>
          </p:cNvPr>
          <p:cNvSpPr>
            <a:spLocks noGrp="1"/>
          </p:cNvSpPr>
          <p:nvPr/>
        </p:nvSpPr>
        <p:spPr>
          <a:xfrm>
            <a:off x="8324850" y="2333625"/>
            <a:ext cx="31051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내수 선출고 요청을 철회</a:t>
            </a:r>
          </a:p>
          <a:p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해외직구 신고가 확정될 때까지 함께 보류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358F3BEB-5FE2-40A8-A9E8-5887022B69C8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대안의 이익과 감수할 영향</a:t>
            </a:r>
          </a:p>
        </p:txBody>
      </p:sp>
      <p:graphicFrame>
        <p:nvGraphicFramePr>
          <p:cNvPr id="35" name="표 34"/>
          <p:cNvGraphicFramePr/>
          <p:nvPr/>
        </p:nvGraphicFramePr>
        <p:xfrm>
          <a:off x="609600" y="4276725"/>
          <a:ext cx="10972800" cy="1571625"/>
        </p:xfrm>
        <a:graphic>
          <a:graphicData uri="http://schemas.openxmlformats.org/drawingml/2006/table">
            <a:tbl>
              <a:tblPr/>
              <a:tblGrid>
                <a:gridCol w="244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얻는 것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위험·수용한 영향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내수 먼저 출고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상품의 배송 지연 최소화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부분 삭제·재생성이 어려워 중복 처리 위험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혼재 주문 함께 보류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 단위의 처리 일관성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상품도 신고 확정까지 동반 지연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6A8D541-3E98-40F7-B2C0-79CB0FB333F2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배송 속도와 중복 위험을 비교하고, 시스템 제약을 운영 기준으로 합의했습니다.</a:t>
            </a:r>
          </a:p>
        </p:txBody>
      </p:sp>
    </p:spTree>
    <p:extLst>
      <p:ext uri="{BB962C8B-B14F-4D97-AF65-F5344CB8AC3E}">
        <p14:creationId xmlns:p14="http://schemas.microsoft.com/office/powerpoint/2010/main" val="3927529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0">
            <a:extLst>
              <a:ext uri="{FF2B5EF4-FFF2-40B4-BE49-F238E27FC236}">
                <a16:creationId xmlns:a16="http://schemas.microsoft.com/office/drawing/2014/main" id="{A7A5096A-E0B3-4C6E-9176-8FC101A4FF8F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22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8448619-51C8-4392-B8FC-5B4CE389CAB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04</a:t>
            </a:r>
            <a:endParaRPr sz="1950" b="1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E96811B-C6F7-422A-8CA7-6BDA77529D6B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접수 이후의 상태와 오류 복구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145DC77-E146-4325-94F1-F78760D2967E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접수, 상대 데이터 대기, 병합, 통관 결과를 서로 다른 근거로 판단하도록 설계했습니다.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3DF656BE-57BB-4EF2-A055-B8A82976EDB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896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같은 주문이 두 시스템에서 도착하는 상황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3B448C0-F8AA-4F8C-9386-9DBDE49B4F74}"/>
              </a:ext>
            </a:extLst>
          </p:cNvPr>
          <p:cNvSpPr>
            <a:spLocks noGrp="1"/>
          </p:cNvSpPr>
          <p:nvPr/>
        </p:nvSpPr>
        <p:spPr>
          <a:xfrm>
            <a:off x="6096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  접수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D8E51FA-6AA3-48E1-81E2-68B4DFAD9492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물류 데이터 도착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749D5CD4-F07B-4EAF-A97E-2FF550491AE5}"/>
              </a:ext>
            </a:extLst>
          </p:cNvPr>
          <p:cNvSpPr>
            <a:spLocks noGrp="1"/>
          </p:cNvSpPr>
          <p:nvPr/>
        </p:nvSpPr>
        <p:spPr>
          <a:xfrm>
            <a:off x="7620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HTTP 202 응답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사실만 확인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53331EBD-9600-44A3-8333-617A18F6DF38}"/>
              </a:ext>
            </a:extLst>
          </p:cNvPr>
          <p:cNvSpPr>
            <a:spLocks noGrp="1"/>
          </p:cNvSpPr>
          <p:nvPr/>
        </p:nvSpPr>
        <p:spPr>
          <a:xfrm>
            <a:off x="3228975" y="2752725"/>
            <a:ext cx="180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83923CF-7D38-4FDE-B966-32BA32A892BB}"/>
              </a:ext>
            </a:extLst>
          </p:cNvPr>
          <p:cNvSpPr>
            <a:spLocks noGrp="1"/>
          </p:cNvSpPr>
          <p:nvPr/>
        </p:nvSpPr>
        <p:spPr>
          <a:xfrm>
            <a:off x="33909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  대기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2DE8420-1FC8-430A-9A9C-AEBA7E6C385C}"/>
              </a:ext>
            </a:extLst>
          </p:cNvPr>
          <p:cNvSpPr>
            <a:spLocks noGrp="1"/>
          </p:cNvSpPr>
          <p:nvPr/>
        </p:nvSpPr>
        <p:spPr>
          <a:xfrm>
            <a:off x="33909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짝이 되는 정보 미도착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BDAF717C-1527-428F-98AF-8900B279B079}"/>
              </a:ext>
            </a:extLst>
          </p:cNvPr>
          <p:cNvSpPr>
            <a:spLocks noGrp="1"/>
          </p:cNvSpPr>
          <p:nvPr/>
        </p:nvSpPr>
        <p:spPr>
          <a:xfrm>
            <a:off x="35433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상태 조회로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대기와 검증 실패 구분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76EF8157-B601-4DB1-A053-612DFEA13901}"/>
              </a:ext>
            </a:extLst>
          </p:cNvPr>
          <p:cNvSpPr>
            <a:spLocks noGrp="1"/>
          </p:cNvSpPr>
          <p:nvPr/>
        </p:nvSpPr>
        <p:spPr>
          <a:xfrm>
            <a:off x="6010275" y="2752725"/>
            <a:ext cx="180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86F9E86-BC52-4F0F-AEC4-1DC50BFD037F}"/>
              </a:ext>
            </a:extLst>
          </p:cNvPr>
          <p:cNvSpPr>
            <a:spLocks noGrp="1"/>
          </p:cNvSpPr>
          <p:nvPr/>
        </p:nvSpPr>
        <p:spPr>
          <a:xfrm>
            <a:off x="61722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  병합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F7BD35B-6D09-4AD2-8466-A39236D432DC}"/>
              </a:ext>
            </a:extLst>
          </p:cNvPr>
          <p:cNvSpPr>
            <a:spLocks noGrp="1"/>
          </p:cNvSpPr>
          <p:nvPr/>
        </p:nvSpPr>
        <p:spPr>
          <a:xfrm>
            <a:off x="61722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주문·운송장 기준 일치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6BF7E522-F74C-4FF6-859F-CF9224EF22DB}"/>
              </a:ext>
            </a:extLst>
          </p:cNvPr>
          <p:cNvSpPr>
            <a:spLocks noGrp="1"/>
          </p:cNvSpPr>
          <p:nvPr/>
        </p:nvSpPr>
        <p:spPr>
          <a:xfrm>
            <a:off x="63246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병합 결과를 확인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통관 완료와 구분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E7504CA3-55DB-4CF0-A609-DF96983A4A48}"/>
              </a:ext>
            </a:extLst>
          </p:cNvPr>
          <p:cNvSpPr>
            <a:spLocks noGrp="1"/>
          </p:cNvSpPr>
          <p:nvPr/>
        </p:nvSpPr>
        <p:spPr>
          <a:xfrm>
            <a:off x="8791575" y="2752725"/>
            <a:ext cx="180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8F673A0-6F16-4350-B3EE-9D6F03BABD5C}"/>
              </a:ext>
            </a:extLst>
          </p:cNvPr>
          <p:cNvSpPr>
            <a:spLocks noGrp="1"/>
          </p:cNvSpPr>
          <p:nvPr/>
        </p:nvSpPr>
        <p:spPr>
          <a:xfrm>
            <a:off x="89535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  결과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92168EC-3B2E-4A3A-98DA-F1B751B6A528}"/>
              </a:ext>
            </a:extLst>
          </p:cNvPr>
          <p:cNvSpPr>
            <a:spLocks noGrp="1"/>
          </p:cNvSpPr>
          <p:nvPr/>
        </p:nvSpPr>
        <p:spPr>
          <a:xfrm>
            <a:off x="89535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신고·통관 상태 조회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CA5CC653-CF9E-42EB-99EB-2B445FB3D9DD}"/>
              </a:ext>
            </a:extLst>
          </p:cNvPr>
          <p:cNvSpPr>
            <a:spLocks noGrp="1"/>
          </p:cNvSpPr>
          <p:nvPr/>
        </p:nvSpPr>
        <p:spPr>
          <a:xfrm>
            <a:off x="91059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최종 결과를 근거로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후속 운영 판단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6539E9F7-3709-4901-9D9F-C5084DBA9262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10972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B730283C-E64F-495A-914D-73FA4012A098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오류가 확인되면 원천과 재처리 기준을 먼저 구분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B0C6FC1-DCF3-4B34-BA6D-70E80EEF8EF9}"/>
              </a:ext>
            </a:extLst>
          </p:cNvPr>
          <p:cNvSpPr>
            <a:spLocks noGrp="1"/>
          </p:cNvSpPr>
          <p:nvPr/>
        </p:nvSpPr>
        <p:spPr>
          <a:xfrm>
            <a:off x="609600" y="4829175"/>
            <a:ext cx="352425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원천 확인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C2A8B255-0692-409A-BB10-E960C76765B4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32575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고객·인증 / 상품·포장 / 제출 필드를 구분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10A7818-17D3-46D9-ACC1-648B43C6A87F}"/>
              </a:ext>
            </a:extLst>
          </p:cNvPr>
          <p:cNvSpPr>
            <a:spLocks noGrp="1"/>
          </p:cNvSpPr>
          <p:nvPr/>
        </p:nvSpPr>
        <p:spPr>
          <a:xfrm>
            <a:off x="4362450" y="4829175"/>
            <a:ext cx="352425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보완과 재처리</a:t>
            </a:r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369B0FB6-9B80-4DD4-B358-F37E773F9546}"/>
              </a:ext>
            </a:extLst>
          </p:cNvPr>
          <p:cNvSpPr>
            <a:spLocks noGrp="1"/>
          </p:cNvSpPr>
          <p:nvPr/>
        </p:nvSpPr>
        <p:spPr>
          <a:xfrm>
            <a:off x="4495800" y="5314950"/>
            <a:ext cx="32575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제공자별 식별자와 공식 처리 규칙 적용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78D8947-5FF9-486B-88FB-7DA0BAF5296E}"/>
              </a:ext>
            </a:extLst>
          </p:cNvPr>
          <p:cNvSpPr>
            <a:spLocks noGrp="1"/>
          </p:cNvSpPr>
          <p:nvPr/>
        </p:nvSpPr>
        <p:spPr>
          <a:xfrm>
            <a:off x="8115300" y="4829175"/>
            <a:ext cx="352425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다시 확인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287BC317-368B-4A51-8F04-44453B4B5464}"/>
              </a:ext>
            </a:extLst>
          </p:cNvPr>
          <p:cNvSpPr>
            <a:spLocks noGrp="1"/>
          </p:cNvSpPr>
          <p:nvPr/>
        </p:nvSpPr>
        <p:spPr>
          <a:xfrm>
            <a:off x="8248650" y="5314950"/>
            <a:ext cx="32575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응답 원문·제출 이력·최종 상태를 대사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19DDE55-D3BA-4389-A6F5-4C64AEFD7E09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필드 매핑표는 값의 계약, 상태 정의는 다음 작업을 시작할 조건이 됐습니다.</a:t>
            </a:r>
          </a:p>
        </p:txBody>
      </p:sp>
    </p:spTree>
    <p:extLst>
      <p:ext uri="{BB962C8B-B14F-4D97-AF65-F5344CB8AC3E}">
        <p14:creationId xmlns:p14="http://schemas.microsoft.com/office/powerpoint/2010/main" val="973584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">
            <a:extLst>
              <a:ext uri="{FF2B5EF4-FFF2-40B4-BE49-F238E27FC236}">
                <a16:creationId xmlns:a16="http://schemas.microsoft.com/office/drawing/2014/main" id="{2AD8618F-D2FC-461C-97DC-6ADCAA0B4E7F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23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1C6DDCBA-655E-418B-BCD8-FD9C0D23F60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2C730DA-86FB-46E3-A3EF-6CBF28603056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정상·오류·재제출 시나리오를 검증했습니다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050499D-8935-4F6A-B5DB-2C19CF9701DE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운영환경의 기대 결과 검증과, 신규·기존 방식이 함께 사용된 주문 집계 결과를 구분했습니다.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A9E044B-2B04-4723-8E66-77E987B02026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5191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 환경에서 확인한 테스트 목적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71FAD52-723A-42F0-AD2C-F28C64301861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41910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64C4491B-226F-4F40-A294-A25EBE3A9521}"/>
              </a:ext>
            </a:extLst>
          </p:cNvPr>
          <p:cNvSpPr>
            <a:spLocks noGrp="1"/>
          </p:cNvSpPr>
          <p:nvPr/>
        </p:nvSpPr>
        <p:spPr>
          <a:xfrm>
            <a:off x="1228725" y="2257425"/>
            <a:ext cx="14668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 접수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A7460801-BD9B-4B9F-9FC4-736BBA595494}"/>
              </a:ext>
            </a:extLst>
          </p:cNvPr>
          <p:cNvSpPr>
            <a:spLocks noGrp="1"/>
          </p:cNvSpPr>
          <p:nvPr/>
        </p:nvSpPr>
        <p:spPr>
          <a:xfrm>
            <a:off x="2733675" y="2314575"/>
            <a:ext cx="31146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정상 요청의 접수 확인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E8B32D6-7E90-43D6-A3A1-CA7B71E6F126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41910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A9646F69-9BF8-4519-964E-451A2A8BB388}"/>
              </a:ext>
            </a:extLst>
          </p:cNvPr>
          <p:cNvSpPr>
            <a:spLocks noGrp="1"/>
          </p:cNvSpPr>
          <p:nvPr/>
        </p:nvSpPr>
        <p:spPr>
          <a:xfrm>
            <a:off x="1228725" y="2914650"/>
            <a:ext cx="14668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의도 오류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55E8A516-B000-4D07-9B63-B08E665F2D24}"/>
              </a:ext>
            </a:extLst>
          </p:cNvPr>
          <p:cNvSpPr>
            <a:spLocks noGrp="1"/>
          </p:cNvSpPr>
          <p:nvPr/>
        </p:nvSpPr>
        <p:spPr>
          <a:xfrm>
            <a:off x="2733675" y="2971800"/>
            <a:ext cx="31146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 조건에서 기대한 응답 확인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90CC4BA-3DE1-45EC-96AC-00A6E743DC9F}"/>
              </a:ext>
            </a:extLst>
          </p:cNvPr>
          <p:cNvSpPr>
            <a:spLocks noGrp="1"/>
          </p:cNvSpPr>
          <p:nvPr/>
        </p:nvSpPr>
        <p:spPr>
          <a:xfrm>
            <a:off x="609600" y="3609975"/>
            <a:ext cx="41910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1E4F930D-9A24-4160-A057-A791FC395EA3}"/>
              </a:ext>
            </a:extLst>
          </p:cNvPr>
          <p:cNvSpPr>
            <a:spLocks noGrp="1"/>
          </p:cNvSpPr>
          <p:nvPr/>
        </p:nvSpPr>
        <p:spPr>
          <a:xfrm>
            <a:off x="1228725" y="3571875"/>
            <a:ext cx="14668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수정 재제출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570F3BCD-9193-4322-9BBC-A880B6C93AAD}"/>
              </a:ext>
            </a:extLst>
          </p:cNvPr>
          <p:cNvSpPr>
            <a:spLocks noGrp="1"/>
          </p:cNvSpPr>
          <p:nvPr/>
        </p:nvSpPr>
        <p:spPr>
          <a:xfrm>
            <a:off x="2733675" y="3629025"/>
            <a:ext cx="31146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원천 보완 후 다시 제출해 성공 확인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5C8FFDC-5D2C-4280-9466-1562B2439639}"/>
              </a:ext>
            </a:extLst>
          </p:cNvPr>
          <p:cNvSpPr>
            <a:spLocks noGrp="1"/>
          </p:cNvSpPr>
          <p:nvPr/>
        </p:nvSpPr>
        <p:spPr>
          <a:xfrm>
            <a:off x="6286500" y="1762125"/>
            <a:ext cx="5295900" cy="1990725"/>
          </a:xfrm>
          <a:prstGeom prst="roundRect">
            <a:avLst>
              <a:gd name="adj" fmla="val 2871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527DED97-85E9-4430-BDBA-B455337F004C}"/>
              </a:ext>
            </a:extLst>
          </p:cNvPr>
          <p:cNvSpPr>
            <a:spLocks noGrp="1"/>
          </p:cNvSpPr>
          <p:nvPr/>
        </p:nvSpPr>
        <p:spPr>
          <a:xfrm>
            <a:off x="6591300" y="2047875"/>
            <a:ext cx="46672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37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30 / 30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3B23F281-FE9B-4B27-8114-04AA0F254132}"/>
              </a:ext>
            </a:extLst>
          </p:cNvPr>
          <p:cNvSpPr>
            <a:spLocks noGrp="1"/>
          </p:cNvSpPr>
          <p:nvPr/>
        </p:nvSpPr>
        <p:spPr>
          <a:xfrm>
            <a:off x="6581775" y="2943225"/>
            <a:ext cx="46863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088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 환경 30건 · 테스트 목적 통과</a:t>
            </a:r>
          </a:p>
          <a:p>
            <a:pPr algn="ctr">
              <a:lnSpc>
                <a:spcPct val="122000"/>
              </a:lnSpc>
              <a:buNone/>
              <a:defRPr sz="1088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의도 오류를 포함한 검증으로, 전건 정상 신고 성공과 구분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781D78EE-41C6-44F1-AE94-42C70D27C686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10972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C46F10EA-19FA-4083-8BFA-5161E10C36D3}"/>
              </a:ext>
            </a:extLst>
          </p:cNvPr>
          <p:cNvSpPr>
            <a:spLocks noGrp="1"/>
          </p:cNvSpPr>
          <p:nvPr/>
        </p:nvSpPr>
        <p:spPr>
          <a:xfrm>
            <a:off x="609600" y="4772025"/>
            <a:ext cx="52768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집계 기간의 운영 결과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1E6DC900-775C-43AA-B908-9C6E90EF8A3E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52768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4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일평균 약 300건</a:t>
            </a:r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E9317C88-9EF1-4254-ADB6-198E917B5A53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52768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2026-08-28 ~ 2026-09-15 집계</a:t>
            </a:r>
          </a:p>
          <a:p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자사몰 약 230건 · 외부 채널 약 70건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7A1140DE-5ECA-408D-A10C-B64075798E37}"/>
              </a:ext>
            </a:extLst>
          </p:cNvPr>
          <p:cNvSpPr>
            <a:spLocks noGrp="1"/>
          </p:cNvSpPr>
          <p:nvPr/>
        </p:nvSpPr>
        <p:spPr>
          <a:xfrm>
            <a:off x="6286500" y="4772025"/>
            <a:ext cx="5295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통관 완료 범위와 후속 보완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E18CCDEB-86E1-44A4-94FA-2703D950B74C}"/>
              </a:ext>
            </a:extLst>
          </p:cNvPr>
          <p:cNvSpPr>
            <a:spLocks noGrp="1"/>
          </p:cNvSpPr>
          <p:nvPr/>
        </p:nvSpPr>
        <p:spPr>
          <a:xfrm>
            <a:off x="6286500" y="5172075"/>
            <a:ext cx="5295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집계 대상 주문은 전체 통관 완료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신규 연동과 기존 방식이 함께 사용된 운영 결과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98427010-96CD-43FE-916A-751A4007747A}"/>
              </a:ext>
            </a:extLst>
          </p:cNvPr>
          <p:cNvSpPr>
            <a:spLocks noGrp="1"/>
          </p:cNvSpPr>
          <p:nvPr/>
        </p:nvSpPr>
        <p:spPr>
          <a:xfrm>
            <a:off x="6286500" y="5905500"/>
            <a:ext cx="5295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오류 주문의 출고 보류·정보 보완·재처리를 관리</a:t>
            </a:r>
          </a:p>
        </p:txBody>
      </p:sp>
    </p:spTree>
    <p:extLst>
      <p:ext uri="{BB962C8B-B14F-4D97-AF65-F5344CB8AC3E}">
        <p14:creationId xmlns:p14="http://schemas.microsoft.com/office/powerpoint/2010/main" val="47651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43434F6B-A35B-4935-A0A0-DF071F6E7B47}"/>
              </a:ext>
            </a:extLst>
          </p:cNvPr>
          <p:cNvSpPr>
            <a:spLocks noGrp="1"/>
          </p:cNvSpPr>
          <p:nvPr/>
        </p:nvSpPr>
        <p:spPr>
          <a:xfrm>
            <a:off x="8296275" y="0"/>
            <a:ext cx="3895725" cy="685800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9D2D2339-9FC6-479A-AD36-340E9EC8090C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05802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문제를 구체적인 기준으로 바꾸고,</a:t>
            </a:r>
          </a:p>
          <a:p>
            <a:pPr algn="l">
              <a:lnSpc>
                <a:spcPct val="122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확인한 결과로 다음 판단을 합니다.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D27BF12-2AC2-47E3-907F-F3ADD1B075FF}"/>
              </a:ext>
            </a:extLst>
          </p:cNvPr>
          <p:cNvSpPr>
            <a:spLocks noGrp="1"/>
          </p:cNvSpPr>
          <p:nvPr/>
        </p:nvSpPr>
        <p:spPr>
          <a:xfrm>
            <a:off x="990600" y="2409825"/>
            <a:ext cx="66389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세 프로젝트에서 보여드린 일하는 방식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EFEF3C7E-A232-4FB2-B6C2-1E93389E5309}"/>
              </a:ext>
            </a:extLst>
          </p:cNvPr>
          <p:cNvSpPr>
            <a:spLocks noGrp="1"/>
          </p:cNvSpPr>
          <p:nvPr/>
        </p:nvSpPr>
        <p:spPr>
          <a:xfrm>
            <a:off x="609600" y="3152775"/>
            <a:ext cx="3524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0BBC360-1E82-4991-9637-D7CE9C1DACC9}"/>
              </a:ext>
            </a:extLst>
          </p:cNvPr>
          <p:cNvSpPr>
            <a:spLocks noGrp="1"/>
          </p:cNvSpPr>
          <p:nvPr/>
        </p:nvSpPr>
        <p:spPr>
          <a:xfrm>
            <a:off x="990600" y="3114675"/>
            <a:ext cx="67532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먼저 바꿀 범위와 제외할 일을 정합니다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490F8981-9ACF-474F-AF28-8AF070D63833}"/>
              </a:ext>
            </a:extLst>
          </p:cNvPr>
          <p:cNvSpPr>
            <a:spLocks noGrp="1"/>
          </p:cNvSpPr>
          <p:nvPr/>
        </p:nvSpPr>
        <p:spPr>
          <a:xfrm>
            <a:off x="990600" y="3552825"/>
            <a:ext cx="67722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B2B몰의 도입 범위를 선택하고, 발주 검토에 필요한 자료의 취합 흐름을 구현했습니다.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392FD025-7487-4442-A4B7-4B1921B6F060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3524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F2EFFD22-D686-4B91-AA03-68A8A370E911}"/>
              </a:ext>
            </a:extLst>
          </p:cNvPr>
          <p:cNvSpPr>
            <a:spLocks noGrp="1"/>
          </p:cNvSpPr>
          <p:nvPr/>
        </p:nvSpPr>
        <p:spPr>
          <a:xfrm>
            <a:off x="990600" y="4143375"/>
            <a:ext cx="67532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사용자와 운영자의 예외를 정책으로 구체화합니다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15A60643-3249-4E58-BD4A-A61EC088719A}"/>
              </a:ext>
            </a:extLst>
          </p:cNvPr>
          <p:cNvSpPr>
            <a:spLocks noGrp="1"/>
          </p:cNvSpPr>
          <p:nvPr/>
        </p:nvSpPr>
        <p:spPr>
          <a:xfrm>
            <a:off x="990600" y="4581525"/>
            <a:ext cx="67722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카테고리 혼합주문, 판매와 출고의 구분, 주문·포장의 처리 단위를 정의했습니다.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6AE9A629-B063-4052-AC5B-CACB4ACBF0E7}"/>
              </a:ext>
            </a:extLst>
          </p:cNvPr>
          <p:cNvSpPr>
            <a:spLocks noGrp="1"/>
          </p:cNvSpPr>
          <p:nvPr/>
        </p:nvSpPr>
        <p:spPr>
          <a:xfrm>
            <a:off x="609600" y="5210175"/>
            <a:ext cx="3524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758697EC-C7A7-4F37-8C29-296DAE07866A}"/>
              </a:ext>
            </a:extLst>
          </p:cNvPr>
          <p:cNvSpPr>
            <a:spLocks noGrp="1"/>
          </p:cNvSpPr>
          <p:nvPr/>
        </p:nvSpPr>
        <p:spPr>
          <a:xfrm>
            <a:off x="990600" y="5172075"/>
            <a:ext cx="67532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운영에서 검증하고, 동료의 사용 방식에 맞춥니다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CB7A3C1A-6438-4720-AE8A-7C1C970549D1}"/>
              </a:ext>
            </a:extLst>
          </p:cNvPr>
          <p:cNvSpPr>
            <a:spLocks noGrp="1"/>
          </p:cNvSpPr>
          <p:nvPr/>
        </p:nvSpPr>
        <p:spPr>
          <a:xfrm>
            <a:off x="990600" y="5610225"/>
            <a:ext cx="67722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고객 화면과 오류 복구를 검수하고, 대시보드는 기존 시트와 대조하며 개선했습니다.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3C498E2B-E9F2-400E-B7BC-5B3ABB6E5A9E}"/>
              </a:ext>
            </a:extLst>
          </p:cNvPr>
          <p:cNvSpPr>
            <a:spLocks noGrp="1"/>
          </p:cNvSpPr>
          <p:nvPr/>
        </p:nvSpPr>
        <p:spPr>
          <a:xfrm>
            <a:off x="8496300" y="3019425"/>
            <a:ext cx="33718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박종혁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18280621-A425-42EC-905C-B93B11112ABE}"/>
              </a:ext>
            </a:extLst>
          </p:cNvPr>
          <p:cNvSpPr>
            <a:spLocks noGrp="1"/>
          </p:cNvSpPr>
          <p:nvPr/>
        </p:nvSpPr>
        <p:spPr>
          <a:xfrm>
            <a:off x="8505825" y="3638550"/>
            <a:ext cx="33623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PM PORTFOLIO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FF9F5C56-D99F-4AFB-97D3-782AAB1CC0C7}"/>
              </a:ext>
            </a:extLst>
          </p:cNvPr>
          <p:cNvSpPr>
            <a:spLocks noGrp="1"/>
          </p:cNvSpPr>
          <p:nvPr/>
        </p:nvSpPr>
        <p:spPr>
          <a:xfrm>
            <a:off x="8515350" y="4238625"/>
            <a:ext cx="335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08593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3703</Words>
  <Application>Microsoft Office PowerPoint</Application>
  <PresentationFormat>와이드스크린</PresentationFormat>
  <Paragraphs>690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 포트폴리오: B2B 주문몰 · SCM 대시보드 · ERP·통관 연동</dc:title>
  <dc:creator>박종혁</dc:creator>
  <cp:lastModifiedBy>Jong Park</cp:lastModifiedBy>
  <cp:revision>2</cp:revision>
  <dcterms:created xsi:type="dcterms:W3CDTF">2026-09-17T13:22:45Z</dcterms:created>
  <dcterms:modified xsi:type="dcterms:W3CDTF">2026-10-07T15:54:19Z</dcterms:modified>
</cp:coreProperties>
</file>