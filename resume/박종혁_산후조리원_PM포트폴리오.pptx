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6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개발기간 2026-07-01~08-31 · 최종검수 2026-08-31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D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02.   운영 디지털화 — 수기 운영을 설정형 시스템으로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고도몰5 폐쇄몰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828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산후조리원 전용 B2B 폐쇄몰 구축·운영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39572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DEA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계약마다 달라지는 상품·단가·결제·포인트 규칙을,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DEA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직접 설정하는 정책 구조로 바꿨습니다.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108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83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예외를 코드가 아니라 관리자 설정값으로 분해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7673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Target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0416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조리원 담당자 · 내부 운영팀 · 공급사 5곳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42569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70001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오출고 제거 · 입금 대조 자동화 · 신규 계약을 개발 없이 처리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4160520" cy="3520440"/>
          </a:xfrm>
          <a:prstGeom prst="roundRect">
            <a:avLst>
              <a:gd name="adj" fmla="val 2597"/>
            </a:avLst>
          </a:prstGeom>
          <a:solidFill>
            <a:srgbClr val="1756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30개소에서는 되던 것이 140개소에서 깨졌다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615184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6B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09560" y="26151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입금 대조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26151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EA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15~30분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32918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6B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09560" y="32918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정산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2918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EA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 × 약 7시간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3968496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6B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09560" y="396849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오출고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9684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EA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2~3건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4645152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6B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09560" y="46451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발주량 취합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0" y="464515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DEA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영업매니저 수기 시트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94415" cy="0"/>
          </a:xfrm>
          <a:prstGeom prst="line">
            <a:avLst/>
          </a:prstGeom>
          <a:noFill/>
          <a:ln w="12700">
            <a:solidFill>
              <a:srgbClr val="3E836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5046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504688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1F3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고도몰 개발 2026.07.01~08.31 · 착수 07.13 · 전체 적용 07.14 · 최종검수 08.31</a:t>
            </a:r>
            <a:endParaRPr lang="en-US" sz="102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60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5760720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1F3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/ 플랫폼 대안 검토 / 서비스 정책·요구사항 정의 / 외주 개발 조율 / QA·UAT / 운영 정책 설계</a:t>
            </a:r>
            <a:endParaRPr lang="en-US" sz="102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167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1F3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 솔루션 구축사 · 내부 운영팀 · 영업 · 공급사 5곳</a:t>
            </a:r>
            <a:endParaRPr lang="en-US" sz="102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272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6272784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1F3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대장(BR/AR/OP) · 4계정 정책 매트릭스 · 권한표 · UAT 시나리오 · 운영 매뉴얼</a:t>
            </a:r>
            <a:endParaRPr lang="en-US" sz="102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288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D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6528816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1F3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조리원 약 140개소 · 물품 지원 계약 약 77개소 · 공급사 5곳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배경과 AS-IS 업무 흐름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주문보다 확인과 예외처리에 더 많은 시간이 들었습니다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— 여섯 단계가 모두 사람 손을 거쳤다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696669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00784"/>
            <a:ext cx="1513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 주문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75104"/>
            <a:ext cx="151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조리원이 직접 작성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17877" y="17739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D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28189" y="1645920"/>
            <a:ext cx="1696669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9629" y="1700784"/>
            <a:ext cx="1513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취합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519629" y="1975104"/>
            <a:ext cx="151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운영팀 수기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097426" y="17739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D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07738" y="1645920"/>
            <a:ext cx="1696669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99178" y="1700784"/>
            <a:ext cx="1513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대조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99178" y="1975104"/>
            <a:ext cx="151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내역 대조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976976" y="17739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D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87288" y="1645920"/>
            <a:ext cx="1696669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1700784"/>
            <a:ext cx="1513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거래명세서 메일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78728" y="1975104"/>
            <a:ext cx="151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건별 발송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56525" y="17739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D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58277" y="1700784"/>
            <a:ext cx="1513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등록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158277" y="1975104"/>
            <a:ext cx="151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재입력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9736074" y="17739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D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946386" y="1645920"/>
            <a:ext cx="1696669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37826" y="1700784"/>
            <a:ext cx="1513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정산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37826" y="1975104"/>
            <a:ext cx="151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대조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기록되는 파일이 달라 같은 주문을 여러 번 옮겨 적었고, 계약 조건은 담당자 기억에 의존했습니다.</a:t>
            </a:r>
            <a:endParaRPr lang="en-US" sz="108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88036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운영의 실제 부담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200400"/>
            <a:ext cx="5318608" cy="512064"/>
          </a:xfrm>
          <a:prstGeom prst="roundRect">
            <a:avLst>
              <a:gd name="adj" fmla="val 8929"/>
            </a:avLst>
          </a:prstGeom>
          <a:solidFill>
            <a:srgbClr val="F4F4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32004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입금 대조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2423160" y="320040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15~30분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3200400"/>
            <a:ext cx="2072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내역과 주문을 눈으로 맞춤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3776472"/>
            <a:ext cx="5318608" cy="512064"/>
          </a:xfrm>
          <a:prstGeom prst="roundRect">
            <a:avLst>
              <a:gd name="adj" fmla="val 8929"/>
            </a:avLst>
          </a:prstGeom>
          <a:solidFill>
            <a:srgbClr val="F4F4F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3776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정산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2423160" y="37764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 × 약 7시간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0" y="3776472"/>
            <a:ext cx="2072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주문·입금·정산 자료를 수기로 대조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352544"/>
            <a:ext cx="5318608" cy="512064"/>
          </a:xfrm>
          <a:prstGeom prst="roundRect">
            <a:avLst>
              <a:gd name="adj" fmla="val 8929"/>
            </a:avLst>
          </a:prstGeom>
          <a:solidFill>
            <a:srgbClr val="F4F4F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13232" y="43525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오출고</a:t>
            </a:r>
            <a:endParaRPr lang="en-US" sz="1080" dirty="0"/>
          </a:p>
        </p:txBody>
      </p:sp>
      <p:sp>
        <p:nvSpPr>
          <p:cNvPr id="43" name="Text 41"/>
          <p:cNvSpPr txBox="1"/>
          <p:nvPr/>
        </p:nvSpPr>
        <p:spPr>
          <a:xfrm>
            <a:off x="2423160" y="435254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2~3건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4352544"/>
            <a:ext cx="2072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조건을 담당자가 기억으로 판단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974336"/>
            <a:ext cx="5318608" cy="457200"/>
          </a:xfrm>
          <a:prstGeom prst="roundRect">
            <a:avLst>
              <a:gd name="adj" fmla="val 14000"/>
            </a:avLst>
          </a:prstGeom>
          <a:solidFill>
            <a:srgbClr val="E8F5E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04672" y="5065776"/>
            <a:ext cx="480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막아야 할 것을 오출고와 입금 대조로 정했습니다.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324448" y="288036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어떻게 정의했나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24448" y="320040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0480" y="3291840"/>
            <a:ext cx="480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접수 화면이 불편한 것이 아니라, 계약·결제·주문 상태를 사람이 매번 다시 판단하는 운영 구조가 문제였습니다.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24448" y="4169664"/>
            <a:ext cx="73152" cy="73152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25616" y="4114800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조건이 계약서·담당자 기억에만 있어 시스템이 검증할 수 없었습니다.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24448" y="4572000"/>
            <a:ext cx="73152" cy="73152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25616" y="4517136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방식이 다른 상품이 한 주문에 섞여도 막을 방법이 없었습니다.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24448" y="4974336"/>
            <a:ext cx="73152" cy="73152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525616" y="4919472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데이터가 폼·시트·메일·ERP에 흩어져 원본이 불명확했습니다.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E8F5E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04672" y="5897880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판단에 의존하는 구조를 설정으로 검증되는 구조로 바꾸는 것이 목표였습니다.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산후조리원 전용 B2B몰 구축·운영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먼저 분류한다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ID 체계로 비용 판단의 기준을 만들었습니다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개발, 하자, 프론트 조정, 추가 개발, 별도 견적을 뒤섞으면 비용과 일정이 무너집니다. 요청이 들어오면 성격별로 ID부터 붙이고, 상태값은 5가지로 고정했습니다.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036003" cy="2286000"/>
          </a:xfrm>
          <a:prstGeom prst="roundRect">
            <a:avLst>
              <a:gd name="adj" fmla="val 4042"/>
            </a:avLst>
          </a:prstGeom>
          <a:solidFill>
            <a:srgbClr val="E8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30428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8892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개발요구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46704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01~22 · 계약 범위 안의 기본 기능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813243" y="2148840"/>
            <a:ext cx="2036003" cy="2286000"/>
          </a:xfrm>
          <a:prstGeom prst="roundRect">
            <a:avLst>
              <a:gd name="adj" fmla="val 4042"/>
            </a:avLst>
          </a:prstGeom>
          <a:solidFill>
            <a:srgbClr val="FCEA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50403" y="230428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950403" y="278892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· 범위 밖 요청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950403" y="3346704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· 공수 산정 후 승인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77846" y="2148840"/>
            <a:ext cx="2036003" cy="2286000"/>
          </a:xfrm>
          <a:prstGeom prst="roundRect">
            <a:avLst>
              <a:gd name="adj" fmla="val 4042"/>
            </a:avLst>
          </a:prstGeom>
          <a:solidFill>
            <a:srgbClr val="D2DF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5006" y="230428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215006" y="278892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40시간 장부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215006" y="3346704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차감 · 예약 · 견적 후보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42449" y="2148840"/>
            <a:ext cx="2036003" cy="2286000"/>
          </a:xfrm>
          <a:prstGeom prst="roundRect">
            <a:avLst>
              <a:gd name="adj" fmla="val 4042"/>
            </a:avLst>
          </a:prstGeom>
          <a:solidFill>
            <a:srgbClr val="F3E5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230428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78892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3346704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기능의 비정상 동작 · 하자 우선 확인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607052" y="2148840"/>
            <a:ext cx="2036003" cy="2286000"/>
          </a:xfrm>
          <a:prstGeom prst="roundRect">
            <a:avLst>
              <a:gd name="adj" fmla="val 4042"/>
            </a:avLst>
          </a:prstGeom>
          <a:solidFill>
            <a:srgbClr val="E7E7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44212" y="230428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5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744212" y="278892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 · 정책 결정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744212" y="3346704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또는 외부 확인 대기</a:t>
            </a:r>
            <a:endParaRPr lang="en-US" sz="98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상태값 5가지 (고정 세트)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4748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0474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609344" y="504748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3E5C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609344" y="50474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완료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70048" y="504748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670048" y="50474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대기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30752" y="504748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730752" y="50474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실패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91456" y="504748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E7E7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91456" y="50474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52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불가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53212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8F5E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4672" y="5623560"/>
            <a:ext cx="105823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통보와 완료를 구분합니다. 운영 서버에서 기대 결과를 확인했을 때만 완료로 기록합니다.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산후조리원 전용 B2B몰 구축·운영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예외를 설정값으로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자동 분기 매트릭스를 설계했습니다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17320"/>
            <a:ext cx="431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등급이 늘거나 카테고리가 추가될 때마다 결제수단 예외를 코드로 하드코딩하면, 그때마다 개발 요청과 비용이 발생합니다.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51760"/>
            <a:ext cx="431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× 카테고리 표로 요구사항을 구현하도록 정의했습니다. 표의 칸마다 관리자가 결제방식을 고르면, 개발 없이 확장됩니다.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886200"/>
            <a:ext cx="431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등급은 4종 — 물품계약(선불) · 물품계약(후불) · 분유(선불) · 분유(후불). 결제방식이 다른 상품의 혼합주문은 양방향 차단합니다.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324448" y="1417320"/>
            <a:ext cx="5318608" cy="3794760"/>
          </a:xfrm>
          <a:prstGeom prst="roundRect">
            <a:avLst>
              <a:gd name="adj" fmla="val 2410"/>
            </a:avLst>
          </a:prstGeom>
          <a:solidFill>
            <a:srgbClr val="E8F5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8768" y="162763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자동 분기표 (요약)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8768" y="1993392"/>
          <a:ext cx="4769968" cy="1234440"/>
        </p:xfrm>
        <a:graphic>
          <a:graphicData uri="http://schemas.openxmlformats.org/drawingml/2006/table">
            <a:tbl>
              <a:tblPr/>
              <a:tblGrid>
                <a:gridCol w="1589989"/>
                <a:gridCol w="1589989"/>
                <a:gridCol w="1589989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무통장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598768" y="34290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담기 양방향 차단 · 쿠폰·마일리지 UI 미노출 · 입금자명 확인 강조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98768" y="4069080"/>
            <a:ext cx="47699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4800" y="4160520"/>
            <a:ext cx="425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등급 · 카테고리가 추가돼도 개발 요청 없이 관리자 설정만으로 대응할 수 있는 구조를 확보했습니다.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산후조리원 전용 B2B몰 구축·운영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확장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통보가 아니라 운영 서버 확인을 완료 기준으로 삼았습니다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QA 체크 — 기준 2026-08-13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91640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 쇼핑몰 접두어 JO_ 적용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815688" y="1728216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15688" y="172821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30552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회원등급별 결제수단 자동 분기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815688" y="216712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15688" y="216712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대기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569464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뱅크다 무통장 자동매칭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815688" y="260604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3E5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15688" y="260604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완료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08376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주문상태별 엑셀 다운로드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815688" y="304495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15688" y="304495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실패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47288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447288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예치금 월말 정산 · 이월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815688" y="3483864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15688" y="348386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대기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886200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송장 일괄 등록 · 알림톡 발송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4815688" y="3922776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15688" y="39227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대기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24448" y="137160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40시간 장부 · 기준 2026-08-13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24448" y="1691640"/>
            <a:ext cx="2522144" cy="749808"/>
          </a:xfrm>
          <a:prstGeom prst="roundRect">
            <a:avLst>
              <a:gd name="adj" fmla="val 8537"/>
            </a:avLst>
          </a:prstGeom>
          <a:solidFill>
            <a:srgbClr val="E8F5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24448" y="174650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4h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379312" y="2112264"/>
            <a:ext cx="241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사용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20911" y="1691640"/>
            <a:ext cx="2522144" cy="749808"/>
          </a:xfrm>
          <a:prstGeom prst="roundRect">
            <a:avLst>
              <a:gd name="adj" fmla="val 8537"/>
            </a:avLst>
          </a:prstGeom>
          <a:solidFill>
            <a:srgbClr val="E8F5E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20911" y="174650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36h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175775" y="2112264"/>
            <a:ext cx="241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잔여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24448" y="2560320"/>
            <a:ext cx="2522144" cy="749808"/>
          </a:xfrm>
          <a:prstGeom prst="roundRect">
            <a:avLst>
              <a:gd name="adj" fmla="val 8537"/>
            </a:avLst>
          </a:prstGeom>
          <a:solidFill>
            <a:srgbClr val="E8F5E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24448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4h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6379312" y="2980944"/>
            <a:ext cx="241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예약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20911" y="2560320"/>
            <a:ext cx="2522144" cy="749808"/>
          </a:xfrm>
          <a:prstGeom prst="roundRect">
            <a:avLst>
              <a:gd name="adj" fmla="val 8537"/>
            </a:avLst>
          </a:prstGeom>
          <a:solidFill>
            <a:srgbClr val="E8F5E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20911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32h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9175775" y="2980944"/>
            <a:ext cx="241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반영 후 예상 잔여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48056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있었던 사례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4773168"/>
            <a:ext cx="531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정보수정 화면 진입이 안 되는 문제가 있었습니다. 확인해보니 개발은 끝나 있었지만 운영 서버에는 반영되지 않았고, 운영 쪽 코드에 남아 있던 옛 차단 로직이 계속 진입을 막고 있었습니다.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324448" y="448056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세운 원칙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24448" y="4773168"/>
            <a:ext cx="5318608" cy="502920"/>
          </a:xfrm>
          <a:prstGeom prst="roundRect">
            <a:avLst>
              <a:gd name="adj" fmla="val 12727"/>
            </a:avLst>
          </a:prstGeom>
          <a:solidFill>
            <a:srgbClr val="E8F5E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0480" y="4864608"/>
            <a:ext cx="480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기준을 “운영 서버에서 기대 결과를 직접 확인했을 때”로 고정했습니다.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24448" y="5340096"/>
            <a:ext cx="5318608" cy="502920"/>
          </a:xfrm>
          <a:prstGeom prst="roundRect">
            <a:avLst>
              <a:gd name="adj" fmla="val 12727"/>
            </a:avLst>
          </a:prstGeom>
          <a:solidFill>
            <a:srgbClr val="E8F5E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80480" y="5431536"/>
            <a:ext cx="480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· 계정 유형 · 재현 절차 · 기대 결과가 모두 갖춰져야 완료로 표기합니다.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98932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1E6B4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14400" y="59893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통보를 액면 그대로 받지 않는 습관이, 성급한 완료 처리로 인한 재작업 리스크를 줄였습니다.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스냅샷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완료율을 부풀리지 않고, 있는 그대로 공개합니다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개발요구 22건 중 다수가 아직 배포·QA 필요 상태입니다. 최종 검수 기준일(2026-08-31)까지 운영 QA를 계속합니다.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개발자와 먼저 확인 중인 항목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514600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BUG-01 · 관리자 주문상태별 엑셀 다운로드 오류 — 긴급, 원인 확인 중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2953512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ADD-04 · 거래명세서 주문목록 버튼(승인 4시간) — 완료·배포 확인 대기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392424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요청 4건 — 가능 여부 · 공수 · 일정 회신 대기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831336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조정 회차 — 마지막 기록 0/2회, 이후 반영분 포함 여부 재확인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6400800" cy="777240"/>
          </a:xfrm>
          <a:prstGeom prst="roundRect">
            <a:avLst>
              <a:gd name="adj" fmla="val 8235"/>
            </a:avLst>
          </a:prstGeom>
          <a:solidFill>
            <a:srgbClr val="F4F4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498848"/>
            <a:ext cx="5888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완료율을 부풀리지 않습니다. 배포·QA 필요 상태로 남은 항목도 대장에 그대로 남겨, 지금 상태를 정확히 판단할 수 있게 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141732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1E6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2668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개발요구 22건 현황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2057400"/>
            <a:ext cx="3611880" cy="713232"/>
          </a:xfrm>
          <a:prstGeom prst="roundRect">
            <a:avLst>
              <a:gd name="adj" fmla="val 8974"/>
            </a:avLst>
          </a:prstGeom>
          <a:solidFill>
            <a:srgbClr val="1756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09560" y="205740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QA 필요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0" y="205740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17건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26680" y="2880360"/>
            <a:ext cx="3611880" cy="713232"/>
          </a:xfrm>
          <a:prstGeom prst="roundRect">
            <a:avLst>
              <a:gd name="adj" fmla="val 8974"/>
            </a:avLst>
          </a:prstGeom>
          <a:solidFill>
            <a:srgbClr val="1756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09560" y="28803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완료 / QA 필요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288036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26680" y="3703320"/>
            <a:ext cx="3611880" cy="713232"/>
          </a:xfrm>
          <a:prstGeom prst="roundRect">
            <a:avLst>
              <a:gd name="adj" fmla="val 8974"/>
            </a:avLst>
          </a:prstGeom>
          <a:solidFill>
            <a:srgbClr val="1756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09560" y="370332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완료 / 회귀 QA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370332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26680" y="4526280"/>
            <a:ext cx="3611880" cy="713232"/>
          </a:xfrm>
          <a:prstGeom prst="roundRect">
            <a:avLst>
              <a:gd name="adj" fmla="val 8974"/>
            </a:avLst>
          </a:prstGeom>
          <a:solidFill>
            <a:srgbClr val="1756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09560" y="452628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변경 / QA 필요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452628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726680" y="5349240"/>
            <a:ext cx="3611880" cy="713232"/>
          </a:xfrm>
          <a:prstGeom prst="roundRect">
            <a:avLst>
              <a:gd name="adj" fmla="val 8974"/>
            </a:avLst>
          </a:prstGeom>
          <a:solidFill>
            <a:srgbClr val="1756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09560" y="534924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(계약 조항)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534924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E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산후조리원 전용 B2B몰 구축·운영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현장을 대장으로 바꾸고, 원본을 대조하고,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이후까지 보는 PM입니다.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프로젝트를 다시 한다면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26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예외부터 정책 매트릭스로 먼저 확정하겠습니다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결제·등급 예외를 개발 착수 전에 표로 먼저 합의했다면, 개발 중간에 범위가 바뀌는 일이 줄었을 것입니다.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913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통보를 받는 즉시 재현 절차부터 정의하겠습니다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297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기준을 프로젝트 초반에 문서로 못박았다면, 운영 서버 미반영 사례를 더 일찍 잡아냈을 것입니다.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0118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90118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40시간 장부를 계약 시작일 이전부터 운영하겠습니다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 중 선차감 합의가 구두로 오가며 기준이 흔들렸습니다. 장부는 처음부터 서면으로 시작해야 합니다.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아이베(EIBE) SCM팀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2026-08-27T18:39:12Z</dcterms:created>
  <dcterms:modified xsi:type="dcterms:W3CDTF">2026-08-27T18:39:12Z</dcterms:modified>
</cp:coreProperties>
</file>