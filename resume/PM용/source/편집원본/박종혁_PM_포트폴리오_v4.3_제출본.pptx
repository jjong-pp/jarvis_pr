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C-002·003·010a·025·039·077~087·126.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C-021·022·025·031·039.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C-020~028·101·126. 운영 시작과 전체 자동화 완료는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C-025·028·101·126. planning_v7.html 4·8·9절. 원본은 내부 문서로 도표를 일반화해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C-025·028·126. 기준 디자인 원본 5장 대안 비교·책임 분담. 각 개발사의 실제 구현을 본인의 단독 개발로 표현하지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C-025·028·101·128. planning_v7.html 4·8·9절. 재구성 흐름도.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C-027. 2026-08-28 사용자 직접 확인: 운영 환경 30건 검증, 테스트 목적 30/30 통과. 유형별 건수와 오류코드는 원본 로그가 없어 기재하지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C-100·101·102·103. 2026-09-15 사용자 확인 운영 집계. 후속 통관정보 보완 웹서비스는 기획 중이며 배포나 효과 검증 완료가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C-030~039·076. 사업 규모와 확정 일정. 계약 항목 전체 완료와 핵심 서비스 가동을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C-033·129. 산후조리원몰_과업내역_처리결과.html 과업1, 228~250행. 수치가 포함된 계정·상품 데이터는 캡처에서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C-047·048·131·132. 실제 운영 홈·마이페이지 캡처. 업무 흐름은 현재 정책 기반 재구성. 공급사별 권한·송장입력은 증거 부족으로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C-034. 산후조리원몰_과업내역_처리결과.html 322~327행. 실제 주문을 재현한 로그가 아닌 정책 설명 시뮬레이션.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C-036·130. 산후조리원몰_과업내역_처리결과.html 452~477행. 자동 실행 대신 담당자 확인 후 실행 결정과 안전장치 근거.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C-038·046. 산후조리원몰_과업내역_처리결과.html 329~344행. 수용 기준은 실제 문제·요구사항을 바탕으로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C-131. 산후조리원몰_과업내역_처리결과.html 695~721행. 2026-08-13 운영 반영 및 고객 화면 확인 명시. 개발사 구현과 본인 요구·운영 검수 역할을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C-025·027·029·034·038·040·042·126~131.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A28E75-5360-43D0-A24D-5E6E706038BC}"/>
              </a:ext>
            </a:extLst>
          </p:cNvPr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82FE1DC-1F6F-4FBC-B096-CCCA9D757841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6858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겪은 운영 문제를</a:t>
            </a:r>
          </a:p>
          <a:p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데이터 구조로 바꿔 실제로 돌아가게 만듭니다.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176894F-BD73-4742-9BFF-ED9C3E711540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683895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아이베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SCM팀에서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수입·물류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실무를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하며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반복되는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병목을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겪었습니다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관세청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연동에서는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연결하는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전용몰에서는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주문·결제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검수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정했습니다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현업이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확인할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있도록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문서와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흐름을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만들었습니다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2A7548A-90CD-4E45-9E82-962D90AE7ECA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강점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9BB8508-8777-4085-A2C7-94CBDD157F63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A1505FBA-BA6F-4D4F-964B-769B8D840721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 구조화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9C21B8A-D51A-4CA2-AC58-9867288AF3E5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 문의와 운영 예외를</a:t>
            </a:r>
          </a:p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정책과 요구사항으로 정리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0A16EFE-6744-413D-B717-81D2FA552BA6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계정별 주문 기준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F2719C6-1DC0-4276-A58F-655407DDBB69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94337E8-1F1B-4F03-A307-01C692A01CD1}"/>
              </a:ext>
            </a:extLst>
          </p:cNvPr>
          <p:cNvSpPr>
            <a:spLocks noGrp="1"/>
          </p:cNvSpPr>
          <p:nvPr/>
        </p:nvSpPr>
        <p:spPr>
          <a:xfrm>
            <a:off x="29718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이해관계자 조율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5D8D22D-76BA-41E7-9119-F8E03D8390B6}"/>
              </a:ext>
            </a:extLst>
          </p:cNvPr>
          <p:cNvSpPr>
            <a:spLocks noGrp="1"/>
          </p:cNvSpPr>
          <p:nvPr/>
        </p:nvSpPr>
        <p:spPr>
          <a:xfrm>
            <a:off x="29718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데이터와 처리 책임을</a:t>
            </a:r>
          </a:p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개발사별로 구체화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504C33E8-560A-4296-859D-F9209374A910}"/>
              </a:ext>
            </a:extLst>
          </p:cNvPr>
          <p:cNvSpPr>
            <a:spLocks noGrp="1"/>
          </p:cNvSpPr>
          <p:nvPr/>
        </p:nvSpPr>
        <p:spPr>
          <a:xfrm>
            <a:off x="2971800" y="52482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768A8EB3-EE7F-4F21-930E-5436A69147ED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9E716E0-AEEE-4492-A9FE-4F899684BE4B}"/>
              </a:ext>
            </a:extLst>
          </p:cNvPr>
          <p:cNvSpPr>
            <a:spLocks noGrp="1"/>
          </p:cNvSpPr>
          <p:nvPr/>
        </p:nvSpPr>
        <p:spPr>
          <a:xfrm>
            <a:off x="53340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검증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E75B1FE-B903-4560-AF30-23D03829E347}"/>
              </a:ext>
            </a:extLst>
          </p:cNvPr>
          <p:cNvSpPr>
            <a:spLocks noGrp="1"/>
          </p:cNvSpPr>
          <p:nvPr/>
        </p:nvSpPr>
        <p:spPr>
          <a:xfrm>
            <a:off x="53340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 후 고객 화면과</a:t>
            </a:r>
          </a:p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복구까지 확인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84FFE288-3B85-4160-B658-A91190672165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공통 · 기대 결과로 검수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4894FA9-4BA7-4558-969C-1EC21B7E0DB5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3286125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  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연동</a:t>
            </a:r>
            <a:endParaRPr sz="1088" b="1" dirty="0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다자간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연동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과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재시도</a:t>
            </a:r>
            <a:endParaRPr sz="1088" b="1" dirty="0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0C3E12-614E-4BDF-BF3F-9BC77B848202}"/>
              </a:ext>
            </a:extLst>
          </p:cNvPr>
          <p:cNvSpPr>
            <a:spLocks noGrp="1"/>
          </p:cNvSpPr>
          <p:nvPr/>
        </p:nvSpPr>
        <p:spPr>
          <a:xfrm>
            <a:off x="4086225" y="5743575"/>
            <a:ext cx="3286125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  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산후조리원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전용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B2B 몰</a:t>
            </a:r>
          </a:p>
          <a:p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계정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정책과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고객·운영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088" b="1" dirty="0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6852" y="828675"/>
            <a:ext cx="1491372" cy="2124075"/>
          </a:xfrm>
          <a:prstGeom prst="rect">
            <a:avLst/>
          </a:prstGeom>
        </p:spPr>
      </p:pic>
      <p:sp>
        <p:nvSpPr>
          <p:cNvPr id="21" name="text-19">
            <a:extLst>
              <a:ext uri="{FF2B5EF4-FFF2-40B4-BE49-F238E27FC236}">
                <a16:creationId xmlns:a16="http://schemas.microsoft.com/office/drawing/2014/main" id="{A2607CF1-90B3-4C1A-9494-5F73491EDF6E}"/>
              </a:ext>
            </a:extLst>
          </p:cNvPr>
          <p:cNvSpPr>
            <a:spLocks noGrp="1"/>
          </p:cNvSpPr>
          <p:nvPr/>
        </p:nvSpPr>
        <p:spPr>
          <a:xfrm>
            <a:off x="10096500" y="923925"/>
            <a:ext cx="1581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DAC8525F-2DB3-4FC7-8B48-53CD4280EB88}"/>
              </a:ext>
            </a:extLst>
          </p:cNvPr>
          <p:cNvSpPr>
            <a:spLocks noGrp="1"/>
          </p:cNvSpPr>
          <p:nvPr/>
        </p:nvSpPr>
        <p:spPr>
          <a:xfrm>
            <a:off x="10096500" y="1200150"/>
            <a:ext cx="1581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028CD226-E66A-45E5-8D4D-0C7BFCDA27B9}"/>
              </a:ext>
            </a:extLst>
          </p:cNvPr>
          <p:cNvSpPr>
            <a:spLocks noGrp="1"/>
          </p:cNvSpPr>
          <p:nvPr/>
        </p:nvSpPr>
        <p:spPr>
          <a:xfrm>
            <a:off x="10096500" y="1466850"/>
            <a:ext cx="1581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F5F66A04-5B59-4461-80C0-0F92E6404867}"/>
              </a:ext>
            </a:extLst>
          </p:cNvPr>
          <p:cNvSpPr>
            <a:spLocks noGrp="1"/>
          </p:cNvSpPr>
          <p:nvPr/>
        </p:nvSpPr>
        <p:spPr>
          <a:xfrm>
            <a:off x="8181975" y="38481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86D45F6-4921-4211-A58A-186CCDA68903}"/>
              </a:ext>
            </a:extLst>
          </p:cNvPr>
          <p:cNvSpPr>
            <a:spLocks noGrp="1"/>
          </p:cNvSpPr>
          <p:nvPr/>
        </p:nvSpPr>
        <p:spPr>
          <a:xfrm>
            <a:off x="8181975" y="42576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FADB4B22-09AE-486A-9545-331F65D7388A}"/>
              </a:ext>
            </a:extLst>
          </p:cNvPr>
          <p:cNvSpPr>
            <a:spLocks noGrp="1"/>
          </p:cNvSpPr>
          <p:nvPr/>
        </p:nvSpPr>
        <p:spPr>
          <a:xfrm>
            <a:off x="8181975" y="461962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EE1EE4A-3804-4D21-96DF-321CDB367DD9}"/>
              </a:ext>
            </a:extLst>
          </p:cNvPr>
          <p:cNvSpPr>
            <a:spLocks noGrp="1"/>
          </p:cNvSpPr>
          <p:nvPr/>
        </p:nvSpPr>
        <p:spPr>
          <a:xfrm>
            <a:off x="8181975" y="51339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7697422B-ACE0-4892-8C1D-6EB11A873908}"/>
              </a:ext>
            </a:extLst>
          </p:cNvPr>
          <p:cNvSpPr>
            <a:spLocks noGrp="1"/>
          </p:cNvSpPr>
          <p:nvPr/>
        </p:nvSpPr>
        <p:spPr>
          <a:xfrm>
            <a:off x="8181975" y="54959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0B7F863-B86B-4EEB-A642-45801C7D753C}"/>
              </a:ext>
            </a:extLst>
          </p:cNvPr>
          <p:cNvSpPr>
            <a:spLocks noGrp="1"/>
          </p:cNvSpPr>
          <p:nvPr/>
        </p:nvSpPr>
        <p:spPr>
          <a:xfrm>
            <a:off x="8181975" y="5943600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50A90BBC-3F02-4174-BEAE-63FC57233202}"/>
              </a:ext>
            </a:extLst>
          </p:cNvPr>
          <p:cNvSpPr>
            <a:spLocks noGrp="1"/>
          </p:cNvSpPr>
          <p:nvPr/>
        </p:nvSpPr>
        <p:spPr>
          <a:xfrm>
            <a:off x="8181975" y="6296025"/>
            <a:ext cx="328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153723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0">
            <a:extLst>
              <a:ext uri="{FF2B5EF4-FFF2-40B4-BE49-F238E27FC236}">
                <a16:creationId xmlns:a16="http://schemas.microsoft.com/office/drawing/2014/main" id="{3DA55D58-7AA7-4F19-9F26-71A72258D67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0E77DA3-5510-42D7-99B6-DC2D02F39C38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578E654-CDE1-42B3-8526-7D75273EF857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965A69A-BDA1-43E9-B72C-70684CA805C1}"/>
              </a:ext>
            </a:extLst>
          </p:cNvPr>
          <p:cNvSpPr>
            <a:spLocks noGrp="1"/>
          </p:cNvSpPr>
          <p:nvPr/>
        </p:nvSpPr>
        <p:spPr>
          <a:xfrm>
            <a:off x="4381500" y="1657350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DF3C840-9160-4F8A-AA73-33CEA3597A34}"/>
              </a:ext>
            </a:extLst>
          </p:cNvPr>
          <p:cNvSpPr>
            <a:spLocks noGrp="1"/>
          </p:cNvSpPr>
          <p:nvPr/>
        </p:nvSpPr>
        <p:spPr>
          <a:xfrm>
            <a:off x="5314950" y="1724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C7B76F90-B8F1-4DA6-9E53-5F49B57F1DCD}"/>
              </a:ext>
            </a:extLst>
          </p:cNvPr>
          <p:cNvSpPr>
            <a:spLocks noGrp="1"/>
          </p:cNvSpPr>
          <p:nvPr/>
        </p:nvSpPr>
        <p:spPr>
          <a:xfrm>
            <a:off x="5362575" y="1924050"/>
            <a:ext cx="9525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BBA7501-2160-438C-A36B-A02397976B68}"/>
              </a:ext>
            </a:extLst>
          </p:cNvPr>
          <p:cNvSpPr>
            <a:spLocks noGrp="1"/>
          </p:cNvSpPr>
          <p:nvPr/>
        </p:nvSpPr>
        <p:spPr>
          <a:xfrm>
            <a:off x="5753100" y="1628775"/>
            <a:ext cx="4048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규제 대응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5E77F6B-9DCC-41A4-B381-ECB22B0EEFFD}"/>
              </a:ext>
            </a:extLst>
          </p:cNvPr>
          <p:cNvSpPr>
            <a:spLocks noGrp="1"/>
          </p:cNvSpPr>
          <p:nvPr/>
        </p:nvSpPr>
        <p:spPr>
          <a:xfrm>
            <a:off x="5753100" y="1933575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C8195E4-A139-4FC1-B503-C61F168E88B5}"/>
              </a:ext>
            </a:extLst>
          </p:cNvPr>
          <p:cNvSpPr>
            <a:spLocks noGrp="1"/>
          </p:cNvSpPr>
          <p:nvPr/>
        </p:nvSpPr>
        <p:spPr>
          <a:xfrm>
            <a:off x="5753100" y="2438400"/>
            <a:ext cx="5543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03–11   주문·포장·통관 데이터를 연결하는 기준과 오류 복구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39620D4-9E0E-4F9E-9089-99C16B03FEEC}"/>
              </a:ext>
            </a:extLst>
          </p:cNvPr>
          <p:cNvSpPr>
            <a:spLocks noGrp="1"/>
          </p:cNvSpPr>
          <p:nvPr/>
        </p:nvSpPr>
        <p:spPr>
          <a:xfrm>
            <a:off x="5753100" y="2952750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2026-02 시작 / 2026-08-28 운영 전환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D400308-C1FD-43F3-8F15-635555A96551}"/>
              </a:ext>
            </a:extLst>
          </p:cNvPr>
          <p:cNvSpPr>
            <a:spLocks noGrp="1"/>
          </p:cNvSpPr>
          <p:nvPr/>
        </p:nvSpPr>
        <p:spPr>
          <a:xfrm>
            <a:off x="5753100" y="3276600"/>
            <a:ext cx="552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계약 · 의사결정 · 운영 검증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3A76685-FFD3-4351-8856-7EAD817B629F}"/>
              </a:ext>
            </a:extLst>
          </p:cNvPr>
          <p:cNvSpPr>
            <a:spLocks noGrp="1"/>
          </p:cNvSpPr>
          <p:nvPr/>
        </p:nvSpPr>
        <p:spPr>
          <a:xfrm>
            <a:off x="4381500" y="3886200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9B55234-EBEE-4D37-B886-FBFCC08A7CD6}"/>
              </a:ext>
            </a:extLst>
          </p:cNvPr>
          <p:cNvSpPr>
            <a:spLocks noGrp="1"/>
          </p:cNvSpPr>
          <p:nvPr/>
        </p:nvSpPr>
        <p:spPr>
          <a:xfrm>
            <a:off x="5314950" y="3952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46E3BE0-8A9B-4285-A060-4C1EE992F384}"/>
              </a:ext>
            </a:extLst>
          </p:cNvPr>
          <p:cNvSpPr>
            <a:spLocks noGrp="1"/>
          </p:cNvSpPr>
          <p:nvPr/>
        </p:nvSpPr>
        <p:spPr>
          <a:xfrm>
            <a:off x="5362575" y="4152900"/>
            <a:ext cx="9525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09D16C8B-693D-481F-8E73-8961E17DFC9C}"/>
              </a:ext>
            </a:extLst>
          </p:cNvPr>
          <p:cNvSpPr>
            <a:spLocks noGrp="1"/>
          </p:cNvSpPr>
          <p:nvPr/>
        </p:nvSpPr>
        <p:spPr>
          <a:xfrm>
            <a:off x="5753100" y="3857625"/>
            <a:ext cx="4048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6467A0C-80AC-429F-A7F9-DAB350DA8E76}"/>
              </a:ext>
            </a:extLst>
          </p:cNvPr>
          <p:cNvSpPr>
            <a:spLocks noGrp="1"/>
          </p:cNvSpPr>
          <p:nvPr/>
        </p:nvSpPr>
        <p:spPr>
          <a:xfrm>
            <a:off x="5753100" y="4162425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4531ECB6-96A8-44B3-AC89-EA76FDAA94EE}"/>
              </a:ext>
            </a:extLst>
          </p:cNvPr>
          <p:cNvSpPr>
            <a:spLocks noGrp="1"/>
          </p:cNvSpPr>
          <p:nvPr/>
        </p:nvSpPr>
        <p:spPr>
          <a:xfrm>
            <a:off x="5753100" y="4667250"/>
            <a:ext cx="5543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12–21   계정별 정책과 주문 예외를 시스템의 규칙으로 전환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95861FD-89F3-4E33-8A59-4FDE12914C16}"/>
              </a:ext>
            </a:extLst>
          </p:cNvPr>
          <p:cNvSpPr>
            <a:spLocks noGrp="1"/>
          </p:cNvSpPr>
          <p:nvPr/>
        </p:nvSpPr>
        <p:spPr>
          <a:xfrm>
            <a:off x="5753100" y="5181600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2026-06 기획 / 2026-07-16 핵심 흐름 가동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36964C29-F94D-49F3-ABE7-D7328FB84B68}"/>
              </a:ext>
            </a:extLst>
          </p:cNvPr>
          <p:cNvSpPr>
            <a:spLocks noGrp="1"/>
          </p:cNvSpPr>
          <p:nvPr/>
        </p:nvSpPr>
        <p:spPr>
          <a:xfrm>
            <a:off x="5753100" y="5505450"/>
            <a:ext cx="552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운영 개선</a:t>
            </a:r>
          </a:p>
        </p:txBody>
      </p:sp>
    </p:spTree>
    <p:extLst>
      <p:ext uri="{BB962C8B-B14F-4D97-AF65-F5344CB8AC3E}">
        <p14:creationId xmlns:p14="http://schemas.microsoft.com/office/powerpoint/2010/main" val="1657004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4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03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규제 대응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457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4C7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</a:t>
            </a:r>
            <a:r>
              <a:rPr lang="en-US"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~ 2026-08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/ 2026-08-28 </a:t>
            </a:r>
            <a:r>
              <a:rPr lang="ko-KR" altLang="en-US" sz="938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</a:t>
            </a:r>
            <a:endParaRPr sz="93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</p:spTree>
    <p:extLst>
      <p:ext uri="{BB962C8B-B14F-4D97-AF65-F5344CB8AC3E}">
        <p14:creationId xmlns:p14="http://schemas.microsoft.com/office/powerpoint/2010/main" val="101524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noGrp="1"/>
          </p:cNvSpPr>
          <p:nvPr/>
        </p:nvSpPr>
        <p:spPr>
          <a:xfrm>
            <a:off x="2457450" y="22002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noGrp="1"/>
          </p:cNvSpPr>
          <p:nvPr/>
        </p:nvSpPr>
        <p:spPr>
          <a:xfrm>
            <a:off x="2457450" y="28098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noGrp="1"/>
          </p:cNvSpPr>
          <p:nvPr/>
        </p:nvSpPr>
        <p:spPr>
          <a:xfrm>
            <a:off x="2457450" y="40290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noGrp="1"/>
          </p:cNvSpPr>
          <p:nvPr/>
        </p:nvSpPr>
        <p:spPr>
          <a:xfrm>
            <a:off x="6629400" y="215265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noGrp="1"/>
          </p:cNvSpPr>
          <p:nvPr/>
        </p:nvSpPr>
        <p:spPr>
          <a:xfrm>
            <a:off x="6629400" y="2924175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1076325"/>
          </a:xfrm>
          <a:prstGeom prst="roundRect">
            <a:avLst>
              <a:gd name="adj" fmla="val 5310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noGrp="1"/>
          </p:cNvSpPr>
          <p:nvPr/>
        </p:nvSpPr>
        <p:spPr>
          <a:xfrm>
            <a:off x="800100" y="5153025"/>
            <a:ext cx="1276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9144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212625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0">
            <a:extLst>
              <a:ext uri="{FF2B5EF4-FFF2-40B4-BE49-F238E27FC236}">
                <a16:creationId xmlns:a16="http://schemas.microsoft.com/office/drawing/2014/main" id="{EAB0A359-737E-4805-80FC-6782AFB043C5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994BA0-48B8-46F1-BBD3-3DEEA986D3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CDDB24D-4121-4475-90FC-3809910D748C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책임 분담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7A3F2F4-5490-4C5F-9B1C-513EEFC83C8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신고 판단과 상태 관리의 통제점을 국내 자사몰 DB에 두었습니다.</a:t>
            </a:r>
          </a:p>
        </p:txBody>
      </p:sp>
      <p:graphicFrame>
        <p:nvGraphicFramePr>
          <p:cNvPr id="20" name="표 19"/>
          <p:cNvGraphicFramePr/>
          <p:nvPr/>
        </p:nvGraphicFramePr>
        <p:xfrm>
          <a:off x="609600" y="1752600"/>
          <a:ext cx="10972800" cy="2200275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활용할 수 있는 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제약과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ERP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상품·포장 원천과 가까움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인증정보 처리와 제출 상태 통제가 어려움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제출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시 즉시 대응 가능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이력·재처리·채널 확장의 운영 부담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비상 대응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DB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제출 상태를 관리하고 원천별 책임 분리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간 데이터 계약과 인터페이스 조율 필요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CC107D-3D15-48D0-9156-76345030BFF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381000"/>
          </a:xfrm>
          <a:prstGeom prst="roundRect">
            <a:avLst>
              <a:gd name="adj" fmla="val 12500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판단 기준  ① 개인정보 최소화    ② 제출 상태 통제    ③ 원천별 책임    ④ 개발 난이도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EDE9364E-F652-40DC-B3F5-AD0015963E52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결정 이후의 책임 경계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FCC5602-0467-4709-8454-04C758087933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자사몰 개발사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0E6EA099-1518-44A9-8DFF-4BAC56AA66D1}"/>
              </a:ext>
            </a:extLst>
          </p:cNvPr>
          <p:cNvSpPr>
            <a:spLocks noGrp="1"/>
          </p:cNvSpPr>
          <p:nvPr/>
        </p:nvSpPr>
        <p:spPr>
          <a:xfrm>
            <a:off x="6572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주문·인증·제출 상태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CB7E8F-15C7-49F7-94F9-9C532138CBE1}"/>
              </a:ext>
            </a:extLst>
          </p:cNvPr>
          <p:cNvSpPr>
            <a:spLocks noGrp="1"/>
          </p:cNvSpPr>
          <p:nvPr/>
        </p:nvSpPr>
        <p:spPr>
          <a:xfrm>
            <a:off x="33909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ERP·물류 개발사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1A59E30-87CA-40AA-B2DE-1804E9B04F5A}"/>
              </a:ext>
            </a:extLst>
          </p:cNvPr>
          <p:cNvSpPr>
            <a:spLocks noGrp="1"/>
          </p:cNvSpPr>
          <p:nvPr/>
        </p:nvSpPr>
        <p:spPr>
          <a:xfrm>
            <a:off x="34385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상품·포장·운송장 원천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022E8A-E597-4ACE-B541-649380273DB4}"/>
              </a:ext>
            </a:extLst>
          </p:cNvPr>
          <p:cNvSpPr>
            <a:spLocks noGrp="1"/>
          </p:cNvSpPr>
          <p:nvPr/>
        </p:nvSpPr>
        <p:spPr>
          <a:xfrm>
            <a:off x="61722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8A4368B4-D7DA-45A1-AB03-4C76634EA56F}"/>
              </a:ext>
            </a:extLst>
          </p:cNvPr>
          <p:cNvSpPr>
            <a:spLocks noGrp="1"/>
          </p:cNvSpPr>
          <p:nvPr/>
        </p:nvSpPr>
        <p:spPr>
          <a:xfrm>
            <a:off x="62198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 병합·신고 결과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7F3FD5D-24F6-4AFB-A50F-B032C5BA07BE}"/>
              </a:ext>
            </a:extLst>
          </p:cNvPr>
          <p:cNvSpPr>
            <a:spLocks noGrp="1"/>
          </p:cNvSpPr>
          <p:nvPr/>
        </p:nvSpPr>
        <p:spPr>
          <a:xfrm>
            <a:off x="89535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21549B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519C79C5-E3C5-482C-9A53-2F7BC36362B6}"/>
              </a:ext>
            </a:extLst>
          </p:cNvPr>
          <p:cNvSpPr>
            <a:spLocks noGrp="1"/>
          </p:cNvSpPr>
          <p:nvPr/>
        </p:nvSpPr>
        <p:spPr>
          <a:xfrm>
            <a:off x="90011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필드·흐름·검수 기준 조율</a:t>
            </a:r>
          </a:p>
        </p:txBody>
      </p:sp>
    </p:spTree>
    <p:extLst>
      <p:ext uri="{BB962C8B-B14F-4D97-AF65-F5344CB8AC3E}">
        <p14:creationId xmlns:p14="http://schemas.microsoft.com/office/powerpoint/2010/main" val="195832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08FC3933-3D97-43A5-8372-CEA49F620FC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687F889-4706-4D47-91E1-1783A7126A1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DE60FBE-CFC6-4B91-A2C8-FBF54BF9136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주문부터 통관까지의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D6643D3-6C59-4F00-A9B7-39CED62C909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단계별 입력·처리 주체·완료 근거를 맞추고, 미완료 상태의 다음 단계 진입을 구분했습니다.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A3646F-CB82-4CEE-80FD-42C5981F3011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181100" cy="304800"/>
          </a:xfrm>
          <a:prstGeom prst="roundRect">
            <a:avLst>
              <a:gd name="adj" fmla="val 15625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단계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95E1592-A1DF-4075-A86B-AE3A16F0512A}"/>
              </a:ext>
            </a:extLst>
          </p:cNvPr>
          <p:cNvSpPr>
            <a:spLocks noGrp="1"/>
          </p:cNvSpPr>
          <p:nvPr/>
        </p:nvSpPr>
        <p:spPr>
          <a:xfrm>
            <a:off x="1905000" y="1743075"/>
            <a:ext cx="23050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자사몰·국내 DB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5779166-640D-4183-AFCD-A1B0CDD4A295}"/>
              </a:ext>
            </a:extLst>
          </p:cNvPr>
          <p:cNvSpPr>
            <a:spLocks noGrp="1"/>
          </p:cNvSpPr>
          <p:nvPr/>
        </p:nvSpPr>
        <p:spPr>
          <a:xfrm>
            <a:off x="4324350" y="1743075"/>
            <a:ext cx="23050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18FA925-28C1-4838-8364-81B365C95080}"/>
              </a:ext>
            </a:extLst>
          </p:cNvPr>
          <p:cNvSpPr>
            <a:spLocks noGrp="1"/>
          </p:cNvSpPr>
          <p:nvPr/>
        </p:nvSpPr>
        <p:spPr>
          <a:xfrm>
            <a:off x="6743700" y="1743075"/>
            <a:ext cx="23050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C9D4E87-5059-42B2-A045-5D5BF3C9A3F5}"/>
              </a:ext>
            </a:extLst>
          </p:cNvPr>
          <p:cNvSpPr>
            <a:spLocks noGrp="1"/>
          </p:cNvSpPr>
          <p:nvPr/>
        </p:nvSpPr>
        <p:spPr>
          <a:xfrm>
            <a:off x="9163050" y="1743075"/>
            <a:ext cx="24193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 시스템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C3787BC-3326-4F38-A97E-15017E990ECA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주문·검증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E1938A-E991-418D-B839-7C40D7618F0B}"/>
              </a:ext>
            </a:extLst>
          </p:cNvPr>
          <p:cNvSpPr>
            <a:spLocks noGrp="1"/>
          </p:cNvSpPr>
          <p:nvPr/>
        </p:nvSpPr>
        <p:spPr>
          <a:xfrm>
            <a:off x="1905000" y="21717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주문·실수하인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66B245C-BB84-4FDF-B7E7-0CD27969841A}"/>
              </a:ext>
            </a:extLst>
          </p:cNvPr>
          <p:cNvSpPr>
            <a:spLocks noGrp="1"/>
          </p:cNvSpPr>
          <p:nvPr/>
        </p:nvSpPr>
        <p:spPr>
          <a:xfrm>
            <a:off x="4324350" y="21717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통관정보 검증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72508C0-1520-49D0-8CA6-86AD9F42035D}"/>
              </a:ext>
            </a:extLst>
          </p:cNvPr>
          <p:cNvSpPr>
            <a:spLocks noGrp="1"/>
          </p:cNvSpPr>
          <p:nvPr/>
        </p:nvSpPr>
        <p:spPr>
          <a:xfrm>
            <a:off x="6743700" y="21717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3E03401-EFA3-4389-96D8-82C5B9A0150C}"/>
              </a:ext>
            </a:extLst>
          </p:cNvPr>
          <p:cNvSpPr>
            <a:spLocks noGrp="1"/>
          </p:cNvSpPr>
          <p:nvPr/>
        </p:nvSpPr>
        <p:spPr>
          <a:xfrm>
            <a:off x="9163050" y="2171700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6F6EB7-BEAC-4561-B3B3-A33E726C5D5D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준비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0C38DCF-E641-4532-91D8-426E79368D98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원주문번호 유지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7CBB22-BB94-4579-952B-ACE2945A4D9C}"/>
              </a:ext>
            </a:extLst>
          </p:cNvPr>
          <p:cNvSpPr>
            <a:spLocks noGrp="1"/>
          </p:cNvSpPr>
          <p:nvPr/>
        </p:nvSpPr>
        <p:spPr>
          <a:xfrm>
            <a:off x="4324350" y="284797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AE9BD6B-B7A2-447E-A1D4-48F235A8A98B}"/>
              </a:ext>
            </a:extLst>
          </p:cNvPr>
          <p:cNvSpPr>
            <a:spLocks noGrp="1"/>
          </p:cNvSpPr>
          <p:nvPr/>
        </p:nvSpPr>
        <p:spPr>
          <a:xfrm>
            <a:off x="6743700" y="284797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포장·운송장 확정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0A9BD61-9EC5-44D8-B46B-A8FD1BEE7820}"/>
              </a:ext>
            </a:extLst>
          </p:cNvPr>
          <p:cNvSpPr>
            <a:spLocks noGrp="1"/>
          </p:cNvSpPr>
          <p:nvPr/>
        </p:nvSpPr>
        <p:spPr>
          <a:xfrm>
            <a:off x="9163050" y="2847975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EB226C5-0A4A-41AC-AABD-011E593AE9B5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정보 제출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9D8F2F6-8A17-438B-A8DD-11584BD4A2F2}"/>
              </a:ext>
            </a:extLst>
          </p:cNvPr>
          <p:cNvSpPr>
            <a:spLocks noGrp="1"/>
          </p:cNvSpPr>
          <p:nvPr/>
        </p:nvSpPr>
        <p:spPr>
          <a:xfrm>
            <a:off x="1905000" y="352425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거래정보·인증정보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1452515-BE0D-42AE-8AA0-ABE16741A5EF}"/>
              </a:ext>
            </a:extLst>
          </p:cNvPr>
          <p:cNvSpPr>
            <a:spLocks noGrp="1"/>
          </p:cNvSpPr>
          <p:nvPr/>
        </p:nvSpPr>
        <p:spPr>
          <a:xfrm>
            <a:off x="4324350" y="352425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786469E-A79D-42DE-8D8F-5564F30A819B}"/>
              </a:ext>
            </a:extLst>
          </p:cNvPr>
          <p:cNvSpPr>
            <a:spLocks noGrp="1"/>
          </p:cNvSpPr>
          <p:nvPr/>
        </p:nvSpPr>
        <p:spPr>
          <a:xfrm>
            <a:off x="6743700" y="352425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물류 스냅샷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8637B5D-CED9-44A5-9AD4-AE737C621FB4}"/>
              </a:ext>
            </a:extLst>
          </p:cNvPr>
          <p:cNvSpPr>
            <a:spLocks noGrp="1"/>
          </p:cNvSpPr>
          <p:nvPr/>
        </p:nvSpPr>
        <p:spPr>
          <a:xfrm>
            <a:off x="9163050" y="3524250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상태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F55F3FB-F8A9-450F-9D95-0CA9680283A9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병합·대사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DE7B71A-CB5D-4F7C-B2AD-9FB38B920DCB}"/>
              </a:ext>
            </a:extLst>
          </p:cNvPr>
          <p:cNvSpPr>
            <a:spLocks noGrp="1"/>
          </p:cNvSpPr>
          <p:nvPr/>
        </p:nvSpPr>
        <p:spPr>
          <a:xfrm>
            <a:off x="1905000" y="420052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주문별 제출 이력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E146B4F-312F-4AE5-9A4D-91B1166112FC}"/>
              </a:ext>
            </a:extLst>
          </p:cNvPr>
          <p:cNvSpPr>
            <a:spLocks noGrp="1"/>
          </p:cNvSpPr>
          <p:nvPr/>
        </p:nvSpPr>
        <p:spPr>
          <a:xfrm>
            <a:off x="4324350" y="420052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716B523-6554-4261-AA44-6735026AB61D}"/>
              </a:ext>
            </a:extLst>
          </p:cNvPr>
          <p:cNvSpPr>
            <a:spLocks noGrp="1"/>
          </p:cNvSpPr>
          <p:nvPr/>
        </p:nvSpPr>
        <p:spPr>
          <a:xfrm>
            <a:off x="6743700" y="420052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누락 포장 재확인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DCA0086-AD89-44E1-AF0D-1CBFD19B2711}"/>
              </a:ext>
            </a:extLst>
          </p:cNvPr>
          <p:cNvSpPr>
            <a:spLocks noGrp="1"/>
          </p:cNvSpPr>
          <p:nvPr/>
        </p:nvSpPr>
        <p:spPr>
          <a:xfrm>
            <a:off x="9163050" y="4200525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병합·통관 결과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FFDFB6F-2CB4-4069-A383-741B7A9B7EA1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 복구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26376D2-01B3-434E-A5E3-CF486DE7DE50}"/>
              </a:ext>
            </a:extLst>
          </p:cNvPr>
          <p:cNvSpPr>
            <a:spLocks noGrp="1"/>
          </p:cNvSpPr>
          <p:nvPr/>
        </p:nvSpPr>
        <p:spPr>
          <a:xfrm>
            <a:off x="1905000" y="48768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원천 분류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65E6565-EB60-4A54-98AA-618896F1C030}"/>
              </a:ext>
            </a:extLst>
          </p:cNvPr>
          <p:cNvSpPr>
            <a:spLocks noGrp="1"/>
          </p:cNvSpPr>
          <p:nvPr/>
        </p:nvSpPr>
        <p:spPr>
          <a:xfrm>
            <a:off x="4324350" y="48768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인증정보 보완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C735995-4319-4521-875B-94C1EBD0BD5A}"/>
              </a:ext>
            </a:extLst>
          </p:cNvPr>
          <p:cNvSpPr>
            <a:spLocks noGrp="1"/>
          </p:cNvSpPr>
          <p:nvPr/>
        </p:nvSpPr>
        <p:spPr>
          <a:xfrm>
            <a:off x="6743700" y="48768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상품·포장정보 보완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3841A9B-1417-4044-A5F4-12A494BD7074}"/>
              </a:ext>
            </a:extLst>
          </p:cNvPr>
          <p:cNvSpPr>
            <a:spLocks noGrp="1"/>
          </p:cNvSpPr>
          <p:nvPr/>
        </p:nvSpPr>
        <p:spPr>
          <a:xfrm>
            <a:off x="9163050" y="4876800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 조회·재처리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187BCEE-C492-445D-8255-05F1DAEDC846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주문번호·포장번호와 완료 근거를 공유해, 담당자 간 인계 기준을 문서로 고정했습니다.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0808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-0">
            <a:extLst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229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2686050"/>
          </a:xfrm>
          <a:prstGeom prst="roundRect">
            <a:avLst>
              <a:gd name="adj" fmla="val 2482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5295900" cy="2686050"/>
          </a:xfrm>
          <a:prstGeom prst="roundRect">
            <a:avLst>
              <a:gd name="adj" fmla="val 2482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noGrp="1"/>
          </p:cNvSpPr>
          <p:nvPr/>
        </p:nvSpPr>
        <p:spPr>
          <a:xfrm>
            <a:off x="847725" y="2914650"/>
            <a:ext cx="1628775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noGrp="1"/>
          </p:cNvSpPr>
          <p:nvPr/>
        </p:nvSpPr>
        <p:spPr>
          <a:xfrm>
            <a:off x="3286125" y="235267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noGrp="1"/>
          </p:cNvSpPr>
          <p:nvPr/>
        </p:nvSpPr>
        <p:spPr>
          <a:xfrm>
            <a:off x="2476500" y="3171825"/>
            <a:ext cx="3810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0" cy="9715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noGrp="1"/>
          </p:cNvSpPr>
          <p:nvPr/>
        </p:nvSpPr>
        <p:spPr>
          <a:xfrm>
            <a:off x="3105150" y="3581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46386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noGrp="1"/>
          </p:cNvSpPr>
          <p:nvPr/>
        </p:nvSpPr>
        <p:spPr>
          <a:xfrm>
            <a:off x="6562725" y="243840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noGrp="1"/>
          </p:cNvSpPr>
          <p:nvPr/>
        </p:nvSpPr>
        <p:spPr>
          <a:xfrm>
            <a:off x="6562725" y="333375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noGrp="1"/>
          </p:cNvSpPr>
          <p:nvPr/>
        </p:nvSpPr>
        <p:spPr>
          <a:xfrm>
            <a:off x="8524875" y="273367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noGrp="1"/>
          </p:cNvSpPr>
          <p:nvPr/>
        </p:nvSpPr>
        <p:spPr>
          <a:xfrm>
            <a:off x="8524875" y="362902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noGrp="1"/>
          </p:cNvSpPr>
          <p:nvPr/>
        </p:nvSpPr>
        <p:spPr>
          <a:xfrm>
            <a:off x="8839200" y="2733675"/>
            <a:ext cx="0" cy="8953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noGrp="1"/>
          </p:cNvSpPr>
          <p:nvPr/>
        </p:nvSpPr>
        <p:spPr>
          <a:xfrm>
            <a:off x="8839200" y="3238500"/>
            <a:ext cx="2286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noGrp="1"/>
          </p:cNvSpPr>
          <p:nvPr/>
        </p:nvSpPr>
        <p:spPr>
          <a:xfrm>
            <a:off x="9039225" y="31051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1981200" cy="1152525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609600" y="4981575"/>
          <a:ext cx="10972800" cy="129540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4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noGrp="1"/>
          </p:cNvSpPr>
          <p:nvPr/>
        </p:nvSpPr>
        <p:spPr>
          <a:xfrm>
            <a:off x="417195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noGrp="1"/>
          </p:cNvSpPr>
          <p:nvPr/>
        </p:nvSpPr>
        <p:spPr>
          <a:xfrm>
            <a:off x="436245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noGrp="1"/>
          </p:cNvSpPr>
          <p:nvPr/>
        </p:nvSpPr>
        <p:spPr>
          <a:xfrm>
            <a:off x="792480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4276725"/>
          <a:ext cx="10972800" cy="157162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53521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0">
            <a:extLst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noGrp="1"/>
          </p:cNvSpPr>
          <p:nvPr/>
        </p:nvSpPr>
        <p:spPr>
          <a:xfrm>
            <a:off x="32289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noGrp="1"/>
          </p:cNvSpPr>
          <p:nvPr/>
        </p:nvSpPr>
        <p:spPr>
          <a:xfrm>
            <a:off x="33909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noGrp="1"/>
          </p:cNvSpPr>
          <p:nvPr/>
        </p:nvSpPr>
        <p:spPr>
          <a:xfrm>
            <a:off x="60102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noGrp="1"/>
          </p:cNvSpPr>
          <p:nvPr/>
        </p:nvSpPr>
        <p:spPr>
          <a:xfrm>
            <a:off x="61722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noGrp="1"/>
          </p:cNvSpPr>
          <p:nvPr/>
        </p:nvSpPr>
        <p:spPr>
          <a:xfrm>
            <a:off x="91059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noGrp="1"/>
          </p:cNvSpPr>
          <p:nvPr/>
        </p:nvSpPr>
        <p:spPr>
          <a:xfrm>
            <a:off x="436245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noGrp="1"/>
          </p:cNvSpPr>
          <p:nvPr/>
        </p:nvSpPr>
        <p:spPr>
          <a:xfrm>
            <a:off x="81153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noGrp="1"/>
          </p:cNvSpPr>
          <p:nvPr/>
        </p:nvSpPr>
        <p:spPr>
          <a:xfrm>
            <a:off x="82486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5867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0">
            <a:extLst>
              <a:ext uri="{FF2B5EF4-FFF2-40B4-BE49-F238E27FC236}">
                <a16:creationId xmlns:a16="http://schemas.microsoft.com/office/drawing/2014/main" id="{C855A285-C13F-43E8-8A6D-AABF953B9089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F58F4B-099F-4E0A-B88F-F8D27145119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848E840-91CD-4B0D-9843-9398D520A57D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경로와 오류 복구 검증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F4596F4-B811-4FC8-A18A-0217CF50BA6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환경에서 정상 접수, 의도 오류 반환, 수정 후 재제출을 함께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D42DF51-42AE-479F-81C0-51A68946C7A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772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세 가지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099288-EA96-4B67-A063-BE4C0001A3D7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6981825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1B366E-424D-4EBA-898F-E330F561531D}"/>
              </a:ext>
            </a:extLst>
          </p:cNvPr>
          <p:cNvSpPr>
            <a:spLocks noGrp="1"/>
          </p:cNvSpPr>
          <p:nvPr/>
        </p:nvSpPr>
        <p:spPr>
          <a:xfrm>
            <a:off x="790575" y="2324100"/>
            <a:ext cx="466725" cy="323850"/>
          </a:xfrm>
          <a:prstGeom prst="roundRect">
            <a:avLst>
              <a:gd name="adj" fmla="val 14706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B0D4B81-08D0-4BA5-887A-84D1A2BC6606}"/>
              </a:ext>
            </a:extLst>
          </p:cNvPr>
          <p:cNvSpPr>
            <a:spLocks noGrp="1"/>
          </p:cNvSpPr>
          <p:nvPr/>
        </p:nvSpPr>
        <p:spPr>
          <a:xfrm>
            <a:off x="1447800" y="2257425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4402E5D7-C570-4E65-87E7-BD8A5E5C2576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정상 데이터를 제출하고 접수 결과를 확인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1727495-BCF1-4E4B-A4F6-060A4D7B2B8E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6981825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E8F36B4-EAC7-4FC3-8A3E-E581F072ED1E}"/>
              </a:ext>
            </a:extLst>
          </p:cNvPr>
          <p:cNvSpPr>
            <a:spLocks noGrp="1"/>
          </p:cNvSpPr>
          <p:nvPr/>
        </p:nvSpPr>
        <p:spPr>
          <a:xfrm>
            <a:off x="790575" y="3305175"/>
            <a:ext cx="466725" cy="323850"/>
          </a:xfrm>
          <a:prstGeom prst="roundRect">
            <a:avLst>
              <a:gd name="adj" fmla="val 14706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9290896-0118-4B74-967B-E555C1903615}"/>
              </a:ext>
            </a:extLst>
          </p:cNvPr>
          <p:cNvSpPr>
            <a:spLocks noGrp="1"/>
          </p:cNvSpPr>
          <p:nvPr/>
        </p:nvSpPr>
        <p:spPr>
          <a:xfrm>
            <a:off x="1447800" y="3238500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10BEC7F-C361-4286-BB6A-667B8A49142B}"/>
              </a:ext>
            </a:extLst>
          </p:cNvPr>
          <p:cNvSpPr>
            <a:spLocks noGrp="1"/>
          </p:cNvSpPr>
          <p:nvPr/>
        </p:nvSpPr>
        <p:spPr>
          <a:xfrm>
            <a:off x="1447800" y="3590925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오류가 있는 입력에 예상한 오류 응답이 오는지 확인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646F39C-8688-45B7-BF57-EDE3F959998D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6981825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A2BBBB9-1D31-4E60-8404-6970925B20B3}"/>
              </a:ext>
            </a:extLst>
          </p:cNvPr>
          <p:cNvSpPr>
            <a:spLocks noGrp="1"/>
          </p:cNvSpPr>
          <p:nvPr/>
        </p:nvSpPr>
        <p:spPr>
          <a:xfrm>
            <a:off x="790575" y="4286250"/>
            <a:ext cx="466725" cy="323850"/>
          </a:xfrm>
          <a:prstGeom prst="roundRect">
            <a:avLst>
              <a:gd name="adj" fmla="val 14706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4E711462-A6B4-49FE-B953-A26E182B5C10}"/>
              </a:ext>
            </a:extLst>
          </p:cNvPr>
          <p:cNvSpPr>
            <a:spLocks noGrp="1"/>
          </p:cNvSpPr>
          <p:nvPr/>
        </p:nvSpPr>
        <p:spPr>
          <a:xfrm>
            <a:off x="1447800" y="4219575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9552002-8493-47D2-A245-0C99504A9B8B}"/>
              </a:ext>
            </a:extLst>
          </p:cNvPr>
          <p:cNvSpPr>
            <a:spLocks noGrp="1"/>
          </p:cNvSpPr>
          <p:nvPr/>
        </p:nvSpPr>
        <p:spPr>
          <a:xfrm>
            <a:off x="1447800" y="4572000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데이터를 보완한 뒤 정상 접수로 전환되는지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4FEE5A7-F45B-4FD0-B577-B55C0493EDCE}"/>
              </a:ext>
            </a:extLst>
          </p:cNvPr>
          <p:cNvSpPr>
            <a:spLocks noGrp="1"/>
          </p:cNvSpPr>
          <p:nvPr/>
        </p:nvSpPr>
        <p:spPr>
          <a:xfrm>
            <a:off x="7972425" y="2114550"/>
            <a:ext cx="3609975" cy="2762250"/>
          </a:xfrm>
          <a:prstGeom prst="roundRect">
            <a:avLst>
              <a:gd name="adj" fmla="val 2414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35BAF33A-8540-4417-B166-C8FF343D860F}"/>
              </a:ext>
            </a:extLst>
          </p:cNvPr>
          <p:cNvSpPr>
            <a:spLocks noGrp="1"/>
          </p:cNvSpPr>
          <p:nvPr/>
        </p:nvSpPr>
        <p:spPr>
          <a:xfrm>
            <a:off x="8162925" y="2381250"/>
            <a:ext cx="32289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30건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22224C62-B8AA-4AFA-968A-F0C1FEB49346}"/>
              </a:ext>
            </a:extLst>
          </p:cNvPr>
          <p:cNvSpPr>
            <a:spLocks noGrp="1"/>
          </p:cNvSpPr>
          <p:nvPr/>
        </p:nvSpPr>
        <p:spPr>
          <a:xfrm>
            <a:off x="8162925" y="3295650"/>
            <a:ext cx="32289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테스트 목적 30/30 통과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C9F59BAC-F19C-4411-A632-C8B2C0F7CE0E}"/>
              </a:ext>
            </a:extLst>
          </p:cNvPr>
          <p:cNvSpPr>
            <a:spLocks noGrp="1"/>
          </p:cNvSpPr>
          <p:nvPr/>
        </p:nvSpPr>
        <p:spPr>
          <a:xfrm>
            <a:off x="8201025" y="3905250"/>
            <a:ext cx="31527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접수와 오류 반환·수정 복구를</a:t>
            </a:r>
          </a:p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함께 포함한 검증 결과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D335A008-A022-41F9-8BB0-029A42F6F5F0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검증의 범위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042A916-0E73-4F1C-8CB8-3714C74FBE60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6299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접수·오류 반환·수정 복구를 포함한 30건의 검증입니다.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전체의 자동 처리율과는 별개이며, 시나리오별 개별 건수는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73738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0">
            <a:extLst>
              <a:ext uri="{FF2B5EF4-FFF2-40B4-BE49-F238E27FC236}">
                <a16:creationId xmlns:a16="http://schemas.microsoft.com/office/drawing/2014/main" id="{35FE3857-4F8B-4C52-9B19-D5427E8B6131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11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F9DD813-20FC-43BC-94C0-D5C1873C35E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F2B4411-606C-4C24-977B-86B7092B9B1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결과와 후속 과제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A85EB13-1161-4142-A7F4-2C6A6522DFF5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 연동과 기존 방식을 병행해 집계 대상 주문의 통관 완료를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E205990-985F-4C6C-B157-60292E3CCD3F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3676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일평균 약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DF62900-1A4C-45EB-917B-0DDE9F01A300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46291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300건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5F168B6-DE29-4990-BF9E-4B434499702C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9434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 약 230건 / 기타 약 70건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C2B5301-C2C5-4A7D-83F9-35173857737B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50387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집계기간 2026-08-28 ~ 2026-09-15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 전체 통관 완료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CB7566-55E4-4E27-BEEF-30ACF24F532D}"/>
              </a:ext>
            </a:extLst>
          </p:cNvPr>
          <p:cNvSpPr>
            <a:spLocks noGrp="1"/>
          </p:cNvSpPr>
          <p:nvPr/>
        </p:nvSpPr>
        <p:spPr>
          <a:xfrm>
            <a:off x="6181725" y="1819275"/>
            <a:ext cx="5400675" cy="2905125"/>
          </a:xfrm>
          <a:prstGeom prst="roundRect">
            <a:avLst>
              <a:gd name="adj" fmla="val 229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7C1CE039-85A6-43A1-A195-A88D3A668C16}"/>
              </a:ext>
            </a:extLst>
          </p:cNvPr>
          <p:cNvSpPr>
            <a:spLocks noGrp="1"/>
          </p:cNvSpPr>
          <p:nvPr/>
        </p:nvSpPr>
        <p:spPr>
          <a:xfrm>
            <a:off x="6419850" y="2047875"/>
            <a:ext cx="4895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결과를 해석한 범위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A00812F-D995-4B17-8DAB-B74037515123}"/>
              </a:ext>
            </a:extLst>
          </p:cNvPr>
          <p:cNvSpPr>
            <a:spLocks noGrp="1"/>
          </p:cNvSpPr>
          <p:nvPr/>
        </p:nvSpPr>
        <p:spPr>
          <a:xfrm>
            <a:off x="6419850" y="2486025"/>
            <a:ext cx="4857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신고 경로와 기존 방식이 함께 쓰인 운영 결과입니다.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자동 처리율·신규 경로 비중·처리 시간은 별도 계측하지 않았습니다.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553C359-5177-4D85-BFAF-125E70AE388D}"/>
              </a:ext>
            </a:extLst>
          </p:cNvPr>
          <p:cNvSpPr>
            <a:spLocks noGrp="1"/>
          </p:cNvSpPr>
          <p:nvPr/>
        </p:nvSpPr>
        <p:spPr>
          <a:xfrm>
            <a:off x="6419850" y="3505200"/>
            <a:ext cx="485775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6D6E7B-A2DC-4651-B7B3-B874D6CED625}"/>
              </a:ext>
            </a:extLst>
          </p:cNvPr>
          <p:cNvSpPr>
            <a:spLocks noGrp="1"/>
          </p:cNvSpPr>
          <p:nvPr/>
        </p:nvSpPr>
        <p:spPr>
          <a:xfrm>
            <a:off x="6419850" y="38004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운영에서 남은 수기 보완을 다음 개선 과제로 연결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4C1CEDD6-AF6F-490E-9D71-F7CA7E291343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844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후속 기획: 고객 통관정보 보완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373213F-4343-4D42-8414-82E314651442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92A6184A-7738-41D0-AA0E-633BC2224686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연락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F0AD28AA-BDB4-4A5D-B3FC-8DA531BD8A63}"/>
              </a:ext>
            </a:extLst>
          </p:cNvPr>
          <p:cNvSpPr>
            <a:spLocks noGrp="1"/>
          </p:cNvSpPr>
          <p:nvPr/>
        </p:nvSpPr>
        <p:spPr>
          <a:xfrm>
            <a:off x="7429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보완 필요 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0CC8E1-5D67-4516-909F-2B18F8435841}"/>
              </a:ext>
            </a:extLst>
          </p:cNvPr>
          <p:cNvSpPr>
            <a:spLocks noGrp="1"/>
          </p:cNvSpPr>
          <p:nvPr/>
        </p:nvSpPr>
        <p:spPr>
          <a:xfrm>
            <a:off x="33909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E152347-3897-4185-9B8B-B09194E9233B}"/>
              </a:ext>
            </a:extLst>
          </p:cNvPr>
          <p:cNvSpPr>
            <a:spLocks noGrp="1"/>
          </p:cNvSpPr>
          <p:nvPr/>
        </p:nvSpPr>
        <p:spPr>
          <a:xfrm>
            <a:off x="35242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3A30F577-16D1-4399-8989-89F7A1FEC7E0}"/>
              </a:ext>
            </a:extLst>
          </p:cNvPr>
          <p:cNvSpPr>
            <a:spLocks noGrp="1"/>
          </p:cNvSpPr>
          <p:nvPr/>
        </p:nvSpPr>
        <p:spPr>
          <a:xfrm>
            <a:off x="35242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 주문과 고객 확인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2BDD22B-4149-4D8A-AB0D-21F3385E635E}"/>
              </a:ext>
            </a:extLst>
          </p:cNvPr>
          <p:cNvSpPr>
            <a:spLocks noGrp="1"/>
          </p:cNvSpPr>
          <p:nvPr/>
        </p:nvSpPr>
        <p:spPr>
          <a:xfrm>
            <a:off x="61722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8D05BB9-D43F-45F9-83CD-8084AA197EEC}"/>
              </a:ext>
            </a:extLst>
          </p:cNvPr>
          <p:cNvSpPr>
            <a:spLocks noGrp="1"/>
          </p:cNvSpPr>
          <p:nvPr/>
        </p:nvSpPr>
        <p:spPr>
          <a:xfrm>
            <a:off x="63055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정보 보완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FB093B5B-AF8A-4975-9A6F-98959DA89795}"/>
              </a:ext>
            </a:extLst>
          </p:cNvPr>
          <p:cNvSpPr>
            <a:spLocks noGrp="1"/>
          </p:cNvSpPr>
          <p:nvPr/>
        </p:nvSpPr>
        <p:spPr>
          <a:xfrm>
            <a:off x="63055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누락된 통관정보 수집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D3FA771-275B-4CDA-8FF2-78C7A178E9FF}"/>
              </a:ext>
            </a:extLst>
          </p:cNvPr>
          <p:cNvSpPr>
            <a:spLocks noGrp="1"/>
          </p:cNvSpPr>
          <p:nvPr/>
        </p:nvSpPr>
        <p:spPr>
          <a:xfrm>
            <a:off x="89535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A1C501C-6828-4460-9C2D-975AD0C9E04C}"/>
              </a:ext>
            </a:extLst>
          </p:cNvPr>
          <p:cNvSpPr>
            <a:spLocks noGrp="1"/>
          </p:cNvSpPr>
          <p:nvPr/>
        </p:nvSpPr>
        <p:spPr>
          <a:xfrm>
            <a:off x="90868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검증·재투입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8AEB987-D1BC-4841-A544-F2519975E413}"/>
              </a:ext>
            </a:extLst>
          </p:cNvPr>
          <p:cNvSpPr>
            <a:spLocks noGrp="1"/>
          </p:cNvSpPr>
          <p:nvPr/>
        </p:nvSpPr>
        <p:spPr>
          <a:xfrm>
            <a:off x="90868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운영자가 검증 후 처리</a:t>
            </a:r>
          </a:p>
        </p:txBody>
      </p:sp>
    </p:spTree>
    <p:extLst>
      <p:ext uri="{BB962C8B-B14F-4D97-AF65-F5344CB8AC3E}">
        <p14:creationId xmlns:p14="http://schemas.microsoft.com/office/powerpoint/2010/main" val="77602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12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운영 디지털화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58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6D5B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noGrp="1"/>
          </p:cNvSpPr>
          <p:nvPr/>
        </p:nvSpPr>
        <p:spPr>
          <a:xfrm>
            <a:off x="609600" y="62166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noGrp="1"/>
          </p:cNvSpPr>
          <p:nvPr/>
        </p:nvSpPr>
        <p:spPr>
          <a:xfrm>
            <a:off x="1419225" y="62166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1819326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0">
            <a:extLst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noGrp="1"/>
          </p:cNvSpPr>
          <p:nvPr/>
        </p:nvSpPr>
        <p:spPr>
          <a:xfrm>
            <a:off x="23336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noGrp="1"/>
          </p:cNvSpPr>
          <p:nvPr/>
        </p:nvSpPr>
        <p:spPr>
          <a:xfrm>
            <a:off x="24669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noGrp="1"/>
          </p:cNvSpPr>
          <p:nvPr/>
        </p:nvSpPr>
        <p:spPr>
          <a:xfrm>
            <a:off x="26003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noGrp="1"/>
          </p:cNvSpPr>
          <p:nvPr/>
        </p:nvSpPr>
        <p:spPr>
          <a:xfrm>
            <a:off x="432435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noGrp="1"/>
          </p:cNvSpPr>
          <p:nvPr/>
        </p:nvSpPr>
        <p:spPr>
          <a:xfrm>
            <a:off x="445770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noGrp="1"/>
          </p:cNvSpPr>
          <p:nvPr/>
        </p:nvSpPr>
        <p:spPr>
          <a:xfrm>
            <a:off x="445770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noGrp="1"/>
          </p:cNvSpPr>
          <p:nvPr/>
        </p:nvSpPr>
        <p:spPr>
          <a:xfrm>
            <a:off x="618172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noGrp="1"/>
          </p:cNvSpPr>
          <p:nvPr/>
        </p:nvSpPr>
        <p:spPr>
          <a:xfrm>
            <a:off x="631507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noGrp="1"/>
          </p:cNvSpPr>
          <p:nvPr/>
        </p:nvSpPr>
        <p:spPr>
          <a:xfrm>
            <a:off x="631507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noGrp="1"/>
          </p:cNvSpPr>
          <p:nvPr/>
        </p:nvSpPr>
        <p:spPr>
          <a:xfrm>
            <a:off x="80391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noGrp="1"/>
          </p:cNvSpPr>
          <p:nvPr/>
        </p:nvSpPr>
        <p:spPr>
          <a:xfrm>
            <a:off x="81724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noGrp="1"/>
          </p:cNvSpPr>
          <p:nvPr/>
        </p:nvSpPr>
        <p:spPr>
          <a:xfrm>
            <a:off x="81724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noGrp="1"/>
          </p:cNvSpPr>
          <p:nvPr/>
        </p:nvSpPr>
        <p:spPr>
          <a:xfrm>
            <a:off x="98964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noGrp="1"/>
          </p:cNvSpPr>
          <p:nvPr/>
        </p:nvSpPr>
        <p:spPr>
          <a:xfrm>
            <a:off x="100298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noGrp="1"/>
          </p:cNvSpPr>
          <p:nvPr/>
        </p:nvSpPr>
        <p:spPr>
          <a:xfrm>
            <a:off x="100298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noGrp="1"/>
          </p:cNvSpPr>
          <p:nvPr/>
        </p:nvSpPr>
        <p:spPr>
          <a:xfrm>
            <a:off x="2552700" y="34194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noGrp="1"/>
          </p:cNvSpPr>
          <p:nvPr/>
        </p:nvSpPr>
        <p:spPr>
          <a:xfrm>
            <a:off x="4105275" y="33528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noGrp="1"/>
          </p:cNvSpPr>
          <p:nvPr/>
        </p:nvSpPr>
        <p:spPr>
          <a:xfrm>
            <a:off x="2552700" y="41243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noGrp="1"/>
          </p:cNvSpPr>
          <p:nvPr/>
        </p:nvSpPr>
        <p:spPr>
          <a:xfrm>
            <a:off x="4105275" y="405765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noGrp="1"/>
          </p:cNvSpPr>
          <p:nvPr/>
        </p:nvSpPr>
        <p:spPr>
          <a:xfrm>
            <a:off x="2552700" y="48291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noGrp="1"/>
          </p:cNvSpPr>
          <p:nvPr/>
        </p:nvSpPr>
        <p:spPr>
          <a:xfrm>
            <a:off x="4105275" y="47625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noGrp="1"/>
          </p:cNvSpPr>
          <p:nvPr/>
        </p:nvSpPr>
        <p:spPr>
          <a:xfrm>
            <a:off x="6257925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5324475" cy="1009650"/>
          </a:xfrm>
          <a:prstGeom prst="roundRect">
            <a:avLst>
              <a:gd name="adj" fmla="val 6604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noGrp="1"/>
          </p:cNvSpPr>
          <p:nvPr/>
        </p:nvSpPr>
        <p:spPr>
          <a:xfrm>
            <a:off x="6257925" y="45624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noGrp="1"/>
          </p:cNvSpPr>
          <p:nvPr/>
        </p:nvSpPr>
        <p:spPr>
          <a:xfrm>
            <a:off x="6638925" y="456247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noGrp="1"/>
          </p:cNvSpPr>
          <p:nvPr/>
        </p:nvSpPr>
        <p:spPr>
          <a:xfrm>
            <a:off x="6638925" y="53054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2836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1695450"/>
          <a:ext cx="10972800" cy="22288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371475"/>
          </a:xfrm>
          <a:prstGeom prst="roundRect">
            <a:avLst>
              <a:gd name="adj" fmla="val 12821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noGrp="1"/>
          </p:cNvSpPr>
          <p:nvPr/>
        </p:nvSpPr>
        <p:spPr>
          <a:xfrm>
            <a:off x="436245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noGrp="1"/>
          </p:cNvSpPr>
          <p:nvPr/>
        </p:nvSpPr>
        <p:spPr>
          <a:xfrm>
            <a:off x="449580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noGrp="1"/>
          </p:cNvSpPr>
          <p:nvPr/>
        </p:nvSpPr>
        <p:spPr>
          <a:xfrm>
            <a:off x="81153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425832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99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2105025"/>
          <a:ext cx="7334250" cy="20574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352675" cy="2057400"/>
          </a:xfrm>
          <a:prstGeom prst="roundRect">
            <a:avLst>
              <a:gd name="adj" fmla="val 2778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noGrp="1"/>
          </p:cNvSpPr>
          <p:nvPr/>
        </p:nvSpPr>
        <p:spPr>
          <a:xfrm>
            <a:off x="9439275" y="2266950"/>
            <a:ext cx="1933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noGrp="1"/>
          </p:cNvSpPr>
          <p:nvPr/>
        </p:nvSpPr>
        <p:spPr>
          <a:xfrm>
            <a:off x="9439275" y="2705100"/>
            <a:ext cx="19431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412" y="4838700"/>
            <a:ext cx="10735176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093B2E12-DB8C-487F-A58D-812CDC20A78A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3F0A573-4BBB-4F5E-9840-6FB2D65B1AD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309BCD4-BFA0-4DDA-8F90-AC4C77DE904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 여정과 운영의 연결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D9332F2-84C7-46C9-B61B-229D30F6685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주문·확인 행동과 운영팀의 설정·검수 행동을 같은 흐름에 배치했습니다.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6E3761D-1830-4D86-9105-21290EFEC8A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276350" cy="323850"/>
          </a:xfrm>
          <a:prstGeom prst="roundRect">
            <a:avLst>
              <a:gd name="adj" fmla="val 1470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97368B8-31D1-404F-A3F5-CB28CE50668F}"/>
              </a:ext>
            </a:extLst>
          </p:cNvPr>
          <p:cNvSpPr>
            <a:spLocks noGrp="1"/>
          </p:cNvSpPr>
          <p:nvPr/>
        </p:nvSpPr>
        <p:spPr>
          <a:xfrm>
            <a:off x="2000250" y="1724025"/>
            <a:ext cx="227647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5020B54-CECC-4CAC-AC0E-ECB5DADE5727}"/>
              </a:ext>
            </a:extLst>
          </p:cNvPr>
          <p:cNvSpPr>
            <a:spLocks noGrp="1"/>
          </p:cNvSpPr>
          <p:nvPr/>
        </p:nvSpPr>
        <p:spPr>
          <a:xfrm>
            <a:off x="4391025" y="1724025"/>
            <a:ext cx="227647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결제·접수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CD34E0-F668-4FA0-A218-100738973232}"/>
              </a:ext>
            </a:extLst>
          </p:cNvPr>
          <p:cNvSpPr>
            <a:spLocks noGrp="1"/>
          </p:cNvSpPr>
          <p:nvPr/>
        </p:nvSpPr>
        <p:spPr>
          <a:xfrm>
            <a:off x="6781800" y="1724025"/>
            <a:ext cx="227647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2348AD9-37D3-4477-8333-64951D57E5F8}"/>
              </a:ext>
            </a:extLst>
          </p:cNvPr>
          <p:cNvSpPr>
            <a:spLocks noGrp="1"/>
          </p:cNvSpPr>
          <p:nvPr/>
        </p:nvSpPr>
        <p:spPr>
          <a:xfrm>
            <a:off x="9172575" y="1724025"/>
            <a:ext cx="240982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이후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1C20980-69FB-420C-B28A-DF7945FB1F80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276350" cy="771525"/>
          </a:xfrm>
          <a:prstGeom prst="roundRect">
            <a:avLst>
              <a:gd name="adj" fmla="val 6173"/>
            </a:avLst>
          </a:prstGeom>
          <a:solidFill>
            <a:srgbClr val="E7F4ED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조리원 담당자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AADA8FE-D166-428F-8EB5-53C36290479E}"/>
              </a:ext>
            </a:extLst>
          </p:cNvPr>
          <p:cNvSpPr>
            <a:spLocks noGrp="1"/>
          </p:cNvSpPr>
          <p:nvPr/>
        </p:nvSpPr>
        <p:spPr>
          <a:xfrm>
            <a:off x="2000250" y="21907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허용 상품 확인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분류별로 주문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D6CA69E-8F8E-47B9-ACDA-0A83925DF660}"/>
              </a:ext>
            </a:extLst>
          </p:cNvPr>
          <p:cNvSpPr>
            <a:spLocks noGrp="1"/>
          </p:cNvSpPr>
          <p:nvPr/>
        </p:nvSpPr>
        <p:spPr>
          <a:xfrm>
            <a:off x="4391025" y="21907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계정 정책에 맞는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결제수단 선택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E367C20-984B-4C8A-BCC9-995408161419}"/>
              </a:ext>
            </a:extLst>
          </p:cNvPr>
          <p:cNvSpPr>
            <a:spLocks noGrp="1"/>
          </p:cNvSpPr>
          <p:nvPr/>
        </p:nvSpPr>
        <p:spPr>
          <a:xfrm>
            <a:off x="6781800" y="21907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마이페이지에서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진행 상태 조회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4E44115-B44E-4CE2-BF1B-D2640E1BA665}"/>
              </a:ext>
            </a:extLst>
          </p:cNvPr>
          <p:cNvSpPr>
            <a:spLocks noGrp="1"/>
          </p:cNvSpPr>
          <p:nvPr/>
        </p:nvSpPr>
        <p:spPr>
          <a:xfrm>
            <a:off x="9172575" y="2190750"/>
            <a:ext cx="240982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거래명세서 출력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요청 확인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5CF9D95-4847-46B3-BAB4-83284894D16A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276350" cy="771525"/>
          </a:xfrm>
          <a:prstGeom prst="roundRect">
            <a:avLst>
              <a:gd name="adj" fmla="val 6173"/>
            </a:avLst>
          </a:prstGeom>
          <a:solidFill>
            <a:srgbClr val="E7F4ED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내부 운영팀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D121586-638B-4030-9D65-2B7E2B68BB34}"/>
              </a:ext>
            </a:extLst>
          </p:cNvPr>
          <p:cNvSpPr>
            <a:spLocks noGrp="1"/>
          </p:cNvSpPr>
          <p:nvPr/>
        </p:nvSpPr>
        <p:spPr>
          <a:xfrm>
            <a:off x="2000250" y="31051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계정·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 값 설정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09DE8C-CD99-41E9-9369-A8A0FEC8CE44}"/>
              </a:ext>
            </a:extLst>
          </p:cNvPr>
          <p:cNvSpPr>
            <a:spLocks noGrp="1"/>
          </p:cNvSpPr>
          <p:nvPr/>
        </p:nvSpPr>
        <p:spPr>
          <a:xfrm>
            <a:off x="4391025" y="31051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입금·후불 상태를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구분해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A35841-7D70-4539-B2A2-9A8983B8AC5B}"/>
              </a:ext>
            </a:extLst>
          </p:cNvPr>
          <p:cNvSpPr>
            <a:spLocks noGrp="1"/>
          </p:cNvSpPr>
          <p:nvPr/>
        </p:nvSpPr>
        <p:spPr>
          <a:xfrm>
            <a:off x="6781800" y="31051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화면과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예외 주문 점검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99399E-8DC3-4CFE-BCDD-85AFC40F1801}"/>
              </a:ext>
            </a:extLst>
          </p:cNvPr>
          <p:cNvSpPr>
            <a:spLocks noGrp="1"/>
          </p:cNvSpPr>
          <p:nvPr/>
        </p:nvSpPr>
        <p:spPr>
          <a:xfrm>
            <a:off x="9172575" y="3105150"/>
            <a:ext cx="240982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피드백 반영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4D5242A9-3AA4-499F-9952-437D805AA340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보이는 운영 안내</a:t>
            </a: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5822" y="4848225"/>
            <a:ext cx="4385355" cy="1162050"/>
          </a:xfrm>
          <a:prstGeom prst="rect">
            <a:avLst/>
          </a:prstGeom>
        </p:spPr>
      </p:pic>
      <p:sp>
        <p:nvSpPr>
          <p:cNvPr id="22" name="text-20">
            <a:extLst>
              <a:ext uri="{FF2B5EF4-FFF2-40B4-BE49-F238E27FC236}">
                <a16:creationId xmlns:a16="http://schemas.microsoft.com/office/drawing/2014/main" id="{197D06C5-F8FD-4A83-8CA8-BF5E03C05B10}"/>
              </a:ext>
            </a:extLst>
          </p:cNvPr>
          <p:cNvSpPr>
            <a:spLocks noGrp="1"/>
          </p:cNvSpPr>
          <p:nvPr/>
        </p:nvSpPr>
        <p:spPr>
          <a:xfrm>
            <a:off x="6286500" y="4400550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고객이 직접 확인하는 주문 상태</a:t>
            </a: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4891400"/>
            <a:ext cx="5295900" cy="108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1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29225" cy="333375"/>
          </a:xfrm>
          <a:prstGeom prst="roundRect">
            <a:avLst>
              <a:gd name="adj" fmla="val 1428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0982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231457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609600" y="3390900"/>
          <a:ext cx="5838825" cy="1524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-8">
            <a:extLst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626" y="2171700"/>
            <a:ext cx="3567622" cy="2324100"/>
          </a:xfrm>
          <a:prstGeom prst="rect">
            <a:avLst/>
          </a:prstGeom>
        </p:spPr>
      </p:pic>
      <p:sp>
        <p:nvSpPr>
          <p:cNvPr id="12" name="text-9">
            <a:extLst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noGrp="1"/>
          </p:cNvSpPr>
          <p:nvPr/>
        </p:nvSpPr>
        <p:spPr>
          <a:xfrm>
            <a:off x="6248400" y="47720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</p:spTree>
    <p:extLst>
      <p:ext uri="{BB962C8B-B14F-4D97-AF65-F5344CB8AC3E}">
        <p14:creationId xmlns:p14="http://schemas.microsoft.com/office/powerpoint/2010/main" val="168433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18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noGrp="1"/>
          </p:cNvSpPr>
          <p:nvPr/>
        </p:nvSpPr>
        <p:spPr>
          <a:xfrm>
            <a:off x="32480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noGrp="1"/>
          </p:cNvSpPr>
          <p:nvPr/>
        </p:nvSpPr>
        <p:spPr>
          <a:xfrm>
            <a:off x="33909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noGrp="1"/>
          </p:cNvSpPr>
          <p:nvPr/>
        </p:nvSpPr>
        <p:spPr>
          <a:xfrm>
            <a:off x="60293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표 45"/>
          <p:cNvGraphicFramePr/>
          <p:nvPr/>
        </p:nvGraphicFramePr>
        <p:xfrm>
          <a:off x="609600" y="3333750"/>
          <a:ext cx="10972800" cy="21907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85775"/>
          </a:xfrm>
          <a:prstGeom prst="roundRect">
            <a:avLst>
              <a:gd name="adj" fmla="val 1176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695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noGrp="1"/>
          </p:cNvSpPr>
          <p:nvPr/>
        </p:nvSpPr>
        <p:spPr>
          <a:xfrm>
            <a:off x="1581150" y="5981700"/>
            <a:ext cx="975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6444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D9C6C183-EAD4-4AF5-889F-8912C3AB954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E6485F2-AD3C-46A9-96B6-49A2E47233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B682516-0BDB-411C-A738-F5AFFE3DEA5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 통보를 운영 검수 기준으로 바꿈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A50B85A-61DA-4582-B6DB-691492664BC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수정 화면에 들어갈 수 없었던 사례에서, 배포와 기능 동작을 따로 확인했습니다.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1A430CD-9E07-4F81-8AB1-3111E0246BD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123950" cy="581025"/>
          </a:xfrm>
          <a:prstGeom prst="roundRect">
            <a:avLst>
              <a:gd name="adj" fmla="val 8197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1251E3C-E4D7-4FDE-8494-322C1BBAD4CC}"/>
              </a:ext>
            </a:extLst>
          </p:cNvPr>
          <p:cNvSpPr>
            <a:spLocks noGrp="1"/>
          </p:cNvSpPr>
          <p:nvPr/>
        </p:nvSpPr>
        <p:spPr>
          <a:xfrm>
            <a:off x="1971675" y="1838325"/>
            <a:ext cx="4619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마이페이지의 정보 수정에 진입 불가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056EA3B-CA7B-4169-93A0-8C8DDD1260E3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123950" cy="581025"/>
          </a:xfrm>
          <a:prstGeom prst="roundRect">
            <a:avLst>
              <a:gd name="adj" fmla="val 8197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1A1C0F8-7922-436A-925F-81614D10499E}"/>
              </a:ext>
            </a:extLst>
          </p:cNvPr>
          <p:cNvSpPr>
            <a:spLocks noGrp="1"/>
          </p:cNvSpPr>
          <p:nvPr/>
        </p:nvSpPr>
        <p:spPr>
          <a:xfrm>
            <a:off x="1971675" y="2743200"/>
            <a:ext cx="4619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이전 차단 로직 잔존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FD1A61-8D8C-460A-ABCA-B231BDDF0EFB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123950" cy="581025"/>
          </a:xfrm>
          <a:prstGeom prst="roundRect">
            <a:avLst>
              <a:gd name="adj" fmla="val 819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기준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E925047-B3EB-44CF-B8FE-9642A92BF879}"/>
              </a:ext>
            </a:extLst>
          </p:cNvPr>
          <p:cNvSpPr>
            <a:spLocks noGrp="1"/>
          </p:cNvSpPr>
          <p:nvPr/>
        </p:nvSpPr>
        <p:spPr>
          <a:xfrm>
            <a:off x="1971675" y="3648075"/>
            <a:ext cx="4619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 노출·실제 진입·수정 가능한 항목을 확인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609E0A2-D112-45C0-8EE5-0910CF6F94FA}"/>
              </a:ext>
            </a:extLst>
          </p:cNvPr>
          <p:cNvSpPr>
            <a:spLocks noGrp="1"/>
          </p:cNvSpPr>
          <p:nvPr/>
        </p:nvSpPr>
        <p:spPr>
          <a:xfrm>
            <a:off x="7096125" y="1704975"/>
            <a:ext cx="4486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메뉴의 추가 여부를 확인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96125" y="2397034"/>
            <a:ext cx="2171700" cy="189248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0225" y="2397034"/>
            <a:ext cx="2171700" cy="1892481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D7F4C1-346E-4D5F-A734-870421855B00}"/>
              </a:ext>
            </a:extLst>
          </p:cNvPr>
          <p:cNvSpPr>
            <a:spLocks noGrp="1"/>
          </p:cNvSpPr>
          <p:nvPr/>
        </p:nvSpPr>
        <p:spPr>
          <a:xfrm>
            <a:off x="7239000" y="4591050"/>
            <a:ext cx="1905000" cy="266700"/>
          </a:xfrm>
          <a:prstGeom prst="roundRect">
            <a:avLst>
              <a:gd name="adj" fmla="val 17857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 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FF1CE9A-3EA8-48FA-9EFE-23B0917E5B3A}"/>
              </a:ext>
            </a:extLst>
          </p:cNvPr>
          <p:cNvSpPr>
            <a:spLocks noGrp="1"/>
          </p:cNvSpPr>
          <p:nvPr/>
        </p:nvSpPr>
        <p:spPr>
          <a:xfrm>
            <a:off x="9553575" y="4591050"/>
            <a:ext cx="1905000" cy="266700"/>
          </a:xfrm>
          <a:prstGeom prst="roundRect">
            <a:avLst>
              <a:gd name="adj" fmla="val 17857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6" name="text-13">
            <a:extLst>
              <a:ext uri="{FF2B5EF4-FFF2-40B4-BE49-F238E27FC236}">
                <a16:creationId xmlns:a16="http://schemas.microsoft.com/office/drawing/2014/main" id="{1E295514-8500-4794-BFC2-6048B8A81708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같은 기능을 다른 조건에서도 확인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5324475"/>
          <a:ext cx="10972800" cy="1143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서버·실제 계정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수정 메뉴 클릭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 후 화면 진입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항목과 변경 가능 항목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아이디·주소 / 연락처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고정값은 보호, 허용 항목만 수정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741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7DDD57D6-9A79-4340-A046-168D0637E05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2228281-22B5-4A73-97B9-D2B7FB9D374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1BD71DC-6F4C-4D79-AC7C-C5468C92AAB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피드백으로 화면을 다시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5A34D3A-05A7-45C2-BF3F-C4ABD51D4224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운영 반영: 반복해서 하는 행동과 누락된 현장 요청을 화면에 반영했습니다.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0A1033D3-7D44-4385-8E23-9945D6D03E5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거래명세서를 주문내역에서 바로 출력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7761" y="2190750"/>
            <a:ext cx="1765877" cy="153352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784311" y="2190750"/>
            <a:ext cx="1765877" cy="1533525"/>
          </a:xfrm>
          <a:prstGeom prst="rect">
            <a:avLst/>
          </a:prstGeom>
        </p:spPr>
      </p:pic>
      <p:sp>
        <p:nvSpPr>
          <p:cNvPr id="8" name="text-5">
            <a:extLst>
              <a:ext uri="{FF2B5EF4-FFF2-40B4-BE49-F238E27FC236}">
                <a16:creationId xmlns:a16="http://schemas.microsoft.com/office/drawing/2014/main" id="{E4EED6E2-5928-457B-AFE6-A27BD4B1993D}"/>
              </a:ext>
            </a:extLst>
          </p:cNvPr>
          <p:cNvSpPr>
            <a:spLocks noGrp="1"/>
          </p:cNvSpPr>
          <p:nvPr/>
        </p:nvSpPr>
        <p:spPr>
          <a:xfrm>
            <a:off x="3095625" y="277177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C55411A2-F0D7-4026-821C-4F0CB8FE7BB4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2362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요청 전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90B5C23C-1ECC-4D2E-A84D-C81785B3AB9F}"/>
              </a:ext>
            </a:extLst>
          </p:cNvPr>
          <p:cNvSpPr>
            <a:spLocks noGrp="1"/>
          </p:cNvSpPr>
          <p:nvPr/>
        </p:nvSpPr>
        <p:spPr>
          <a:xfrm>
            <a:off x="3486150" y="3838575"/>
            <a:ext cx="2362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1" name="text-8">
            <a:extLst>
              <a:ext uri="{FF2B5EF4-FFF2-40B4-BE49-F238E27FC236}">
                <a16:creationId xmlns:a16="http://schemas.microsoft.com/office/drawing/2014/main" id="{E693EE14-2222-4A3E-BF8D-5F3250E262EA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5257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1개, 취소·환불 주문은 제외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구매확정·리뷰 기능은 주문상세에 유지</a:t>
            </a:r>
          </a:p>
        </p:txBody>
      </p:sp>
      <p:sp>
        <p:nvSpPr>
          <p:cNvPr id="12" name="text-9">
            <a:extLst>
              <a:ext uri="{FF2B5EF4-FFF2-40B4-BE49-F238E27FC236}">
                <a16:creationId xmlns:a16="http://schemas.microsoft.com/office/drawing/2014/main" id="{8981EED7-D57D-4D09-A820-EAAD2B7C62FF}"/>
              </a:ext>
            </a:extLst>
          </p:cNvPr>
          <p:cNvSpPr>
            <a:spLocks noGrp="1"/>
          </p:cNvSpPr>
          <p:nvPr/>
        </p:nvSpPr>
        <p:spPr>
          <a:xfrm>
            <a:off x="6267450" y="1714500"/>
            <a:ext cx="5314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삭제했던 배송 메시지 입력칸 복원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67450" y="2356982"/>
            <a:ext cx="5314950" cy="1324886"/>
          </a:xfrm>
          <a:prstGeom prst="rect">
            <a:avLst/>
          </a:prstGeom>
        </p:spPr>
      </p:pic>
      <p:sp>
        <p:nvSpPr>
          <p:cNvPr id="14" name="text-10">
            <a:extLst>
              <a:ext uri="{FF2B5EF4-FFF2-40B4-BE49-F238E27FC236}">
                <a16:creationId xmlns:a16="http://schemas.microsoft.com/office/drawing/2014/main" id="{59B3D509-D005-481F-A734-62F31DACF183}"/>
              </a:ext>
            </a:extLst>
          </p:cNvPr>
          <p:cNvSpPr>
            <a:spLocks noGrp="1"/>
          </p:cNvSpPr>
          <p:nvPr/>
        </p:nvSpPr>
        <p:spPr>
          <a:xfrm>
            <a:off x="6267450" y="4324350"/>
            <a:ext cx="53149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1차 QA에서 제거했던 입력칸을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시 요청을 받는 용도로 다시 반영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F8A3D0-5EE2-4440-A9CF-8128292AB7EE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981075"/>
          </a:xfrm>
          <a:prstGeom prst="roundRect">
            <a:avLst>
              <a:gd name="adj" fmla="val 6796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2">
            <a:extLst>
              <a:ext uri="{FF2B5EF4-FFF2-40B4-BE49-F238E27FC236}">
                <a16:creationId xmlns:a16="http://schemas.microsoft.com/office/drawing/2014/main" id="{B266A476-284B-434E-AF3C-FE4BA2A0C80D}"/>
              </a:ext>
            </a:extLst>
          </p:cNvPr>
          <p:cNvSpPr>
            <a:spLocks noGrp="1"/>
          </p:cNvSpPr>
          <p:nvPr/>
        </p:nvSpPr>
        <p:spPr>
          <a:xfrm>
            <a:off x="819150" y="5505450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것</a:t>
            </a:r>
          </a:p>
        </p:txBody>
      </p:sp>
      <p:sp>
        <p:nvSpPr>
          <p:cNvPr id="17" name="text-13">
            <a:extLst>
              <a:ext uri="{FF2B5EF4-FFF2-40B4-BE49-F238E27FC236}">
                <a16:creationId xmlns:a16="http://schemas.microsoft.com/office/drawing/2014/main" id="{ADB78B75-2779-4E87-BF0D-4AA5A029B6DE}"/>
              </a:ext>
            </a:extLst>
          </p:cNvPr>
          <p:cNvSpPr>
            <a:spLocks noGrp="1"/>
          </p:cNvSpPr>
          <p:nvPr/>
        </p:nvSpPr>
        <p:spPr>
          <a:xfrm>
            <a:off x="3152775" y="5495925"/>
            <a:ext cx="82200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화면을 단순하게 만드는 것만으로 업무가 끝나지 않았습니다.</a:t>
            </a:r>
          </a:p>
          <a:p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자주 쓰는 행동은 앞에 두고, 실제로 필요한 입력은 다시 남겼습니다.</a:t>
            </a:r>
          </a:p>
        </p:txBody>
      </p:sp>
    </p:spTree>
    <p:extLst>
      <p:ext uri="{BB962C8B-B14F-4D97-AF65-F5344CB8AC3E}">
        <p14:creationId xmlns:p14="http://schemas.microsoft.com/office/powerpoint/2010/main" val="2096859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">
            <a:extLst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038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828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noGrp="1"/>
          </p:cNvSpPr>
          <p:nvPr/>
        </p:nvSpPr>
        <p:spPr>
          <a:xfrm>
            <a:off x="6324600" y="2181225"/>
            <a:ext cx="2657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noGrp="1"/>
          </p:cNvSpPr>
          <p:nvPr/>
        </p:nvSpPr>
        <p:spPr>
          <a:xfrm>
            <a:off x="9134475" y="2171700"/>
            <a:ext cx="2447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1343025"/>
          </a:xfrm>
          <a:prstGeom prst="roundRect">
            <a:avLst>
              <a:gd name="adj" fmla="val 425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noGrp="1"/>
          </p:cNvSpPr>
          <p:nvPr/>
        </p:nvSpPr>
        <p:spPr>
          <a:xfrm>
            <a:off x="3467100" y="4543425"/>
            <a:ext cx="7867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noGrp="1"/>
          </p:cNvSpPr>
          <p:nvPr/>
        </p:nvSpPr>
        <p:spPr>
          <a:xfrm>
            <a:off x="809625" y="5305425"/>
            <a:ext cx="10506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</p:spTree>
    <p:extLst>
      <p:ext uri="{BB962C8B-B14F-4D97-AF65-F5344CB8AC3E}">
        <p14:creationId xmlns:p14="http://schemas.microsoft.com/office/powerpoint/2010/main" val="847759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E13C29-5E99-46BD-9BAE-0E0A62A53C63}"/>
              </a:ext>
            </a:extLst>
          </p:cNvPr>
          <p:cNvSpPr>
            <a:spLocks noGrp="1"/>
          </p:cNvSpPr>
          <p:nvPr/>
        </p:nvSpPr>
        <p:spPr>
          <a:xfrm>
            <a:off x="8296275" y="0"/>
            <a:ext cx="3895725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A4CC474-F6C4-4B22-B5F9-93D13182F41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580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현장의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구조로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바꾸고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lang="ko-KR" altLang="en-US"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에 도입과 추가 개선을 파악합니다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CF8E9AC4-F638-4C6F-AAEC-B4F750179439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6638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두 프로젝트에서 만든 업무 방식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9DDE6BB-C4FD-400D-87D6-26CBEAD477CD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B108A3F-957A-4D8C-BB45-15FC4FB2BCDE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정책의 기준을 구체적인 예외까지 내려 씁니다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46E90D3-E128-4394-B9B6-1802AE0270FA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주문과 포장을 구분하고, 같은 결제수단의 혼합주문 예외를 확인했습니다.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6A834AD-CFED-4064-9D59-6315F2E4C2C7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CE8214D9-22CA-4D62-9606-5E2C98F0A1B0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시스템 제약과 운영 영향을 함께 판단합니다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BD0B45AB-03F8-4530-9A04-78F72CD1D86F}"/>
              </a:ext>
            </a:extLst>
          </p:cNvPr>
          <p:cNvSpPr>
            <a:spLocks noGrp="1"/>
          </p:cNvSpPr>
          <p:nvPr/>
        </p:nvSpPr>
        <p:spPr>
          <a:xfrm>
            <a:off x="990600" y="45815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혼재 주문의 내수 지연을 수용하고, 포인트 정리에 담당자 확인을 남겼습니다.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C712E0F-8A4D-4FAE-A144-599249BCF516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49305D4-0A4D-4DF1-A517-463B3351386D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완료는 실제 운영의 기대 결과로 판단합니다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4A70739-1538-4767-8B64-C2D06BA66BA8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오류 수정·재제출과 B2B 고객 화면을 검증하고 초기 결과를 관찰했습니다.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CA1C7E3-F5EC-4939-BB7F-C4D6DE7724DF}"/>
              </a:ext>
            </a:extLst>
          </p:cNvPr>
          <p:cNvSpPr>
            <a:spLocks noGrp="1"/>
          </p:cNvSpPr>
          <p:nvPr/>
        </p:nvSpPr>
        <p:spPr>
          <a:xfrm>
            <a:off x="849630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B0662F3F-3102-43AE-88F7-AA7BDCDE5C4E}"/>
              </a:ext>
            </a:extLst>
          </p:cNvPr>
          <p:cNvSpPr>
            <a:spLocks noGrp="1"/>
          </p:cNvSpPr>
          <p:nvPr/>
        </p:nvSpPr>
        <p:spPr>
          <a:xfrm>
            <a:off x="8505825" y="3638550"/>
            <a:ext cx="3362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9B88D68-09C3-491F-AA7C-41002889180A}"/>
              </a:ext>
            </a:extLst>
          </p:cNvPr>
          <p:cNvSpPr>
            <a:spLocks noGrp="1"/>
          </p:cNvSpPr>
          <p:nvPr/>
        </p:nvSpPr>
        <p:spPr>
          <a:xfrm>
            <a:off x="8515350" y="4238625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6286571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2958</Words>
  <Application>Microsoft Office PowerPoint</Application>
  <DocSecurity>0</DocSecurity>
  <PresentationFormat>와이드스크린</PresentationFormat>
  <Paragraphs>602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박종혁 PM 포트폴리오 v4.3</dc:title>
  <dc:creator>박종혁</dc:creator>
  <cp:lastModifiedBy>Jong Park</cp:lastModifiedBy>
  <cp:revision>10</cp:revision>
  <dcterms:created xsi:type="dcterms:W3CDTF">2026-09-17T06:12:23Z</dcterms:created>
  <dcterms:modified xsi:type="dcterms:W3CDTF">2026-09-17T11:41:08Z</dcterms:modified>
</cp:coreProperties>
</file>