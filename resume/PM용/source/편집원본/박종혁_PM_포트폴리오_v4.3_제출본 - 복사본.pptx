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C-002·003·010a·025·039·077~087·126.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C-021·022·025·031·039.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C-020~028·101·126. 운영 시작과 전체 자동화 완료는 구분.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C-025·028·101·126. planning_v7.html 4·8·9절. 원본은 내부 문서로 도표를 일반화해 재구성.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C-025·028·126. 기준 디자인 원본 5장 대안 비교·책임 분담. 각 개발사의 실제 구현을 본인의 단독 개발로 표현하지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C-025·028·101·128. planning_v7.html 4·8·9절. 재구성 흐름도.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C-029. planning_v7.html 8절 공통 식별자. orderNo는 원주문번호, erpPackageOrderNo는 ERP 포장번호, 병합키는 hwbNo+orderNo. 시뮬레이션은 실제 주문·운영 로그가 아님.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C-127. 리스크·질의대장 2026-08-26 협의 이력(572·622행). 실제 당시 의사결정 사례이며 현재 모든 채널에 적용되는 일괄 정책으로 확대하지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C-128. planning_v7.html 9절 상태와 재시도. merged는 통관 완료가 아니며 pending은 대기와 검증 실패를 조회로 구분. 구현 완료 상태는 주장하지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C-027. 2026-08-28 사용자 직접 확인: 운영 환경 30건 검증, 테스트 목적 30/30 통과. 유형별 건수와 오류코드는 원본 로그가 없어 기재하지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C-100·101·102·103. 2026-09-15 사용자 확인 운영 집계. 후속 통관정보 보완 웹서비스는 기획 중이며 배포나 효과 검증 완료가 아님.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C-030~039·076. 사업 규모와 확정 일정. 계약 항목 전체 완료와 핵심 서비스 가동을 구분.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C-030·035·040·042·043. 기준 디자인 원본 10장 업무 흐름. 초기 오출고 전체 측정 범위와 문의 환산 기준은 결과 장에 명시.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C-035·036·130. 대안 비교와 범위 제외 근거. 공급사 직접 입력·입금자동매칭은 구현 증빙 수준이 달라 핵심 성과에서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C-033·129. 산후조리원몰_과업내역_처리결과.html 과업1, 228~250행. 수치가 포함된 계정·상품 데이터는 캡처에서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C-047·048·131·132. 실제 운영 홈·마이페이지 캡처. 업무 흐름은 현재 정책 기반 재구성. 공급사별 권한·송장입력은 증거 부족으로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C-034. 산후조리원몰_과업내역_처리결과.html 322~327행. 실제 주문을 재현한 로그가 아닌 정책 설명 시뮬레이션.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C-036·130. 산후조리원몰_과업내역_처리결과.html 452~477행. 자동 실행 대신 담당자 확인 후 실행 결정과 안전장치 근거.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C-038·046. 산후조리원몰_과업내역_처리결과.html 329~344행. 수용 기준은 실제 문제·요구사항을 바탕으로 재구성.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C-131. 산후조리원몰_과업내역_처리결과.html 695~721행. 2026-08-13 운영 반영 및 고객 화면 확인 명시. 개발사 구현과 본인 요구·운영 검수 역할을 구분.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C-031·040·042·043·044. 정산시간 C-041은 비교 월 미확인으로 제외. 입금자동매칭 완료·서비스 밖 문의 개선을 주장하지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C-025·027·029·034·038·040·042·126~131.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20A28E75-5360-43D0-A24D-5E6E706038BC}"/>
              </a:ext>
            </a:extLst>
          </p:cNvPr>
          <p:cNvSpPr>
            <a:spLocks noGrp="1"/>
          </p:cNvSpPr>
          <p:nvPr/>
        </p:nvSpPr>
        <p:spPr>
          <a:xfrm>
            <a:off x="7734300" y="0"/>
            <a:ext cx="4457700" cy="68580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82FE1DC-1F6F-4FBC-B096-CCCA9D757841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68580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현장에서 겪은 운영 문제를</a:t>
            </a:r>
          </a:p>
          <a:p>
            <a:pPr algn="l">
              <a:lnSpc>
                <a:spcPct val="125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정책과 데이터 구조로 바꿔 실제로 돌아가게 만듭니다.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176894F-BD73-4742-9BFF-ED9C3E711540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6838950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아이베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SCM팀에서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수입·물류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실무를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하며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반복되는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오류와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병목을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직접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겪었습니다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관세청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연동에서는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주문과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데이터를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연결하는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전용몰에서는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계약별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주문·결제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정책과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검수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정했습니다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개발사와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현업이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결과를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확인할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있도록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문서와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검증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흐름을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0" dirty="0" err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만들었습니다</a:t>
            </a:r>
            <a:r>
              <a:rPr sz="1125" b="0" dirty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F2A7548A-90CD-4E45-9E82-962D90AE7ECA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6191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강점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9BB8508-8777-4085-A2C7-94CBDD157F63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A1505FBA-BA6F-4D4F-964B-769B8D840721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 구조화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9C21B8A-D51A-4CA2-AC58-9867288AF3E5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반복 문의와 운영 예외를</a:t>
            </a:r>
          </a:p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정책과 요구사항으로 정리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C0A16EFE-6744-413D-B717-81D2FA552BA6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2076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B2B · 계정별 주문 기준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AF2719C6-1DC0-4276-A58F-655407DDBB69}"/>
              </a:ext>
            </a:extLst>
          </p:cNvPr>
          <p:cNvSpPr>
            <a:spLocks noGrp="1"/>
          </p:cNvSpPr>
          <p:nvPr/>
        </p:nvSpPr>
        <p:spPr>
          <a:xfrm>
            <a:off x="29718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894337E8-1F1B-4F03-A307-01C692A01CD1}"/>
              </a:ext>
            </a:extLst>
          </p:cNvPr>
          <p:cNvSpPr>
            <a:spLocks noGrp="1"/>
          </p:cNvSpPr>
          <p:nvPr/>
        </p:nvSpPr>
        <p:spPr>
          <a:xfrm>
            <a:off x="29718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이해관계자 조율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75D8D22D-76BA-41E7-9119-F8E03D8390B6}"/>
              </a:ext>
            </a:extLst>
          </p:cNvPr>
          <p:cNvSpPr>
            <a:spLocks noGrp="1"/>
          </p:cNvSpPr>
          <p:nvPr/>
        </p:nvSpPr>
        <p:spPr>
          <a:xfrm>
            <a:off x="29718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 데이터와 처리 책임을</a:t>
            </a:r>
          </a:p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개발사별로 구체화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504C33E8-560A-4296-859D-F9209374A910}"/>
              </a:ext>
            </a:extLst>
          </p:cNvPr>
          <p:cNvSpPr>
            <a:spLocks noGrp="1"/>
          </p:cNvSpPr>
          <p:nvPr/>
        </p:nvSpPr>
        <p:spPr>
          <a:xfrm>
            <a:off x="2971800" y="5248275"/>
            <a:ext cx="2076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관세청 · 주문과 포장 분리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768A8EB3-EE7F-4F21-930E-5436A69147ED}"/>
              </a:ext>
            </a:extLst>
          </p:cNvPr>
          <p:cNvSpPr>
            <a:spLocks noGrp="1"/>
          </p:cNvSpPr>
          <p:nvPr/>
        </p:nvSpPr>
        <p:spPr>
          <a:xfrm>
            <a:off x="53340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C9E716E0-AEEE-4492-A9FE-4F899684BE4B}"/>
              </a:ext>
            </a:extLst>
          </p:cNvPr>
          <p:cNvSpPr>
            <a:spLocks noGrp="1"/>
          </p:cNvSpPr>
          <p:nvPr/>
        </p:nvSpPr>
        <p:spPr>
          <a:xfrm>
            <a:off x="53340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검증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BE75B1FE-B903-4560-AF30-23D03829E347}"/>
              </a:ext>
            </a:extLst>
          </p:cNvPr>
          <p:cNvSpPr>
            <a:spLocks noGrp="1"/>
          </p:cNvSpPr>
          <p:nvPr/>
        </p:nvSpPr>
        <p:spPr>
          <a:xfrm>
            <a:off x="53340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배포 후 고객 화면과</a:t>
            </a:r>
          </a:p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 복구까지 확인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84FFE288-3B85-4160-B658-A91190672165}"/>
              </a:ext>
            </a:extLst>
          </p:cNvPr>
          <p:cNvSpPr>
            <a:spLocks noGrp="1"/>
          </p:cNvSpPr>
          <p:nvPr/>
        </p:nvSpPr>
        <p:spPr>
          <a:xfrm>
            <a:off x="5334000" y="5248275"/>
            <a:ext cx="2076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공통 · 기대 결과로 검수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4894FA9-4BA7-4558-969C-1EC21B7E0DB5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3286125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   </a:t>
            </a:r>
            <a:r>
              <a:rPr sz="1088" b="1" dirty="0" err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관세청</a:t>
            </a: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통관</a:t>
            </a: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연동</a:t>
            </a:r>
            <a:endParaRPr sz="1088" b="1" dirty="0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0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dirty="0" err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다자간</a:t>
            </a: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연동</a:t>
            </a: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과 </a:t>
            </a:r>
            <a:r>
              <a:rPr sz="1088" b="1" dirty="0" err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</a:t>
            </a:r>
            <a:r>
              <a:rPr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088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재시도</a:t>
            </a:r>
            <a:endParaRPr sz="1088" b="1" dirty="0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F0C3E12-614E-4BDF-BF3F-9BC77B848202}"/>
              </a:ext>
            </a:extLst>
          </p:cNvPr>
          <p:cNvSpPr>
            <a:spLocks noGrp="1"/>
          </p:cNvSpPr>
          <p:nvPr/>
        </p:nvSpPr>
        <p:spPr>
          <a:xfrm>
            <a:off x="4086225" y="5743575"/>
            <a:ext cx="3286125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dirty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   </a:t>
            </a:r>
            <a:r>
              <a:rPr sz="1088" b="1" dirty="0" err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산후조리원</a:t>
            </a:r>
            <a:r>
              <a:rPr sz="1088" b="1" dirty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전용</a:t>
            </a:r>
            <a:r>
              <a:rPr sz="1088" b="1" dirty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 B2B 몰</a:t>
            </a:r>
          </a:p>
          <a:p>
            <a:pPr algn="l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 dirty="0" err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계정</a:t>
            </a:r>
            <a:r>
              <a:rPr sz="1088" b="1" dirty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정책과</a:t>
            </a:r>
            <a:r>
              <a:rPr sz="1088" b="1" dirty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고객·운영</a:t>
            </a:r>
            <a:r>
              <a:rPr sz="1088" b="1" dirty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8" b="1" dirty="0" err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흐름</a:t>
            </a:r>
            <a:endParaRPr sz="1088" b="1" dirty="0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26852" y="828675"/>
            <a:ext cx="1491372" cy="2124075"/>
          </a:xfrm>
          <a:prstGeom prst="rect">
            <a:avLst/>
          </a:prstGeom>
        </p:spPr>
      </p:pic>
      <p:sp>
        <p:nvSpPr>
          <p:cNvPr id="21" name="text-19">
            <a:extLst>
              <a:ext uri="{FF2B5EF4-FFF2-40B4-BE49-F238E27FC236}">
                <a16:creationId xmlns:a16="http://schemas.microsoft.com/office/drawing/2014/main" id="{A2607CF1-90B3-4C1A-9494-5F73491EDF6E}"/>
              </a:ext>
            </a:extLst>
          </p:cNvPr>
          <p:cNvSpPr>
            <a:spLocks noGrp="1"/>
          </p:cNvSpPr>
          <p:nvPr/>
        </p:nvSpPr>
        <p:spPr>
          <a:xfrm>
            <a:off x="10096500" y="923925"/>
            <a:ext cx="1581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경력</a:t>
            </a:r>
          </a:p>
        </p:txBody>
      </p:sp>
      <p:sp>
        <p:nvSpPr>
          <p:cNvPr id="22" name="text-20">
            <a:extLst>
              <a:ext uri="{FF2B5EF4-FFF2-40B4-BE49-F238E27FC236}">
                <a16:creationId xmlns:a16="http://schemas.microsoft.com/office/drawing/2014/main" id="{DAC8525F-2DB3-4FC7-8B48-53CD4280EB88}"/>
              </a:ext>
            </a:extLst>
          </p:cNvPr>
          <p:cNvSpPr>
            <a:spLocks noGrp="1"/>
          </p:cNvSpPr>
          <p:nvPr/>
        </p:nvSpPr>
        <p:spPr>
          <a:xfrm>
            <a:off x="10096500" y="1200150"/>
            <a:ext cx="1581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아이베 SCM팀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028CD226-E66A-45E5-8D4D-0C7BFCDA27B9}"/>
              </a:ext>
            </a:extLst>
          </p:cNvPr>
          <p:cNvSpPr>
            <a:spLocks noGrp="1"/>
          </p:cNvSpPr>
          <p:nvPr/>
        </p:nvSpPr>
        <p:spPr>
          <a:xfrm>
            <a:off x="10096500" y="1466850"/>
            <a:ext cx="15811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2025-09-08 ~ 재직 중</a:t>
            </a:r>
          </a:p>
          <a:p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SCM 실무·프로젝트 PM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4CABEDD0-9045-49B8-B915-F45E65CDF514}"/>
              </a:ext>
            </a:extLst>
          </p:cNvPr>
          <p:cNvSpPr>
            <a:spLocks noGrp="1"/>
          </p:cNvSpPr>
          <p:nvPr/>
        </p:nvSpPr>
        <p:spPr>
          <a:xfrm>
            <a:off x="10096500" y="2105025"/>
            <a:ext cx="157162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학력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A024E9C1-4BEF-4B8A-BD33-5827573DA892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15811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고려사이버대학교</a:t>
            </a:r>
          </a:p>
          <a:p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AI·데이터과학부 재학</a:t>
            </a:r>
          </a:p>
          <a:p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2025-02 편입</a:t>
            </a:r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6B3ECC64-0F0E-4E3A-BED4-F3DC7414E5C4}"/>
              </a:ext>
            </a:extLst>
          </p:cNvPr>
          <p:cNvSpPr>
            <a:spLocks noGrp="1"/>
          </p:cNvSpPr>
          <p:nvPr/>
        </p:nvSpPr>
        <p:spPr>
          <a:xfrm>
            <a:off x="10096500" y="3105150"/>
            <a:ext cx="1581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부천대 컴퓨터소프트웨어과</a:t>
            </a:r>
          </a:p>
          <a:p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2019-03 ~ 2024-02 졸업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F5F66A04-5B59-4461-80C0-0F92E6404867}"/>
              </a:ext>
            </a:extLst>
          </p:cNvPr>
          <p:cNvSpPr>
            <a:spLocks noGrp="1"/>
          </p:cNvSpPr>
          <p:nvPr/>
        </p:nvSpPr>
        <p:spPr>
          <a:xfrm>
            <a:off x="8181975" y="3848100"/>
            <a:ext cx="3181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SKILL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86D45F6-4921-4211-A58A-186CCDA68903}"/>
              </a:ext>
            </a:extLst>
          </p:cNvPr>
          <p:cNvSpPr>
            <a:spLocks noGrp="1"/>
          </p:cNvSpPr>
          <p:nvPr/>
        </p:nvSpPr>
        <p:spPr>
          <a:xfrm>
            <a:off x="8181975" y="4257675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</a:t>
            </a:r>
          </a:p>
        </p:txBody>
      </p:sp>
      <p:sp>
        <p:nvSpPr>
          <p:cNvPr id="29" name="text-27">
            <a:extLst>
              <a:ext uri="{FF2B5EF4-FFF2-40B4-BE49-F238E27FC236}">
                <a16:creationId xmlns:a16="http://schemas.microsoft.com/office/drawing/2014/main" id="{FADB4B22-09AE-486A-9545-331F65D7388A}"/>
              </a:ext>
            </a:extLst>
          </p:cNvPr>
          <p:cNvSpPr>
            <a:spLocks noGrp="1"/>
          </p:cNvSpPr>
          <p:nvPr/>
        </p:nvSpPr>
        <p:spPr>
          <a:xfrm>
            <a:off x="8181975" y="4619625"/>
            <a:ext cx="328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요구사항 정의, 정책 설계, 데이터 흐름, QA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EE1EE4A-3804-4D21-96DF-321CDB367DD9}"/>
              </a:ext>
            </a:extLst>
          </p:cNvPr>
          <p:cNvSpPr>
            <a:spLocks noGrp="1"/>
          </p:cNvSpPr>
          <p:nvPr/>
        </p:nvSpPr>
        <p:spPr>
          <a:xfrm>
            <a:off x="8181975" y="5133975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31" name="text-29">
            <a:extLst>
              <a:ext uri="{FF2B5EF4-FFF2-40B4-BE49-F238E27FC236}">
                <a16:creationId xmlns:a16="http://schemas.microsoft.com/office/drawing/2014/main" id="{7697422B-ACE0-4892-8C1D-6EB11A873908}"/>
              </a:ext>
            </a:extLst>
          </p:cNvPr>
          <p:cNvSpPr>
            <a:spLocks noGrp="1"/>
          </p:cNvSpPr>
          <p:nvPr/>
        </p:nvSpPr>
        <p:spPr>
          <a:xfrm>
            <a:off x="8181975" y="5495925"/>
            <a:ext cx="3286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Python, SQL, REST API, Git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0B7F863-B86B-4EEB-A642-45801C7D753C}"/>
              </a:ext>
            </a:extLst>
          </p:cNvPr>
          <p:cNvSpPr>
            <a:spLocks noGrp="1"/>
          </p:cNvSpPr>
          <p:nvPr/>
        </p:nvSpPr>
        <p:spPr>
          <a:xfrm>
            <a:off x="8181975" y="5943600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50A90BBC-3F02-4174-BEAE-63FC57233202}"/>
              </a:ext>
            </a:extLst>
          </p:cNvPr>
          <p:cNvSpPr>
            <a:spLocks noGrp="1"/>
          </p:cNvSpPr>
          <p:nvPr/>
        </p:nvSpPr>
        <p:spPr>
          <a:xfrm>
            <a:off x="8181975" y="6296025"/>
            <a:ext cx="32861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 조율, 운영 피드백, 지표와 검수 기준</a:t>
            </a:r>
          </a:p>
        </p:txBody>
      </p:sp>
    </p:spTree>
    <p:extLst>
      <p:ext uri="{BB962C8B-B14F-4D97-AF65-F5344CB8AC3E}">
        <p14:creationId xmlns:p14="http://schemas.microsoft.com/office/powerpoint/2010/main" val="153723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-0">
            <a:extLst>
              <a:ext uri="{FF2B5EF4-FFF2-40B4-BE49-F238E27FC236}">
                <a16:creationId xmlns:a16="http://schemas.microsoft.com/office/drawing/2014/main" id="{3DA55D58-7AA7-4F19-9F26-71A72258D67D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02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0E77DA3-5510-42D7-99B6-DC2D02F39C38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E578E654-CDE1-42B3-8526-7D75273EF857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Project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B965A69A-BDA1-43E9-B72C-70684CA805C1}"/>
              </a:ext>
            </a:extLst>
          </p:cNvPr>
          <p:cNvSpPr>
            <a:spLocks noGrp="1"/>
          </p:cNvSpPr>
          <p:nvPr/>
        </p:nvSpPr>
        <p:spPr>
          <a:xfrm>
            <a:off x="4381500" y="1657350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DF3C840-9160-4F8A-AA73-33CEA3597A34}"/>
              </a:ext>
            </a:extLst>
          </p:cNvPr>
          <p:cNvSpPr>
            <a:spLocks noGrp="1"/>
          </p:cNvSpPr>
          <p:nvPr/>
        </p:nvSpPr>
        <p:spPr>
          <a:xfrm>
            <a:off x="5314950" y="17240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C7B76F90-B8F1-4DA6-9E53-5F49B57F1DCD}"/>
              </a:ext>
            </a:extLst>
          </p:cNvPr>
          <p:cNvSpPr>
            <a:spLocks noGrp="1"/>
          </p:cNvSpPr>
          <p:nvPr/>
        </p:nvSpPr>
        <p:spPr>
          <a:xfrm>
            <a:off x="5362575" y="1924050"/>
            <a:ext cx="9525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BBA7501-2160-438C-A36B-A02397976B68}"/>
              </a:ext>
            </a:extLst>
          </p:cNvPr>
          <p:cNvSpPr>
            <a:spLocks noGrp="1"/>
          </p:cNvSpPr>
          <p:nvPr/>
        </p:nvSpPr>
        <p:spPr>
          <a:xfrm>
            <a:off x="5753100" y="1628775"/>
            <a:ext cx="4048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규제 대응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5E77F6B-9DCC-41A4-B381-ECB22B0EEFFD}"/>
              </a:ext>
            </a:extLst>
          </p:cNvPr>
          <p:cNvSpPr>
            <a:spLocks noGrp="1"/>
          </p:cNvSpPr>
          <p:nvPr/>
        </p:nvSpPr>
        <p:spPr>
          <a:xfrm>
            <a:off x="5753100" y="1933575"/>
            <a:ext cx="5429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관세청 통관 연동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C8195E4-A139-4FC1-B503-C61F168E88B5}"/>
              </a:ext>
            </a:extLst>
          </p:cNvPr>
          <p:cNvSpPr>
            <a:spLocks noGrp="1"/>
          </p:cNvSpPr>
          <p:nvPr/>
        </p:nvSpPr>
        <p:spPr>
          <a:xfrm>
            <a:off x="5753100" y="2438400"/>
            <a:ext cx="55435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03–11   주문·포장·통관 데이터를 연결하는 기준과 오류 복구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F39620D4-9E0E-4F9E-9089-99C16B03FEEC}"/>
              </a:ext>
            </a:extLst>
          </p:cNvPr>
          <p:cNvSpPr>
            <a:spLocks noGrp="1"/>
          </p:cNvSpPr>
          <p:nvPr/>
        </p:nvSpPr>
        <p:spPr>
          <a:xfrm>
            <a:off x="5753100" y="2952750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2026-02 시작 / 2026-08-28 운영 전환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4D400308-C1FD-43F3-8F15-635555A96551}"/>
              </a:ext>
            </a:extLst>
          </p:cNvPr>
          <p:cNvSpPr>
            <a:spLocks noGrp="1"/>
          </p:cNvSpPr>
          <p:nvPr/>
        </p:nvSpPr>
        <p:spPr>
          <a:xfrm>
            <a:off x="5753100" y="3276600"/>
            <a:ext cx="5524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계약 · 의사결정 · 운영 검증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53A76685-FFD3-4351-8856-7EAD817B629F}"/>
              </a:ext>
            </a:extLst>
          </p:cNvPr>
          <p:cNvSpPr>
            <a:spLocks noGrp="1"/>
          </p:cNvSpPr>
          <p:nvPr/>
        </p:nvSpPr>
        <p:spPr>
          <a:xfrm>
            <a:off x="4381500" y="3886200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9B55234-EBEE-4D37-B886-FBFCC08A7CD6}"/>
              </a:ext>
            </a:extLst>
          </p:cNvPr>
          <p:cNvSpPr>
            <a:spLocks noGrp="1"/>
          </p:cNvSpPr>
          <p:nvPr/>
        </p:nvSpPr>
        <p:spPr>
          <a:xfrm>
            <a:off x="5314950" y="39528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346E3BE0-8A9B-4285-A060-4C1EE992F384}"/>
              </a:ext>
            </a:extLst>
          </p:cNvPr>
          <p:cNvSpPr>
            <a:spLocks noGrp="1"/>
          </p:cNvSpPr>
          <p:nvPr/>
        </p:nvSpPr>
        <p:spPr>
          <a:xfrm>
            <a:off x="5362575" y="4152900"/>
            <a:ext cx="9525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09D16C8B-693D-481F-8E73-8961E17DFC9C}"/>
              </a:ext>
            </a:extLst>
          </p:cNvPr>
          <p:cNvSpPr>
            <a:spLocks noGrp="1"/>
          </p:cNvSpPr>
          <p:nvPr/>
        </p:nvSpPr>
        <p:spPr>
          <a:xfrm>
            <a:off x="5753100" y="3857625"/>
            <a:ext cx="4048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디지털화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66467A0C-80AC-429F-A7F9-DAB350DA8E76}"/>
              </a:ext>
            </a:extLst>
          </p:cNvPr>
          <p:cNvSpPr>
            <a:spLocks noGrp="1"/>
          </p:cNvSpPr>
          <p:nvPr/>
        </p:nvSpPr>
        <p:spPr>
          <a:xfrm>
            <a:off x="5753100" y="4162425"/>
            <a:ext cx="5429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산후조리원 전용 B2B 몰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4531ECB6-96A8-44B3-AC89-EA76FDAA94EE}"/>
              </a:ext>
            </a:extLst>
          </p:cNvPr>
          <p:cNvSpPr>
            <a:spLocks noGrp="1"/>
          </p:cNvSpPr>
          <p:nvPr/>
        </p:nvSpPr>
        <p:spPr>
          <a:xfrm>
            <a:off x="5753100" y="4667250"/>
            <a:ext cx="55435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12–21   계정별 정책과 주문 예외를 시스템의 규칙으로 전환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95861FD-89F3-4E33-8A59-4FDE12914C16}"/>
              </a:ext>
            </a:extLst>
          </p:cNvPr>
          <p:cNvSpPr>
            <a:spLocks noGrp="1"/>
          </p:cNvSpPr>
          <p:nvPr/>
        </p:nvSpPr>
        <p:spPr>
          <a:xfrm>
            <a:off x="5753100" y="5181600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2026-06 기획 / 2026-07-16 핵심 흐름 가동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36964C29-F94D-49F3-ABE7-D7328FB84B68}"/>
              </a:ext>
            </a:extLst>
          </p:cNvPr>
          <p:cNvSpPr>
            <a:spLocks noGrp="1"/>
          </p:cNvSpPr>
          <p:nvPr/>
        </p:nvSpPr>
        <p:spPr>
          <a:xfrm>
            <a:off x="5753100" y="5505450"/>
            <a:ext cx="5524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 · 범위 결정 · 운영 개선</a:t>
            </a:r>
          </a:p>
        </p:txBody>
      </p:sp>
    </p:spTree>
    <p:extLst>
      <p:ext uri="{BB962C8B-B14F-4D97-AF65-F5344CB8AC3E}">
        <p14:creationId xmlns:p14="http://schemas.microsoft.com/office/powerpoint/2010/main" val="1657004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54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16975EF0-ECB0-448B-8BFC-CBBA6EB9F77E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03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9F0550E5-4474-4697-B0FE-3F7E54F184F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01.  규제 대응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D36EF6-407F-4CB3-B10D-93CEF2EC3B6B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KCS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0B419F7-1118-4A3F-A875-0010AC742E26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관세청 통관 연동과 운영 전환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65385AC3-641A-4F59-8E83-D3E29A686E3F}"/>
              </a:ext>
            </a:extLst>
          </p:cNvPr>
          <p:cNvSpPr>
            <a:spLocks noGrp="1"/>
          </p:cNvSpPr>
          <p:nvPr/>
        </p:nvSpPr>
        <p:spPr>
          <a:xfrm>
            <a:off x="1752600" y="2143125"/>
            <a:ext cx="56864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여러 시스템에 나뉜 주문과 물류 데이터를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같은 기준으로 확인할 수 있도록 연결했습니다.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581C82CB-7BD8-4B1C-9591-9BAA3ECF6268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663279C-58C5-4B53-89E4-63A1DF3D3F89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시스템마다 다른 주문 단위와 완료 기준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B9E1FC3A-4AF6-450D-817F-7B60802FFB6A}"/>
              </a:ext>
            </a:extLst>
          </p:cNvPr>
          <p:cNvSpPr>
            <a:spLocks noGrp="1"/>
          </p:cNvSpPr>
          <p:nvPr/>
        </p:nvSpPr>
        <p:spPr>
          <a:xfrm>
            <a:off x="1752600" y="37814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12A93D6-DB91-44DE-9DB0-B64098124D72}"/>
              </a:ext>
            </a:extLst>
          </p:cNvPr>
          <p:cNvSpPr>
            <a:spLocks noGrp="1"/>
          </p:cNvSpPr>
          <p:nvPr/>
        </p:nvSpPr>
        <p:spPr>
          <a:xfrm>
            <a:off x="1752600" y="4067175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해외직구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고객과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주문·출고·통관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운영팀</a:t>
            </a:r>
            <a:endParaRPr sz="1163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43109DFF-44EA-480B-8801-EEC150991228}"/>
              </a:ext>
            </a:extLst>
          </p:cNvPr>
          <p:cNvSpPr>
            <a:spLocks noGrp="1"/>
          </p:cNvSpPr>
          <p:nvPr/>
        </p:nvSpPr>
        <p:spPr>
          <a:xfrm>
            <a:off x="1752600" y="45339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CCD2F13D-7A41-4FDD-90AF-9A949988ED01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누락을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발견하고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오류를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수정·재제출할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흐름</a:t>
            </a:r>
            <a:endParaRPr sz="1163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C393079-D134-4A43-925A-F873D358D60F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38475"/>
          </a:xfrm>
          <a:prstGeom prst="roundRect">
            <a:avLst>
              <a:gd name="adj" fmla="val 3448"/>
            </a:avLst>
          </a:prstGeom>
          <a:solidFill>
            <a:srgbClr val="19457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B78949DD-54DA-4FDF-8824-44C2B5DC86C7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데이터를 나눠 가진 주체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2D63758-1B0A-4216-BC51-0F69CBDC9F98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66FDAB06-6399-496E-90A1-F272DCF2BD04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EA7F828-2CF8-49CE-8F79-52E53A8FB169}"/>
              </a:ext>
            </a:extLst>
          </p:cNvPr>
          <p:cNvSpPr>
            <a:spLocks noGrp="1"/>
          </p:cNvSpPr>
          <p:nvPr/>
        </p:nvSpPr>
        <p:spPr>
          <a:xfrm>
            <a:off x="8229600" y="2466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주문·결제·고객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601887B-F817-4C8D-B24A-E934D5098475}"/>
              </a:ext>
            </a:extLst>
          </p:cNvPr>
          <p:cNvSpPr>
            <a:spLocks noGrp="1"/>
          </p:cNvSpPr>
          <p:nvPr/>
        </p:nvSpPr>
        <p:spPr>
          <a:xfrm>
            <a:off x="8039100" y="2762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3F286E9-A73C-422D-AD6B-A6A54E84720C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B8E29023-2B60-4CBD-BEC1-D52FD30F2825}"/>
              </a:ext>
            </a:extLst>
          </p:cNvPr>
          <p:cNvSpPr>
            <a:spLocks noGrp="1"/>
          </p:cNvSpPr>
          <p:nvPr/>
        </p:nvSpPr>
        <p:spPr>
          <a:xfrm>
            <a:off x="8229600" y="3038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D6B9338-871B-4294-8F0B-122381307636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17087C01-487C-4C6B-8F6B-83491AB4F869}"/>
              </a:ext>
            </a:extLst>
          </p:cNvPr>
          <p:cNvSpPr>
            <a:spLocks noGrp="1"/>
          </p:cNvSpPr>
          <p:nvPr/>
        </p:nvSpPr>
        <p:spPr>
          <a:xfrm>
            <a:off x="8229600" y="3390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0CDDA7F-5076-4A7B-96CF-CC04AD563506}"/>
              </a:ext>
            </a:extLst>
          </p:cNvPr>
          <p:cNvSpPr>
            <a:spLocks noGrp="1"/>
          </p:cNvSpPr>
          <p:nvPr/>
        </p:nvSpPr>
        <p:spPr>
          <a:xfrm>
            <a:off x="8229600" y="3609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1C20444-18ED-4378-8B73-8B18EAAAF963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D0113A1C-C903-4FD8-B914-B71E2D4893DA}"/>
              </a:ext>
            </a:extLst>
          </p:cNvPr>
          <p:cNvSpPr>
            <a:spLocks noGrp="1"/>
          </p:cNvSpPr>
          <p:nvPr/>
        </p:nvSpPr>
        <p:spPr>
          <a:xfrm>
            <a:off x="8229600" y="3962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7B154763-EC26-4E09-B069-68204CD9E0C6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 병합·수입신고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970B2E2-4263-47B8-BA59-8852490A62A0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0"/>
          </a:xfrm>
          <a:prstGeom prst="line">
            <a:avLst/>
          </a:prstGeom>
          <a:ln w="7620">
            <a:solidFill>
              <a:srgbClr val="A4C7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D3F9BECA-B77E-4B98-B7B8-B23A88978A28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155DB6D-E19D-4DA8-BDD6-AA9FBB2783DC}"/>
              </a:ext>
            </a:extLst>
          </p:cNvPr>
          <p:cNvSpPr>
            <a:spLocks noGrp="1"/>
          </p:cNvSpPr>
          <p:nvPr/>
        </p:nvSpPr>
        <p:spPr>
          <a:xfrm>
            <a:off x="1419225" y="53911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2026-02 </a:t>
            </a:r>
            <a:r>
              <a:rPr lang="en-US"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~ 2026-08</a:t>
            </a: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/ 2026-08-28 </a:t>
            </a:r>
            <a:r>
              <a:rPr lang="ko-KR" altLang="en-US" sz="938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적용</a:t>
            </a:r>
            <a:endParaRPr sz="938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83725686-BE9C-436C-8491-ADA1C4E5C998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BE152604-B9F8-48CD-984B-14AEF3DA1658}"/>
              </a:ext>
            </a:extLst>
          </p:cNvPr>
          <p:cNvSpPr>
            <a:spLocks noGrp="1"/>
          </p:cNvSpPr>
          <p:nvPr/>
        </p:nvSpPr>
        <p:spPr>
          <a:xfrm>
            <a:off x="1419225" y="56673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프로젝트 PM: 정책·데이터 계약 정의, API 요건 조율, 오류 복구와 운영 검증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69855CDB-E59F-49E0-8F01-C903B8C5D70F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1921F731-BBF8-40A1-9134-4D827722D9E4}"/>
              </a:ext>
            </a:extLst>
          </p:cNvPr>
          <p:cNvSpPr>
            <a:spLocks noGrp="1"/>
          </p:cNvSpPr>
          <p:nvPr/>
        </p:nvSpPr>
        <p:spPr>
          <a:xfrm>
            <a:off x="1419225" y="594360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 개발사, ERP 개발사, 물류 개발사, 통관대행사, 본인확인기관</a:t>
            </a:r>
          </a:p>
        </p:txBody>
      </p:sp>
    </p:spTree>
    <p:extLst>
      <p:ext uri="{BB962C8B-B14F-4D97-AF65-F5344CB8AC3E}">
        <p14:creationId xmlns:p14="http://schemas.microsoft.com/office/powerpoint/2010/main" val="1015241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0">
            <a:extLst>
              <a:ext uri="{FF2B5EF4-FFF2-40B4-BE49-F238E27FC236}">
                <a16:creationId xmlns:a16="http://schemas.microsoft.com/office/drawing/2014/main" id="{0DCFF78D-38D6-4B57-A43A-3F1AF6211834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04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E3E4054-5CAD-489A-AC8A-FD3BCEBD4A2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7E6FDC0-017D-4440-A6D7-D09A1D5D0BE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문제 정의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F369C85-86FF-475F-9112-594A9EFB77F3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한 건이 통관·출고로 이어지는 과정에서 데이터와 책임이 갈라져 있었습니다.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147AC70-66CB-4781-815B-806394FDD279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데이터는 각 시스템에, 판단은 담당자에게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4CDD4CB-3816-4379-BE6D-355038D7E344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FA91079-E654-46E3-A77B-6CD9941F177A}"/>
              </a:ext>
            </a:extLst>
          </p:cNvPr>
          <p:cNvSpPr>
            <a:spLocks noGrp="1"/>
          </p:cNvSpPr>
          <p:nvPr/>
        </p:nvSpPr>
        <p:spPr>
          <a:xfrm>
            <a:off x="800100" y="22002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54558DB5-2657-4B97-8319-0BF574CFDEE2}"/>
              </a:ext>
            </a:extLst>
          </p:cNvPr>
          <p:cNvSpPr>
            <a:spLocks noGrp="1"/>
          </p:cNvSpPr>
          <p:nvPr/>
        </p:nvSpPr>
        <p:spPr>
          <a:xfrm>
            <a:off x="2457450" y="22002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주문·결제·고객 정보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ED5D73E-1FF7-4725-A738-CB83A46DFA79}"/>
              </a:ext>
            </a:extLst>
          </p:cNvPr>
          <p:cNvSpPr>
            <a:spLocks noGrp="1"/>
          </p:cNvSpPr>
          <p:nvPr/>
        </p:nvSpPr>
        <p:spPr>
          <a:xfrm>
            <a:off x="609600" y="26765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83F97E0-C36A-46E7-B663-006F2BB71307}"/>
              </a:ext>
            </a:extLst>
          </p:cNvPr>
          <p:cNvSpPr>
            <a:spLocks noGrp="1"/>
          </p:cNvSpPr>
          <p:nvPr/>
        </p:nvSpPr>
        <p:spPr>
          <a:xfrm>
            <a:off x="800100" y="28098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8048D134-8A14-4331-AE9C-C4DF676F3AB2}"/>
              </a:ext>
            </a:extLst>
          </p:cNvPr>
          <p:cNvSpPr>
            <a:spLocks noGrp="1"/>
          </p:cNvSpPr>
          <p:nvPr/>
        </p:nvSpPr>
        <p:spPr>
          <a:xfrm>
            <a:off x="2457450" y="28098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6DE5EB7-D04C-49CD-B6B8-A7FFF6BBC42C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2B0BFCF6-915D-4DD8-B01B-61F5344B30F2}"/>
              </a:ext>
            </a:extLst>
          </p:cNvPr>
          <p:cNvSpPr>
            <a:spLocks noGrp="1"/>
          </p:cNvSpPr>
          <p:nvPr/>
        </p:nvSpPr>
        <p:spPr>
          <a:xfrm>
            <a:off x="800100" y="34194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C93A21FE-CA60-45E5-8DDE-87C9DF30344E}"/>
              </a:ext>
            </a:extLst>
          </p:cNvPr>
          <p:cNvSpPr>
            <a:spLocks noGrp="1"/>
          </p:cNvSpPr>
          <p:nvPr/>
        </p:nvSpPr>
        <p:spPr>
          <a:xfrm>
            <a:off x="2457450" y="34194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F3AAF30-E65C-425C-AFAA-A31A604869F3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78296CA6-2DC7-4BC5-AB5B-5463CB283E3B}"/>
              </a:ext>
            </a:extLst>
          </p:cNvPr>
          <p:cNvSpPr>
            <a:spLocks noGrp="1"/>
          </p:cNvSpPr>
          <p:nvPr/>
        </p:nvSpPr>
        <p:spPr>
          <a:xfrm>
            <a:off x="800100" y="40290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CA9F8460-310B-41F1-9730-D83583E7F11C}"/>
              </a:ext>
            </a:extLst>
          </p:cNvPr>
          <p:cNvSpPr>
            <a:spLocks noGrp="1"/>
          </p:cNvSpPr>
          <p:nvPr/>
        </p:nvSpPr>
        <p:spPr>
          <a:xfrm>
            <a:off x="2457450" y="40290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병합·수입신고·통관 상태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B83062DC-A8EF-4F15-806C-0DC05C81E358}"/>
              </a:ext>
            </a:extLst>
          </p:cNvPr>
          <p:cNvSpPr>
            <a:spLocks noGrp="1"/>
          </p:cNvSpPr>
          <p:nvPr/>
        </p:nvSpPr>
        <p:spPr>
          <a:xfrm>
            <a:off x="6248400" y="16764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수기 전송만으로 남는 운영 공백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2B977250-6B64-47BE-BA73-E991EC115888}"/>
              </a:ext>
            </a:extLst>
          </p:cNvPr>
          <p:cNvSpPr>
            <a:spLocks noGrp="1"/>
          </p:cNvSpPr>
          <p:nvPr/>
        </p:nvSpPr>
        <p:spPr>
          <a:xfrm>
            <a:off x="6248400" y="2152650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D0FA9D4F-8B4C-4A31-A555-460AAAE0E612}"/>
              </a:ext>
            </a:extLst>
          </p:cNvPr>
          <p:cNvSpPr>
            <a:spLocks noGrp="1"/>
          </p:cNvSpPr>
          <p:nvPr/>
        </p:nvSpPr>
        <p:spPr>
          <a:xfrm>
            <a:off x="6629400" y="2152650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주문번호와 포장번호가 달라 같은 주문을 대조하기 어려움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A943ACDA-A447-48FB-A1C7-60282B412D16}"/>
              </a:ext>
            </a:extLst>
          </p:cNvPr>
          <p:cNvSpPr>
            <a:spLocks noGrp="1"/>
          </p:cNvSpPr>
          <p:nvPr/>
        </p:nvSpPr>
        <p:spPr>
          <a:xfrm>
            <a:off x="6248400" y="292417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F1B93F1B-8FF1-4316-8881-5F47CC87F348}"/>
              </a:ext>
            </a:extLst>
          </p:cNvPr>
          <p:cNvSpPr>
            <a:spLocks noGrp="1"/>
          </p:cNvSpPr>
          <p:nvPr/>
        </p:nvSpPr>
        <p:spPr>
          <a:xfrm>
            <a:off x="6629400" y="2924175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응답과 통관 완료를 같은 상태로 오인할 수 있음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3141C3C7-1A4E-4E90-B2B1-2773AE942D62}"/>
              </a:ext>
            </a:extLst>
          </p:cNvPr>
          <p:cNvSpPr>
            <a:spLocks noGrp="1"/>
          </p:cNvSpPr>
          <p:nvPr/>
        </p:nvSpPr>
        <p:spPr>
          <a:xfrm>
            <a:off x="6248400" y="3695700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D7026395-F677-4A0D-8E6E-61917947A297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오류가 났을 때 수정할 원천과 재처리 담당이 불명확함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6D45921-BE1C-4169-AB14-B65E933EE3F7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1076325"/>
          </a:xfrm>
          <a:prstGeom prst="roundRect">
            <a:avLst>
              <a:gd name="adj" fmla="val 5310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99432F87-61BA-4F1B-B8C8-317C4837B2D8}"/>
              </a:ext>
            </a:extLst>
          </p:cNvPr>
          <p:cNvSpPr>
            <a:spLocks noGrp="1"/>
          </p:cNvSpPr>
          <p:nvPr/>
        </p:nvSpPr>
        <p:spPr>
          <a:xfrm>
            <a:off x="800100" y="5153025"/>
            <a:ext cx="1276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57689664-402D-4CBF-8AAE-0EEBE7C64D33}"/>
              </a:ext>
            </a:extLst>
          </p:cNvPr>
          <p:cNvSpPr>
            <a:spLocks noGrp="1"/>
          </p:cNvSpPr>
          <p:nvPr/>
        </p:nvSpPr>
        <p:spPr>
          <a:xfrm>
            <a:off x="2171700" y="5162550"/>
            <a:ext cx="9144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누가 어떤 데이터를 책임지고,</a:t>
            </a:r>
          </a:p>
          <a:p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어느 상태를 근거로 다음 작업을 진행할 것인가</a:t>
            </a:r>
          </a:p>
        </p:txBody>
      </p:sp>
    </p:spTree>
    <p:extLst>
      <p:ext uri="{BB962C8B-B14F-4D97-AF65-F5344CB8AC3E}">
        <p14:creationId xmlns:p14="http://schemas.microsoft.com/office/powerpoint/2010/main" val="212625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0">
            <a:extLst>
              <a:ext uri="{FF2B5EF4-FFF2-40B4-BE49-F238E27FC236}">
                <a16:creationId xmlns:a16="http://schemas.microsoft.com/office/drawing/2014/main" id="{EAB0A359-737E-4805-80FC-6782AFB043C5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05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B994BA0-48B8-46F1-BBD3-3DEEA986D34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CDDB24D-4121-4475-90FC-3809910D748C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책임 분담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7A3F2F4-5490-4C5F-9B1C-513EEFC83C8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신고 판단과 상태 관리의 통제점을 국내 자사몰 DB에 두었습니다.</a:t>
            </a:r>
          </a:p>
        </p:txBody>
      </p:sp>
      <p:graphicFrame>
        <p:nvGraphicFramePr>
          <p:cNvPr id="20" name="표 19"/>
          <p:cNvGraphicFramePr/>
          <p:nvPr/>
        </p:nvGraphicFramePr>
        <p:xfrm>
          <a:off x="609600" y="1752600"/>
          <a:ext cx="10972800" cy="2200275"/>
        </p:xfrm>
        <a:graphic>
          <a:graphicData uri="http://schemas.openxmlformats.org/drawingml/2006/table">
            <a:tbl>
              <a:tblPr/>
              <a:tblGrid>
                <a:gridCol w="207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활용할 수 있는 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제약과 판단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해외 ERP 중심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상품·포장 원천과 가까움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인증정보 처리와 제출 상태 통제가 어려움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수기 제출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장애 시 즉시 대응 가능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이력·재처리·채널 확장의 운영 부담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비상 대응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DB 중심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제출 상태를 관리하고 원천별 책임 분리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회사 간 데이터 계약과 인터페이스 조율 필요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4CC107D-3D15-48D0-9156-76345030BFF0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972800" cy="381000"/>
          </a:xfrm>
          <a:prstGeom prst="roundRect">
            <a:avLst>
              <a:gd name="adj" fmla="val 12500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판단 기준  ① 개인정보 최소화    ② 제출 상태 통제    ③ 원천별 책임    ④ 개발 난이도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EDE9364E-F652-40DC-B3F5-AD0015963E52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결정 이후의 책임 경계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FCC5602-0467-4709-8454-04C758087933}"/>
              </a:ext>
            </a:extLst>
          </p:cNvPr>
          <p:cNvSpPr>
            <a:spLocks noGrp="1"/>
          </p:cNvSpPr>
          <p:nvPr/>
        </p:nvSpPr>
        <p:spPr>
          <a:xfrm>
            <a:off x="609600" y="5153025"/>
            <a:ext cx="2628900" cy="419100"/>
          </a:xfrm>
          <a:prstGeom prst="roundRect">
            <a:avLst>
              <a:gd name="adj" fmla="val 11364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자사몰 개발사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0E6EA099-1518-44A9-8DFF-4BAC56AA66D1}"/>
              </a:ext>
            </a:extLst>
          </p:cNvPr>
          <p:cNvSpPr>
            <a:spLocks noGrp="1"/>
          </p:cNvSpPr>
          <p:nvPr/>
        </p:nvSpPr>
        <p:spPr>
          <a:xfrm>
            <a:off x="657225" y="5734050"/>
            <a:ext cx="2533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주문·인증·제출 상태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ACB7E8F-15C7-49F7-94F9-9C532138CBE1}"/>
              </a:ext>
            </a:extLst>
          </p:cNvPr>
          <p:cNvSpPr>
            <a:spLocks noGrp="1"/>
          </p:cNvSpPr>
          <p:nvPr/>
        </p:nvSpPr>
        <p:spPr>
          <a:xfrm>
            <a:off x="3390900" y="5153025"/>
            <a:ext cx="2628900" cy="419100"/>
          </a:xfrm>
          <a:prstGeom prst="roundRect">
            <a:avLst>
              <a:gd name="adj" fmla="val 11364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ERP·물류 개발사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F1A59E30-87CA-40AA-B2DE-1804E9B04F5A}"/>
              </a:ext>
            </a:extLst>
          </p:cNvPr>
          <p:cNvSpPr>
            <a:spLocks noGrp="1"/>
          </p:cNvSpPr>
          <p:nvPr/>
        </p:nvSpPr>
        <p:spPr>
          <a:xfrm>
            <a:off x="3438525" y="5734050"/>
            <a:ext cx="2533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상품·포장·운송장 원천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3022E8A-E597-4ACE-B541-649380273DB4}"/>
              </a:ext>
            </a:extLst>
          </p:cNvPr>
          <p:cNvSpPr>
            <a:spLocks noGrp="1"/>
          </p:cNvSpPr>
          <p:nvPr/>
        </p:nvSpPr>
        <p:spPr>
          <a:xfrm>
            <a:off x="6172200" y="5153025"/>
            <a:ext cx="2628900" cy="419100"/>
          </a:xfrm>
          <a:prstGeom prst="roundRect">
            <a:avLst>
              <a:gd name="adj" fmla="val 11364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8A4368B4-D7DA-45A1-AB03-4C76634EA56F}"/>
              </a:ext>
            </a:extLst>
          </p:cNvPr>
          <p:cNvSpPr>
            <a:spLocks noGrp="1"/>
          </p:cNvSpPr>
          <p:nvPr/>
        </p:nvSpPr>
        <p:spPr>
          <a:xfrm>
            <a:off x="6219825" y="5734050"/>
            <a:ext cx="2533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데이터 병합·신고 결과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7F3FD5D-24F6-4AFB-A50F-B032C5BA07BE}"/>
              </a:ext>
            </a:extLst>
          </p:cNvPr>
          <p:cNvSpPr>
            <a:spLocks noGrp="1"/>
          </p:cNvSpPr>
          <p:nvPr/>
        </p:nvSpPr>
        <p:spPr>
          <a:xfrm>
            <a:off x="8953500" y="5153025"/>
            <a:ext cx="2628900" cy="419100"/>
          </a:xfrm>
          <a:prstGeom prst="roundRect">
            <a:avLst>
              <a:gd name="adj" fmla="val 11364"/>
            </a:avLst>
          </a:prstGeom>
          <a:solidFill>
            <a:srgbClr val="21549B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 역할</a:t>
            </a:r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519C79C5-E3C5-482C-9A53-2F7BC36362B6}"/>
              </a:ext>
            </a:extLst>
          </p:cNvPr>
          <p:cNvSpPr>
            <a:spLocks noGrp="1"/>
          </p:cNvSpPr>
          <p:nvPr/>
        </p:nvSpPr>
        <p:spPr>
          <a:xfrm>
            <a:off x="9001125" y="5734050"/>
            <a:ext cx="2533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필드·흐름·검수 기준 조율</a:t>
            </a:r>
          </a:p>
        </p:txBody>
      </p:sp>
    </p:spTree>
    <p:extLst>
      <p:ext uri="{BB962C8B-B14F-4D97-AF65-F5344CB8AC3E}">
        <p14:creationId xmlns:p14="http://schemas.microsoft.com/office/powerpoint/2010/main" val="1958325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08FC3933-3D97-43A5-8372-CEA49F620FCD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06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687F889-4706-4D47-91E1-1783A7126A1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DE60FBE-CFC6-4B91-A2C8-FBF54BF91369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주문부터 통관까지의 업무 흐름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D6643D3-6C59-4F00-A9B7-39CED62C909D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단계별 입력·처리 주체·완료 근거를 맞추고, 미완료 상태의 다음 단계 진입을 구분했습니다.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6A3646F-CB82-4CEE-80FD-42C5981F3011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181100" cy="304800"/>
          </a:xfrm>
          <a:prstGeom prst="roundRect">
            <a:avLst>
              <a:gd name="adj" fmla="val 15625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단계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95E1592-A1DF-4075-A86B-AE3A16F0512A}"/>
              </a:ext>
            </a:extLst>
          </p:cNvPr>
          <p:cNvSpPr>
            <a:spLocks noGrp="1"/>
          </p:cNvSpPr>
          <p:nvPr/>
        </p:nvSpPr>
        <p:spPr>
          <a:xfrm>
            <a:off x="1905000" y="1743075"/>
            <a:ext cx="2305050" cy="304800"/>
          </a:xfrm>
          <a:prstGeom prst="roundRect">
            <a:avLst>
              <a:gd name="adj" fmla="val 15625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자사몰·국내 DB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5779166-640D-4183-AFCD-A1B0CDD4A295}"/>
              </a:ext>
            </a:extLst>
          </p:cNvPr>
          <p:cNvSpPr>
            <a:spLocks noGrp="1"/>
          </p:cNvSpPr>
          <p:nvPr/>
        </p:nvSpPr>
        <p:spPr>
          <a:xfrm>
            <a:off x="4324350" y="1743075"/>
            <a:ext cx="2305050" cy="304800"/>
          </a:xfrm>
          <a:prstGeom prst="roundRect">
            <a:avLst>
              <a:gd name="adj" fmla="val 15625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18FA925-28C1-4838-8364-81B365C95080}"/>
              </a:ext>
            </a:extLst>
          </p:cNvPr>
          <p:cNvSpPr>
            <a:spLocks noGrp="1"/>
          </p:cNvSpPr>
          <p:nvPr/>
        </p:nvSpPr>
        <p:spPr>
          <a:xfrm>
            <a:off x="6743700" y="1743075"/>
            <a:ext cx="2305050" cy="304800"/>
          </a:xfrm>
          <a:prstGeom prst="roundRect">
            <a:avLst>
              <a:gd name="adj" fmla="val 15625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C9D4E87-5059-42B2-A045-5D5BF3C9A3F5}"/>
              </a:ext>
            </a:extLst>
          </p:cNvPr>
          <p:cNvSpPr>
            <a:spLocks noGrp="1"/>
          </p:cNvSpPr>
          <p:nvPr/>
        </p:nvSpPr>
        <p:spPr>
          <a:xfrm>
            <a:off x="9163050" y="1743075"/>
            <a:ext cx="2419350" cy="304800"/>
          </a:xfrm>
          <a:prstGeom prst="roundRect">
            <a:avLst>
              <a:gd name="adj" fmla="val 15625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 시스템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C3787BC-3326-4F38-A97E-15017E990ECA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181100" cy="552450"/>
          </a:xfrm>
          <a:prstGeom prst="roundRect">
            <a:avLst>
              <a:gd name="adj" fmla="val 8621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주문·검증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CE1938A-E991-418D-B839-7C40D7618F0B}"/>
              </a:ext>
            </a:extLst>
          </p:cNvPr>
          <p:cNvSpPr>
            <a:spLocks noGrp="1"/>
          </p:cNvSpPr>
          <p:nvPr/>
        </p:nvSpPr>
        <p:spPr>
          <a:xfrm>
            <a:off x="1905000" y="217170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주문·실수하인 확인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66B245C-BB84-4FDF-B7E7-0CD27969841A}"/>
              </a:ext>
            </a:extLst>
          </p:cNvPr>
          <p:cNvSpPr>
            <a:spLocks noGrp="1"/>
          </p:cNvSpPr>
          <p:nvPr/>
        </p:nvSpPr>
        <p:spPr>
          <a:xfrm>
            <a:off x="4324350" y="217170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통관정보 검증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72508C0-1520-49D0-8CA6-86AD9F42035D}"/>
              </a:ext>
            </a:extLst>
          </p:cNvPr>
          <p:cNvSpPr>
            <a:spLocks noGrp="1"/>
          </p:cNvSpPr>
          <p:nvPr/>
        </p:nvSpPr>
        <p:spPr>
          <a:xfrm>
            <a:off x="6743700" y="217170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3E03401-EFA3-4389-96D8-82C5B9A0150C}"/>
              </a:ext>
            </a:extLst>
          </p:cNvPr>
          <p:cNvSpPr>
            <a:spLocks noGrp="1"/>
          </p:cNvSpPr>
          <p:nvPr/>
        </p:nvSpPr>
        <p:spPr>
          <a:xfrm>
            <a:off x="9163050" y="2171700"/>
            <a:ext cx="24193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E6F6EB7-BEAC-4561-B3B3-A33E726C5D5D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1181100" cy="552450"/>
          </a:xfrm>
          <a:prstGeom prst="roundRect">
            <a:avLst>
              <a:gd name="adj" fmla="val 8621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준비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0C38DCF-E641-4532-91D8-426E79368D98}"/>
              </a:ext>
            </a:extLst>
          </p:cNvPr>
          <p:cNvSpPr>
            <a:spLocks noGrp="1"/>
          </p:cNvSpPr>
          <p:nvPr/>
        </p:nvSpPr>
        <p:spPr>
          <a:xfrm>
            <a:off x="1905000" y="2847975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원주문번호 유지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07CBB22-BB94-4579-952B-ACE2945A4D9C}"/>
              </a:ext>
            </a:extLst>
          </p:cNvPr>
          <p:cNvSpPr>
            <a:spLocks noGrp="1"/>
          </p:cNvSpPr>
          <p:nvPr/>
        </p:nvSpPr>
        <p:spPr>
          <a:xfrm>
            <a:off x="4324350" y="2847975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AE9BD6B-B7A2-447E-A1D4-48F235A8A98B}"/>
              </a:ext>
            </a:extLst>
          </p:cNvPr>
          <p:cNvSpPr>
            <a:spLocks noGrp="1"/>
          </p:cNvSpPr>
          <p:nvPr/>
        </p:nvSpPr>
        <p:spPr>
          <a:xfrm>
            <a:off x="6743700" y="2847975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포장·운송장 확정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0A9BD61-9EC5-44D8-B46B-A8FD1BEE7820}"/>
              </a:ext>
            </a:extLst>
          </p:cNvPr>
          <p:cNvSpPr>
            <a:spLocks noGrp="1"/>
          </p:cNvSpPr>
          <p:nvPr/>
        </p:nvSpPr>
        <p:spPr>
          <a:xfrm>
            <a:off x="9163050" y="2847975"/>
            <a:ext cx="24193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EB226C5-0A4A-41AC-AABD-011E593AE9B5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1181100" cy="552450"/>
          </a:xfrm>
          <a:prstGeom prst="roundRect">
            <a:avLst>
              <a:gd name="adj" fmla="val 8621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정보 제출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9D8F2F6-8A17-438B-A8DD-11584BD4A2F2}"/>
              </a:ext>
            </a:extLst>
          </p:cNvPr>
          <p:cNvSpPr>
            <a:spLocks noGrp="1"/>
          </p:cNvSpPr>
          <p:nvPr/>
        </p:nvSpPr>
        <p:spPr>
          <a:xfrm>
            <a:off x="1905000" y="352425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거래정보·인증정보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1452515-BE0D-42AE-8AA0-ABE16741A5EF}"/>
              </a:ext>
            </a:extLst>
          </p:cNvPr>
          <p:cNvSpPr>
            <a:spLocks noGrp="1"/>
          </p:cNvSpPr>
          <p:nvPr/>
        </p:nvSpPr>
        <p:spPr>
          <a:xfrm>
            <a:off x="4324350" y="352425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786469E-A79D-42DE-8D8F-5564F30A819B}"/>
              </a:ext>
            </a:extLst>
          </p:cNvPr>
          <p:cNvSpPr>
            <a:spLocks noGrp="1"/>
          </p:cNvSpPr>
          <p:nvPr/>
        </p:nvSpPr>
        <p:spPr>
          <a:xfrm>
            <a:off x="6743700" y="352425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물류 스냅샷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8637B5D-CED9-44A5-9AD4-AE737C621FB4}"/>
              </a:ext>
            </a:extLst>
          </p:cNvPr>
          <p:cNvSpPr>
            <a:spLocks noGrp="1"/>
          </p:cNvSpPr>
          <p:nvPr/>
        </p:nvSpPr>
        <p:spPr>
          <a:xfrm>
            <a:off x="9163050" y="3524250"/>
            <a:ext cx="24193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상태 확인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F55F3FB-F8A9-450F-9D95-0CA9680283A9}"/>
              </a:ext>
            </a:extLst>
          </p:cNvPr>
          <p:cNvSpPr>
            <a:spLocks noGrp="1"/>
          </p:cNvSpPr>
          <p:nvPr/>
        </p:nvSpPr>
        <p:spPr>
          <a:xfrm>
            <a:off x="609600" y="4200525"/>
            <a:ext cx="1181100" cy="552450"/>
          </a:xfrm>
          <a:prstGeom prst="roundRect">
            <a:avLst>
              <a:gd name="adj" fmla="val 8621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병합·대사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DE7B71A-CB5D-4F7C-B2AD-9FB38B920DCB}"/>
              </a:ext>
            </a:extLst>
          </p:cNvPr>
          <p:cNvSpPr>
            <a:spLocks noGrp="1"/>
          </p:cNvSpPr>
          <p:nvPr/>
        </p:nvSpPr>
        <p:spPr>
          <a:xfrm>
            <a:off x="1905000" y="4200525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주문별 제출 이력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E146B4F-312F-4AE5-9A4D-91B1166112FC}"/>
              </a:ext>
            </a:extLst>
          </p:cNvPr>
          <p:cNvSpPr>
            <a:spLocks noGrp="1"/>
          </p:cNvSpPr>
          <p:nvPr/>
        </p:nvSpPr>
        <p:spPr>
          <a:xfrm>
            <a:off x="4324350" y="4200525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716B523-6554-4261-AA44-6735026AB61D}"/>
              </a:ext>
            </a:extLst>
          </p:cNvPr>
          <p:cNvSpPr>
            <a:spLocks noGrp="1"/>
          </p:cNvSpPr>
          <p:nvPr/>
        </p:nvSpPr>
        <p:spPr>
          <a:xfrm>
            <a:off x="6743700" y="4200525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누락 포장 재확인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DCA0086-AD89-44E1-AF0D-1CBFD19B2711}"/>
              </a:ext>
            </a:extLst>
          </p:cNvPr>
          <p:cNvSpPr>
            <a:spLocks noGrp="1"/>
          </p:cNvSpPr>
          <p:nvPr/>
        </p:nvSpPr>
        <p:spPr>
          <a:xfrm>
            <a:off x="9163050" y="4200525"/>
            <a:ext cx="24193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병합·통관 결과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FFDFB6F-2CB4-4069-A383-741B7A9B7EA1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1181100" cy="552450"/>
          </a:xfrm>
          <a:prstGeom prst="roundRect">
            <a:avLst>
              <a:gd name="adj" fmla="val 8621"/>
            </a:avLst>
          </a:prstGeom>
          <a:solidFill>
            <a:srgbClr val="E9F1FC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 복구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26376D2-01B3-434E-A5E3-CF486DE7DE50}"/>
              </a:ext>
            </a:extLst>
          </p:cNvPr>
          <p:cNvSpPr>
            <a:spLocks noGrp="1"/>
          </p:cNvSpPr>
          <p:nvPr/>
        </p:nvSpPr>
        <p:spPr>
          <a:xfrm>
            <a:off x="1905000" y="487680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 원천 분류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65E6565-EB60-4A54-98AA-618896F1C030}"/>
              </a:ext>
            </a:extLst>
          </p:cNvPr>
          <p:cNvSpPr>
            <a:spLocks noGrp="1"/>
          </p:cNvSpPr>
          <p:nvPr/>
        </p:nvSpPr>
        <p:spPr>
          <a:xfrm>
            <a:off x="4324350" y="487680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인증정보 보완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C735995-4319-4521-875B-94C1EBD0BD5A}"/>
              </a:ext>
            </a:extLst>
          </p:cNvPr>
          <p:cNvSpPr>
            <a:spLocks noGrp="1"/>
          </p:cNvSpPr>
          <p:nvPr/>
        </p:nvSpPr>
        <p:spPr>
          <a:xfrm>
            <a:off x="6743700" y="4876800"/>
            <a:ext cx="23050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상품·포장정보 보완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3841A9B-1417-4044-A5F4-12A494BD7074}"/>
              </a:ext>
            </a:extLst>
          </p:cNvPr>
          <p:cNvSpPr>
            <a:spLocks noGrp="1"/>
          </p:cNvSpPr>
          <p:nvPr/>
        </p:nvSpPr>
        <p:spPr>
          <a:xfrm>
            <a:off x="9163050" y="4876800"/>
            <a:ext cx="24193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결과 조회·재처리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187BCEE-C492-445D-8255-05F1DAEDC846}"/>
              </a:ext>
            </a:extLst>
          </p:cNvPr>
          <p:cNvSpPr>
            <a:spLocks noGrp="1"/>
          </p:cNvSpPr>
          <p:nvPr/>
        </p:nvSpPr>
        <p:spPr>
          <a:xfrm>
            <a:off x="609600" y="583882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 주문번호·포장번호와 완료 근거를 공유해, 담당자 간 인계 기준을 문서로 고정했습니다.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408083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-0">
            <a:extLst>
              <a:ext uri="{FF2B5EF4-FFF2-40B4-BE49-F238E27FC236}">
                <a16:creationId xmlns:a16="http://schemas.microsoft.com/office/drawing/2014/main" id="{BC69C2D6-C833-48F7-9D62-2030055813F8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07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553D003-EFCC-4B19-9D12-C952278D26F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0B45EF3-D51D-4086-B9EC-88452D28CF0F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주문번호와 포장번호를 분리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C8993C3-152C-4392-967C-4CBC83AC2C2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추적 기준을 유지하면서 분할 출고와 합배송을 설명할 수 있도록 관계를 정의했습니다.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2863173-CE24-43CF-92ED-631673553D92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52292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분할 출고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13AC7F24-444B-48CC-9014-F40761B00029}"/>
              </a:ext>
            </a:extLst>
          </p:cNvPr>
          <p:cNvSpPr>
            <a:spLocks noGrp="1"/>
          </p:cNvSpPr>
          <p:nvPr/>
        </p:nvSpPr>
        <p:spPr>
          <a:xfrm>
            <a:off x="6286500" y="1704975"/>
            <a:ext cx="5219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합배송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9947F0B-5FB0-48E9-A1E8-6AE742A7B279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257800" cy="2686050"/>
          </a:xfrm>
          <a:prstGeom prst="roundRect">
            <a:avLst>
              <a:gd name="adj" fmla="val 2482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814B14C-02F9-4B18-BFAE-A9283355D2D4}"/>
              </a:ext>
            </a:extLst>
          </p:cNvPr>
          <p:cNvSpPr>
            <a:spLocks noGrp="1"/>
          </p:cNvSpPr>
          <p:nvPr/>
        </p:nvSpPr>
        <p:spPr>
          <a:xfrm>
            <a:off x="6286500" y="2105025"/>
            <a:ext cx="5295900" cy="2686050"/>
          </a:xfrm>
          <a:prstGeom prst="roundRect">
            <a:avLst>
              <a:gd name="adj" fmla="val 2482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2FA5AF9-264D-4BD4-9D24-375DB5954C62}"/>
              </a:ext>
            </a:extLst>
          </p:cNvPr>
          <p:cNvSpPr>
            <a:spLocks noGrp="1"/>
          </p:cNvSpPr>
          <p:nvPr/>
        </p:nvSpPr>
        <p:spPr>
          <a:xfrm>
            <a:off x="847725" y="2914650"/>
            <a:ext cx="1628775" cy="51435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원주문 A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ED24A7-BD51-4E36-BEC8-CD12BD854C7F}"/>
              </a:ext>
            </a:extLst>
          </p:cNvPr>
          <p:cNvSpPr>
            <a:spLocks noGrp="1"/>
          </p:cNvSpPr>
          <p:nvPr/>
        </p:nvSpPr>
        <p:spPr>
          <a:xfrm>
            <a:off x="3286125" y="2352675"/>
            <a:ext cx="2219325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A-1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1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DC8D1D3-96B4-40D3-AF7A-2D44117C0F44}"/>
              </a:ext>
            </a:extLst>
          </p:cNvPr>
          <p:cNvSpPr>
            <a:spLocks noGrp="1"/>
          </p:cNvSpPr>
          <p:nvPr/>
        </p:nvSpPr>
        <p:spPr>
          <a:xfrm>
            <a:off x="3286125" y="3324225"/>
            <a:ext cx="2219325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A-2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2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7C4B7E14-0CD6-43A4-B1AA-9FAB4B597B94}"/>
              </a:ext>
            </a:extLst>
          </p:cNvPr>
          <p:cNvSpPr>
            <a:spLocks noGrp="1"/>
          </p:cNvSpPr>
          <p:nvPr/>
        </p:nvSpPr>
        <p:spPr>
          <a:xfrm>
            <a:off x="2476500" y="3171825"/>
            <a:ext cx="38100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9E4AAC0F-9D1E-4F45-8168-535B11472B3C}"/>
              </a:ext>
            </a:extLst>
          </p:cNvPr>
          <p:cNvSpPr>
            <a:spLocks noGrp="1"/>
          </p:cNvSpPr>
          <p:nvPr/>
        </p:nvSpPr>
        <p:spPr>
          <a:xfrm>
            <a:off x="2857500" y="2743200"/>
            <a:ext cx="0" cy="971550"/>
          </a:xfrm>
          <a:prstGeom prst="line">
            <a:avLst/>
          </a:prstGeom>
          <a:ln w="1143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3337A2A6-FF72-4681-A71B-AF2F96E47570}"/>
              </a:ext>
            </a:extLst>
          </p:cNvPr>
          <p:cNvSpPr>
            <a:spLocks noGrp="1"/>
          </p:cNvSpPr>
          <p:nvPr/>
        </p:nvSpPr>
        <p:spPr>
          <a:xfrm>
            <a:off x="2857500" y="2743200"/>
            <a:ext cx="28575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59DE8CE6-4046-418F-AE37-771FA565B7A0}"/>
              </a:ext>
            </a:extLst>
          </p:cNvPr>
          <p:cNvSpPr>
            <a:spLocks noGrp="1"/>
          </p:cNvSpPr>
          <p:nvPr/>
        </p:nvSpPr>
        <p:spPr>
          <a:xfrm>
            <a:off x="2857500" y="3714750"/>
            <a:ext cx="28575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23BA80A5-F293-421A-91DB-DC8781F61384}"/>
              </a:ext>
            </a:extLst>
          </p:cNvPr>
          <p:cNvSpPr>
            <a:spLocks noGrp="1"/>
          </p:cNvSpPr>
          <p:nvPr/>
        </p:nvSpPr>
        <p:spPr>
          <a:xfrm>
            <a:off x="3105150" y="26098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C18565DF-E6DD-4EF8-B200-1D3B139E4930}"/>
              </a:ext>
            </a:extLst>
          </p:cNvPr>
          <p:cNvSpPr>
            <a:spLocks noGrp="1"/>
          </p:cNvSpPr>
          <p:nvPr/>
        </p:nvSpPr>
        <p:spPr>
          <a:xfrm>
            <a:off x="3105150" y="35814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C3FAD7A-19E7-4998-8986-2DBCDB1E31AF}"/>
              </a:ext>
            </a:extLst>
          </p:cNvPr>
          <p:cNvSpPr>
            <a:spLocks noGrp="1"/>
          </p:cNvSpPr>
          <p:nvPr/>
        </p:nvSpPr>
        <p:spPr>
          <a:xfrm>
            <a:off x="866775" y="4286250"/>
            <a:ext cx="46386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외부에 보내는 원주문번호는 A로 유지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6100DFF-ACD3-4B42-9190-B54666B48C51}"/>
              </a:ext>
            </a:extLst>
          </p:cNvPr>
          <p:cNvSpPr>
            <a:spLocks noGrp="1"/>
          </p:cNvSpPr>
          <p:nvPr/>
        </p:nvSpPr>
        <p:spPr>
          <a:xfrm>
            <a:off x="6562725" y="2438400"/>
            <a:ext cx="1962150" cy="581025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B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60C5192-C6BC-4200-BCB9-F8A4071FF8FE}"/>
              </a:ext>
            </a:extLst>
          </p:cNvPr>
          <p:cNvSpPr>
            <a:spLocks noGrp="1"/>
          </p:cNvSpPr>
          <p:nvPr/>
        </p:nvSpPr>
        <p:spPr>
          <a:xfrm>
            <a:off x="6562725" y="3333750"/>
            <a:ext cx="1962150" cy="581025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C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8DA5347A-3B6F-4C98-B9E7-FB345CE9BCD6}"/>
              </a:ext>
            </a:extLst>
          </p:cNvPr>
          <p:cNvSpPr>
            <a:spLocks noGrp="1"/>
          </p:cNvSpPr>
          <p:nvPr/>
        </p:nvSpPr>
        <p:spPr>
          <a:xfrm>
            <a:off x="8524875" y="2733675"/>
            <a:ext cx="314325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4E29C878-73DE-4A3D-B513-3A3F4FE6DE38}"/>
              </a:ext>
            </a:extLst>
          </p:cNvPr>
          <p:cNvSpPr>
            <a:spLocks noGrp="1"/>
          </p:cNvSpPr>
          <p:nvPr/>
        </p:nvSpPr>
        <p:spPr>
          <a:xfrm>
            <a:off x="8524875" y="3629025"/>
            <a:ext cx="314325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4419D325-5C57-4559-B265-8406A439DFA3}"/>
              </a:ext>
            </a:extLst>
          </p:cNvPr>
          <p:cNvSpPr>
            <a:spLocks noGrp="1"/>
          </p:cNvSpPr>
          <p:nvPr/>
        </p:nvSpPr>
        <p:spPr>
          <a:xfrm>
            <a:off x="8839200" y="2733675"/>
            <a:ext cx="0" cy="895350"/>
          </a:xfrm>
          <a:prstGeom prst="line">
            <a:avLst/>
          </a:prstGeom>
          <a:ln w="1143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1A1F99DA-54E8-4B6E-A38F-714DC539028B}"/>
              </a:ext>
            </a:extLst>
          </p:cNvPr>
          <p:cNvSpPr>
            <a:spLocks noGrp="1"/>
          </p:cNvSpPr>
          <p:nvPr/>
        </p:nvSpPr>
        <p:spPr>
          <a:xfrm>
            <a:off x="8839200" y="3238500"/>
            <a:ext cx="22860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24980566-C420-4E99-903F-B49F23E33EBD}"/>
              </a:ext>
            </a:extLst>
          </p:cNvPr>
          <p:cNvSpPr>
            <a:spLocks noGrp="1"/>
          </p:cNvSpPr>
          <p:nvPr/>
        </p:nvSpPr>
        <p:spPr>
          <a:xfrm>
            <a:off x="9039225" y="31051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8D28454-130C-4063-8BE2-89FCD77FD0F7}"/>
              </a:ext>
            </a:extLst>
          </p:cNvPr>
          <p:cNvSpPr>
            <a:spLocks noGrp="1"/>
          </p:cNvSpPr>
          <p:nvPr/>
        </p:nvSpPr>
        <p:spPr>
          <a:xfrm>
            <a:off x="9229725" y="2667000"/>
            <a:ext cx="1981200" cy="1152525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3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주문별 거래정보 2건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CF0C6271-5DD9-4E01-82F5-201DCB97C187}"/>
              </a:ext>
            </a:extLst>
          </p:cNvPr>
          <p:cNvSpPr>
            <a:spLocks noGrp="1"/>
          </p:cNvSpPr>
          <p:nvPr/>
        </p:nvSpPr>
        <p:spPr>
          <a:xfrm>
            <a:off x="6572250" y="42957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하나에 묶여도 거래정보는 주문별 유지</a:t>
            </a:r>
          </a:p>
        </p:txBody>
      </p:sp>
      <p:graphicFrame>
        <p:nvGraphicFramePr>
          <p:cNvPr id="57" name="표 56"/>
          <p:cNvGraphicFramePr/>
          <p:nvPr/>
        </p:nvGraphicFramePr>
        <p:xfrm>
          <a:off x="609600" y="4981575"/>
          <a:ext cx="10972800" cy="1295400"/>
        </p:xfrm>
        <a:graphic>
          <a:graphicData uri="http://schemas.openxmlformats.org/drawingml/2006/table">
            <a:tbl>
              <a:tblPr/>
              <a:tblGrid>
                <a:gridCol w="249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보존할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의미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원주문번호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채널의 원주문번호를 전 구간에서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포장번호·운송장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물류 처리 단위를 별도 보존하고 원주문과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병합키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운송장 + 원주문번호가 양쪽 데이터에서 일치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44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0">
            <a:extLst>
              <a:ext uri="{FF2B5EF4-FFF2-40B4-BE49-F238E27FC236}">
                <a16:creationId xmlns:a16="http://schemas.microsoft.com/office/drawing/2014/main" id="{8745A7EC-D890-430D-9981-2AC9B1DD1203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08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BD856EFD-7D7E-4884-889F-853FFC6B05B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1D5199B-5E5B-4C05-BBB4-4E8BC6126330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혼재 주문의 선출고 요청을 조정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D28F673-6415-47B6-81C3-0665F413CA4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2026-08-26 협의 사례: 국내 상품과 해외직구 상품이 섞인 주문의 처리 단위를 맞췄습니다.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78AF243-52DD-4EFE-8DAA-634BFC00EF5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처음 요청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E15F91C-9478-46A1-A29F-8969B7642E8F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8905555-198D-47B1-B16C-EFB165282731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국내 상품은 통관과 무관하므로 먼저 출고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38020C59-62E7-41D5-8188-D7B3F3A6B7A1}"/>
              </a:ext>
            </a:extLst>
          </p:cNvPr>
          <p:cNvSpPr>
            <a:spLocks noGrp="1"/>
          </p:cNvSpPr>
          <p:nvPr/>
        </p:nvSpPr>
        <p:spPr>
          <a:xfrm>
            <a:off x="4171950" y="2714625"/>
            <a:ext cx="161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856727B-AF45-4D5E-A8E1-ADA50D627968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확인한 제약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8EACD31-0FAA-41AC-B609-291E531DFCFC}"/>
              </a:ext>
            </a:extLst>
          </p:cNvPr>
          <p:cNvSpPr>
            <a:spLocks noGrp="1"/>
          </p:cNvSpPr>
          <p:nvPr/>
        </p:nvSpPr>
        <p:spPr>
          <a:xfrm>
            <a:off x="436245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FCD9DCDE-4496-4FFB-AC85-76763F0105B4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ERP는 원주문 단위로 삭제·재생성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부분 재처리 시 내수 주문의 중복 위험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5A93A491-F896-441A-9C16-9A828C11FCB2}"/>
              </a:ext>
            </a:extLst>
          </p:cNvPr>
          <p:cNvSpPr>
            <a:spLocks noGrp="1"/>
          </p:cNvSpPr>
          <p:nvPr/>
        </p:nvSpPr>
        <p:spPr>
          <a:xfrm>
            <a:off x="7924800" y="2714625"/>
            <a:ext cx="161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A0B5BF2-C077-4655-BE9A-FCE799FE6505}"/>
              </a:ext>
            </a:extLst>
          </p:cNvPr>
          <p:cNvSpPr>
            <a:spLocks noGrp="1"/>
          </p:cNvSpPr>
          <p:nvPr/>
        </p:nvSpPr>
        <p:spPr>
          <a:xfrm>
            <a:off x="811530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결정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A90FBF6-3FA7-419B-906A-DD45E9789786}"/>
              </a:ext>
            </a:extLst>
          </p:cNvPr>
          <p:cNvSpPr>
            <a:spLocks noGrp="1"/>
          </p:cNvSpPr>
          <p:nvPr/>
        </p:nvSpPr>
        <p:spPr>
          <a:xfrm>
            <a:off x="811530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3D54E3C1-CF9F-4EB6-B1C3-F2673570E572}"/>
              </a:ext>
            </a:extLst>
          </p:cNvPr>
          <p:cNvSpPr>
            <a:spLocks noGrp="1"/>
          </p:cNvSpPr>
          <p:nvPr/>
        </p:nvSpPr>
        <p:spPr>
          <a:xfrm>
            <a:off x="832485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내수 선출고 요청을 철회</a:t>
            </a:r>
          </a:p>
          <a:p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해외직구 신고가 확정될 때까지 함께 보류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358F3BEB-5FE2-40A8-A9E8-5887022B69C8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대안의 이익과 감수할 영향</a:t>
            </a:r>
          </a:p>
        </p:txBody>
      </p:sp>
      <p:graphicFrame>
        <p:nvGraphicFramePr>
          <p:cNvPr id="35" name="표 34"/>
          <p:cNvGraphicFramePr/>
          <p:nvPr/>
        </p:nvGraphicFramePr>
        <p:xfrm>
          <a:off x="609600" y="4276725"/>
          <a:ext cx="10972800" cy="1571625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얻는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위험·수용한 영향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내수 먼저 출고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상품의 배송 지연 최소화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부분 삭제·재생성이 어려워 중복 처리 위험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혼재 주문 함께 보류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 단위의 처리 일관성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상품도 신고 확정까지 동반 지연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6A8D541-3E98-40F7-B2C0-79CB0FB333F2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배송 속도와 중복 위험을 비교하고, 시스템 제약을 운영 기준으로 합의했습니다.</a:t>
            </a:r>
          </a:p>
        </p:txBody>
      </p:sp>
    </p:spTree>
    <p:extLst>
      <p:ext uri="{BB962C8B-B14F-4D97-AF65-F5344CB8AC3E}">
        <p14:creationId xmlns:p14="http://schemas.microsoft.com/office/powerpoint/2010/main" val="535210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0">
            <a:extLst>
              <a:ext uri="{FF2B5EF4-FFF2-40B4-BE49-F238E27FC236}">
                <a16:creationId xmlns:a16="http://schemas.microsoft.com/office/drawing/2014/main" id="{A7A5096A-E0B3-4C6E-9176-8FC101A4FF8F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09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8448619-51C8-4392-B8FC-5B4CE389CAB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E96811B-C6F7-422A-8CA7-6BDA77529D6B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접수 이후의 상태와 오류 복구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145DC77-E146-4325-94F1-F78760D2967E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접수, 상대 데이터 대기, 병합, 통관 결과를 서로 다른 근거로 판단하도록 설계했습니다.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DF656BE-57BB-4EF2-A055-B8A82976EDB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896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같은 주문이 두 시스템에서 도착하는 상황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3B448C0-F8AA-4F8C-9386-9DBDE49B4F74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 접수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D8E51FA-6AA3-48E1-81E2-68B4DFAD9492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물류 데이터 도착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749D5CD4-F07B-4EAF-A97E-2FF550491AE5}"/>
              </a:ext>
            </a:extLst>
          </p:cNvPr>
          <p:cNvSpPr>
            <a:spLocks noGrp="1"/>
          </p:cNvSpPr>
          <p:nvPr/>
        </p:nvSpPr>
        <p:spPr>
          <a:xfrm>
            <a:off x="7620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HTTP 202 응답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사실만 확인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53331EBD-9600-44A3-8333-617A18F6DF38}"/>
              </a:ext>
            </a:extLst>
          </p:cNvPr>
          <p:cNvSpPr>
            <a:spLocks noGrp="1"/>
          </p:cNvSpPr>
          <p:nvPr/>
        </p:nvSpPr>
        <p:spPr>
          <a:xfrm>
            <a:off x="32289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83923CF-7D38-4FDE-B966-32BA32A892BB}"/>
              </a:ext>
            </a:extLst>
          </p:cNvPr>
          <p:cNvSpPr>
            <a:spLocks noGrp="1"/>
          </p:cNvSpPr>
          <p:nvPr/>
        </p:nvSpPr>
        <p:spPr>
          <a:xfrm>
            <a:off x="33909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  대기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2DE8420-1FC8-430A-9A9C-AEBA7E6C385C}"/>
              </a:ext>
            </a:extLst>
          </p:cNvPr>
          <p:cNvSpPr>
            <a:spLocks noGrp="1"/>
          </p:cNvSpPr>
          <p:nvPr/>
        </p:nvSpPr>
        <p:spPr>
          <a:xfrm>
            <a:off x="33909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짝이 되는 정보 미도착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BDAF717C-1527-428F-98AF-8900B279B079}"/>
              </a:ext>
            </a:extLst>
          </p:cNvPr>
          <p:cNvSpPr>
            <a:spLocks noGrp="1"/>
          </p:cNvSpPr>
          <p:nvPr/>
        </p:nvSpPr>
        <p:spPr>
          <a:xfrm>
            <a:off x="35433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상태 조회로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대기와 검증 실패 구분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76EF8157-B601-4DB1-A053-612DFEA13901}"/>
              </a:ext>
            </a:extLst>
          </p:cNvPr>
          <p:cNvSpPr>
            <a:spLocks noGrp="1"/>
          </p:cNvSpPr>
          <p:nvPr/>
        </p:nvSpPr>
        <p:spPr>
          <a:xfrm>
            <a:off x="60102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86F9E86-BC52-4F0F-AEC4-1DC50BFD037F}"/>
              </a:ext>
            </a:extLst>
          </p:cNvPr>
          <p:cNvSpPr>
            <a:spLocks noGrp="1"/>
          </p:cNvSpPr>
          <p:nvPr/>
        </p:nvSpPr>
        <p:spPr>
          <a:xfrm>
            <a:off x="61722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  병합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F7BD35B-6D09-4AD2-8466-A39236D432DC}"/>
              </a:ext>
            </a:extLst>
          </p:cNvPr>
          <p:cNvSpPr>
            <a:spLocks noGrp="1"/>
          </p:cNvSpPr>
          <p:nvPr/>
        </p:nvSpPr>
        <p:spPr>
          <a:xfrm>
            <a:off x="61722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주문·운송장 기준 일치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6BF7E522-F74C-4FF6-859F-CF9224EF22DB}"/>
              </a:ext>
            </a:extLst>
          </p:cNvPr>
          <p:cNvSpPr>
            <a:spLocks noGrp="1"/>
          </p:cNvSpPr>
          <p:nvPr/>
        </p:nvSpPr>
        <p:spPr>
          <a:xfrm>
            <a:off x="63246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 결과를 확인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 완료와 구분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E7504CA3-55DB-4CF0-A609-DF96983A4A48}"/>
              </a:ext>
            </a:extLst>
          </p:cNvPr>
          <p:cNvSpPr>
            <a:spLocks noGrp="1"/>
          </p:cNvSpPr>
          <p:nvPr/>
        </p:nvSpPr>
        <p:spPr>
          <a:xfrm>
            <a:off x="87915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8F673A0-6F16-4350-B3EE-9D6F03BABD5C}"/>
              </a:ext>
            </a:extLst>
          </p:cNvPr>
          <p:cNvSpPr>
            <a:spLocks noGrp="1"/>
          </p:cNvSpPr>
          <p:nvPr/>
        </p:nvSpPr>
        <p:spPr>
          <a:xfrm>
            <a:off x="89535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 결과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92168EC-3B2E-4A3A-98DA-F1B751B6A528}"/>
              </a:ext>
            </a:extLst>
          </p:cNvPr>
          <p:cNvSpPr>
            <a:spLocks noGrp="1"/>
          </p:cNvSpPr>
          <p:nvPr/>
        </p:nvSpPr>
        <p:spPr>
          <a:xfrm>
            <a:off x="89535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신고·통관 상태 조회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CA5CC653-CF9E-42EB-99EB-2B445FB3D9DD}"/>
              </a:ext>
            </a:extLst>
          </p:cNvPr>
          <p:cNvSpPr>
            <a:spLocks noGrp="1"/>
          </p:cNvSpPr>
          <p:nvPr/>
        </p:nvSpPr>
        <p:spPr>
          <a:xfrm>
            <a:off x="91059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최종 결과를 근거로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후속 운영 판단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6539E9F7-3709-4901-9D9F-C5084DBA9262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72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B730283C-E64F-495A-914D-73FA4012A098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오류가 확인되면 원천과 재처리 기준을 먼저 구분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B0C6FC1-DCF3-4B34-BA6D-70E80EEF8EF9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원천 확인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C2A8B255-0692-409A-BB10-E960C76765B4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고객·인증 / 상품·포장 / 제출 필드를 구분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10A7818-17D3-46D9-ACC1-648B43C6A87F}"/>
              </a:ext>
            </a:extLst>
          </p:cNvPr>
          <p:cNvSpPr>
            <a:spLocks noGrp="1"/>
          </p:cNvSpPr>
          <p:nvPr/>
        </p:nvSpPr>
        <p:spPr>
          <a:xfrm>
            <a:off x="436245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보완과 재처리</a:t>
            </a:r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369B0FB6-9B80-4DD4-B358-F37E773F9546}"/>
              </a:ext>
            </a:extLst>
          </p:cNvPr>
          <p:cNvSpPr>
            <a:spLocks noGrp="1"/>
          </p:cNvSpPr>
          <p:nvPr/>
        </p:nvSpPr>
        <p:spPr>
          <a:xfrm>
            <a:off x="449580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제공자별 식별자와 공식 처리 규칙 적용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78D8947-5FF9-486B-88FB-7DA0BAF5296E}"/>
              </a:ext>
            </a:extLst>
          </p:cNvPr>
          <p:cNvSpPr>
            <a:spLocks noGrp="1"/>
          </p:cNvSpPr>
          <p:nvPr/>
        </p:nvSpPr>
        <p:spPr>
          <a:xfrm>
            <a:off x="811530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다시 확인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287BC317-368B-4A51-8F04-44453B4B5464}"/>
              </a:ext>
            </a:extLst>
          </p:cNvPr>
          <p:cNvSpPr>
            <a:spLocks noGrp="1"/>
          </p:cNvSpPr>
          <p:nvPr/>
        </p:nvSpPr>
        <p:spPr>
          <a:xfrm>
            <a:off x="824865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응답 원문·제출 이력·최종 상태를 대사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19DDE55-D3BA-4389-A6F5-4C64AEFD7E09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필드 매핑표는 값의 계약, 상태 정의는 다음 작업을 시작할 조건이 됐습니다.</a:t>
            </a:r>
          </a:p>
        </p:txBody>
      </p:sp>
    </p:spTree>
    <p:extLst>
      <p:ext uri="{BB962C8B-B14F-4D97-AF65-F5344CB8AC3E}">
        <p14:creationId xmlns:p14="http://schemas.microsoft.com/office/powerpoint/2010/main" val="958674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-0">
            <a:extLst>
              <a:ext uri="{FF2B5EF4-FFF2-40B4-BE49-F238E27FC236}">
                <a16:creationId xmlns:a16="http://schemas.microsoft.com/office/drawing/2014/main" id="{C855A285-C13F-43E8-8A6D-AABF953B9089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10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1F58F4B-099F-4E0A-B88F-F8D27145119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B848E840-91CD-4B0D-9843-9398D520A57D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경로와 오류 복구 검증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EF4596F4-B811-4FC8-A18A-0217CF50BA6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 환경에서 정상 접수, 의도 오류 반환, 수정 후 재제출을 함께 확인했습니다.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9D42DF51-42AE-479F-81C0-51A68946C7A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772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환경에서 확인한 세 가지 목적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0099288-EA96-4B67-A063-BE4C0001A3D7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6981825" cy="8001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71B366E-424D-4EBA-898F-E330F561531D}"/>
              </a:ext>
            </a:extLst>
          </p:cNvPr>
          <p:cNvSpPr>
            <a:spLocks noGrp="1"/>
          </p:cNvSpPr>
          <p:nvPr/>
        </p:nvSpPr>
        <p:spPr>
          <a:xfrm>
            <a:off x="790575" y="2324100"/>
            <a:ext cx="466725" cy="323850"/>
          </a:xfrm>
          <a:prstGeom prst="roundRect">
            <a:avLst>
              <a:gd name="adj" fmla="val 14706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BB0D4B81-08D0-4BA5-887A-84D1A2BC6606}"/>
              </a:ext>
            </a:extLst>
          </p:cNvPr>
          <p:cNvSpPr>
            <a:spLocks noGrp="1"/>
          </p:cNvSpPr>
          <p:nvPr/>
        </p:nvSpPr>
        <p:spPr>
          <a:xfrm>
            <a:off x="1447800" y="2257425"/>
            <a:ext cx="5638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접수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4402E5D7-C570-4E65-87E7-BD8A5E5C2576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5638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정상 데이터를 제출하고 접수 결과를 확인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1727495-BCF1-4E4B-A4F6-060A4D7B2B8E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6981825" cy="8001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E8F36B4-EAC7-4FC3-8A3E-E581F072ED1E}"/>
              </a:ext>
            </a:extLst>
          </p:cNvPr>
          <p:cNvSpPr>
            <a:spLocks noGrp="1"/>
          </p:cNvSpPr>
          <p:nvPr/>
        </p:nvSpPr>
        <p:spPr>
          <a:xfrm>
            <a:off x="790575" y="3305175"/>
            <a:ext cx="466725" cy="323850"/>
          </a:xfrm>
          <a:prstGeom prst="roundRect">
            <a:avLst>
              <a:gd name="adj" fmla="val 14706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D9290896-0118-4B74-967B-E555C1903615}"/>
              </a:ext>
            </a:extLst>
          </p:cNvPr>
          <p:cNvSpPr>
            <a:spLocks noGrp="1"/>
          </p:cNvSpPr>
          <p:nvPr/>
        </p:nvSpPr>
        <p:spPr>
          <a:xfrm>
            <a:off x="1447800" y="3238500"/>
            <a:ext cx="5638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의도 오류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110BEC7F-C361-4286-BB6A-667B8A49142B}"/>
              </a:ext>
            </a:extLst>
          </p:cNvPr>
          <p:cNvSpPr>
            <a:spLocks noGrp="1"/>
          </p:cNvSpPr>
          <p:nvPr/>
        </p:nvSpPr>
        <p:spPr>
          <a:xfrm>
            <a:off x="1447800" y="3590925"/>
            <a:ext cx="5638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오류가 있는 입력에 예상한 오류 응답이 오는지 확인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646F39C-8688-45B7-BF57-EDE3F959998D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6981825" cy="8001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A2BBBB9-1D31-4E60-8404-6970925B20B3}"/>
              </a:ext>
            </a:extLst>
          </p:cNvPr>
          <p:cNvSpPr>
            <a:spLocks noGrp="1"/>
          </p:cNvSpPr>
          <p:nvPr/>
        </p:nvSpPr>
        <p:spPr>
          <a:xfrm>
            <a:off x="790575" y="4286250"/>
            <a:ext cx="466725" cy="323850"/>
          </a:xfrm>
          <a:prstGeom prst="roundRect">
            <a:avLst>
              <a:gd name="adj" fmla="val 14706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4E711462-A6B4-49FE-B953-A26E182B5C10}"/>
              </a:ext>
            </a:extLst>
          </p:cNvPr>
          <p:cNvSpPr>
            <a:spLocks noGrp="1"/>
          </p:cNvSpPr>
          <p:nvPr/>
        </p:nvSpPr>
        <p:spPr>
          <a:xfrm>
            <a:off x="1447800" y="4219575"/>
            <a:ext cx="5638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수정 재제출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B9552002-8493-47D2-A245-0C99504A9B8B}"/>
              </a:ext>
            </a:extLst>
          </p:cNvPr>
          <p:cNvSpPr>
            <a:spLocks noGrp="1"/>
          </p:cNvSpPr>
          <p:nvPr/>
        </p:nvSpPr>
        <p:spPr>
          <a:xfrm>
            <a:off x="1447800" y="4572000"/>
            <a:ext cx="5638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 데이터를 보완한 뒤 정상 접수로 전환되는지 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4FEE5A7-F45B-4FD0-B577-B55C0493EDCE}"/>
              </a:ext>
            </a:extLst>
          </p:cNvPr>
          <p:cNvSpPr>
            <a:spLocks noGrp="1"/>
          </p:cNvSpPr>
          <p:nvPr/>
        </p:nvSpPr>
        <p:spPr>
          <a:xfrm>
            <a:off x="7972425" y="2114550"/>
            <a:ext cx="3609975" cy="2762250"/>
          </a:xfrm>
          <a:prstGeom prst="roundRect">
            <a:avLst>
              <a:gd name="adj" fmla="val 2414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35BAF33A-8540-4417-B166-C8FF343D860F}"/>
              </a:ext>
            </a:extLst>
          </p:cNvPr>
          <p:cNvSpPr>
            <a:spLocks noGrp="1"/>
          </p:cNvSpPr>
          <p:nvPr/>
        </p:nvSpPr>
        <p:spPr>
          <a:xfrm>
            <a:off x="8162925" y="2381250"/>
            <a:ext cx="32289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4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30건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22224C62-B8AA-4AFA-968A-F0C1FEB49346}"/>
              </a:ext>
            </a:extLst>
          </p:cNvPr>
          <p:cNvSpPr>
            <a:spLocks noGrp="1"/>
          </p:cNvSpPr>
          <p:nvPr/>
        </p:nvSpPr>
        <p:spPr>
          <a:xfrm>
            <a:off x="8162925" y="3295650"/>
            <a:ext cx="32289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5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테스트 목적 30/30 통과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C9F59BAC-F19C-4411-A632-C8B2C0F7CE0E}"/>
              </a:ext>
            </a:extLst>
          </p:cNvPr>
          <p:cNvSpPr>
            <a:spLocks noGrp="1"/>
          </p:cNvSpPr>
          <p:nvPr/>
        </p:nvSpPr>
        <p:spPr>
          <a:xfrm>
            <a:off x="8201025" y="3905250"/>
            <a:ext cx="31527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접수와 오류 반환·수정 복구를</a:t>
            </a:r>
          </a:p>
          <a:p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함께 포함한 검증 결과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D335A008-A022-41F9-8BB0-029A42F6F5F0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검증의 범위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3042A916-0E73-4F1C-8CB8-3714C74FBE60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106299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접수·오류 반환·수정 복구를 포함한 30건의 검증입니다.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전체의 자동 처리율과는 별개이며, 시나리오별 개별 건수는 미확인입니다.</a:t>
            </a:r>
          </a:p>
        </p:txBody>
      </p:sp>
    </p:spTree>
    <p:extLst>
      <p:ext uri="{BB962C8B-B14F-4D97-AF65-F5344CB8AC3E}">
        <p14:creationId xmlns:p14="http://schemas.microsoft.com/office/powerpoint/2010/main" val="737389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-0">
            <a:extLst>
              <a:ext uri="{FF2B5EF4-FFF2-40B4-BE49-F238E27FC236}">
                <a16:creationId xmlns:a16="http://schemas.microsoft.com/office/drawing/2014/main" id="{35FE3857-4F8B-4C52-9B19-D5427E8B6131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11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EF9DD813-20FC-43BC-94C0-D5C1873C35E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F2B4411-606C-4C24-977B-86B7092B9B1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결과와 후속 과제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FA85EB13-1161-4142-A7F4-2C6A6522DFF5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신규 연동과 기존 방식을 병행해 집계 대상 주문의 통관 완료를 확인했습니다.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9E205990-985F-4C6C-B157-60292E3CCD3F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3676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일평균 약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DDF62900-1A4C-45EB-917B-0DDE9F01A300}"/>
              </a:ext>
            </a:extLst>
          </p:cNvPr>
          <p:cNvSpPr>
            <a:spLocks noGrp="1"/>
          </p:cNvSpPr>
          <p:nvPr/>
        </p:nvSpPr>
        <p:spPr>
          <a:xfrm>
            <a:off x="609600" y="2314575"/>
            <a:ext cx="46291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4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300건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65F168B6-DE29-4990-BF9E-4B434499702C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9434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 약 230건 / 기타 약 70건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FC2B5301-C2C5-4A7D-83F9-35173857737B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50387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집계기간 2026-08-28 ~ 2026-09-15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 대상 주문 전체 통관 완료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CB7566-55E4-4E27-BEEF-30ACF24F532D}"/>
              </a:ext>
            </a:extLst>
          </p:cNvPr>
          <p:cNvSpPr>
            <a:spLocks noGrp="1"/>
          </p:cNvSpPr>
          <p:nvPr/>
        </p:nvSpPr>
        <p:spPr>
          <a:xfrm>
            <a:off x="6181725" y="1819275"/>
            <a:ext cx="5400675" cy="2905125"/>
          </a:xfrm>
          <a:prstGeom prst="roundRect">
            <a:avLst>
              <a:gd name="adj" fmla="val 2295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7C1CE039-85A6-43A1-A195-A88D3A668C16}"/>
              </a:ext>
            </a:extLst>
          </p:cNvPr>
          <p:cNvSpPr>
            <a:spLocks noGrp="1"/>
          </p:cNvSpPr>
          <p:nvPr/>
        </p:nvSpPr>
        <p:spPr>
          <a:xfrm>
            <a:off x="6419850" y="2047875"/>
            <a:ext cx="4895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결과를 해석한 범위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1A00812F-D995-4B17-8DAB-B74037515123}"/>
              </a:ext>
            </a:extLst>
          </p:cNvPr>
          <p:cNvSpPr>
            <a:spLocks noGrp="1"/>
          </p:cNvSpPr>
          <p:nvPr/>
        </p:nvSpPr>
        <p:spPr>
          <a:xfrm>
            <a:off x="6419850" y="2486025"/>
            <a:ext cx="4857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신규 신고 경로와 기존 방식이 함께 쓰인 운영 결과입니다.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자동 처리율·신규 경로 비중·처리 시간은 별도 계측하지 않았습니다.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C553C359-5177-4D85-BFAF-125E70AE388D}"/>
              </a:ext>
            </a:extLst>
          </p:cNvPr>
          <p:cNvSpPr>
            <a:spLocks noGrp="1"/>
          </p:cNvSpPr>
          <p:nvPr/>
        </p:nvSpPr>
        <p:spPr>
          <a:xfrm>
            <a:off x="6419850" y="3505200"/>
            <a:ext cx="485775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406D6E7B-A2DC-4651-B7B3-B874D6CED625}"/>
              </a:ext>
            </a:extLst>
          </p:cNvPr>
          <p:cNvSpPr>
            <a:spLocks noGrp="1"/>
          </p:cNvSpPr>
          <p:nvPr/>
        </p:nvSpPr>
        <p:spPr>
          <a:xfrm>
            <a:off x="6419850" y="380047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운영에서 남은 수기 보완을 다음 개선 과제로 연결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4C1CEDD6-AF6F-490E-9D71-F7CA7E291343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84486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후속 기획: 고객 통관정보 보완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373213F-4343-4D42-8414-82E314651442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92A6184A-7738-41D0-AA0E-633BC2224686}"/>
              </a:ext>
            </a:extLst>
          </p:cNvPr>
          <p:cNvSpPr>
            <a:spLocks noGrp="1"/>
          </p:cNvSpPr>
          <p:nvPr/>
        </p:nvSpPr>
        <p:spPr>
          <a:xfrm>
            <a:off x="742950" y="56959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고객 연락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F0AD28AA-BDB4-4A5D-B3FC-8DA531BD8A63}"/>
              </a:ext>
            </a:extLst>
          </p:cNvPr>
          <p:cNvSpPr>
            <a:spLocks noGrp="1"/>
          </p:cNvSpPr>
          <p:nvPr/>
        </p:nvSpPr>
        <p:spPr>
          <a:xfrm>
            <a:off x="742950" y="59626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정보 보완 필요 안내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F0CC8E1-5D67-4516-909F-2B18F8435841}"/>
              </a:ext>
            </a:extLst>
          </p:cNvPr>
          <p:cNvSpPr>
            <a:spLocks noGrp="1"/>
          </p:cNvSpPr>
          <p:nvPr/>
        </p:nvSpPr>
        <p:spPr>
          <a:xfrm>
            <a:off x="3390900" y="55816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CE152347-3897-4185-9B8B-B09194E9233B}"/>
              </a:ext>
            </a:extLst>
          </p:cNvPr>
          <p:cNvSpPr>
            <a:spLocks noGrp="1"/>
          </p:cNvSpPr>
          <p:nvPr/>
        </p:nvSpPr>
        <p:spPr>
          <a:xfrm>
            <a:off x="3524250" y="56959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 확인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3A30F577-16D1-4399-8989-89F7A1FEC7E0}"/>
              </a:ext>
            </a:extLst>
          </p:cNvPr>
          <p:cNvSpPr>
            <a:spLocks noGrp="1"/>
          </p:cNvSpPr>
          <p:nvPr/>
        </p:nvSpPr>
        <p:spPr>
          <a:xfrm>
            <a:off x="3524250" y="59626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 주문과 고객 확인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2BDD22B-4149-4D8A-AB0D-21F3385E635E}"/>
              </a:ext>
            </a:extLst>
          </p:cNvPr>
          <p:cNvSpPr>
            <a:spLocks noGrp="1"/>
          </p:cNvSpPr>
          <p:nvPr/>
        </p:nvSpPr>
        <p:spPr>
          <a:xfrm>
            <a:off x="6172200" y="55816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38D05BB9-D43F-45F9-83CD-8084AA197EEC}"/>
              </a:ext>
            </a:extLst>
          </p:cNvPr>
          <p:cNvSpPr>
            <a:spLocks noGrp="1"/>
          </p:cNvSpPr>
          <p:nvPr/>
        </p:nvSpPr>
        <p:spPr>
          <a:xfrm>
            <a:off x="6305550" y="56959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정보 보완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FB093B5B-AF8A-4975-9A6F-98959DA89795}"/>
              </a:ext>
            </a:extLst>
          </p:cNvPr>
          <p:cNvSpPr>
            <a:spLocks noGrp="1"/>
          </p:cNvSpPr>
          <p:nvPr/>
        </p:nvSpPr>
        <p:spPr>
          <a:xfrm>
            <a:off x="6305550" y="59626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누락된 통관정보 수집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D3FA771-275B-4CDA-8FF2-78C7A178E9FF}"/>
              </a:ext>
            </a:extLst>
          </p:cNvPr>
          <p:cNvSpPr>
            <a:spLocks noGrp="1"/>
          </p:cNvSpPr>
          <p:nvPr/>
        </p:nvSpPr>
        <p:spPr>
          <a:xfrm>
            <a:off x="8953500" y="55816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9A1C501C-6828-4460-9C2D-975AD0C9E04C}"/>
              </a:ext>
            </a:extLst>
          </p:cNvPr>
          <p:cNvSpPr>
            <a:spLocks noGrp="1"/>
          </p:cNvSpPr>
          <p:nvPr/>
        </p:nvSpPr>
        <p:spPr>
          <a:xfrm>
            <a:off x="9086850" y="56959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검증·재투입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A8AEB987-D1BC-4841-A544-F2519975E413}"/>
              </a:ext>
            </a:extLst>
          </p:cNvPr>
          <p:cNvSpPr>
            <a:spLocks noGrp="1"/>
          </p:cNvSpPr>
          <p:nvPr/>
        </p:nvSpPr>
        <p:spPr>
          <a:xfrm>
            <a:off x="9086850" y="59626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운영자가 검증 후 처리</a:t>
            </a:r>
          </a:p>
        </p:txBody>
      </p:sp>
    </p:spTree>
    <p:extLst>
      <p:ext uri="{BB962C8B-B14F-4D97-AF65-F5344CB8AC3E}">
        <p14:creationId xmlns:p14="http://schemas.microsoft.com/office/powerpoint/2010/main" val="776022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DB02EF33-5A6C-458D-9802-080C9C20650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12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8AF7427-D3D4-4C54-A048-5382D37F0B7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02.  운영 디지털화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43271EF-8AD8-4345-8D9B-E34F5E2B7432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DD793EA-5289-4005-8A44-62AE72634E6C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산후조리원 전용 B2B 몰 구축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2D51082-4B92-47B0-807D-829AAF5595BF}"/>
              </a:ext>
            </a:extLst>
          </p:cNvPr>
          <p:cNvSpPr>
            <a:spLocks noGrp="1"/>
          </p:cNvSpPr>
          <p:nvPr/>
        </p:nvSpPr>
        <p:spPr>
          <a:xfrm>
            <a:off x="1752600" y="2143125"/>
            <a:ext cx="56864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계약별 주문·결제·포인트 규칙을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운영자가 설정하고 확인하는 구조로 바꿨습니다.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92959424-44D5-4E99-AE9F-4A124261FB92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75A4740-9751-46ED-AA9F-79A8ED99E541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계정별 상품·결제 조건을 사람이 매번 다시 판단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4A8F32DA-56FC-4F44-8AA3-00EDC574CA13}"/>
              </a:ext>
            </a:extLst>
          </p:cNvPr>
          <p:cNvSpPr>
            <a:spLocks noGrp="1"/>
          </p:cNvSpPr>
          <p:nvPr/>
        </p:nvSpPr>
        <p:spPr>
          <a:xfrm>
            <a:off x="1752600" y="37814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2D4C030-019B-4BB3-BBCC-B96C61F74E52}"/>
              </a:ext>
            </a:extLst>
          </p:cNvPr>
          <p:cNvSpPr>
            <a:spLocks noGrp="1"/>
          </p:cNvSpPr>
          <p:nvPr/>
        </p:nvSpPr>
        <p:spPr>
          <a:xfrm>
            <a:off x="1752600" y="4067175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담당자, 내부 운영팀, 공급사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7544839-815A-4195-9FED-CF8A01EFDF77}"/>
              </a:ext>
            </a:extLst>
          </p:cNvPr>
          <p:cNvSpPr>
            <a:spLocks noGrp="1"/>
          </p:cNvSpPr>
          <p:nvPr/>
        </p:nvSpPr>
        <p:spPr>
          <a:xfrm>
            <a:off x="1752600" y="45339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46F798A2-8E8B-4D26-8480-49EE911345D3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오출고 예방과 주문 확인 부담 감소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A9EF27F-256A-4307-9787-B44DBB0E9BDC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38475"/>
          </a:xfrm>
          <a:prstGeom prst="roundRect">
            <a:avLst>
              <a:gd name="adj" fmla="val 3448"/>
            </a:avLst>
          </a:prstGeom>
          <a:solidFill>
            <a:srgbClr val="19583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40D3F2AA-1376-4AD1-BF98-5E2128E2AC8D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 예외를 정책으로 정리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A7D3BA1-8E99-4F58-9577-AA0ED1999CDB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5E9A2F12-67FA-44B3-804C-6F36C84490E3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회원 등급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75F24B53-BB6C-4FB6-9FB7-44C35A2C3818}"/>
              </a:ext>
            </a:extLst>
          </p:cNvPr>
          <p:cNvSpPr>
            <a:spLocks noGrp="1"/>
          </p:cNvSpPr>
          <p:nvPr/>
        </p:nvSpPr>
        <p:spPr>
          <a:xfrm>
            <a:off x="8229600" y="2466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상품·결제수단 분기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EA24B1-02B1-451E-B3DA-CC81D2C910E9}"/>
              </a:ext>
            </a:extLst>
          </p:cNvPr>
          <p:cNvSpPr>
            <a:spLocks noGrp="1"/>
          </p:cNvSpPr>
          <p:nvPr/>
        </p:nvSpPr>
        <p:spPr>
          <a:xfrm>
            <a:off x="8039100" y="2762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BD4DF818-8D74-4AB9-82F1-A3079A3E092A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혼합주문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65EA8DA0-B621-4CB9-85A7-EE2A76745C25}"/>
              </a:ext>
            </a:extLst>
          </p:cNvPr>
          <p:cNvSpPr>
            <a:spLocks noGrp="1"/>
          </p:cNvSpPr>
          <p:nvPr/>
        </p:nvSpPr>
        <p:spPr>
          <a:xfrm>
            <a:off x="8229600" y="3038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분유와 물품 분리 주문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0AE4B56-F9E0-4A4D-952C-242B4B74C1BB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66360D95-DD7B-429C-AF51-F64DD80F7169}"/>
              </a:ext>
            </a:extLst>
          </p:cNvPr>
          <p:cNvSpPr>
            <a:spLocks noGrp="1"/>
          </p:cNvSpPr>
          <p:nvPr/>
        </p:nvSpPr>
        <p:spPr>
          <a:xfrm>
            <a:off x="8229600" y="3390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441B0B78-D525-4FE1-92D5-C97F803C03BF}"/>
              </a:ext>
            </a:extLst>
          </p:cNvPr>
          <p:cNvSpPr>
            <a:spLocks noGrp="1"/>
          </p:cNvSpPr>
          <p:nvPr/>
        </p:nvSpPr>
        <p:spPr>
          <a:xfrm>
            <a:off x="8229600" y="3609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ED0A7E4-0A8F-47F0-B332-9D4DC4B568C5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1079F066-9917-4D92-A909-1F162FACB461}"/>
              </a:ext>
            </a:extLst>
          </p:cNvPr>
          <p:cNvSpPr>
            <a:spLocks noGrp="1"/>
          </p:cNvSpPr>
          <p:nvPr/>
        </p:nvSpPr>
        <p:spPr>
          <a:xfrm>
            <a:off x="8229600" y="3962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QA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B15A0E18-C2FA-41D4-9EF6-31771ED61477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고객 화면에서 기대 결과 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D438205C-9393-48CD-B42B-36DD43BD9B3D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0"/>
          </a:xfrm>
          <a:prstGeom prst="line">
            <a:avLst/>
          </a:prstGeom>
          <a:ln w="7620">
            <a:solidFill>
              <a:srgbClr val="A6D5B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A7A9AE68-3178-47F7-B854-AE7F0D3E39AD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F5B065D3-F92E-46EC-BD4D-6AB946120CB1}"/>
              </a:ext>
            </a:extLst>
          </p:cNvPr>
          <p:cNvSpPr>
            <a:spLocks noGrp="1"/>
          </p:cNvSpPr>
          <p:nvPr/>
        </p:nvSpPr>
        <p:spPr>
          <a:xfrm>
            <a:off x="1419225" y="53911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2026-06 기획 / 07-02 개발 착수 / 07-16 핵심 흐름 가동 / 08-31 최종 검수</a:t>
            </a: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037CB305-DEBE-453B-A848-6399198BAFC8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24D23A3F-CD34-48C9-843F-518890A9C60A}"/>
              </a:ext>
            </a:extLst>
          </p:cNvPr>
          <p:cNvSpPr>
            <a:spLocks noGrp="1"/>
          </p:cNvSpPr>
          <p:nvPr/>
        </p:nvSpPr>
        <p:spPr>
          <a:xfrm>
            <a:off x="1419225" y="56673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정책·요구사항 작성, 외주 개발사 조율, 운영 QA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D203645B-6447-4B62-BA69-B6FD9053BA1C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2BBDCCE2-915D-4860-8C3C-0F6B252C72E9}"/>
              </a:ext>
            </a:extLst>
          </p:cNvPr>
          <p:cNvSpPr>
            <a:spLocks noGrp="1"/>
          </p:cNvSpPr>
          <p:nvPr/>
        </p:nvSpPr>
        <p:spPr>
          <a:xfrm>
            <a:off x="1419225" y="594360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커머스 솔루션 개발사, 내부 운영팀, 영업매니저, 공급사</a:t>
            </a:r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A8470276-BC54-4324-83BD-69C353622C18}"/>
              </a:ext>
            </a:extLst>
          </p:cNvPr>
          <p:cNvSpPr>
            <a:spLocks noGrp="1"/>
          </p:cNvSpPr>
          <p:nvPr/>
        </p:nvSpPr>
        <p:spPr>
          <a:xfrm>
            <a:off x="609600" y="62166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규모</a:t>
            </a:r>
          </a:p>
        </p:txBody>
      </p:sp>
      <p:sp>
        <p:nvSpPr>
          <p:cNvPr id="36" name="text-35">
            <a:extLst>
              <a:ext uri="{FF2B5EF4-FFF2-40B4-BE49-F238E27FC236}">
                <a16:creationId xmlns:a16="http://schemas.microsoft.com/office/drawing/2014/main" id="{9CD2B0FC-4BE2-4734-91CE-95BB7832660A}"/>
              </a:ext>
            </a:extLst>
          </p:cNvPr>
          <p:cNvSpPr>
            <a:spLocks noGrp="1"/>
          </p:cNvSpPr>
          <p:nvPr/>
        </p:nvSpPr>
        <p:spPr>
          <a:xfrm>
            <a:off x="1419225" y="62166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약 140개소 / 물품 지원 계약 약 77개소 / 공급사 5곳</a:t>
            </a:r>
          </a:p>
        </p:txBody>
      </p:sp>
    </p:spTree>
    <p:extLst>
      <p:ext uri="{BB962C8B-B14F-4D97-AF65-F5344CB8AC3E}">
        <p14:creationId xmlns:p14="http://schemas.microsoft.com/office/powerpoint/2010/main" val="1819326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-0">
            <a:extLst>
              <a:ext uri="{FF2B5EF4-FFF2-40B4-BE49-F238E27FC236}">
                <a16:creationId xmlns:a16="http://schemas.microsoft.com/office/drawing/2014/main" id="{24FC555A-2A90-4532-A578-FFA25FA23C8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13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CFB8FAE-0615-470E-8091-83F8BDB4EA5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F70C426-009A-4294-866F-38F2F968E4C2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AS-IS 업무 흐름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62369C6-D705-4BF3-B851-FC43D8539508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같은 주문을 여러 곳에 옮겨 적고, 계약 조건을 사람이 다시 확인하는 일이 반복됐습니다.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5A3DCE7-F830-4A1D-BDE5-B7868D6308EB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36D525D-A891-47FA-9D8D-EC5CC0661996}"/>
              </a:ext>
            </a:extLst>
          </p:cNvPr>
          <p:cNvSpPr>
            <a:spLocks noGrp="1"/>
          </p:cNvSpPr>
          <p:nvPr/>
        </p:nvSpPr>
        <p:spPr>
          <a:xfrm>
            <a:off x="74295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구글 폼 주문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4941983-0FA4-44D8-99B9-EFA48BD4D57E}"/>
              </a:ext>
            </a:extLst>
          </p:cNvPr>
          <p:cNvSpPr>
            <a:spLocks noGrp="1"/>
          </p:cNvSpPr>
          <p:nvPr/>
        </p:nvSpPr>
        <p:spPr>
          <a:xfrm>
            <a:off x="74295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조리원 담당자 작성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06282A5E-D282-4F62-A9EB-06289F9F61FB}"/>
              </a:ext>
            </a:extLst>
          </p:cNvPr>
          <p:cNvSpPr>
            <a:spLocks noGrp="1"/>
          </p:cNvSpPr>
          <p:nvPr/>
        </p:nvSpPr>
        <p:spPr>
          <a:xfrm>
            <a:off x="233362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7B5698-5338-439B-AD9D-6DF7AA178529}"/>
              </a:ext>
            </a:extLst>
          </p:cNvPr>
          <p:cNvSpPr>
            <a:spLocks noGrp="1"/>
          </p:cNvSpPr>
          <p:nvPr/>
        </p:nvSpPr>
        <p:spPr>
          <a:xfrm>
            <a:off x="246697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8F64075B-5596-4EFD-B683-3597F0F38DFF}"/>
              </a:ext>
            </a:extLst>
          </p:cNvPr>
          <p:cNvSpPr>
            <a:spLocks noGrp="1"/>
          </p:cNvSpPr>
          <p:nvPr/>
        </p:nvSpPr>
        <p:spPr>
          <a:xfrm>
            <a:off x="260032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시트 취합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92925F13-A906-454F-9EF4-0ECF592DF566}"/>
              </a:ext>
            </a:extLst>
          </p:cNvPr>
          <p:cNvSpPr>
            <a:spLocks noGrp="1"/>
          </p:cNvSpPr>
          <p:nvPr/>
        </p:nvSpPr>
        <p:spPr>
          <a:xfrm>
            <a:off x="260032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 수기 정리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D252640B-0662-4B41-B1F3-D1C6B0294043}"/>
              </a:ext>
            </a:extLst>
          </p:cNvPr>
          <p:cNvSpPr>
            <a:spLocks noGrp="1"/>
          </p:cNvSpPr>
          <p:nvPr/>
        </p:nvSpPr>
        <p:spPr>
          <a:xfrm>
            <a:off x="4191000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76CAD71-4918-4775-89EF-4564340ACFC6}"/>
              </a:ext>
            </a:extLst>
          </p:cNvPr>
          <p:cNvSpPr>
            <a:spLocks noGrp="1"/>
          </p:cNvSpPr>
          <p:nvPr/>
        </p:nvSpPr>
        <p:spPr>
          <a:xfrm>
            <a:off x="432435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5CC13BF-3D04-479C-B151-7E3ABABE66E7}"/>
              </a:ext>
            </a:extLst>
          </p:cNvPr>
          <p:cNvSpPr>
            <a:spLocks noGrp="1"/>
          </p:cNvSpPr>
          <p:nvPr/>
        </p:nvSpPr>
        <p:spPr>
          <a:xfrm>
            <a:off x="445770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입금 대조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40BD4B11-0B74-4615-AAD8-666A46756537}"/>
              </a:ext>
            </a:extLst>
          </p:cNvPr>
          <p:cNvSpPr>
            <a:spLocks noGrp="1"/>
          </p:cNvSpPr>
          <p:nvPr/>
        </p:nvSpPr>
        <p:spPr>
          <a:xfrm>
            <a:off x="445770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계좌와 주문 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F2C446CD-5A0C-4491-A7E3-FB4063A4BDC6}"/>
              </a:ext>
            </a:extLst>
          </p:cNvPr>
          <p:cNvSpPr>
            <a:spLocks noGrp="1"/>
          </p:cNvSpPr>
          <p:nvPr/>
        </p:nvSpPr>
        <p:spPr>
          <a:xfrm>
            <a:off x="604837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F667181-DF1E-4A05-BF9B-A0E07B030E27}"/>
              </a:ext>
            </a:extLst>
          </p:cNvPr>
          <p:cNvSpPr>
            <a:spLocks noGrp="1"/>
          </p:cNvSpPr>
          <p:nvPr/>
        </p:nvSpPr>
        <p:spPr>
          <a:xfrm>
            <a:off x="618172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DF18E97-7DC7-48F4-9E86-B44AF97942EA}"/>
              </a:ext>
            </a:extLst>
          </p:cNvPr>
          <p:cNvSpPr>
            <a:spLocks noGrp="1"/>
          </p:cNvSpPr>
          <p:nvPr/>
        </p:nvSpPr>
        <p:spPr>
          <a:xfrm>
            <a:off x="631507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거래명세서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2832E02A-31B5-4A83-84B2-D03319303BBE}"/>
              </a:ext>
            </a:extLst>
          </p:cNvPr>
          <p:cNvSpPr>
            <a:spLocks noGrp="1"/>
          </p:cNvSpPr>
          <p:nvPr/>
        </p:nvSpPr>
        <p:spPr>
          <a:xfrm>
            <a:off x="631507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건별 메일 발송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7DCD179A-DAF2-4912-95E6-409F7EC55DE7}"/>
              </a:ext>
            </a:extLst>
          </p:cNvPr>
          <p:cNvSpPr>
            <a:spLocks noGrp="1"/>
          </p:cNvSpPr>
          <p:nvPr/>
        </p:nvSpPr>
        <p:spPr>
          <a:xfrm>
            <a:off x="7905750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88346F6-6FA6-4675-A89A-B843D5B736B1}"/>
              </a:ext>
            </a:extLst>
          </p:cNvPr>
          <p:cNvSpPr>
            <a:spLocks noGrp="1"/>
          </p:cNvSpPr>
          <p:nvPr/>
        </p:nvSpPr>
        <p:spPr>
          <a:xfrm>
            <a:off x="803910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796C060-93DD-4594-844A-05FDC3C1CC84}"/>
              </a:ext>
            </a:extLst>
          </p:cNvPr>
          <p:cNvSpPr>
            <a:spLocks noGrp="1"/>
          </p:cNvSpPr>
          <p:nvPr/>
        </p:nvSpPr>
        <p:spPr>
          <a:xfrm>
            <a:off x="817245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 등록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C7473085-9D58-46FA-997C-1AB70E3B538F}"/>
              </a:ext>
            </a:extLst>
          </p:cNvPr>
          <p:cNvSpPr>
            <a:spLocks noGrp="1"/>
          </p:cNvSpPr>
          <p:nvPr/>
        </p:nvSpPr>
        <p:spPr>
          <a:xfrm>
            <a:off x="817245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재입력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BA10A052-F7B6-455B-BA29-70E4CA2E9F95}"/>
              </a:ext>
            </a:extLst>
          </p:cNvPr>
          <p:cNvSpPr>
            <a:spLocks noGrp="1"/>
          </p:cNvSpPr>
          <p:nvPr/>
        </p:nvSpPr>
        <p:spPr>
          <a:xfrm>
            <a:off x="976312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83F6EE4-6CB2-451A-A875-E38E51742BEB}"/>
              </a:ext>
            </a:extLst>
          </p:cNvPr>
          <p:cNvSpPr>
            <a:spLocks noGrp="1"/>
          </p:cNvSpPr>
          <p:nvPr/>
        </p:nvSpPr>
        <p:spPr>
          <a:xfrm>
            <a:off x="989647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2716A620-DA2B-4698-8E42-556317618A06}"/>
              </a:ext>
            </a:extLst>
          </p:cNvPr>
          <p:cNvSpPr>
            <a:spLocks noGrp="1"/>
          </p:cNvSpPr>
          <p:nvPr/>
        </p:nvSpPr>
        <p:spPr>
          <a:xfrm>
            <a:off x="1002982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월말 정산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2358A9D9-7004-462E-BD00-96ACB4F8D028}"/>
              </a:ext>
            </a:extLst>
          </p:cNvPr>
          <p:cNvSpPr>
            <a:spLocks noGrp="1"/>
          </p:cNvSpPr>
          <p:nvPr/>
        </p:nvSpPr>
        <p:spPr>
          <a:xfrm>
            <a:off x="1002982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자료 대조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209EEBA-740C-4643-A757-71CB0121C593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부담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18521B8-ADED-4EB2-9143-5B7AC0F9595A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82969BDC-36EC-4DC6-A2A9-A013E2B4CD63}"/>
              </a:ext>
            </a:extLst>
          </p:cNvPr>
          <p:cNvSpPr>
            <a:spLocks noGrp="1"/>
          </p:cNvSpPr>
          <p:nvPr/>
        </p:nvSpPr>
        <p:spPr>
          <a:xfrm>
            <a:off x="781050" y="341947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매일 입금 대조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CB021BF6-5B0B-411A-9BEE-233756FE9AC0}"/>
              </a:ext>
            </a:extLst>
          </p:cNvPr>
          <p:cNvSpPr>
            <a:spLocks noGrp="1"/>
          </p:cNvSpPr>
          <p:nvPr/>
        </p:nvSpPr>
        <p:spPr>
          <a:xfrm>
            <a:off x="2552700" y="341947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15~30분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D508D593-20AA-41FE-A328-69B8064599B7}"/>
              </a:ext>
            </a:extLst>
          </p:cNvPr>
          <p:cNvSpPr>
            <a:spLocks noGrp="1"/>
          </p:cNvSpPr>
          <p:nvPr/>
        </p:nvSpPr>
        <p:spPr>
          <a:xfrm>
            <a:off x="4105275" y="335280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입금자명·금액을 주문과 확인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C72EC9-D3B1-41B6-9CA3-E00A6E16F0FA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-33">
            <a:extLst>
              <a:ext uri="{FF2B5EF4-FFF2-40B4-BE49-F238E27FC236}">
                <a16:creationId xmlns:a16="http://schemas.microsoft.com/office/drawing/2014/main" id="{9E997DE9-FFAD-4110-AAED-2BF85FCBA36E}"/>
              </a:ext>
            </a:extLst>
          </p:cNvPr>
          <p:cNvSpPr>
            <a:spLocks noGrp="1"/>
          </p:cNvSpPr>
          <p:nvPr/>
        </p:nvSpPr>
        <p:spPr>
          <a:xfrm>
            <a:off x="781050" y="412432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C9545234-C0CF-4892-BBDA-C89D7DC6FCFC}"/>
              </a:ext>
            </a:extLst>
          </p:cNvPr>
          <p:cNvSpPr>
            <a:spLocks noGrp="1"/>
          </p:cNvSpPr>
          <p:nvPr/>
        </p:nvSpPr>
        <p:spPr>
          <a:xfrm>
            <a:off x="2552700" y="412432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월 2~3건</a:t>
            </a:r>
          </a:p>
        </p:txBody>
      </p:sp>
      <p:sp>
        <p:nvSpPr>
          <p:cNvPr id="36" name="text-35">
            <a:extLst>
              <a:ext uri="{FF2B5EF4-FFF2-40B4-BE49-F238E27FC236}">
                <a16:creationId xmlns:a16="http://schemas.microsoft.com/office/drawing/2014/main" id="{354CC168-DF44-4C9E-9173-E24DCE2C6A7E}"/>
              </a:ext>
            </a:extLst>
          </p:cNvPr>
          <p:cNvSpPr>
            <a:spLocks noGrp="1"/>
          </p:cNvSpPr>
          <p:nvPr/>
        </p:nvSpPr>
        <p:spPr>
          <a:xfrm>
            <a:off x="4105275" y="405765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직전 6개월 월평균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1543E50-D031-4986-AEF9-9C75D6E6C63D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-37">
            <a:extLst>
              <a:ext uri="{FF2B5EF4-FFF2-40B4-BE49-F238E27FC236}">
                <a16:creationId xmlns:a16="http://schemas.microsoft.com/office/drawing/2014/main" id="{EAE0FE83-44FE-416D-9FC1-84D9EB2099ED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39" name="text-38">
            <a:extLst>
              <a:ext uri="{FF2B5EF4-FFF2-40B4-BE49-F238E27FC236}">
                <a16:creationId xmlns:a16="http://schemas.microsoft.com/office/drawing/2014/main" id="{741764D3-D3D4-449D-AC86-F5DCCCE39428}"/>
              </a:ext>
            </a:extLst>
          </p:cNvPr>
          <p:cNvSpPr>
            <a:spLocks noGrp="1"/>
          </p:cNvSpPr>
          <p:nvPr/>
        </p:nvSpPr>
        <p:spPr>
          <a:xfrm>
            <a:off x="2552700" y="482917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환산 32건</a:t>
            </a:r>
          </a:p>
        </p:txBody>
      </p:sp>
      <p:sp>
        <p:nvSpPr>
          <p:cNvPr id="40" name="text-39">
            <a:extLst>
              <a:ext uri="{FF2B5EF4-FFF2-40B4-BE49-F238E27FC236}">
                <a16:creationId xmlns:a16="http://schemas.microsoft.com/office/drawing/2014/main" id="{62FAF6D8-CA83-4105-A027-A5580D1E1F24}"/>
              </a:ext>
            </a:extLst>
          </p:cNvPr>
          <p:cNvSpPr>
            <a:spLocks noGrp="1"/>
          </p:cNvSpPr>
          <p:nvPr/>
        </p:nvSpPr>
        <p:spPr>
          <a:xfrm>
            <a:off x="4105275" y="476250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2026-01~06 인입 이력 기준</a:t>
            </a:r>
          </a:p>
        </p:txBody>
      </p:sp>
      <p:sp>
        <p:nvSpPr>
          <p:cNvPr id="41" name="text-40">
            <a:extLst>
              <a:ext uri="{FF2B5EF4-FFF2-40B4-BE49-F238E27FC236}">
                <a16:creationId xmlns:a16="http://schemas.microsoft.com/office/drawing/2014/main" id="{74153BA8-B90D-4B8E-82DD-C3C6B4732C55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 대조는 도입 전 소요시간 / 오출고·문의는 운영팀 출고·CS 이력</a:t>
            </a:r>
          </a:p>
        </p:txBody>
      </p:sp>
      <p:sp>
        <p:nvSpPr>
          <p:cNvPr id="42" name="text-41">
            <a:extLst>
              <a:ext uri="{FF2B5EF4-FFF2-40B4-BE49-F238E27FC236}">
                <a16:creationId xmlns:a16="http://schemas.microsoft.com/office/drawing/2014/main" id="{9AD87C95-DC8F-49FE-ACCF-5818DB77BE22}"/>
              </a:ext>
            </a:extLst>
          </p:cNvPr>
          <p:cNvSpPr>
            <a:spLocks noGrp="1"/>
          </p:cNvSpPr>
          <p:nvPr/>
        </p:nvSpPr>
        <p:spPr>
          <a:xfrm>
            <a:off x="6257925" y="2857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24F8862-8523-4AA1-80E1-7E4705978774}"/>
              </a:ext>
            </a:extLst>
          </p:cNvPr>
          <p:cNvSpPr>
            <a:spLocks noGrp="1"/>
          </p:cNvSpPr>
          <p:nvPr/>
        </p:nvSpPr>
        <p:spPr>
          <a:xfrm>
            <a:off x="6257925" y="3276600"/>
            <a:ext cx="5324475" cy="1009650"/>
          </a:xfrm>
          <a:prstGeom prst="roundRect">
            <a:avLst>
              <a:gd name="adj" fmla="val 6604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-43">
            <a:extLst>
              <a:ext uri="{FF2B5EF4-FFF2-40B4-BE49-F238E27FC236}">
                <a16:creationId xmlns:a16="http://schemas.microsoft.com/office/drawing/2014/main" id="{910B4278-68F7-4140-A0D3-A9C8BDB6505E}"/>
              </a:ext>
            </a:extLst>
          </p:cNvPr>
          <p:cNvSpPr>
            <a:spLocks noGrp="1"/>
          </p:cNvSpPr>
          <p:nvPr/>
        </p:nvSpPr>
        <p:spPr>
          <a:xfrm>
            <a:off x="6496050" y="3476625"/>
            <a:ext cx="4857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계약·결제·주문 상태를</a:t>
            </a:r>
          </a:p>
          <a:p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사람의 기억으로 매번 판단하는 구조</a:t>
            </a:r>
          </a:p>
        </p:txBody>
      </p:sp>
      <p:sp>
        <p:nvSpPr>
          <p:cNvPr id="45" name="text-44">
            <a:extLst>
              <a:ext uri="{FF2B5EF4-FFF2-40B4-BE49-F238E27FC236}">
                <a16:creationId xmlns:a16="http://schemas.microsoft.com/office/drawing/2014/main" id="{D3895448-331B-4AB8-8CB2-F1322B688F23}"/>
              </a:ext>
            </a:extLst>
          </p:cNvPr>
          <p:cNvSpPr>
            <a:spLocks noGrp="1"/>
          </p:cNvSpPr>
          <p:nvPr/>
        </p:nvSpPr>
        <p:spPr>
          <a:xfrm>
            <a:off x="6257925" y="456247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6" name="text-45">
            <a:extLst>
              <a:ext uri="{FF2B5EF4-FFF2-40B4-BE49-F238E27FC236}">
                <a16:creationId xmlns:a16="http://schemas.microsoft.com/office/drawing/2014/main" id="{90C1991A-9845-4C85-BC67-060D3F8A8F51}"/>
              </a:ext>
            </a:extLst>
          </p:cNvPr>
          <p:cNvSpPr>
            <a:spLocks noGrp="1"/>
          </p:cNvSpPr>
          <p:nvPr/>
        </p:nvSpPr>
        <p:spPr>
          <a:xfrm>
            <a:off x="6638925" y="4562475"/>
            <a:ext cx="4838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등급별 상품과 결제 조건이 화면·서버에서 일치해야 함</a:t>
            </a:r>
          </a:p>
        </p:txBody>
      </p:sp>
      <p:sp>
        <p:nvSpPr>
          <p:cNvPr id="47" name="text-46">
            <a:extLst>
              <a:ext uri="{FF2B5EF4-FFF2-40B4-BE49-F238E27FC236}">
                <a16:creationId xmlns:a16="http://schemas.microsoft.com/office/drawing/2014/main" id="{9537554C-64F7-4535-811C-4085A62CCCE6}"/>
              </a:ext>
            </a:extLst>
          </p:cNvPr>
          <p:cNvSpPr>
            <a:spLocks noGrp="1"/>
          </p:cNvSpPr>
          <p:nvPr/>
        </p:nvSpPr>
        <p:spPr>
          <a:xfrm>
            <a:off x="6257925" y="530542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8" name="text-47">
            <a:extLst>
              <a:ext uri="{FF2B5EF4-FFF2-40B4-BE49-F238E27FC236}">
                <a16:creationId xmlns:a16="http://schemas.microsoft.com/office/drawing/2014/main" id="{2C3FD799-5102-4EE9-836B-7AB4456F74F1}"/>
              </a:ext>
            </a:extLst>
          </p:cNvPr>
          <p:cNvSpPr>
            <a:spLocks noGrp="1"/>
          </p:cNvSpPr>
          <p:nvPr/>
        </p:nvSpPr>
        <p:spPr>
          <a:xfrm>
            <a:off x="6638925" y="5305425"/>
            <a:ext cx="4838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잘못된 조합은 주문 전에 막고 고객이 다음 행동을 알 수 있어야 함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F27EB40-662B-4509-B3BE-23F6CD2531AD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우선 해결할 문제를 주문 오류 예방과 반복 확인 업무의 감소로 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28368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0">
            <a:extLst>
              <a:ext uri="{FF2B5EF4-FFF2-40B4-BE49-F238E27FC236}">
                <a16:creationId xmlns:a16="http://schemas.microsoft.com/office/drawing/2014/main" id="{5F18638D-B1F0-4865-8310-B5C5DC8E6D2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14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BBE6032-FE00-44A8-B392-29FBF828AAF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E273A2D-2405-4495-B632-2CDB9D3F3181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오픈 범위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77AEBA7-813C-4EC0-B9CF-AE2D7298E54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운영팀이 익숙한 플랫폼 위에 계약별 정책을 추가하는 방식을 선택했습니다.</a:t>
            </a:r>
          </a:p>
        </p:txBody>
      </p:sp>
      <p:graphicFrame>
        <p:nvGraphicFramePr>
          <p:cNvPr id="18" name="표 17"/>
          <p:cNvGraphicFramePr/>
          <p:nvPr/>
        </p:nvGraphicFramePr>
        <p:xfrm>
          <a:off x="609600" y="1695450"/>
          <a:ext cx="10972800" cy="222885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판단한 제약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맞춤형 웹서비스 개발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요구사항을 자유롭게 구현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운영과 유지보수 책임이 내부로 확대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쇼핑몰 솔루션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기능을 빠르게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운영팀이 새 환경을 학습하고 기존 인프라와 이원화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솔루션 + 정책 맞춤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인프라와 운영 방식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 예외를 구체화하고 별도 개발 범위를 관리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37C2AB-22D4-4616-B855-3ABCB6300E8D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10972800" cy="371475"/>
          </a:xfrm>
          <a:prstGeom prst="roundRect">
            <a:avLst>
              <a:gd name="adj" fmla="val 12821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결정 기준  ① 운영팀 학습 부담    ② 기존 인프라    ③ 유지보수 책임    ④ 구축비용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A2FDB9B3-FEF3-4FB1-8EA3-EC69E4B39DA4}"/>
              </a:ext>
            </a:extLst>
          </p:cNvPr>
          <p:cNvSpPr>
            <a:spLocks noGrp="1"/>
          </p:cNvSpPr>
          <p:nvPr/>
        </p:nvSpPr>
        <p:spPr>
          <a:xfrm>
            <a:off x="609600" y="48482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범위에서 뺀 기능과 이유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38C1991-5C50-405B-85E7-94A46FA1AC31}"/>
              </a:ext>
            </a:extLst>
          </p:cNvPr>
          <p:cNvSpPr>
            <a:spLocks noGrp="1"/>
          </p:cNvSpPr>
          <p:nvPr/>
        </p:nvSpPr>
        <p:spPr>
          <a:xfrm>
            <a:off x="60960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PG 결제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F87E8D49-65E5-4DF4-B933-424398111709}"/>
              </a:ext>
            </a:extLst>
          </p:cNvPr>
          <p:cNvSpPr>
            <a:spLocks noGrp="1"/>
          </p:cNvSpPr>
          <p:nvPr/>
        </p:nvSpPr>
        <p:spPr>
          <a:xfrm>
            <a:off x="74295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마진 대비 수수료 부담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6E58401-005A-47FA-A5D8-B08A78F19C15}"/>
              </a:ext>
            </a:extLst>
          </p:cNvPr>
          <p:cNvSpPr>
            <a:spLocks noGrp="1"/>
          </p:cNvSpPr>
          <p:nvPr/>
        </p:nvSpPr>
        <p:spPr>
          <a:xfrm>
            <a:off x="436245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견적서 신규 개발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48981E89-AC58-44B8-BD4F-FDF8586DE561}"/>
              </a:ext>
            </a:extLst>
          </p:cNvPr>
          <p:cNvSpPr>
            <a:spLocks noGrp="1"/>
          </p:cNvSpPr>
          <p:nvPr/>
        </p:nvSpPr>
        <p:spPr>
          <a:xfrm>
            <a:off x="449580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거래명세서로 대체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FFAA69D-30D6-4AC6-9808-44961AD25A96}"/>
              </a:ext>
            </a:extLst>
          </p:cNvPr>
          <p:cNvSpPr>
            <a:spLocks noGrp="1"/>
          </p:cNvSpPr>
          <p:nvPr/>
        </p:nvSpPr>
        <p:spPr>
          <a:xfrm>
            <a:off x="811530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포인트 완전 자동화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16CB18DA-CB62-48AC-B923-5DF0960C20D2}"/>
              </a:ext>
            </a:extLst>
          </p:cNvPr>
          <p:cNvSpPr>
            <a:spLocks noGrp="1"/>
          </p:cNvSpPr>
          <p:nvPr/>
        </p:nvSpPr>
        <p:spPr>
          <a:xfrm>
            <a:off x="824865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 변경과 비가역 차감 위험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</p:spTree>
    <p:extLst>
      <p:ext uri="{BB962C8B-B14F-4D97-AF65-F5344CB8AC3E}">
        <p14:creationId xmlns:p14="http://schemas.microsoft.com/office/powerpoint/2010/main" val="1425832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2E59B9E4-EF7F-4E1A-B0FD-706FCB8A081C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15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226D11E-1055-4668-81BF-4BDE100A783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C37ECE6-AF06-4ADB-947F-1DF96ED7D9F0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계정 정책을 설정표로 고정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2750716-1E1F-45FD-88DF-143F1CB6014D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회원 등급과 상품 카테고리를 조합해, 고객 화면과 서버가 같은 결제 규칙을 쓰도록 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51B6BA7-D03B-4026-8247-CAA699805BA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991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회원 등급 × 상품 카테고리</a:t>
            </a:r>
          </a:p>
        </p:txBody>
      </p:sp>
      <p:graphicFrame>
        <p:nvGraphicFramePr>
          <p:cNvPr id="18" name="표 17"/>
          <p:cNvGraphicFramePr/>
          <p:nvPr/>
        </p:nvGraphicFramePr>
        <p:xfrm>
          <a:off x="609600" y="2105025"/>
          <a:ext cx="7334250" cy="2057400"/>
        </p:xfrm>
        <a:graphic>
          <a:graphicData uri="http://schemas.openxmlformats.org/drawingml/2006/table">
            <a:tbl>
              <a:tblPr/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등급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미분류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물품계약(선불)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물품계약(후불)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C15F40E-D5C4-4E2C-88C9-E224BD246C44}"/>
              </a:ext>
            </a:extLst>
          </p:cNvPr>
          <p:cNvSpPr>
            <a:spLocks noGrp="1"/>
          </p:cNvSpPr>
          <p:nvPr/>
        </p:nvSpPr>
        <p:spPr>
          <a:xfrm>
            <a:off x="9229725" y="2105025"/>
            <a:ext cx="2352675" cy="2057400"/>
          </a:xfrm>
          <a:prstGeom prst="roundRect">
            <a:avLst>
              <a:gd name="adj" fmla="val 2778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D497DA74-6BB2-4929-957A-0618DE0DEB23}"/>
              </a:ext>
            </a:extLst>
          </p:cNvPr>
          <p:cNvSpPr>
            <a:spLocks noGrp="1"/>
          </p:cNvSpPr>
          <p:nvPr/>
        </p:nvSpPr>
        <p:spPr>
          <a:xfrm>
            <a:off x="9439275" y="2266950"/>
            <a:ext cx="19335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설계한 규칙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59174B72-8521-4982-BCFF-097D4C62734A}"/>
              </a:ext>
            </a:extLst>
          </p:cNvPr>
          <p:cNvSpPr>
            <a:spLocks noGrp="1"/>
          </p:cNvSpPr>
          <p:nvPr/>
        </p:nvSpPr>
        <p:spPr>
          <a:xfrm>
            <a:off x="9439275" y="2705100"/>
            <a:ext cx="194310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새 등급·카테고리 설정</a:t>
            </a:r>
          </a:p>
          <a:p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미분류 상품의 기본값 관리</a:t>
            </a:r>
          </a:p>
          <a:p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서버에서 결제수단 재검증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D53CCEE8-A1B2-4709-B690-CB75F12A43E6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운영자가 직접 수정하는 설정 화면 · 핵심 2개 등급 발췌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8412" y="4838700"/>
            <a:ext cx="10735176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3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093B2E12-DB8C-487F-A58D-812CDC20A78A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16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3F0A573-4BBB-4F5E-9840-6FB2D65B1AD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5309BCD4-BFA0-4DDA-8F90-AC4C77DE904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사용자 여정과 운영의 연결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D9332F2-84C7-46C9-B61B-229D30F6685D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고객의 주문·확인 행동과 운영팀의 설정·검수 행동을 같은 흐름에 배치했습니다.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6E3761D-1830-4D86-9105-21290EFEC8A7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276350" cy="323850"/>
          </a:xfrm>
          <a:prstGeom prst="roundRect">
            <a:avLst>
              <a:gd name="adj" fmla="val 14706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97368B8-31D1-404F-A3F5-CB28CE50668F}"/>
              </a:ext>
            </a:extLst>
          </p:cNvPr>
          <p:cNvSpPr>
            <a:spLocks noGrp="1"/>
          </p:cNvSpPr>
          <p:nvPr/>
        </p:nvSpPr>
        <p:spPr>
          <a:xfrm>
            <a:off x="2000250" y="1724025"/>
            <a:ext cx="2276475" cy="323850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5020B54-CECC-4CAC-AC0E-ECB5DADE5727}"/>
              </a:ext>
            </a:extLst>
          </p:cNvPr>
          <p:cNvSpPr>
            <a:spLocks noGrp="1"/>
          </p:cNvSpPr>
          <p:nvPr/>
        </p:nvSpPr>
        <p:spPr>
          <a:xfrm>
            <a:off x="4391025" y="1724025"/>
            <a:ext cx="2276475" cy="323850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결제·접수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5CD34E0-F668-4FA0-A218-100738973232}"/>
              </a:ext>
            </a:extLst>
          </p:cNvPr>
          <p:cNvSpPr>
            <a:spLocks noGrp="1"/>
          </p:cNvSpPr>
          <p:nvPr/>
        </p:nvSpPr>
        <p:spPr>
          <a:xfrm>
            <a:off x="6781800" y="1724025"/>
            <a:ext cx="2276475" cy="323850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 확인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2348AD9-37D3-4477-8333-64951D57E5F8}"/>
              </a:ext>
            </a:extLst>
          </p:cNvPr>
          <p:cNvSpPr>
            <a:spLocks noGrp="1"/>
          </p:cNvSpPr>
          <p:nvPr/>
        </p:nvSpPr>
        <p:spPr>
          <a:xfrm>
            <a:off x="9172575" y="1724025"/>
            <a:ext cx="2409825" cy="323850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출고 이후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1C20980-69FB-420C-B28A-DF7945FB1F80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276350" cy="771525"/>
          </a:xfrm>
          <a:prstGeom prst="roundRect">
            <a:avLst>
              <a:gd name="adj" fmla="val 6173"/>
            </a:avLst>
          </a:prstGeom>
          <a:solidFill>
            <a:srgbClr val="E7F4ED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조리원 담당자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AADA8FE-D166-428F-8EB5-53C36290479E}"/>
              </a:ext>
            </a:extLst>
          </p:cNvPr>
          <p:cNvSpPr>
            <a:spLocks noGrp="1"/>
          </p:cNvSpPr>
          <p:nvPr/>
        </p:nvSpPr>
        <p:spPr>
          <a:xfrm>
            <a:off x="2000250" y="2190750"/>
            <a:ext cx="227647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허용 상품 확인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분류별로 주문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D6CA69E-8F8E-47B9-ACDA-0A83925DF660}"/>
              </a:ext>
            </a:extLst>
          </p:cNvPr>
          <p:cNvSpPr>
            <a:spLocks noGrp="1"/>
          </p:cNvSpPr>
          <p:nvPr/>
        </p:nvSpPr>
        <p:spPr>
          <a:xfrm>
            <a:off x="4391025" y="2190750"/>
            <a:ext cx="227647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계정 정책에 맞는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결제수단 선택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E367C20-984B-4C8A-BCC9-995408161419}"/>
              </a:ext>
            </a:extLst>
          </p:cNvPr>
          <p:cNvSpPr>
            <a:spLocks noGrp="1"/>
          </p:cNvSpPr>
          <p:nvPr/>
        </p:nvSpPr>
        <p:spPr>
          <a:xfrm>
            <a:off x="6781800" y="2190750"/>
            <a:ext cx="227647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마이페이지에서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진행 상태 조회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4E44115-B44E-4CE2-BF1B-D2640E1BA665}"/>
              </a:ext>
            </a:extLst>
          </p:cNvPr>
          <p:cNvSpPr>
            <a:spLocks noGrp="1"/>
          </p:cNvSpPr>
          <p:nvPr/>
        </p:nvSpPr>
        <p:spPr>
          <a:xfrm>
            <a:off x="9172575" y="2190750"/>
            <a:ext cx="240982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거래명세서 출력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배송 요청 확인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5CF9D95-4847-46B3-BAB4-83284894D16A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276350" cy="771525"/>
          </a:xfrm>
          <a:prstGeom prst="roundRect">
            <a:avLst>
              <a:gd name="adj" fmla="val 6173"/>
            </a:avLst>
          </a:prstGeom>
          <a:solidFill>
            <a:srgbClr val="E7F4ED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내부 운영팀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D121586-638B-4030-9D65-2B7E2B68BB34}"/>
              </a:ext>
            </a:extLst>
          </p:cNvPr>
          <p:cNvSpPr>
            <a:spLocks noGrp="1"/>
          </p:cNvSpPr>
          <p:nvPr/>
        </p:nvSpPr>
        <p:spPr>
          <a:xfrm>
            <a:off x="2000250" y="3105150"/>
            <a:ext cx="227647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계약별 계정·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정책 값 설정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09DE8C-CD99-41E9-9369-A8A0FEC8CE44}"/>
              </a:ext>
            </a:extLst>
          </p:cNvPr>
          <p:cNvSpPr>
            <a:spLocks noGrp="1"/>
          </p:cNvSpPr>
          <p:nvPr/>
        </p:nvSpPr>
        <p:spPr>
          <a:xfrm>
            <a:off x="4391025" y="3105150"/>
            <a:ext cx="227647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입금·후불 상태를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구분해 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BA35841-7D70-4539-B2A2-9A8983B8AC5B}"/>
              </a:ext>
            </a:extLst>
          </p:cNvPr>
          <p:cNvSpPr>
            <a:spLocks noGrp="1"/>
          </p:cNvSpPr>
          <p:nvPr/>
        </p:nvSpPr>
        <p:spPr>
          <a:xfrm>
            <a:off x="6781800" y="3105150"/>
            <a:ext cx="227647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화면과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예외 주문 점검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599399E-8DC3-4CFE-BCDD-85AFC40F1801}"/>
              </a:ext>
            </a:extLst>
          </p:cNvPr>
          <p:cNvSpPr>
            <a:spLocks noGrp="1"/>
          </p:cNvSpPr>
          <p:nvPr/>
        </p:nvSpPr>
        <p:spPr>
          <a:xfrm>
            <a:off x="9172575" y="3105150"/>
            <a:ext cx="2409825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  <a:p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피드백 반영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4D5242A9-3AA4-499F-9952-437D805AA340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보이는 운영 안내</a:t>
            </a: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5822" y="4848225"/>
            <a:ext cx="4385355" cy="1162050"/>
          </a:xfrm>
          <a:prstGeom prst="rect">
            <a:avLst/>
          </a:prstGeom>
        </p:spPr>
      </p:pic>
      <p:sp>
        <p:nvSpPr>
          <p:cNvPr id="22" name="text-20">
            <a:extLst>
              <a:ext uri="{FF2B5EF4-FFF2-40B4-BE49-F238E27FC236}">
                <a16:creationId xmlns:a16="http://schemas.microsoft.com/office/drawing/2014/main" id="{197D06C5-F8FD-4A83-8CA8-BF5E03C05B10}"/>
              </a:ext>
            </a:extLst>
          </p:cNvPr>
          <p:cNvSpPr>
            <a:spLocks noGrp="1"/>
          </p:cNvSpPr>
          <p:nvPr/>
        </p:nvSpPr>
        <p:spPr>
          <a:xfrm>
            <a:off x="6286500" y="4400550"/>
            <a:ext cx="5295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고객이 직접 확인하는 주문 상태</a:t>
            </a:r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0" y="4891400"/>
            <a:ext cx="5295900" cy="108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13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0">
            <a:extLst>
              <a:ext uri="{FF2B5EF4-FFF2-40B4-BE49-F238E27FC236}">
                <a16:creationId xmlns:a16="http://schemas.microsoft.com/office/drawing/2014/main" id="{283E7D23-E6B8-452A-A995-6B596543228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17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831A65E-8FCB-4605-AD2C-751B6412854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262E09C-447E-4118-A3E0-5EA3A244A58E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결제방식이 같아도 혼합주문을 차단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1BA933C-8682-4ECB-B240-D7C2FA049ED2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결제방식이 같은 경우에도 분유와 물품은 나눠 주문해야 한다는 운영 규칙을 반영했습니다.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C39DB0E-4A72-47B7-9386-E7897F42BE11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5229225" cy="333375"/>
          </a:xfrm>
          <a:prstGeom prst="roundRect">
            <a:avLst>
              <a:gd name="adj" fmla="val 14286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가상 예시: 선불입금 회원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DBC9143-2C1A-44FD-BA81-3A998BA2456E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2409825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분유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C01E91E5-C40D-4111-A816-EFB696E349EF}"/>
              </a:ext>
            </a:extLst>
          </p:cNvPr>
          <p:cNvSpPr>
            <a:spLocks noGrp="1"/>
          </p:cNvSpPr>
          <p:nvPr/>
        </p:nvSpPr>
        <p:spPr>
          <a:xfrm>
            <a:off x="3105150" y="2400300"/>
            <a:ext cx="342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4540612-8385-4047-9345-E288DA03956C}"/>
              </a:ext>
            </a:extLst>
          </p:cNvPr>
          <p:cNvSpPr>
            <a:spLocks noGrp="1"/>
          </p:cNvSpPr>
          <p:nvPr/>
        </p:nvSpPr>
        <p:spPr>
          <a:xfrm>
            <a:off x="3524250" y="2228850"/>
            <a:ext cx="2314575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물품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graphicFrame>
        <p:nvGraphicFramePr>
          <p:cNvPr id="23" name="표 22"/>
          <p:cNvGraphicFramePr/>
          <p:nvPr/>
        </p:nvGraphicFramePr>
        <p:xfrm>
          <a:off x="609600" y="3390900"/>
          <a:ext cx="5838825" cy="15240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이전: 결제방식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둘 다 무통장이므로 혼합주문 통과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보완: 카테고리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분류가 다르면 차단하고 분리 주문 안내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-8">
            <a:extLst>
              <a:ext uri="{FF2B5EF4-FFF2-40B4-BE49-F238E27FC236}">
                <a16:creationId xmlns:a16="http://schemas.microsoft.com/office/drawing/2014/main" id="{3A2053C0-AD86-416D-9A66-67B9F6494AF0}"/>
              </a:ext>
            </a:extLst>
          </p:cNvPr>
          <p:cNvSpPr>
            <a:spLocks noGrp="1"/>
          </p:cNvSpPr>
          <p:nvPr/>
        </p:nvSpPr>
        <p:spPr>
          <a:xfrm>
            <a:off x="6248400" y="17145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보여준 다음 행동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626" y="2171700"/>
            <a:ext cx="3567622" cy="2324100"/>
          </a:xfrm>
          <a:prstGeom prst="rect">
            <a:avLst/>
          </a:prstGeom>
        </p:spPr>
      </p:pic>
      <p:sp>
        <p:nvSpPr>
          <p:cNvPr id="12" name="text-9">
            <a:extLst>
              <a:ext uri="{FF2B5EF4-FFF2-40B4-BE49-F238E27FC236}">
                <a16:creationId xmlns:a16="http://schemas.microsoft.com/office/drawing/2014/main" id="{CEF08852-118A-4331-9D21-0F433E5811CD}"/>
              </a:ext>
            </a:extLst>
          </p:cNvPr>
          <p:cNvSpPr>
            <a:spLocks noGrp="1"/>
          </p:cNvSpPr>
          <p:nvPr/>
        </p:nvSpPr>
        <p:spPr>
          <a:xfrm>
            <a:off x="6248400" y="4772025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막힌 이유와 분류별 주문 방법을 함께 안내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AE229B7-F496-40D9-85ED-81FAE97729C3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정책의 기준을 결제수단에서 상품 분류로 옮겨, 같은 결제수단의 예외까지 막았습니다.</a:t>
            </a:r>
          </a:p>
        </p:txBody>
      </p:sp>
    </p:spTree>
    <p:extLst>
      <p:ext uri="{BB962C8B-B14F-4D97-AF65-F5344CB8AC3E}">
        <p14:creationId xmlns:p14="http://schemas.microsoft.com/office/powerpoint/2010/main" val="1684331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-0">
            <a:extLst>
              <a:ext uri="{FF2B5EF4-FFF2-40B4-BE49-F238E27FC236}">
                <a16:creationId xmlns:a16="http://schemas.microsoft.com/office/drawing/2014/main" id="{E83DEC50-3C5E-4BB3-8156-C6DB7F6CBBE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18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CFA91CA-02DF-4559-A2BA-BFFC2F1E6FE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205B371-38B2-4674-83B5-487871C98F19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포인트 정리의 실행 안전장치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114ADA8-C6CD-4EDF-A55E-DE9686710BA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 1회 발생하는 비가역 작업이어서, 대상과 차감 결과를 확인한 뒤 실행하도록 범위를 조정했습니다.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F49C0F5-9A12-4811-950B-E340885076C0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0D459CA-4266-40AC-A239-26421EED93D8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미리보기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5193ACA5-0437-402A-9938-C6DD90C8A048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현재·차감·잔여 확인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EF99D44-6E75-4883-9067-6B9266D800ED}"/>
              </a:ext>
            </a:extLst>
          </p:cNvPr>
          <p:cNvSpPr>
            <a:spLocks noGrp="1"/>
          </p:cNvSpPr>
          <p:nvPr/>
        </p:nvSpPr>
        <p:spPr>
          <a:xfrm>
            <a:off x="32480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763B8A-7237-463C-8669-205D3CA7E86F}"/>
              </a:ext>
            </a:extLst>
          </p:cNvPr>
          <p:cNvSpPr>
            <a:spLocks noGrp="1"/>
          </p:cNvSpPr>
          <p:nvPr/>
        </p:nvSpPr>
        <p:spPr>
          <a:xfrm>
            <a:off x="33909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3D4FE294-C663-4D35-BEB0-A86A3F99DE9F}"/>
              </a:ext>
            </a:extLst>
          </p:cNvPr>
          <p:cNvSpPr>
            <a:spLocks noGrp="1"/>
          </p:cNvSpPr>
          <p:nvPr/>
        </p:nvSpPr>
        <p:spPr>
          <a:xfrm>
            <a:off x="35242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대상 선택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A65AF0AC-F5AA-464D-AE22-A782A69B44AD}"/>
              </a:ext>
            </a:extLst>
          </p:cNvPr>
          <p:cNvSpPr>
            <a:spLocks noGrp="1"/>
          </p:cNvSpPr>
          <p:nvPr/>
        </p:nvSpPr>
        <p:spPr>
          <a:xfrm>
            <a:off x="35242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처리할 회원 선택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4B5FD714-0BB4-4415-87B1-389AC155F89C}"/>
              </a:ext>
            </a:extLst>
          </p:cNvPr>
          <p:cNvSpPr>
            <a:spLocks noGrp="1"/>
          </p:cNvSpPr>
          <p:nvPr/>
        </p:nvSpPr>
        <p:spPr>
          <a:xfrm>
            <a:off x="60293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E80AAA9-AB19-4CE2-B7E7-DE93DBC10EBE}"/>
              </a:ext>
            </a:extLst>
          </p:cNvPr>
          <p:cNvSpPr>
            <a:spLocks noGrp="1"/>
          </p:cNvSpPr>
          <p:nvPr/>
        </p:nvSpPr>
        <p:spPr>
          <a:xfrm>
            <a:off x="61722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F9A0017-2815-42DF-94C0-E29568B71D4F}"/>
              </a:ext>
            </a:extLst>
          </p:cNvPr>
          <p:cNvSpPr>
            <a:spLocks noGrp="1"/>
          </p:cNvSpPr>
          <p:nvPr/>
        </p:nvSpPr>
        <p:spPr>
          <a:xfrm>
            <a:off x="63055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최종 확인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CCDC3C39-6847-4622-B865-A0FAF17E4C45}"/>
              </a:ext>
            </a:extLst>
          </p:cNvPr>
          <p:cNvSpPr>
            <a:spLocks noGrp="1"/>
          </p:cNvSpPr>
          <p:nvPr/>
        </p:nvSpPr>
        <p:spPr>
          <a:xfrm>
            <a:off x="63055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대상과 합계를 재확인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1653402-5A5F-4873-B133-884B98F50E20}"/>
              </a:ext>
            </a:extLst>
          </p:cNvPr>
          <p:cNvSpPr>
            <a:spLocks noGrp="1"/>
          </p:cNvSpPr>
          <p:nvPr/>
        </p:nvSpPr>
        <p:spPr>
          <a:xfrm>
            <a:off x="88106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CDEA5C1-916E-447E-A81B-FAE753B23171}"/>
              </a:ext>
            </a:extLst>
          </p:cNvPr>
          <p:cNvSpPr>
            <a:spLocks noGrp="1"/>
          </p:cNvSpPr>
          <p:nvPr/>
        </p:nvSpPr>
        <p:spPr>
          <a:xfrm>
            <a:off x="89535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DC3316CD-C938-4B3C-8850-D472492FFC36}"/>
              </a:ext>
            </a:extLst>
          </p:cNvPr>
          <p:cNvSpPr>
            <a:spLocks noGrp="1"/>
          </p:cNvSpPr>
          <p:nvPr/>
        </p:nvSpPr>
        <p:spPr>
          <a:xfrm>
            <a:off x="90868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실행·기록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10605DDE-5518-4F0F-B342-BFF23B39361C}"/>
              </a:ext>
            </a:extLst>
          </p:cNvPr>
          <p:cNvSpPr>
            <a:spLocks noGrp="1"/>
          </p:cNvSpPr>
          <p:nvPr/>
        </p:nvSpPr>
        <p:spPr>
          <a:xfrm>
            <a:off x="90868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상태 재검증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83F01000-1FFB-4FEB-B111-D23E9465315A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조회한 뒤 회원 상태가 바뀐다면</a:t>
            </a:r>
          </a:p>
        </p:txBody>
      </p:sp>
      <p:graphicFrame>
        <p:nvGraphicFramePr>
          <p:cNvPr id="46" name="표 45"/>
          <p:cNvGraphicFramePr/>
          <p:nvPr/>
        </p:nvGraphicFramePr>
        <p:xfrm>
          <a:off x="609600" y="3333750"/>
          <a:ext cx="10972800" cy="21907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가상 대상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후 상황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시 처리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막으려는 문제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A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변동 없음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대상만 정리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외 회원의 임의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B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 사용 또는 등급 변경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회원 자동 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오래된 화면 값으로 과다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조건 재실행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운영자가 실행을 다시 누름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차감하지 않음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실행으로 반복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C7BBBB0-E9A0-4A62-A7FF-CBC443C5C1E0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485775"/>
          </a:xfrm>
          <a:prstGeom prst="roundRect">
            <a:avLst>
              <a:gd name="adj" fmla="val 11765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1C26C4D1-EFF7-4ABD-A4CE-3E4DA985D2A7}"/>
              </a:ext>
            </a:extLst>
          </p:cNvPr>
          <p:cNvSpPr>
            <a:spLocks noGrp="1"/>
          </p:cNvSpPr>
          <p:nvPr/>
        </p:nvSpPr>
        <p:spPr>
          <a:xfrm>
            <a:off x="781050" y="5991225"/>
            <a:ext cx="695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9FA61850-4331-4A85-9AAA-111BBF482AB9}"/>
              </a:ext>
            </a:extLst>
          </p:cNvPr>
          <p:cNvSpPr>
            <a:spLocks noGrp="1"/>
          </p:cNvSpPr>
          <p:nvPr/>
        </p:nvSpPr>
        <p:spPr>
          <a:xfrm>
            <a:off x="1581150" y="5981700"/>
            <a:ext cx="9753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정기 자동 실행의 추가 운영 부담과 잘못된 회수 위험을 비교해, 담당자 확인 방식으로 조정했습니다.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164448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0">
            <a:extLst>
              <a:ext uri="{FF2B5EF4-FFF2-40B4-BE49-F238E27FC236}">
                <a16:creationId xmlns:a16="http://schemas.microsoft.com/office/drawing/2014/main" id="{D9C6C183-EAD4-4AF5-889F-8912C3AB954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19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E6485F2-AD3C-46A9-96B6-49A2E472332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B682516-0BDB-411C-A738-F5AFFE3DEA57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완료 통보를 운영 검수 기준으로 바꿈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A50B85A-61DA-4582-B6DB-691492664BCD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정보 수정 화면에 들어갈 수 없었던 사례에서, 배포와 기능 동작을 따로 확인했습니다.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1A430CD-9E07-4F81-8AB1-3111E0246BD0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123950" cy="581025"/>
          </a:xfrm>
          <a:prstGeom prst="roundRect">
            <a:avLst>
              <a:gd name="adj" fmla="val 8197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현상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31251E3C-E4D7-4FDE-8494-322C1BBAD4CC}"/>
              </a:ext>
            </a:extLst>
          </p:cNvPr>
          <p:cNvSpPr>
            <a:spLocks noGrp="1"/>
          </p:cNvSpPr>
          <p:nvPr/>
        </p:nvSpPr>
        <p:spPr>
          <a:xfrm>
            <a:off x="1971675" y="1838325"/>
            <a:ext cx="4619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마이페이지의 정보 수정에 진입 불가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056EA3B-CA7B-4169-93A0-8C8DDD1260E3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1123950" cy="581025"/>
          </a:xfrm>
          <a:prstGeom prst="roundRect">
            <a:avLst>
              <a:gd name="adj" fmla="val 8197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1A1C0F8-7922-436A-925F-81614D10499E}"/>
              </a:ext>
            </a:extLst>
          </p:cNvPr>
          <p:cNvSpPr>
            <a:spLocks noGrp="1"/>
          </p:cNvSpPr>
          <p:nvPr/>
        </p:nvSpPr>
        <p:spPr>
          <a:xfrm>
            <a:off x="1971675" y="2743200"/>
            <a:ext cx="4619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서버 미반영과 이전 차단 로직 잔존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CFD1A61-8D8C-460A-ABCA-B231BDDF0EFB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123950" cy="581025"/>
          </a:xfrm>
          <a:prstGeom prst="roundRect">
            <a:avLst>
              <a:gd name="adj" fmla="val 819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검수 기준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8E925047-B3EB-44CF-B8FE-9642A92BF879}"/>
              </a:ext>
            </a:extLst>
          </p:cNvPr>
          <p:cNvSpPr>
            <a:spLocks noGrp="1"/>
          </p:cNvSpPr>
          <p:nvPr/>
        </p:nvSpPr>
        <p:spPr>
          <a:xfrm>
            <a:off x="1971675" y="3648075"/>
            <a:ext cx="4619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메뉴 노출·실제 진입·수정 가능한 항목을 확인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D609E0A2-D112-45C0-8EE5-0910CF6F94FA}"/>
              </a:ext>
            </a:extLst>
          </p:cNvPr>
          <p:cNvSpPr>
            <a:spLocks noGrp="1"/>
          </p:cNvSpPr>
          <p:nvPr/>
        </p:nvSpPr>
        <p:spPr>
          <a:xfrm>
            <a:off x="7096125" y="1704975"/>
            <a:ext cx="4486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정보 수정 메뉴의 추가 여부를 확인</a:t>
            </a: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96125" y="2397034"/>
            <a:ext cx="2171700" cy="1892481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420225" y="2397034"/>
            <a:ext cx="2171700" cy="1892481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ED7F4C1-346E-4D5F-A734-870421855B00}"/>
              </a:ext>
            </a:extLst>
          </p:cNvPr>
          <p:cNvSpPr>
            <a:spLocks noGrp="1"/>
          </p:cNvSpPr>
          <p:nvPr/>
        </p:nvSpPr>
        <p:spPr>
          <a:xfrm>
            <a:off x="7239000" y="4591050"/>
            <a:ext cx="1905000" cy="266700"/>
          </a:xfrm>
          <a:prstGeom prst="roundRect">
            <a:avLst>
              <a:gd name="adj" fmla="val 17857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확인 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FF1CE9A-3EA8-48FA-9EFE-23B0917E5B3A}"/>
              </a:ext>
            </a:extLst>
          </p:cNvPr>
          <p:cNvSpPr>
            <a:spLocks noGrp="1"/>
          </p:cNvSpPr>
          <p:nvPr/>
        </p:nvSpPr>
        <p:spPr>
          <a:xfrm>
            <a:off x="9553575" y="4591050"/>
            <a:ext cx="1905000" cy="266700"/>
          </a:xfrm>
          <a:prstGeom prst="roundRect">
            <a:avLst>
              <a:gd name="adj" fmla="val 17857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6" name="text-13">
            <a:extLst>
              <a:ext uri="{FF2B5EF4-FFF2-40B4-BE49-F238E27FC236}">
                <a16:creationId xmlns:a16="http://schemas.microsoft.com/office/drawing/2014/main" id="{1E295514-8500-4794-BFC2-6048B8A81708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같은 기능을 다른 조건에서도 확인</a:t>
            </a:r>
          </a:p>
        </p:txBody>
      </p:sp>
      <p:graphicFrame>
        <p:nvGraphicFramePr>
          <p:cNvPr id="35" name="표 34"/>
          <p:cNvGraphicFramePr/>
          <p:nvPr/>
        </p:nvGraphicFramePr>
        <p:xfrm>
          <a:off x="609600" y="5324475"/>
          <a:ext cx="10972800" cy="11430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행동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기대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 서버·실제 계정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 수정 메뉴 클릭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비밀번호 확인 후 화면 진입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항목과 변경 가능 항목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아이디·주소 / 연락처 확인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고정값은 보호, 허용 항목만 수정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741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0">
            <a:extLst>
              <a:ext uri="{FF2B5EF4-FFF2-40B4-BE49-F238E27FC236}">
                <a16:creationId xmlns:a16="http://schemas.microsoft.com/office/drawing/2014/main" id="{7DDD57D6-9A79-4340-A046-168D0637E05F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20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2228281-22B5-4A73-97B9-D2B7FB9D374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91BD71DC-6F4C-4D79-AC7C-C5468C92AAB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피드백으로 화면을 다시 조정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E5A34D3A-05A7-45C2-BF3F-C4ABD51D4224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운영 반영: 반복해서 하는 행동과 누락된 현장 요청을 화면에 반영했습니다.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0A1033D3-7D44-4385-8E23-9945D6D03E59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거래명세서를 주문내역에서 바로 출력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7761" y="2190750"/>
            <a:ext cx="1765877" cy="1533525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784311" y="2190750"/>
            <a:ext cx="1765877" cy="1533525"/>
          </a:xfrm>
          <a:prstGeom prst="rect">
            <a:avLst/>
          </a:prstGeom>
        </p:spPr>
      </p:pic>
      <p:sp>
        <p:nvSpPr>
          <p:cNvPr id="8" name="text-5">
            <a:extLst>
              <a:ext uri="{FF2B5EF4-FFF2-40B4-BE49-F238E27FC236}">
                <a16:creationId xmlns:a16="http://schemas.microsoft.com/office/drawing/2014/main" id="{E4EED6E2-5928-457B-AFE6-A27BD4B1993D}"/>
              </a:ext>
            </a:extLst>
          </p:cNvPr>
          <p:cNvSpPr>
            <a:spLocks noGrp="1"/>
          </p:cNvSpPr>
          <p:nvPr/>
        </p:nvSpPr>
        <p:spPr>
          <a:xfrm>
            <a:off x="3095625" y="2771775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text-6">
            <a:extLst>
              <a:ext uri="{FF2B5EF4-FFF2-40B4-BE49-F238E27FC236}">
                <a16:creationId xmlns:a16="http://schemas.microsoft.com/office/drawing/2014/main" id="{C55411A2-F0D7-4026-821C-4F0CB8FE7BB4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2362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요청 전</a:t>
            </a:r>
          </a:p>
        </p:txBody>
      </p:sp>
      <p:sp>
        <p:nvSpPr>
          <p:cNvPr id="10" name="text-7">
            <a:extLst>
              <a:ext uri="{FF2B5EF4-FFF2-40B4-BE49-F238E27FC236}">
                <a16:creationId xmlns:a16="http://schemas.microsoft.com/office/drawing/2014/main" id="{90B5C23C-1ECC-4D2E-A84D-C81785B3AB9F}"/>
              </a:ext>
            </a:extLst>
          </p:cNvPr>
          <p:cNvSpPr>
            <a:spLocks noGrp="1"/>
          </p:cNvSpPr>
          <p:nvPr/>
        </p:nvSpPr>
        <p:spPr>
          <a:xfrm>
            <a:off x="3486150" y="3838575"/>
            <a:ext cx="2362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1" name="text-8">
            <a:extLst>
              <a:ext uri="{FF2B5EF4-FFF2-40B4-BE49-F238E27FC236}">
                <a16:creationId xmlns:a16="http://schemas.microsoft.com/office/drawing/2014/main" id="{E693EE14-2222-4A3E-BF8D-5F3250E262EA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52578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주문당 버튼 1개, 취소·환불 주문은 제외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구매확정·리뷰 기능은 주문상세에 유지</a:t>
            </a:r>
          </a:p>
        </p:txBody>
      </p:sp>
      <p:sp>
        <p:nvSpPr>
          <p:cNvPr id="12" name="text-9">
            <a:extLst>
              <a:ext uri="{FF2B5EF4-FFF2-40B4-BE49-F238E27FC236}">
                <a16:creationId xmlns:a16="http://schemas.microsoft.com/office/drawing/2014/main" id="{8981EED7-D57D-4D09-A820-EAAD2B7C62FF}"/>
              </a:ext>
            </a:extLst>
          </p:cNvPr>
          <p:cNvSpPr>
            <a:spLocks noGrp="1"/>
          </p:cNvSpPr>
          <p:nvPr/>
        </p:nvSpPr>
        <p:spPr>
          <a:xfrm>
            <a:off x="6267450" y="1714500"/>
            <a:ext cx="5314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삭제했던 배송 메시지 입력칸 복원</a:t>
            </a: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67450" y="2356982"/>
            <a:ext cx="5314950" cy="1324886"/>
          </a:xfrm>
          <a:prstGeom prst="rect">
            <a:avLst/>
          </a:prstGeom>
        </p:spPr>
      </p:pic>
      <p:sp>
        <p:nvSpPr>
          <p:cNvPr id="14" name="text-10">
            <a:extLst>
              <a:ext uri="{FF2B5EF4-FFF2-40B4-BE49-F238E27FC236}">
                <a16:creationId xmlns:a16="http://schemas.microsoft.com/office/drawing/2014/main" id="{59B3D509-D005-481F-A734-62F31DACF183}"/>
              </a:ext>
            </a:extLst>
          </p:cNvPr>
          <p:cNvSpPr>
            <a:spLocks noGrp="1"/>
          </p:cNvSpPr>
          <p:nvPr/>
        </p:nvSpPr>
        <p:spPr>
          <a:xfrm>
            <a:off x="6267450" y="4324350"/>
            <a:ext cx="53149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1차 QA에서 제거했던 입력칸을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배송 시 요청을 받는 용도로 다시 반영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DF8A3D0-5EE2-4440-A9CF-8128292AB7EE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981075"/>
          </a:xfrm>
          <a:prstGeom prst="roundRect">
            <a:avLst>
              <a:gd name="adj" fmla="val 6796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2">
            <a:extLst>
              <a:ext uri="{FF2B5EF4-FFF2-40B4-BE49-F238E27FC236}">
                <a16:creationId xmlns:a16="http://schemas.microsoft.com/office/drawing/2014/main" id="{B266A476-284B-434E-AF3C-FE4BA2A0C80D}"/>
              </a:ext>
            </a:extLst>
          </p:cNvPr>
          <p:cNvSpPr>
            <a:spLocks noGrp="1"/>
          </p:cNvSpPr>
          <p:nvPr/>
        </p:nvSpPr>
        <p:spPr>
          <a:xfrm>
            <a:off x="819150" y="5505450"/>
            <a:ext cx="2133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것</a:t>
            </a:r>
          </a:p>
        </p:txBody>
      </p:sp>
      <p:sp>
        <p:nvSpPr>
          <p:cNvPr id="17" name="text-13">
            <a:extLst>
              <a:ext uri="{FF2B5EF4-FFF2-40B4-BE49-F238E27FC236}">
                <a16:creationId xmlns:a16="http://schemas.microsoft.com/office/drawing/2014/main" id="{ADB78B75-2779-4E87-BF0D-4AA5A029B6DE}"/>
              </a:ext>
            </a:extLst>
          </p:cNvPr>
          <p:cNvSpPr>
            <a:spLocks noGrp="1"/>
          </p:cNvSpPr>
          <p:nvPr/>
        </p:nvSpPr>
        <p:spPr>
          <a:xfrm>
            <a:off x="3152775" y="5495925"/>
            <a:ext cx="82200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화면을 단순하게 만드는 것만으로 업무가 끝나지 않았습니다.</a:t>
            </a:r>
          </a:p>
          <a:p>
            <a:pPr algn="l">
              <a:lnSpc>
                <a:spcPct val="125000"/>
              </a:lnSpc>
              <a:buNone/>
              <a:def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자주 쓰는 행동은 앞에 두고, 실제로 필요한 입력은 다시 남겼습니다.</a:t>
            </a:r>
          </a:p>
        </p:txBody>
      </p:sp>
    </p:spTree>
    <p:extLst>
      <p:ext uri="{BB962C8B-B14F-4D97-AF65-F5344CB8AC3E}">
        <p14:creationId xmlns:p14="http://schemas.microsoft.com/office/powerpoint/2010/main" val="2096859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0">
            <a:extLst>
              <a:ext uri="{FF2B5EF4-FFF2-40B4-BE49-F238E27FC236}">
                <a16:creationId xmlns:a16="http://schemas.microsoft.com/office/drawing/2014/main" id="{217D92B1-EA3D-4BC7-9E42-E0F59213FF08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21 / 22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1E0B271-3182-40D0-A7B4-61D679F593F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38C5738-3870-4809-83BF-F66EE61F70B7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초기 운영 결과와 측정 범위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3E9D590-F8BB-4C75-ACA8-E64C24BBDDC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출고·문의 지표의 초기 관찰과, 계약상 전체 개발요구의 검수를 구분했습니다.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7AF908E-1327-46A0-B338-F463E31DF34C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54EC673-3BFF-4191-B5C0-AEDB99738F25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0384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월평균 2~3건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E725E29-D7C2-4633-89DD-F0A68363536A}"/>
              </a:ext>
            </a:extLst>
          </p:cNvPr>
          <p:cNvSpPr>
            <a:spLocks noGrp="1"/>
          </p:cNvSpPr>
          <p:nvPr/>
        </p:nvSpPr>
        <p:spPr>
          <a:xfrm>
            <a:off x="3886200" y="2114550"/>
            <a:ext cx="1828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0건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475165D9-7A2A-4A58-A540-42601C07CA46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F1E33F31-501B-49C2-815E-CEF3585BF26D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5257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직전 6개월 월평균과 2026-07-16 전체 가동 후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약 1개월을 비교한 전체 측정 범위의 관찰값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DB3CDF83-0CAF-4DB9-A300-ED399631E829}"/>
              </a:ext>
            </a:extLst>
          </p:cNvPr>
          <p:cNvSpPr>
            <a:spLocks noGrp="1"/>
          </p:cNvSpPr>
          <p:nvPr/>
        </p:nvSpPr>
        <p:spPr>
          <a:xfrm>
            <a:off x="6324600" y="17526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3514CD5E-4C4C-4E7E-B1D7-A12824A1BBCA}"/>
              </a:ext>
            </a:extLst>
          </p:cNvPr>
          <p:cNvSpPr>
            <a:spLocks noGrp="1"/>
          </p:cNvSpPr>
          <p:nvPr/>
        </p:nvSpPr>
        <p:spPr>
          <a:xfrm>
            <a:off x="6324600" y="2181225"/>
            <a:ext cx="26574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2주 32건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027CAA48-1898-4898-B2CF-1E8360C481B6}"/>
              </a:ext>
            </a:extLst>
          </p:cNvPr>
          <p:cNvSpPr>
            <a:spLocks noGrp="1"/>
          </p:cNvSpPr>
          <p:nvPr/>
        </p:nvSpPr>
        <p:spPr>
          <a:xfrm>
            <a:off x="9134475" y="2171700"/>
            <a:ext cx="24479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19건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0B48FED-E767-4D60-AE26-92E6DFC6FC7C}"/>
              </a:ext>
            </a:extLst>
          </p:cNvPr>
          <p:cNvSpPr>
            <a:spLocks noGrp="1"/>
          </p:cNvSpPr>
          <p:nvPr/>
        </p:nvSpPr>
        <p:spPr>
          <a:xfrm>
            <a:off x="6324600" y="2990850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25A2769D-F87B-4CBF-8D63-59B70272F6C2}"/>
              </a:ext>
            </a:extLst>
          </p:cNvPr>
          <p:cNvSpPr>
            <a:spLocks noGrp="1"/>
          </p:cNvSpPr>
          <p:nvPr/>
        </p:nvSpPr>
        <p:spPr>
          <a:xfrm>
            <a:off x="6324600" y="3219450"/>
            <a:ext cx="5257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2026-01~06 CS 인입의 2주 환산치와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2026-07~08 배포 구간 2주 집계를 비교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7F2DFCB-8E46-4F05-AC73-3B9E8F653BED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72800" cy="1343025"/>
          </a:xfrm>
          <a:prstGeom prst="roundRect">
            <a:avLst>
              <a:gd name="adj" fmla="val 4255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183B8E0D-2D30-409A-9C95-F244318DD885}"/>
              </a:ext>
            </a:extLst>
          </p:cNvPr>
          <p:cNvSpPr>
            <a:spLocks noGrp="1"/>
          </p:cNvSpPr>
          <p:nvPr/>
        </p:nvSpPr>
        <p:spPr>
          <a:xfrm>
            <a:off x="809625" y="4552950"/>
            <a:ext cx="28479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운영과 검수의 경계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0B33AA4A-B010-4D7E-8CE5-783887E36843}"/>
              </a:ext>
            </a:extLst>
          </p:cNvPr>
          <p:cNvSpPr>
            <a:spLocks noGrp="1"/>
          </p:cNvSpPr>
          <p:nvPr/>
        </p:nvSpPr>
        <p:spPr>
          <a:xfrm>
            <a:off x="3467100" y="4543425"/>
            <a:ext cx="78676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핵심 흐름은 2026-07-16 가동 후 약 1개월 관찰</a:t>
            </a:r>
          </a:p>
          <a:p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계약상 기본 개발요구 22건은 2026-08-31 최종검수까지 운영 QA 지속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00632E57-3594-4EBD-92D3-AC0C277FE9E1}"/>
              </a:ext>
            </a:extLst>
          </p:cNvPr>
          <p:cNvSpPr>
            <a:spLocks noGrp="1"/>
          </p:cNvSpPr>
          <p:nvPr/>
        </p:nvSpPr>
        <p:spPr>
          <a:xfrm>
            <a:off x="809625" y="5305425"/>
            <a:ext cx="10506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검수 기록: 배포·QA 필요 17건 / 부분·수정·구현변경 후 QA 각 1건 / 진행 중 계약 항목 2건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B430013-941B-4387-BF65-DEE786137AE4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측정은 입금 대조 시간과 오출고·CS 문의의 장기 추이입니다.</a:t>
            </a:r>
          </a:p>
        </p:txBody>
      </p:sp>
    </p:spTree>
    <p:extLst>
      <p:ext uri="{BB962C8B-B14F-4D97-AF65-F5344CB8AC3E}">
        <p14:creationId xmlns:p14="http://schemas.microsoft.com/office/powerpoint/2010/main" val="847759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E13C29-5E99-46BD-9BAE-0E0A62A53C63}"/>
              </a:ext>
            </a:extLst>
          </p:cNvPr>
          <p:cNvSpPr>
            <a:spLocks noGrp="1"/>
          </p:cNvSpPr>
          <p:nvPr/>
        </p:nvSpPr>
        <p:spPr>
          <a:xfrm>
            <a:off x="8296275" y="0"/>
            <a:ext cx="3895725" cy="68580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A4CC474-F6C4-4B22-B5F9-93D13182F416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0580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현장의</a:t>
            </a:r>
            <a:r>
              <a:rPr sz="2100" b="1" dirty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100" b="1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문제를</a:t>
            </a:r>
            <a:r>
              <a:rPr sz="2100" b="1" dirty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100" b="1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구조로</a:t>
            </a:r>
            <a:r>
              <a:rPr sz="2100" b="1" dirty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100" b="1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바꾸고</a:t>
            </a:r>
            <a:r>
              <a:rPr sz="2100" b="1" dirty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l">
              <a:lnSpc>
                <a:spcPct val="125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lang="ko-KR" altLang="en-US" sz="2100" b="1" dirty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에 도입과 추가 개선을 파악합니다</a:t>
            </a:r>
            <a:r>
              <a:rPr sz="2100" b="1" dirty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CF8E9AC4-F638-4C6F-AAEC-B4F750179439}"/>
              </a:ext>
            </a:extLst>
          </p:cNvPr>
          <p:cNvSpPr>
            <a:spLocks noGrp="1"/>
          </p:cNvSpPr>
          <p:nvPr/>
        </p:nvSpPr>
        <p:spPr>
          <a:xfrm>
            <a:off x="990600" y="2409825"/>
            <a:ext cx="66389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두 프로젝트에서 만든 업무 방식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9DDE6BB-C4FD-400D-87D6-26CBEAD477CD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6B108A3F-957A-4D8C-BB45-15FC4FB2BCDE}"/>
              </a:ext>
            </a:extLst>
          </p:cNvPr>
          <p:cNvSpPr>
            <a:spLocks noGrp="1"/>
          </p:cNvSpPr>
          <p:nvPr/>
        </p:nvSpPr>
        <p:spPr>
          <a:xfrm>
            <a:off x="990600" y="31146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정책의 기준을 구체적인 예외까지 내려 씁니다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546E90D3-E128-4394-B9B6-1802AE0270FA}"/>
              </a:ext>
            </a:extLst>
          </p:cNvPr>
          <p:cNvSpPr>
            <a:spLocks noGrp="1"/>
          </p:cNvSpPr>
          <p:nvPr/>
        </p:nvSpPr>
        <p:spPr>
          <a:xfrm>
            <a:off x="990600" y="35528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주문과 포장을 구분하고, 같은 결제수단의 혼합주문 예외를 확인했습니다.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56A834AD-CFED-4064-9D59-6315F2E4C2C7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CE8214D9-22CA-4D62-9606-5E2C98F0A1B0}"/>
              </a:ext>
            </a:extLst>
          </p:cNvPr>
          <p:cNvSpPr>
            <a:spLocks noGrp="1"/>
          </p:cNvSpPr>
          <p:nvPr/>
        </p:nvSpPr>
        <p:spPr>
          <a:xfrm>
            <a:off x="990600" y="41433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시스템 제약과 운영 영향을 함께 판단합니다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BD0B45AB-03F8-4530-9A04-78F72CD1D86F}"/>
              </a:ext>
            </a:extLst>
          </p:cNvPr>
          <p:cNvSpPr>
            <a:spLocks noGrp="1"/>
          </p:cNvSpPr>
          <p:nvPr/>
        </p:nvSpPr>
        <p:spPr>
          <a:xfrm>
            <a:off x="990600" y="45815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혼재 주문의 내수 지연을 수용하고, 포인트 정리에 담당자 확인을 남겼습니다.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AC712E0F-8A4D-4FAE-A144-599249BCF516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249305D4-0A4D-4DF1-A517-463B3351386D}"/>
              </a:ext>
            </a:extLst>
          </p:cNvPr>
          <p:cNvSpPr>
            <a:spLocks noGrp="1"/>
          </p:cNvSpPr>
          <p:nvPr/>
        </p:nvSpPr>
        <p:spPr>
          <a:xfrm>
            <a:off x="990600" y="51720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완료는 실제 운영의 기대 결과로 판단합니다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04A70739-1538-4767-8B64-C2D06BA66BA8}"/>
              </a:ext>
            </a:extLst>
          </p:cNvPr>
          <p:cNvSpPr>
            <a:spLocks noGrp="1"/>
          </p:cNvSpPr>
          <p:nvPr/>
        </p:nvSpPr>
        <p:spPr>
          <a:xfrm>
            <a:off x="990600" y="56102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관세청 오류 수정·재제출과 B2B 고객 화면을 검증하고 초기 결과를 관찰했습니다.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4CA1C7E3-F5EC-4939-BB7F-C4D6DE7724DF}"/>
              </a:ext>
            </a:extLst>
          </p:cNvPr>
          <p:cNvSpPr>
            <a:spLocks noGrp="1"/>
          </p:cNvSpPr>
          <p:nvPr/>
        </p:nvSpPr>
        <p:spPr>
          <a:xfrm>
            <a:off x="8496300" y="3019425"/>
            <a:ext cx="3371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B0662F3F-3102-43AE-88F7-AA7BDCDE5C4E}"/>
              </a:ext>
            </a:extLst>
          </p:cNvPr>
          <p:cNvSpPr>
            <a:spLocks noGrp="1"/>
          </p:cNvSpPr>
          <p:nvPr/>
        </p:nvSpPr>
        <p:spPr>
          <a:xfrm>
            <a:off x="8505825" y="3638550"/>
            <a:ext cx="33623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69B88D68-09C3-491F-AA7C-41002889180A}"/>
              </a:ext>
            </a:extLst>
          </p:cNvPr>
          <p:cNvSpPr>
            <a:spLocks noGrp="1"/>
          </p:cNvSpPr>
          <p:nvPr/>
        </p:nvSpPr>
        <p:spPr>
          <a:xfrm>
            <a:off x="8515350" y="4238625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34593-44C1-2914-B94E-CA0EE885FD42}"/>
              </a:ext>
            </a:extLst>
          </p:cNvPr>
          <p:cNvSpPr txBox="1"/>
          <p:nvPr/>
        </p:nvSpPr>
        <p:spPr>
          <a:xfrm>
            <a:off x="4013200" y="6375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86571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2972</Words>
  <Application>Microsoft Office PowerPoint</Application>
  <DocSecurity>0</DocSecurity>
  <PresentationFormat>와이드스크린</PresentationFormat>
  <Paragraphs>608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박종혁 PM 포트폴리오 v4.3</dc:title>
  <dc:creator>박종혁</dc:creator>
  <cp:lastModifiedBy>Jong Park</cp:lastModifiedBy>
  <cp:revision>9</cp:revision>
  <dcterms:created xsi:type="dcterms:W3CDTF">2026-09-17T06:12:23Z</dcterms:created>
  <dcterms:modified xsi:type="dcterms:W3CDTF">2026-09-17T11:40:33Z</dcterms:modified>
</cp:coreProperties>
</file>