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7" r:id="rId4"/>
    <p:sldId id="268" r:id="rId5"/>
    <p:sldId id="269" r:id="rId6"/>
    <p:sldId id="270" r:id="rId7"/>
    <p:sldId id="272" r:id="rId8"/>
    <p:sldId id="273" r:id="rId9"/>
    <p:sldId id="258" r:id="rId10"/>
    <p:sldId id="276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77" r:id="rId19"/>
    <p:sldId id="278" r:id="rId20"/>
    <p:sldId id="279" r:id="rId21"/>
    <p:sldId id="280" r:id="rId22"/>
    <p:sldId id="281" r:id="rId23"/>
    <p:sldId id="266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77C0C-CF9D-4DA8-88A2-8CCE9C2D3A00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C09A-1111-4338-BB54-757B2986C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4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기본 포트폴리오 갱신. B2B 주문몰, SCM 대시보드, ERP·통관 연동의 세 사례로 구성. 사용자 제공 이력과 공통자료/SCM_업무성과.md, 공통자료/PM_프로젝트성과.md 기준. 기존 양식의 글꼴·색·레이아웃과 열린 파일의 사용자 편집을 보존. 원본은 저장되지 않은 상태로 열려 있어 별도 수정본으로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119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기본 포트폴리오 갱신. B2B 주문몰, SCM 대시보드, ERP·통관 연동의 세 사례로 구성. 사용자 제공 이력과 공통자료/SCM_업무성과.md, 공통자료/PM_프로젝트성과.md 기준. 기존 양식의 글꼴·색·레이아웃과 열린 파일의 사용자 편집을 보존. 원본은 저장되지 않은 상태로 열려 있어 별도 수정본으로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6592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이력과 공통자료/PM_프로젝트성과.md. B2B 2026-06~08, 핵심 흐름 2026-07-16 가동, 08-31 후속 최종 검수. 정책·요구사항·개발사 조율·운영 QA는 본인, 구현은 개발사. 공급사 수는 외부 공개 내용에서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033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55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86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C-033·129. 산후조리원몰_과업내역_처리결과.html 과업1, 228~250행. 수치가 포함된 계정·상품 데이터는 캡처에서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209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C-034. 산후조리원몰_과업내역_처리결과.html 322~327행. 실제 주문을 재현한 로그가 아닌 정책 설명 시뮬레이션.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552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C-036·130. 산후조리원몰_과업내역_처리결과.html 452~477행. 자동 실행 대신 담당자 확인 후 실행 결정과 안전장치 근거.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154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C-038·046·131.</a:t>
            </a:r>
          </a:p>
          <a:p>
            <a:r>
              <a:t>화면: .build/v4_3/b2b_raw/safe-statement-before.png, safe-statement-after.png. 운영 회의·문의 피드백이며 정식 사용자 인터뷰/실험으로 확대하지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30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943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31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3673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66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  <a:p>
            <a:r>
              <a:t>샘플 화면: 실제 v1 앱을 격리 복제해 합성 SKU·창고·재고로 실행. 운영 DB는 사용하지 않음. 시연용 inventory.html에서 초기 배열·필터 로드 순서, 창고 ID 타입, product_code 매핑을 보정함. 원본 코드와 디자인은 변경하지 않음. 표시 수량·금액·날짜는 합성값이며 성과의 증거가 아님. /order-plan은 전체 품목(요약) 화면이며 가중치 가정에 따른 시나리오.</a:t>
            </a:r>
          </a:p>
          <a:p>
            <a:r>
              <a:t>화면 제작 기록: resume/tmp/portfolio_dashboard_20261008/DEMO_README.md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912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  <a:p>
            <a:r>
              <a:t>샘플 화면: 실제 v1 앱을 격리 복제해 합성 SKU·창고·재고로 실행. 운영 DB는 사용하지 않음. 시연용 inventory.html에서 초기 배열·필터 로드 순서, 창고 ID 타입, product_code 매핑을 보정함. 원본 코드와 디자인은 변경하지 않음. 표시 수량·금액·날짜는 합성값이며 성과의 증거가 아님. /order-plan은 전체 품목(요약) 화면이며 가중치 가정에 따른 시나리오.</a:t>
            </a:r>
          </a:p>
          <a:p>
            <a:r>
              <a:t>화면 제작 기록: resume/tmp/portfolio_dashboard_20261008/DEMO_README.md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9790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305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538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이력; 공통자료/PM_프로젝트성과.md C-021, C-022, C-027, C-100, C-102. 프로젝트 기간 2026-02~2026-08-28. 운영환경 시나리오 30건 기대 결과 확인. 2026-08-28~09-15 집계 일평균 약 300건(자사몰230+외부70), 신규와 기존 통관 방식 병행 집계. 전 채널 신규 API 완료나 무인 자동화 실적으로 해석하지 않음. 참조: 관세청/planning/planning_v7.html 및 관세청_PM_운영_인수인계_20261004.md.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8028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C-025·028·101·126. planning_v7.html 4·8·9절. 원본은 내부 문서로 도표를 일반화해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987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7818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2976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6536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이력; 공통자료/PM_프로젝트성과.md C-021, C-022, C-027, C-100, C-102. 프로젝트 기간 2026-02~2026-08-28. 운영환경 시나리오 30건 기대 결과 확인. 2026-08-28~09-15 집계 일평균 약 300건(자사몰230+외부70), 신규와 기존 통관 방식 병행 집계. 전 채널 신규 API 완료나 무인 자동화 실적으로 해석하지 않음. 참조: 관세청/planning/planning_v7.html 및 관세청_PM_운영_인수인계_20261004.md.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759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기본 포트폴리오 갱신. B2B 주문몰, SCM 대시보드, ERP·통관 연동의 세 사례로 구성. 사용자 제공 이력과 공통자료/SCM_업무성과.md, 공통자료/PM_프로젝트성과.md 기준. 기존 양식의 글꼴·색·레이아웃과 열린 파일의 사용자 편집을 보존. 원본은 저장되지 않은 상태로 열려 있어 별도 수정본으로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83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5CF38-D933-F635-8D11-281879570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D935F5-D02E-398C-4374-D206DC6E5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D0F29-F62D-8752-EDAA-12B467AE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8BED0-938D-CB6B-BBAE-2484BDB4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4B80A7-8858-4B31-8F95-0609FDD5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E94E6-CD7D-0A1C-596B-D4315E6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9128C-F1F9-0329-587C-6223A0708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F3B05-4106-E31A-FA1C-23EC73C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CA5F-542D-E8DF-1CE1-89291537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A-F287-1641-4876-5DC477AC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6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2F0D7-C3E6-7982-7F35-B490DE30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C3C54-C2BC-ACF3-4EF6-68076AAD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A1DB0-B37F-437D-0791-6A3680D3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C979A-F2C6-F128-1E27-D40605C7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60B4A-F9DA-EAC9-BD13-7AE77D46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5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30257-58DA-ECBD-5D05-A4E0180E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B2143-115D-FBCF-9A93-D17729024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AA1B8-8370-6CCD-11E8-3E7A7F513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DE7E1-4026-22A1-8D80-C0A59E6C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A4D32-82B2-395A-07C2-4E5956B4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7D8F0-6E3E-AF65-F35E-50B4D334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46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3A5D4-9121-23A3-5BFC-578BF698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60C0FF-4B12-2CE9-FEEE-6F7C196B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635D39-5DB8-7A54-FB83-B57A6F55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11C5D9-878B-C43C-5216-BB4396AC8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36206B-01F5-CF67-FE6D-46367352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70FB1F-A174-8469-D8C4-3FB4803A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A7F267-3854-B8A2-A776-746673AD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EFAED5-283F-6FFC-3844-06AFC8A5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8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006B1-E5FF-3179-EA03-B3B95886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B512C1-67E4-BCE8-EE2E-DB80CE0F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A9CD9F-A2A3-A9B4-8B9D-BAA22541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5E0E7-8873-49F8-A90C-9CD6F236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90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06481D-FEF3-4ADE-5F0D-D998F5BD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89814-7927-E412-1B0E-39F2E651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AB25B-88CA-1890-DDFB-6F654102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24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BAA9E-6E84-3569-E438-D0E00F12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23879-1ED1-D98B-762B-8F90015D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0ECDD0-72DC-82FE-B2B2-BC7BF9F41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80077-8B96-A392-8B3A-609DD574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79A14-3E12-5EAA-539B-75559FB1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BC6F7-706A-2144-001B-40E1BF08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40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CDEAC-A5D5-0084-AABA-07F18FE7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A5A7D-7315-EB0A-6980-725A29B13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24CEE0-C28E-F4BB-5DD3-CEFFE865B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05F11C-212F-20F6-1648-77BD6629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C8AD9-1B7B-E9D5-977B-90BE7107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131896-4AC8-BA2E-FAEA-C3A20FBF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D7FF4-05E9-7DD8-21DC-19F1AE1E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B919D1-EB97-FCD4-4F2B-A38238DD6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EE79B-8FF6-BE4D-8EFB-BC896F2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DD126-0868-CCBE-0D2B-6FD3D3D6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F01E8-57FB-33CC-1A55-EE7D3476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27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8162DC-AB37-DDB2-63D7-513D23A63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4B0D14-D28C-2980-1D11-BED583BB6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2735-0E57-D236-B376-0BB5CD51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83E7C-93A4-FEDC-14B8-2C1D417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A8A2B-7952-3EAC-A310-ED07A368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264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23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CC886C-E290-E084-622D-053928AD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08201-CE7B-B00C-7566-0380E6FB0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A900E-8EF7-D61D-783B-D2A03B4D3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F4036-8532-B207-5753-CF63D6BB4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00EF5-33BF-7D1F-61F2-60B7FD476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3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538CE8-6E16-4549-BECC-44689CFFEFE9}"/>
              </a:ext>
            </a:extLst>
          </p:cNvPr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90D692-9C27-445B-9B2E-3B40453DE995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685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발견한 문제를</a:t>
            </a:r>
          </a:p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제품의 기준으로 정하고, 운영에서 확인합니다.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9360D60-72D7-460B-8B80-8903D8F9E125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68389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컴퓨터소프트웨어를 전공하고 아이베 SCM팀에서 운영 실무를 맡았습니다.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주문 오류를 시스템 규칙으로 바꾸고, 통관 연동의 오류 복구를 설계했습니다.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발주 검토 자료를 모으는 반복 업무는 직접 대시보드로 구현하고,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시트와 병행 검증하며 팀원들의 사용 의견을 반영했습니다.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94D13B1-325E-4933-853F-57BF6EA59B95}"/>
              </a:ext>
            </a:extLst>
          </p:cNvPr>
          <p:cNvSpPr>
            <a:spLocks noGrp="1"/>
          </p:cNvSpPr>
          <p:nvPr/>
        </p:nvSpPr>
        <p:spPr>
          <a:xfrm>
            <a:off x="514350" y="3076575"/>
            <a:ext cx="666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C1C69E8-711D-41B7-8764-7ADF78ABA31D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일하는 방식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7FA070E-6A44-40D7-9BF6-028935119B84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357D59E-082A-4249-8406-839B38161CCD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문제와 범위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1D31481-3B07-42D3-BEC1-5649F70812BF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반복되는 업무에서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바꿀 부분을 정함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3228202A-1665-4686-A7DC-F09325DA915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솔루션과 제외 범위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06E74E6-AAF5-4371-9A72-C39F074E8CC0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ED92FE-8CCF-4C34-A67C-125F233EF319}"/>
              </a:ext>
            </a:extLst>
          </p:cNvPr>
          <p:cNvSpPr>
            <a:spLocks noGrp="1"/>
          </p:cNvSpPr>
          <p:nvPr/>
        </p:nvSpPr>
        <p:spPr>
          <a:xfrm>
            <a:off x="29718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예외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E65A963-DEDE-47A4-A648-87A186AE2BA3}"/>
              </a:ext>
            </a:extLst>
          </p:cNvPr>
          <p:cNvSpPr>
            <a:spLocks noGrp="1"/>
          </p:cNvSpPr>
          <p:nvPr/>
        </p:nvSpPr>
        <p:spPr>
          <a:xfrm>
            <a:off x="29718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판단 기준을 사용자 흐름과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요구사항으로 구체화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3548CA1-BCD5-4D6A-A567-89DEEA43F180}"/>
              </a:ext>
            </a:extLst>
          </p:cNvPr>
          <p:cNvSpPr>
            <a:spLocks noGrp="1"/>
          </p:cNvSpPr>
          <p:nvPr/>
        </p:nvSpPr>
        <p:spPr>
          <a:xfrm>
            <a:off x="29718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6A98E60-A739-4AEC-84CD-7D35ABBF6C11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B9CFD80C-79A5-46FA-9003-2863451466EB}"/>
              </a:ext>
            </a:extLst>
          </p:cNvPr>
          <p:cNvSpPr>
            <a:spLocks noGrp="1"/>
          </p:cNvSpPr>
          <p:nvPr/>
        </p:nvSpPr>
        <p:spPr>
          <a:xfrm>
            <a:off x="53340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검증과 다음 판단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C0F95B-9689-4500-B603-41D4A4A05FAA}"/>
              </a:ext>
            </a:extLst>
          </p:cNvPr>
          <p:cNvSpPr>
            <a:spLocks noGrp="1"/>
          </p:cNvSpPr>
          <p:nvPr/>
        </p:nvSpPr>
        <p:spPr>
          <a:xfrm>
            <a:off x="53340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확인한 결과와 가설을 나눠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다음 검증 기준을 정함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44B9CE98-241C-4AC1-8137-802CCD2AEDD0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SCM · 병행 검증과 운영 개선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37FEF7-54F0-431C-AF3C-0880D6A1BF2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 전용몰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정책·실행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A7B742-8663-4147-9FFC-417D0176F7F9}"/>
              </a:ext>
            </a:extLst>
          </p:cNvPr>
          <p:cNvSpPr>
            <a:spLocks noGrp="1"/>
          </p:cNvSpPr>
          <p:nvPr/>
        </p:nvSpPr>
        <p:spPr>
          <a:xfrm>
            <a:off x="2905125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SCM 대시보드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자료 취합·운영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EF51153-D33D-44D3-B3E2-00D59C05EB33}"/>
              </a:ext>
            </a:extLst>
          </p:cNvPr>
          <p:cNvSpPr>
            <a:spLocks noGrp="1"/>
          </p:cNvSpPr>
          <p:nvPr/>
        </p:nvSpPr>
        <p:spPr>
          <a:xfrm>
            <a:off x="520065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 연동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데이터·오류 복구</a:t>
            </a: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6852" y="828675"/>
            <a:ext cx="1491372" cy="2124075"/>
          </a:xfrm>
          <a:prstGeom prst="rect">
            <a:avLst/>
          </a:prstGeom>
        </p:spPr>
      </p:pic>
      <p:sp>
        <p:nvSpPr>
          <p:cNvPr id="22" name="text-20">
            <a:extLst>
              <a:ext uri="{FF2B5EF4-FFF2-40B4-BE49-F238E27FC236}">
                <a16:creationId xmlns:a16="http://schemas.microsoft.com/office/drawing/2014/main" id="{B7363E88-F63C-4B56-BA2C-D1E7D75C03E3}"/>
              </a:ext>
            </a:extLst>
          </p:cNvPr>
          <p:cNvSpPr>
            <a:spLocks noGrp="1"/>
          </p:cNvSpPr>
          <p:nvPr/>
        </p:nvSpPr>
        <p:spPr>
          <a:xfrm>
            <a:off x="10096500" y="923925"/>
            <a:ext cx="1581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267812B3-95D0-4497-B59A-805E78414B53}"/>
              </a:ext>
            </a:extLst>
          </p:cNvPr>
          <p:cNvSpPr>
            <a:spLocks noGrp="1"/>
          </p:cNvSpPr>
          <p:nvPr/>
        </p:nvSpPr>
        <p:spPr>
          <a:xfrm>
            <a:off x="10096500" y="1200150"/>
            <a:ext cx="1581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243863E-8A14-4A92-AB25-57BB9CEFB134}"/>
              </a:ext>
            </a:extLst>
          </p:cNvPr>
          <p:cNvSpPr>
            <a:spLocks noGrp="1"/>
          </p:cNvSpPr>
          <p:nvPr/>
        </p:nvSpPr>
        <p:spPr>
          <a:xfrm>
            <a:off x="10096500" y="1466850"/>
            <a:ext cx="1581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95C338FF-9A8D-4EFE-90C2-7CD7230C5003}"/>
              </a:ext>
            </a:extLst>
          </p:cNvPr>
          <p:cNvSpPr>
            <a:spLocks noGrp="1"/>
          </p:cNvSpPr>
          <p:nvPr/>
        </p:nvSpPr>
        <p:spPr>
          <a:xfrm>
            <a:off x="10096500" y="2105025"/>
            <a:ext cx="1571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ADF24606-389F-46CE-806C-6EBFEC801A40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5811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2027-02 졸업 예정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5945C57E-2F7A-4EEE-B4FE-096239550652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C7FEB900-45A6-4E68-B102-7D14DD9F36ED}"/>
              </a:ext>
            </a:extLst>
          </p:cNvPr>
          <p:cNvSpPr>
            <a:spLocks noGrp="1"/>
          </p:cNvSpPr>
          <p:nvPr/>
        </p:nvSpPr>
        <p:spPr>
          <a:xfrm>
            <a:off x="8181975" y="38481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631DA1-CFDD-4B3B-84FF-E73FF3DFCEEB}"/>
              </a:ext>
            </a:extLst>
          </p:cNvPr>
          <p:cNvSpPr>
            <a:spLocks noGrp="1"/>
          </p:cNvSpPr>
          <p:nvPr/>
        </p:nvSpPr>
        <p:spPr>
          <a:xfrm>
            <a:off x="8181975" y="42576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9564C667-E535-4C0C-A4D2-AAB5C863C8E9}"/>
              </a:ext>
            </a:extLst>
          </p:cNvPr>
          <p:cNvSpPr>
            <a:spLocks noGrp="1"/>
          </p:cNvSpPr>
          <p:nvPr/>
        </p:nvSpPr>
        <p:spPr>
          <a:xfrm>
            <a:off x="8181975" y="461962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4ED048-062A-4712-B936-49726AF94B05}"/>
              </a:ext>
            </a:extLst>
          </p:cNvPr>
          <p:cNvSpPr>
            <a:spLocks noGrp="1"/>
          </p:cNvSpPr>
          <p:nvPr/>
        </p:nvSpPr>
        <p:spPr>
          <a:xfrm>
            <a:off x="8181975" y="51339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4B5FB252-C91D-4CE5-A574-3B17BF199E8E}"/>
              </a:ext>
            </a:extLst>
          </p:cNvPr>
          <p:cNvSpPr>
            <a:spLocks noGrp="1"/>
          </p:cNvSpPr>
          <p:nvPr/>
        </p:nvSpPr>
        <p:spPr>
          <a:xfrm>
            <a:off x="8181975" y="54959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001867E-0C56-4362-A179-FE46F6A992FA}"/>
              </a:ext>
            </a:extLst>
          </p:cNvPr>
          <p:cNvSpPr>
            <a:spLocks noGrp="1"/>
          </p:cNvSpPr>
          <p:nvPr/>
        </p:nvSpPr>
        <p:spPr>
          <a:xfrm>
            <a:off x="8181975" y="5943600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FA2A0752-B6BB-449A-93A9-004B3CD8BD35}"/>
              </a:ext>
            </a:extLst>
          </p:cNvPr>
          <p:cNvSpPr>
            <a:spLocks noGrp="1"/>
          </p:cNvSpPr>
          <p:nvPr/>
        </p:nvSpPr>
        <p:spPr>
          <a:xfrm>
            <a:off x="8181975" y="6296025"/>
            <a:ext cx="328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29894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060A05E0-9526-4890-9444-05C32B022D7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CFC8347-734D-4254-8657-7509CCE514D8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DF8A19C-4A5C-42B0-BD0F-7F3E3307876A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6BCA641-7924-4FE5-A549-FB51A667DBA5}"/>
              </a:ext>
            </a:extLst>
          </p:cNvPr>
          <p:cNvSpPr>
            <a:spLocks noGrp="1"/>
          </p:cNvSpPr>
          <p:nvPr/>
        </p:nvSpPr>
        <p:spPr>
          <a:xfrm>
            <a:off x="4305300" y="11715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3A449-9FBD-40D5-8D7E-2BECEF08017B}"/>
              </a:ext>
            </a:extLst>
          </p:cNvPr>
          <p:cNvSpPr>
            <a:spLocks noGrp="1"/>
          </p:cNvSpPr>
          <p:nvPr/>
        </p:nvSpPr>
        <p:spPr>
          <a:xfrm>
            <a:off x="5248275" y="123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FDF95B1-FB89-410B-B23E-1D93A98E5CE4}"/>
              </a:ext>
            </a:extLst>
          </p:cNvPr>
          <p:cNvSpPr>
            <a:spLocks noGrp="1"/>
          </p:cNvSpPr>
          <p:nvPr/>
        </p:nvSpPr>
        <p:spPr>
          <a:xfrm>
            <a:off x="5610225" y="1143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05F692E-4CB8-415C-AB5A-3B467170FE73}"/>
              </a:ext>
            </a:extLst>
          </p:cNvPr>
          <p:cNvSpPr>
            <a:spLocks noGrp="1"/>
          </p:cNvSpPr>
          <p:nvPr/>
        </p:nvSpPr>
        <p:spPr>
          <a:xfrm>
            <a:off x="5610225" y="14287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537E893-9111-4F3A-925F-D563BEC49593}"/>
              </a:ext>
            </a:extLst>
          </p:cNvPr>
          <p:cNvSpPr>
            <a:spLocks noGrp="1"/>
          </p:cNvSpPr>
          <p:nvPr/>
        </p:nvSpPr>
        <p:spPr>
          <a:xfrm>
            <a:off x="5610225" y="18764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03–10   계약 조건을 주문 규칙으로 바꾸고 운영에서 검수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34834E4-20D5-4C2A-9B72-30BE9BBCDD9A}"/>
              </a:ext>
            </a:extLst>
          </p:cNvPr>
          <p:cNvSpPr>
            <a:spLocks noGrp="1"/>
          </p:cNvSpPr>
          <p:nvPr/>
        </p:nvSpPr>
        <p:spPr>
          <a:xfrm>
            <a:off x="5610225" y="22860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흐름 운영 · 초기 결과 관찰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B084AB5-112E-4C2A-806C-4AE2B3871D07}"/>
              </a:ext>
            </a:extLst>
          </p:cNvPr>
          <p:cNvSpPr>
            <a:spLocks noGrp="1"/>
          </p:cNvSpPr>
          <p:nvPr/>
        </p:nvSpPr>
        <p:spPr>
          <a:xfrm>
            <a:off x="5610225" y="25908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예외 정책 · QA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65BF35D-AD2B-4FDA-A601-29A8AC0A5616}"/>
              </a:ext>
            </a:extLst>
          </p:cNvPr>
          <p:cNvSpPr>
            <a:spLocks noGrp="1"/>
          </p:cNvSpPr>
          <p:nvPr/>
        </p:nvSpPr>
        <p:spPr>
          <a:xfrm>
            <a:off x="4305300" y="30003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EAA18AA-86B4-4C0B-AFEF-B886758E6DCC}"/>
              </a:ext>
            </a:extLst>
          </p:cNvPr>
          <p:cNvSpPr>
            <a:spLocks noGrp="1"/>
          </p:cNvSpPr>
          <p:nvPr/>
        </p:nvSpPr>
        <p:spPr>
          <a:xfrm>
            <a:off x="5248275" y="3067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CDA3742-7C8B-4579-90F7-FC07FEF26566}"/>
              </a:ext>
            </a:extLst>
          </p:cNvPr>
          <p:cNvSpPr>
            <a:spLocks noGrp="1"/>
          </p:cNvSpPr>
          <p:nvPr/>
        </p:nvSpPr>
        <p:spPr>
          <a:xfrm>
            <a:off x="5610225" y="29718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발주 검토 자료 자동취합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FE4ECB64-F688-4A31-90A5-0A4B0BBF3F90}"/>
              </a:ext>
            </a:extLst>
          </p:cNvPr>
          <p:cNvSpPr>
            <a:spLocks noGrp="1"/>
          </p:cNvSpPr>
          <p:nvPr/>
        </p:nvSpPr>
        <p:spPr>
          <a:xfrm>
            <a:off x="5610225" y="32575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SCM 대시보드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7205BBF2-FB21-44C6-AE9D-D86A79704381}"/>
              </a:ext>
            </a:extLst>
          </p:cNvPr>
          <p:cNvSpPr>
            <a:spLocks noGrp="1"/>
          </p:cNvSpPr>
          <p:nvPr/>
        </p:nvSpPr>
        <p:spPr>
          <a:xfrm>
            <a:off x="5610225" y="37052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11–17   데이터의 의미를 구분하고 월간 검토 자료로 검증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D2B65C0-23D6-433C-9AA6-31389DA0A0BE}"/>
              </a:ext>
            </a:extLst>
          </p:cNvPr>
          <p:cNvSpPr>
            <a:spLocks noGrp="1"/>
          </p:cNvSpPr>
          <p:nvPr/>
        </p:nvSpPr>
        <p:spPr>
          <a:xfrm>
            <a:off x="5610225" y="41148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2026-04 </a:t>
            </a:r>
            <a:r>
              <a:rPr sz="938" b="0" dirty="0" err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938" b="0" dirty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</a:t>
            </a:r>
            <a:r>
              <a:rPr sz="938" b="0" dirty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 · 06월부터 </a:t>
            </a:r>
            <a:r>
              <a:rPr sz="938" b="0" dirty="0" err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기준</a:t>
            </a:r>
            <a:r>
              <a:rPr sz="938" b="0" dirty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자료로</a:t>
            </a:r>
            <a:r>
              <a:rPr sz="938" b="0" dirty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938" b="0" dirty="0">
              <a:solidFill>
                <a:srgbClr val="77777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E399796-C46D-4A25-896A-A33A7524788A}"/>
              </a:ext>
            </a:extLst>
          </p:cNvPr>
          <p:cNvSpPr>
            <a:spLocks noGrp="1"/>
          </p:cNvSpPr>
          <p:nvPr/>
        </p:nvSpPr>
        <p:spPr>
          <a:xfrm>
            <a:off x="5610225" y="44196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데이터 설계 · 직접 구현 · 병행 검증 · 운영 개선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C768B805-24B4-4127-8B39-E49E532913BA}"/>
              </a:ext>
            </a:extLst>
          </p:cNvPr>
          <p:cNvSpPr>
            <a:spLocks noGrp="1"/>
          </p:cNvSpPr>
          <p:nvPr/>
        </p:nvSpPr>
        <p:spPr>
          <a:xfrm>
            <a:off x="4305300" y="48291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8BBD7D-C529-4EB9-9612-79CD4B8BE8AF}"/>
              </a:ext>
            </a:extLst>
          </p:cNvPr>
          <p:cNvSpPr>
            <a:spLocks noGrp="1"/>
          </p:cNvSpPr>
          <p:nvPr/>
        </p:nvSpPr>
        <p:spPr>
          <a:xfrm>
            <a:off x="5248275" y="4895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EFA0B4B3-E346-4E8E-B27A-A9630CB9B607}"/>
              </a:ext>
            </a:extLst>
          </p:cNvPr>
          <p:cNvSpPr>
            <a:spLocks noGrp="1"/>
          </p:cNvSpPr>
          <p:nvPr/>
        </p:nvSpPr>
        <p:spPr>
          <a:xfrm>
            <a:off x="5610225" y="48006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연동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5E5D8B9-19A4-4135-B519-BC599A9C25FA}"/>
              </a:ext>
            </a:extLst>
          </p:cNvPr>
          <p:cNvSpPr>
            <a:spLocks noGrp="1"/>
          </p:cNvSpPr>
          <p:nvPr/>
        </p:nvSpPr>
        <p:spPr>
          <a:xfrm>
            <a:off x="5610225" y="50863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7F9FD9D-3D0F-4595-9AF9-63FC176384D4}"/>
              </a:ext>
            </a:extLst>
          </p:cNvPr>
          <p:cNvSpPr>
            <a:spLocks noGrp="1"/>
          </p:cNvSpPr>
          <p:nvPr/>
        </p:nvSpPr>
        <p:spPr>
          <a:xfrm>
            <a:off x="5610225" y="55340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18–23   주문·포장 기준과 오류 수정·재제출 책임을 조율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BA15D816-EA9C-48A3-92AE-3A4BD013086C}"/>
              </a:ext>
            </a:extLst>
          </p:cNvPr>
          <p:cNvSpPr>
            <a:spLocks noGrp="1"/>
          </p:cNvSpPr>
          <p:nvPr/>
        </p:nvSpPr>
        <p:spPr>
          <a:xfrm>
            <a:off x="5610225" y="59436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신규·기존 방식 병행 · 시나리오 30건 검증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4C1C942-9AAE-4C2A-BD0B-1EB2125E7DA4}"/>
              </a:ext>
            </a:extLst>
          </p:cNvPr>
          <p:cNvSpPr>
            <a:spLocks noGrp="1"/>
          </p:cNvSpPr>
          <p:nvPr/>
        </p:nvSpPr>
        <p:spPr>
          <a:xfrm>
            <a:off x="5610225" y="62484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구조 · 의사결정 · 오류 복구 · 운영 검증</a:t>
            </a:r>
          </a:p>
        </p:txBody>
      </p:sp>
    </p:spTree>
    <p:extLst>
      <p:ext uri="{BB962C8B-B14F-4D97-AF65-F5344CB8AC3E}">
        <p14:creationId xmlns:p14="http://schemas.microsoft.com/office/powerpoint/2010/main" val="98678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03 / 24</a:t>
            </a:r>
            <a:endParaRPr sz="788" b="0">
              <a:solidFill>
                <a:srgbClr val="A6D5B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디지털화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58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6D5B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</a:t>
            </a:r>
            <a:r>
              <a:rPr lang="en-US"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~ 2026-08</a:t>
            </a:r>
            <a:endParaRPr sz="93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noGrp="1"/>
          </p:cNvSpPr>
          <p:nvPr/>
        </p:nvSpPr>
        <p:spPr>
          <a:xfrm>
            <a:off x="609600" y="62166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noGrp="1"/>
          </p:cNvSpPr>
          <p:nvPr/>
        </p:nvSpPr>
        <p:spPr>
          <a:xfrm>
            <a:off x="1419225" y="62166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협업</a:t>
            </a:r>
          </a:p>
        </p:txBody>
      </p:sp>
    </p:spTree>
    <p:extLst>
      <p:ext uri="{BB962C8B-B14F-4D97-AF65-F5344CB8AC3E}">
        <p14:creationId xmlns:p14="http://schemas.microsoft.com/office/powerpoint/2010/main" val="375282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0">
            <a:extLst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noGrp="1"/>
          </p:cNvSpPr>
          <p:nvPr/>
        </p:nvSpPr>
        <p:spPr>
          <a:xfrm>
            <a:off x="23336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noGrp="1"/>
          </p:cNvSpPr>
          <p:nvPr/>
        </p:nvSpPr>
        <p:spPr>
          <a:xfrm>
            <a:off x="24669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noGrp="1"/>
          </p:cNvSpPr>
          <p:nvPr/>
        </p:nvSpPr>
        <p:spPr>
          <a:xfrm>
            <a:off x="26003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noGrp="1"/>
          </p:cNvSpPr>
          <p:nvPr/>
        </p:nvSpPr>
        <p:spPr>
          <a:xfrm>
            <a:off x="432435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noGrp="1"/>
          </p:cNvSpPr>
          <p:nvPr/>
        </p:nvSpPr>
        <p:spPr>
          <a:xfrm>
            <a:off x="445770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noGrp="1"/>
          </p:cNvSpPr>
          <p:nvPr/>
        </p:nvSpPr>
        <p:spPr>
          <a:xfrm>
            <a:off x="445770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noGrp="1"/>
          </p:cNvSpPr>
          <p:nvPr/>
        </p:nvSpPr>
        <p:spPr>
          <a:xfrm>
            <a:off x="618172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noGrp="1"/>
          </p:cNvSpPr>
          <p:nvPr/>
        </p:nvSpPr>
        <p:spPr>
          <a:xfrm>
            <a:off x="631507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noGrp="1"/>
          </p:cNvSpPr>
          <p:nvPr/>
        </p:nvSpPr>
        <p:spPr>
          <a:xfrm>
            <a:off x="631507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noGrp="1"/>
          </p:cNvSpPr>
          <p:nvPr/>
        </p:nvSpPr>
        <p:spPr>
          <a:xfrm>
            <a:off x="80391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noGrp="1"/>
          </p:cNvSpPr>
          <p:nvPr/>
        </p:nvSpPr>
        <p:spPr>
          <a:xfrm>
            <a:off x="81724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noGrp="1"/>
          </p:cNvSpPr>
          <p:nvPr/>
        </p:nvSpPr>
        <p:spPr>
          <a:xfrm>
            <a:off x="81724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noGrp="1"/>
          </p:cNvSpPr>
          <p:nvPr/>
        </p:nvSpPr>
        <p:spPr>
          <a:xfrm>
            <a:off x="98964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noGrp="1"/>
          </p:cNvSpPr>
          <p:nvPr/>
        </p:nvSpPr>
        <p:spPr>
          <a:xfrm>
            <a:off x="100298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noGrp="1"/>
          </p:cNvSpPr>
          <p:nvPr/>
        </p:nvSpPr>
        <p:spPr>
          <a:xfrm>
            <a:off x="100298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noGrp="1"/>
          </p:cNvSpPr>
          <p:nvPr/>
        </p:nvSpPr>
        <p:spPr>
          <a:xfrm>
            <a:off x="2552700" y="34194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noGrp="1"/>
          </p:cNvSpPr>
          <p:nvPr/>
        </p:nvSpPr>
        <p:spPr>
          <a:xfrm>
            <a:off x="4105275" y="33528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noGrp="1"/>
          </p:cNvSpPr>
          <p:nvPr/>
        </p:nvSpPr>
        <p:spPr>
          <a:xfrm>
            <a:off x="2552700" y="41243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noGrp="1"/>
          </p:cNvSpPr>
          <p:nvPr/>
        </p:nvSpPr>
        <p:spPr>
          <a:xfrm>
            <a:off x="4105275" y="405765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noGrp="1"/>
          </p:cNvSpPr>
          <p:nvPr/>
        </p:nvSpPr>
        <p:spPr>
          <a:xfrm>
            <a:off x="2552700" y="48291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noGrp="1"/>
          </p:cNvSpPr>
          <p:nvPr/>
        </p:nvSpPr>
        <p:spPr>
          <a:xfrm>
            <a:off x="4105275" y="47625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noGrp="1"/>
          </p:cNvSpPr>
          <p:nvPr/>
        </p:nvSpPr>
        <p:spPr>
          <a:xfrm>
            <a:off x="6257925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5324475" cy="1009650"/>
          </a:xfrm>
          <a:prstGeom prst="roundRect">
            <a:avLst>
              <a:gd name="adj" fmla="val 6604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noGrp="1"/>
          </p:cNvSpPr>
          <p:nvPr/>
        </p:nvSpPr>
        <p:spPr>
          <a:xfrm>
            <a:off x="6257925" y="45624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noGrp="1"/>
          </p:cNvSpPr>
          <p:nvPr/>
        </p:nvSpPr>
        <p:spPr>
          <a:xfrm>
            <a:off x="6638925" y="456247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noGrp="1"/>
          </p:cNvSpPr>
          <p:nvPr/>
        </p:nvSpPr>
        <p:spPr>
          <a:xfrm>
            <a:off x="6638925" y="53054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7916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1695450"/>
          <a:ext cx="10972800" cy="22288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371475"/>
          </a:xfrm>
          <a:prstGeom prst="roundRect">
            <a:avLst>
              <a:gd name="adj" fmla="val 12821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noGrp="1"/>
          </p:cNvSpPr>
          <p:nvPr/>
        </p:nvSpPr>
        <p:spPr>
          <a:xfrm>
            <a:off x="436245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noGrp="1"/>
          </p:cNvSpPr>
          <p:nvPr/>
        </p:nvSpPr>
        <p:spPr>
          <a:xfrm>
            <a:off x="449580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noGrp="1"/>
          </p:cNvSpPr>
          <p:nvPr/>
        </p:nvSpPr>
        <p:spPr>
          <a:xfrm>
            <a:off x="81153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74853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99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2105025"/>
          <a:ext cx="7334250" cy="20574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352675" cy="2057400"/>
          </a:xfrm>
          <a:prstGeom prst="roundRect">
            <a:avLst>
              <a:gd name="adj" fmla="val 2778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noGrp="1"/>
          </p:cNvSpPr>
          <p:nvPr/>
        </p:nvSpPr>
        <p:spPr>
          <a:xfrm>
            <a:off x="9439275" y="2266950"/>
            <a:ext cx="1933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noGrp="1"/>
          </p:cNvSpPr>
          <p:nvPr/>
        </p:nvSpPr>
        <p:spPr>
          <a:xfrm>
            <a:off x="9439275" y="2705100"/>
            <a:ext cx="19431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412" y="4838700"/>
            <a:ext cx="10735176" cy="163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EA89C-59A2-1316-377B-54850534041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개발사 처리결과의 기능 화면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직접 운영 캡처 아님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고객정보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내부 수치 제외</a:t>
            </a:r>
          </a:p>
        </p:txBody>
      </p:sp>
    </p:spTree>
    <p:extLst>
      <p:ext uri="{BB962C8B-B14F-4D97-AF65-F5344CB8AC3E}">
        <p14:creationId xmlns:p14="http://schemas.microsoft.com/office/powerpoint/2010/main" val="143208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29225" cy="333375"/>
          </a:xfrm>
          <a:prstGeom prst="roundRect">
            <a:avLst>
              <a:gd name="adj" fmla="val 1428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0982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231457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609600" y="3390900"/>
          <a:ext cx="5838825" cy="1524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-8">
            <a:extLst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626" y="2171700"/>
            <a:ext cx="3567622" cy="2324100"/>
          </a:xfrm>
          <a:prstGeom prst="rect">
            <a:avLst/>
          </a:prstGeom>
        </p:spPr>
      </p:pic>
      <p:sp>
        <p:nvSpPr>
          <p:cNvPr id="12" name="text-9">
            <a:extLst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noGrp="1"/>
          </p:cNvSpPr>
          <p:nvPr/>
        </p:nvSpPr>
        <p:spPr>
          <a:xfrm>
            <a:off x="6248400" y="47720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</p:spTree>
    <p:extLst>
      <p:ext uri="{BB962C8B-B14F-4D97-AF65-F5344CB8AC3E}">
        <p14:creationId xmlns:p14="http://schemas.microsoft.com/office/powerpoint/2010/main" val="366402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noGrp="1"/>
          </p:cNvSpPr>
          <p:nvPr/>
        </p:nvSpPr>
        <p:spPr>
          <a:xfrm>
            <a:off x="32480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noGrp="1"/>
          </p:cNvSpPr>
          <p:nvPr/>
        </p:nvSpPr>
        <p:spPr>
          <a:xfrm>
            <a:off x="33909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noGrp="1"/>
          </p:cNvSpPr>
          <p:nvPr/>
        </p:nvSpPr>
        <p:spPr>
          <a:xfrm>
            <a:off x="60293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표 45"/>
          <p:cNvGraphicFramePr/>
          <p:nvPr/>
        </p:nvGraphicFramePr>
        <p:xfrm>
          <a:off x="609600" y="3333750"/>
          <a:ext cx="10972800" cy="21907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85775"/>
          </a:xfrm>
          <a:prstGeom prst="roundRect">
            <a:avLst>
              <a:gd name="adj" fmla="val 1176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695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noGrp="1"/>
          </p:cNvSpPr>
          <p:nvPr/>
        </p:nvSpPr>
        <p:spPr>
          <a:xfrm>
            <a:off x="1581150" y="5981700"/>
            <a:ext cx="975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4423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88A8F240-B97C-4DAD-BEE5-9D9F84CFAC4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77FFF93-C6E5-41CD-956E-7E49EB69CB6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ED9274D-3CD6-4F76-B2A9-DA96E0A7468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화면에서 검수하고, 운영 요청을 반영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62E59D7-4E68-4179-95D9-037DE09E1EE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완료 통보 뒤에도 운영 서버에서 재현하고 실제 사용 흐름을 다시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3527A93-030A-47C8-8986-2F7C2BD216D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화면이 열리지 않았던 사례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2D0BFC-1742-4EE0-8E96-77D1E4C92BF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3E9E8BC-FC24-42B0-B162-193A08C7B3AD}"/>
              </a:ext>
            </a:extLst>
          </p:cNvPr>
          <p:cNvSpPr>
            <a:spLocks noGrp="1"/>
          </p:cNvSpPr>
          <p:nvPr/>
        </p:nvSpPr>
        <p:spPr>
          <a:xfrm>
            <a:off x="1619250" y="22764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 정보 수정에 진입할 수 없음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155F00C-F35C-46F1-8A43-7BD68764689D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8119517-638A-41B9-86E2-1CE66E511CC7}"/>
              </a:ext>
            </a:extLst>
          </p:cNvPr>
          <p:cNvSpPr>
            <a:spLocks noGrp="1"/>
          </p:cNvSpPr>
          <p:nvPr/>
        </p:nvSpPr>
        <p:spPr>
          <a:xfrm>
            <a:off x="1619250" y="290512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구 차단 로직 잔존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BAC316-66BB-4490-9430-59FE05D8CCD2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7EBC520-208C-4009-96C0-4F39DC23E6DE}"/>
              </a:ext>
            </a:extLst>
          </p:cNvPr>
          <p:cNvSpPr>
            <a:spLocks noGrp="1"/>
          </p:cNvSpPr>
          <p:nvPr/>
        </p:nvSpPr>
        <p:spPr>
          <a:xfrm>
            <a:off x="1619250" y="35337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실제 계정에서 기대한 화면까지 진입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F56D463-36E1-44C7-8091-1BB92538A6D2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 접근을 주문내역으로 이동</a:t>
            </a: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3092" y="2190750"/>
            <a:ext cx="1623291" cy="1409700"/>
          </a:xfrm>
          <a:prstGeom prst="rect">
            <a:avLst/>
          </a:prstGeom>
        </p:spPr>
      </p:pic>
      <p:sp>
        <p:nvSpPr>
          <p:cNvPr id="14" name="text-12">
            <a:extLst>
              <a:ext uri="{FF2B5EF4-FFF2-40B4-BE49-F238E27FC236}">
                <a16:creationId xmlns:a16="http://schemas.microsoft.com/office/drawing/2014/main" id="{1DCF610C-4B21-467C-9B0A-21C8F0C5FC96}"/>
              </a:ext>
            </a:extLst>
          </p:cNvPr>
          <p:cNvSpPr>
            <a:spLocks noGrp="1"/>
          </p:cNvSpPr>
          <p:nvPr/>
        </p:nvSpPr>
        <p:spPr>
          <a:xfrm>
            <a:off x="8791575" y="27241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37267" y="2190750"/>
            <a:ext cx="1623291" cy="1409700"/>
          </a:xfrm>
          <a:prstGeom prst="rect">
            <a:avLst/>
          </a:prstGeom>
        </p:spPr>
      </p:pic>
      <p:sp>
        <p:nvSpPr>
          <p:cNvPr id="16" name="text-13">
            <a:extLst>
              <a:ext uri="{FF2B5EF4-FFF2-40B4-BE49-F238E27FC236}">
                <a16:creationId xmlns:a16="http://schemas.microsoft.com/office/drawing/2014/main" id="{930D97B1-31CE-4771-8C77-E499E0579741}"/>
              </a:ext>
            </a:extLst>
          </p:cNvPr>
          <p:cNvSpPr>
            <a:spLocks noGrp="1"/>
          </p:cNvSpPr>
          <p:nvPr/>
        </p:nvSpPr>
        <p:spPr>
          <a:xfrm>
            <a:off x="6257925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변경 전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0C274734-F476-47F2-8FEC-4E89705154B9}"/>
              </a:ext>
            </a:extLst>
          </p:cNvPr>
          <p:cNvSpPr>
            <a:spLocks noGrp="1"/>
          </p:cNvSpPr>
          <p:nvPr/>
        </p:nvSpPr>
        <p:spPr>
          <a:xfrm>
            <a:off x="9182100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16931122-C302-4FE3-8919-4ECA2BBA7FC1}"/>
              </a:ext>
            </a:extLst>
          </p:cNvPr>
          <p:cNvSpPr>
            <a:spLocks noGrp="1"/>
          </p:cNvSpPr>
          <p:nvPr/>
        </p:nvSpPr>
        <p:spPr>
          <a:xfrm>
            <a:off x="6248400" y="4105275"/>
            <a:ext cx="5257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 · 취소·환불 주문 제외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2026-08-13 운영 반영 후 고객 화면 확인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2F20294-53AF-480F-AD42-207C3870662A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-17">
            <a:extLst>
              <a:ext uri="{FF2B5EF4-FFF2-40B4-BE49-F238E27FC236}">
                <a16:creationId xmlns:a16="http://schemas.microsoft.com/office/drawing/2014/main" id="{C3DBEB18-2A66-4397-A217-33B182F03347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5257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기획·검수: 본인 / 수정 구현: 개발사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73FA7A-607A-4FB4-A4A3-DCDA190FFEDD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981075"/>
          </a:xfrm>
          <a:prstGeom prst="roundRect">
            <a:avLst>
              <a:gd name="adj" fmla="val 582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19">
            <a:extLst>
              <a:ext uri="{FF2B5EF4-FFF2-40B4-BE49-F238E27FC236}">
                <a16:creationId xmlns:a16="http://schemas.microsoft.com/office/drawing/2014/main" id="{AE70C8DE-7615-40CE-BFAC-B924EC9B524F}"/>
              </a:ext>
            </a:extLst>
          </p:cNvPr>
          <p:cNvSpPr>
            <a:spLocks noGrp="1"/>
          </p:cNvSpPr>
          <p:nvPr/>
        </p:nvSpPr>
        <p:spPr>
          <a:xfrm>
            <a:off x="809625" y="5429250"/>
            <a:ext cx="2400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현장 요청을 다시 반영</a:t>
            </a:r>
          </a:p>
        </p:txBody>
      </p:sp>
      <p:sp>
        <p:nvSpPr>
          <p:cNvPr id="23" name="text-20">
            <a:extLst>
              <a:ext uri="{FF2B5EF4-FFF2-40B4-BE49-F238E27FC236}">
                <a16:creationId xmlns:a16="http://schemas.microsoft.com/office/drawing/2014/main" id="{B32C54BF-A1DE-4620-B167-1365DA63398E}"/>
              </a:ext>
            </a:extLst>
          </p:cNvPr>
          <p:cNvSpPr>
            <a:spLocks noGrp="1"/>
          </p:cNvSpPr>
          <p:nvPr/>
        </p:nvSpPr>
        <p:spPr>
          <a:xfrm>
            <a:off x="3333750" y="5410200"/>
            <a:ext cx="80105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1차 QA에서 제거한 배송 메시지 입력칸을 복원했습니다.</a:t>
            </a:r>
          </a:p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 정리 뒤에도 실제 배송 요청을 받을 수 있어야 했습니다.</a:t>
            </a:r>
          </a:p>
        </p:txBody>
      </p:sp>
      <p:sp>
        <p:nvSpPr>
          <p:cNvPr id="24" name="text-21">
            <a:extLst>
              <a:ext uri="{FF2B5EF4-FFF2-40B4-BE49-F238E27FC236}">
                <a16:creationId xmlns:a16="http://schemas.microsoft.com/office/drawing/2014/main" id="{1552B54E-CC7E-4CFB-8ABD-5A12D5DFFC2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· 직접 운영 캡처 아님 · 고객정보·주문번호·가격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416473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">
            <a:extLst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038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828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noGrp="1"/>
          </p:cNvSpPr>
          <p:nvPr/>
        </p:nvSpPr>
        <p:spPr>
          <a:xfrm>
            <a:off x="6324600" y="2181225"/>
            <a:ext cx="2657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noGrp="1"/>
          </p:cNvSpPr>
          <p:nvPr/>
        </p:nvSpPr>
        <p:spPr>
          <a:xfrm>
            <a:off x="9134475" y="2171700"/>
            <a:ext cx="2447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1343025"/>
          </a:xfrm>
          <a:prstGeom prst="roundRect">
            <a:avLst>
              <a:gd name="adj" fmla="val 425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noGrp="1"/>
          </p:cNvSpPr>
          <p:nvPr/>
        </p:nvSpPr>
        <p:spPr>
          <a:xfrm>
            <a:off x="3467100" y="4543425"/>
            <a:ext cx="7867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noGrp="1"/>
          </p:cNvSpPr>
          <p:nvPr/>
        </p:nvSpPr>
        <p:spPr>
          <a:xfrm>
            <a:off x="809625" y="5305425"/>
            <a:ext cx="10506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F5BE2-1F66-A451-16BE-82CFF018A50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원천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운영팀 출고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·CS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이력과 사용자 확인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194169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4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0">
            <a:extLst>
              <a:ext uri="{FF2B5EF4-FFF2-40B4-BE49-F238E27FC236}">
                <a16:creationId xmlns:a16="http://schemas.microsoft.com/office/drawing/2014/main" id="{7D3716C6-0914-4AA3-A099-C1AC0308681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11 / 24</a:t>
            </a:r>
            <a:endParaRPr sz="788" b="0">
              <a:solidFill>
                <a:srgbClr val="F0BB9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D6542A4-069B-4FF6-BD9F-3DAC247DF79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발주 검토 자료 자동취합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70D47F6-4C23-4702-A4F3-50B97F82DBA6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SCM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072DF5C-AE83-4E1E-B85D-C4AFF52DD617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검토 자료 자동취합 대시보드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760E3DD-5D5D-4F93-9D0F-583488226056}"/>
              </a:ext>
            </a:extLst>
          </p:cNvPr>
          <p:cNvSpPr>
            <a:spLocks noGrp="1"/>
          </p:cNvSpPr>
          <p:nvPr/>
        </p:nvSpPr>
        <p:spPr>
          <a:xfrm>
            <a:off x="1752600" y="2247900"/>
            <a:ext cx="56864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판매·출고·재고 자료를 Excel 업로드로 모아,</a:t>
            </a:r>
          </a:p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월간 발주 검토에 사용할 수 있는 기준 자료로 만들었습니다.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F522FA5-D046-47B6-8D73-FFC50934A450}"/>
              </a:ext>
            </a:extLst>
          </p:cNvPr>
          <p:cNvSpPr>
            <a:spLocks noGrp="1"/>
          </p:cNvSpPr>
          <p:nvPr/>
        </p:nvSpPr>
        <p:spPr>
          <a:xfrm>
            <a:off x="1752600" y="32289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2435DBF-55F8-416B-9BD5-0DE8470D8E5E}"/>
              </a:ext>
            </a:extLst>
          </p:cNvPr>
          <p:cNvSpPr>
            <a:spLocks noGrp="1"/>
          </p:cNvSpPr>
          <p:nvPr/>
        </p:nvSpPr>
        <p:spPr>
          <a:xfrm>
            <a:off x="2619375" y="32099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담당자 1명이 매월 6~12시간 취합 · 값 오류 보통 2~3건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25A67B-AE0D-4FB2-B324-8FCB89350C70}"/>
              </a:ext>
            </a:extLst>
          </p:cNvPr>
          <p:cNvSpPr>
            <a:spLocks noGrp="1"/>
          </p:cNvSpPr>
          <p:nvPr/>
        </p:nvSpPr>
        <p:spPr>
          <a:xfrm>
            <a:off x="1752600" y="385762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607F123-91DB-445A-B420-598AB887C883}"/>
              </a:ext>
            </a:extLst>
          </p:cNvPr>
          <p:cNvSpPr>
            <a:spLocks noGrp="1"/>
          </p:cNvSpPr>
          <p:nvPr/>
        </p:nvSpPr>
        <p:spPr>
          <a:xfrm>
            <a:off x="2619375" y="383857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상품별 재고와 공급사 발주안을 검토하는 SCM 담당자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9D7AF36E-5B4A-4DFD-8F5B-37339F153CC6}"/>
              </a:ext>
            </a:extLst>
          </p:cNvPr>
          <p:cNvSpPr>
            <a:spLocks noGrp="1"/>
          </p:cNvSpPr>
          <p:nvPr/>
        </p:nvSpPr>
        <p:spPr>
          <a:xfrm>
            <a:off x="1752600" y="44862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63B061E-97F0-400B-BFDD-E464486E9F48}"/>
              </a:ext>
            </a:extLst>
          </p:cNvPr>
          <p:cNvSpPr>
            <a:spLocks noGrp="1"/>
          </p:cNvSpPr>
          <p:nvPr/>
        </p:nvSpPr>
        <p:spPr>
          <a:xfrm>
            <a:off x="2619375" y="44672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 취합을 줄이고 자료 확인과 발주 검토에 집중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B40DC1-08C5-4CCD-901A-2B21DC447279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95625"/>
          </a:xfrm>
          <a:prstGeom prst="roundRect">
            <a:avLst>
              <a:gd name="adj" fmla="val 3385"/>
            </a:avLst>
          </a:prstGeom>
          <a:solidFill>
            <a:srgbClr val="903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C2F9E833-026B-4F29-9AF3-B3071BE4FF7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직접 구현하고 운영에서 검증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A54E77-5999-4673-BE01-A63FBA399E77}"/>
              </a:ext>
            </a:extLst>
          </p:cNvPr>
          <p:cNvSpPr>
            <a:spLocks noGrp="1"/>
          </p:cNvSpPr>
          <p:nvPr/>
        </p:nvSpPr>
        <p:spPr>
          <a:xfrm>
            <a:off x="8039100" y="2200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18B7085E-F74B-4B72-8757-C6EE0BC6EC05}"/>
              </a:ext>
            </a:extLst>
          </p:cNvPr>
          <p:cNvSpPr>
            <a:spLocks noGrp="1"/>
          </p:cNvSpPr>
          <p:nvPr/>
        </p:nvSpPr>
        <p:spPr>
          <a:xfrm>
            <a:off x="8201025" y="2266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기획·설계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C3A733E-B5F5-4065-8593-816B09E0E746}"/>
              </a:ext>
            </a:extLst>
          </p:cNvPr>
          <p:cNvSpPr>
            <a:spLocks noGrp="1"/>
          </p:cNvSpPr>
          <p:nvPr/>
        </p:nvSpPr>
        <p:spPr>
          <a:xfrm>
            <a:off x="8201025" y="2476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판매·출고 구분과 데이터 구조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EA40E1E-F4F3-4E79-8A66-B35906391872}"/>
              </a:ext>
            </a:extLst>
          </p:cNvPr>
          <p:cNvSpPr>
            <a:spLocks noGrp="1"/>
          </p:cNvSpPr>
          <p:nvPr/>
        </p:nvSpPr>
        <p:spPr>
          <a:xfrm>
            <a:off x="8039100" y="2771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250D545-7499-4764-923A-BD924ACCBE06}"/>
              </a:ext>
            </a:extLst>
          </p:cNvPr>
          <p:cNvSpPr>
            <a:spLocks noGrp="1"/>
          </p:cNvSpPr>
          <p:nvPr/>
        </p:nvSpPr>
        <p:spPr>
          <a:xfrm>
            <a:off x="8201025" y="2838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개발·배포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B54C2F1-D717-476F-BE42-AEA5F9896477}"/>
              </a:ext>
            </a:extLst>
          </p:cNvPr>
          <p:cNvSpPr>
            <a:spLocks noGrp="1"/>
          </p:cNvSpPr>
          <p:nvPr/>
        </p:nvSpPr>
        <p:spPr>
          <a:xfrm>
            <a:off x="8201025" y="3048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AI 코딩 도구로 직접 구현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239858-803F-4ADC-A2C3-3749A8CF4FD3}"/>
              </a:ext>
            </a:extLst>
          </p:cNvPr>
          <p:cNvSpPr>
            <a:spLocks noGrp="1"/>
          </p:cNvSpPr>
          <p:nvPr/>
        </p:nvSpPr>
        <p:spPr>
          <a:xfrm>
            <a:off x="8039100" y="3343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3804647B-9B69-4461-9D5B-A99677AC0526}"/>
              </a:ext>
            </a:extLst>
          </p:cNvPr>
          <p:cNvSpPr>
            <a:spLocks noGrp="1"/>
          </p:cNvSpPr>
          <p:nvPr/>
        </p:nvSpPr>
        <p:spPr>
          <a:xfrm>
            <a:off x="8201025" y="3409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검증·협업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ACC3797-C1D0-4E7A-BEEB-37664D254C87}"/>
              </a:ext>
            </a:extLst>
          </p:cNvPr>
          <p:cNvSpPr>
            <a:spLocks noGrp="1"/>
          </p:cNvSpPr>
          <p:nvPr/>
        </p:nvSpPr>
        <p:spPr>
          <a:xfrm>
            <a:off x="8201025" y="3619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기존 시트 대조 · 팀원 의견 반영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8BBAD0-72B1-46BC-870A-419E9B5387EE}"/>
              </a:ext>
            </a:extLst>
          </p:cNvPr>
          <p:cNvSpPr>
            <a:spLocks noGrp="1"/>
          </p:cNvSpPr>
          <p:nvPr/>
        </p:nvSpPr>
        <p:spPr>
          <a:xfrm>
            <a:off x="8039100" y="3914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5306DCA-F793-4203-BFCB-E2B7F4B3A9B1}"/>
              </a:ext>
            </a:extLst>
          </p:cNvPr>
          <p:cNvSpPr>
            <a:spLocks noGrp="1"/>
          </p:cNvSpPr>
          <p:nvPr/>
        </p:nvSpPr>
        <p:spPr>
          <a:xfrm>
            <a:off x="8201025" y="3981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4AB27A6E-C387-41CA-9C2A-2CBB6187E8E5}"/>
              </a:ext>
            </a:extLst>
          </p:cNvPr>
          <p:cNvSpPr>
            <a:spLocks noGrp="1"/>
          </p:cNvSpPr>
          <p:nvPr/>
        </p:nvSpPr>
        <p:spPr>
          <a:xfrm>
            <a:off x="8201025" y="4191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월간 검토 자료로 사용·개선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55788E16-A965-455B-8782-094A0D51A3B2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0"/>
          </a:xfrm>
          <a:prstGeom prst="line">
            <a:avLst/>
          </a:prstGeom>
          <a:ln w="7620">
            <a:solidFill>
              <a:srgbClr val="F0BB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80E0F96D-3CF5-4D2E-A427-0A85F62395DA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FA7D38D-B2F2-430C-959B-1279F5BB0E2A}"/>
              </a:ext>
            </a:extLst>
          </p:cNvPr>
          <p:cNvSpPr>
            <a:spLocks noGrp="1"/>
          </p:cNvSpPr>
          <p:nvPr/>
        </p:nvSpPr>
        <p:spPr>
          <a:xfrm>
            <a:off x="1819275" y="54578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2026-04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시범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배포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~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D69DD052-F6F6-41CF-ACE0-4EB13A84EE27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ACEF84D0-9FAC-4728-B411-B157529A1FAF}"/>
              </a:ext>
            </a:extLst>
          </p:cNvPr>
          <p:cNvSpPr>
            <a:spLocks noGrp="1"/>
          </p:cNvSpPr>
          <p:nvPr/>
        </p:nvSpPr>
        <p:spPr>
          <a:xfrm>
            <a:off x="1819275" y="57435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기획·데이터 설계·개발·배포, 운영 피드백 반영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1D5CA92C-427D-4D56-8EBF-08699418D150}"/>
              </a:ext>
            </a:extLst>
          </p:cNvPr>
          <p:cNvSpPr>
            <a:spLocks noGrp="1"/>
          </p:cNvSpPr>
          <p:nvPr/>
        </p:nvSpPr>
        <p:spPr>
          <a:xfrm>
            <a:off x="609600" y="60293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BD60A349-3234-48FE-ADA6-8176E46069CB}"/>
              </a:ext>
            </a:extLst>
          </p:cNvPr>
          <p:cNvSpPr>
            <a:spLocks noGrp="1"/>
          </p:cNvSpPr>
          <p:nvPr/>
        </p:nvSpPr>
        <p:spPr>
          <a:xfrm>
            <a:off x="1819275" y="60293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SCM 팀원과 자료·사용 흐름 확인 / 담당자 발주안 작성 / 팀장 협의·승인</a:t>
            </a:r>
          </a:p>
        </p:txBody>
      </p:sp>
      <p:sp>
        <p:nvSpPr>
          <p:cNvPr id="33" name="text-32">
            <a:extLst>
              <a:ext uri="{FF2B5EF4-FFF2-40B4-BE49-F238E27FC236}">
                <a16:creationId xmlns:a16="http://schemas.microsoft.com/office/drawing/2014/main" id="{2056C305-2417-422C-B04A-31DC3BBE3857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실무 적용</a:t>
            </a:r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2617CAB5-71DB-4477-B7CA-B88350E032A1}"/>
              </a:ext>
            </a:extLst>
          </p:cNvPr>
          <p:cNvSpPr>
            <a:spLocks noGrp="1"/>
          </p:cNvSpPr>
          <p:nvPr/>
        </p:nvSpPr>
        <p:spPr>
          <a:xfrm>
            <a:off x="1819275" y="63150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2026-04~08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월간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공급사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검토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5회에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취합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자료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8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활용</a:t>
            </a:r>
            <a:endParaRPr sz="93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26581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57A9944A-C3DC-4109-97A5-51EF54416637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ECD43C9-CEC3-49D7-AEF3-6760ED50501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C3E1F38-0791-4884-A8A1-11E57A1E9FE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자료를 모으기 전에 숫자의 의미부터 맞췄습니다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F71E022-E488-4BB4-A188-7CA393F8771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판매량과 재고 감소량이 달라지는 업무를 구분하고, 발주 검토에 필요한 집계 기준을 정했습니다.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1781175"/>
          <a:ext cx="10972800" cy="2657475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실무에서 확인한 차이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정한 집계·조회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판매실적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매출에 잡히는 판매 수량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추이를 확인할 때 사용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출고량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교환·영업용 사용도 재고를 감소시킴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판매와 구분해 실제 출고량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현재고·입고계획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창고와 유통기한에 따라 가용 재고가 달라짐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창고·기한별 재고와 입고예정 자료 조회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66A95C1-A08C-428A-BD98-E4788DD7A289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200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기존 취합에서 발생한 부담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16E81F6-830E-4B6F-BC6C-EEC999D151F5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52673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담당자 1명이 매월 약 6~12시간 사용</a:t>
            </a:r>
          </a:p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자료를 합치는 과정에서 값 오류 보통 2~3건 발생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6D6BF9C-BFE6-4020-9121-39572CFAA85C}"/>
              </a:ext>
            </a:extLst>
          </p:cNvPr>
          <p:cNvSpPr>
            <a:spLocks noGrp="1"/>
          </p:cNvSpPr>
          <p:nvPr/>
        </p:nvSpPr>
        <p:spPr>
          <a:xfrm>
            <a:off x="6334125" y="4838700"/>
            <a:ext cx="5248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먼저 맞춘 데이터의 기준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8C8F71C0-6760-4505-9B1D-2B012EB7D64A}"/>
              </a:ext>
            </a:extLst>
          </p:cNvPr>
          <p:cNvSpPr>
            <a:spLocks noGrp="1"/>
          </p:cNvSpPr>
          <p:nvPr/>
        </p:nvSpPr>
        <p:spPr>
          <a:xfrm>
            <a:off x="6334125" y="5238750"/>
            <a:ext cx="52482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판매실적과 교환·영업용 사용을 포함한 출고량을 구분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 합계와 함께 창고·유통기한별 재고를 확인</a:t>
            </a:r>
          </a:p>
        </p:txBody>
      </p:sp>
    </p:spTree>
    <p:extLst>
      <p:ext uri="{BB962C8B-B14F-4D97-AF65-F5344CB8AC3E}">
        <p14:creationId xmlns:p14="http://schemas.microsoft.com/office/powerpoint/2010/main" val="103373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5EB53FE3-FF2C-409B-9EE4-0674F2200DA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5143C5F-75E1-4253-B21C-E4B8C05E22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D8922D2-B928-4B5F-859E-B801EED76CC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취합부터 발주 검토까지 범위를 정했습니다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083BB25-8C4C-4E6D-AA36-1A66A277C02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Excel 자료를 저장·집계하는 흐름을 구현하고, 발주안을 정할 때 담당자가 확인할 조건을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E9E3678-9C94-4DFE-AE19-80DEE8F7EE1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구현한 자료 처리 흐름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806C66-FF6D-459C-86C2-342230554206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3555AF-A6F9-40AA-99F4-4840033144D8}"/>
              </a:ext>
            </a:extLst>
          </p:cNvPr>
          <p:cNvSpPr>
            <a:spLocks noGrp="1"/>
          </p:cNvSpPr>
          <p:nvPr/>
        </p:nvSpPr>
        <p:spPr>
          <a:xfrm>
            <a:off x="1190625" y="22288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입력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253A6E4-985E-4453-BE60-B16E4B35F26D}"/>
              </a:ext>
            </a:extLst>
          </p:cNvPr>
          <p:cNvSpPr>
            <a:spLocks noGrp="1"/>
          </p:cNvSpPr>
          <p:nvPr/>
        </p:nvSpPr>
        <p:spPr>
          <a:xfrm>
            <a:off x="2771775" y="226695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판매·출고·재고·입고계획 업로드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710709-B772-4EAE-96F1-1A5321586E26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5C1791E-2B7A-433F-9C2E-DEB705405010}"/>
              </a:ext>
            </a:extLst>
          </p:cNvPr>
          <p:cNvSpPr>
            <a:spLocks noGrp="1"/>
          </p:cNvSpPr>
          <p:nvPr/>
        </p:nvSpPr>
        <p:spPr>
          <a:xfrm>
            <a:off x="1190625" y="29622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저장·집계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EC90658E-3F23-4363-AE17-8A4417104EA2}"/>
              </a:ext>
            </a:extLst>
          </p:cNvPr>
          <p:cNvSpPr>
            <a:spLocks noGrp="1"/>
          </p:cNvSpPr>
          <p:nvPr/>
        </p:nvSpPr>
        <p:spPr>
          <a:xfrm>
            <a:off x="2771775" y="300037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데이터를 DB에 저장하고 취합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44CE24E-BD5F-4F36-9932-D75EFB1B881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83A9D591-5E73-4A52-B82B-03ABCD905860}"/>
              </a:ext>
            </a:extLst>
          </p:cNvPr>
          <p:cNvSpPr>
            <a:spLocks noGrp="1"/>
          </p:cNvSpPr>
          <p:nvPr/>
        </p:nvSpPr>
        <p:spPr>
          <a:xfrm>
            <a:off x="1190625" y="36957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확인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3F1BEA3-3B27-41FD-A164-5F001EF45329}"/>
              </a:ext>
            </a:extLst>
          </p:cNvPr>
          <p:cNvSpPr>
            <a:spLocks noGrp="1"/>
          </p:cNvSpPr>
          <p:nvPr/>
        </p:nvSpPr>
        <p:spPr>
          <a:xfrm>
            <a:off x="2771775" y="373380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상품·창고·유통기한별 재고 조회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324501-F2C4-4AC7-9072-ED603F613E66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574601-34C2-447E-815A-494F74AE6D96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발주 검토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24499E4D-4BC2-41BB-8BB3-D76F4B95648F}"/>
              </a:ext>
            </a:extLst>
          </p:cNvPr>
          <p:cNvSpPr>
            <a:spLocks noGrp="1"/>
          </p:cNvSpPr>
          <p:nvPr/>
        </p:nvSpPr>
        <p:spPr>
          <a:xfrm>
            <a:off x="2771775" y="446722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가정에 따른 재고 시나리오 확인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E69EB19-CA70-4B1D-8169-810D1BDB52C8}"/>
              </a:ext>
            </a:extLst>
          </p:cNvPr>
          <p:cNvSpPr>
            <a:spLocks noGrp="1"/>
          </p:cNvSpPr>
          <p:nvPr/>
        </p:nvSpPr>
        <p:spPr>
          <a:xfrm>
            <a:off x="6257925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발주 판단에 남긴 확인 기준</a:t>
            </a:r>
          </a:p>
        </p:txBody>
      </p:sp>
      <p:graphicFrame>
        <p:nvGraphicFramePr>
          <p:cNvPr id="40" name="표 39"/>
          <p:cNvGraphicFramePr/>
          <p:nvPr/>
        </p:nvGraphicFramePr>
        <p:xfrm>
          <a:off x="6257925" y="2190750"/>
          <a:ext cx="5324475" cy="2638425"/>
        </p:xfrm>
        <a:graphic>
          <a:graphicData uri="http://schemas.openxmlformats.org/drawingml/2006/table">
            <a:tbl>
              <a:tblPr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검토 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담당자가 확인할 내용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세일즈 전망 · 리드타임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전망과 입고 시점을 함께 검토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목표재고 · MOQ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확보할 재고와 최소주문수량 검토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현금흐름 ·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 영향을 확인하고 팀장과 협의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EE8BD00-8830-43E8-89B2-C07A552628E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466725"/>
          </a:xfrm>
          <a:prstGeom prst="roundRect">
            <a:avLst>
              <a:gd name="adj" fmla="val 1020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Excel 업로드  →  자동 취합·조회  →  담당자 발주안  →  팀장 협의·승인</a:t>
            </a:r>
          </a:p>
        </p:txBody>
      </p:sp>
    </p:spTree>
    <p:extLst>
      <p:ext uri="{BB962C8B-B14F-4D97-AF65-F5344CB8AC3E}">
        <p14:creationId xmlns:p14="http://schemas.microsoft.com/office/powerpoint/2010/main" val="51635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98DBBB4B-9BDE-4283-8E91-F6C22E143E6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FF1600C-4A4B-49F2-9703-4E76644657E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A557955-2C2E-4921-98DC-C2C24D373B4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창고·유통기한별 재고를 한 화면에서 확인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8498C38-2A7E-4F03-811B-820902A1DE4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상품별 합계에서 필요한 재고를 다시 찾는 부담을 줄이도록, 창고와 유통기한을 함께 조회하게 했습니다.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D1754F9C-AB0E-44D5-8AC0-5F6686C18CCD}"/>
              </a:ext>
            </a:extLst>
          </p:cNvPr>
          <p:cNvSpPr>
            <a:spLocks noGrp="1"/>
          </p:cNvSpPr>
          <p:nvPr/>
        </p:nvSpPr>
        <p:spPr>
          <a:xfrm>
            <a:off x="609600" y="1765300"/>
            <a:ext cx="109728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Excel 업로드와 창고별 현재고 조회</a:t>
            </a:r>
          </a:p>
        </p:txBody>
      </p:sp>
      <p:pic>
        <p:nvPicPr>
          <p:cNvPr id="1001" name="SCM sample screenshot 14" descr="창고·유통기한별 재고 조회. 격리 앱에서 합성 데이터로 실행한 샘플 화면."/>
          <p:cNvPicPr>
            <a:picLocks noChangeAspect="1"/>
          </p:cNvPicPr>
          <p:nvPr/>
        </p:nvPicPr>
        <p:blipFill>
          <a:blip r:embed="rId3"/>
          <a:srcRect l="20811" t="22114" r="3826" b="49187"/>
          <a:stretch>
            <a:fillRect/>
          </a:stretch>
        </p:blipFill>
        <p:spPr>
          <a:xfrm>
            <a:off x="609600" y="2235200"/>
            <a:ext cx="10972800" cy="393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0">
            <a:extLst>
              <a:ext uri="{FF2B5EF4-FFF2-40B4-BE49-F238E27FC236}">
                <a16:creationId xmlns:a16="http://schemas.microsoft.com/office/drawing/2014/main" id="{067C1031-04F0-48A1-BD9C-D23F1C5D2641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A9AF98B-F7C4-472D-A405-B855EFBF483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393110-2F90-452B-8264-7F2B872454F3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가중치 시나리오를 발주 검토에 활용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4C092DD-08AA-440B-971E-5D3EE2606A6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담당자가 설정한 가정으로 재고를 검토하고, 실제 발주안은 사업 조건을 함께 확인한 뒤 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C74968D-C2A3-40F8-B3C9-3D2365243719}"/>
              </a:ext>
            </a:extLst>
          </p:cNvPr>
          <p:cNvSpPr>
            <a:spLocks noGrp="1"/>
          </p:cNvSpPr>
          <p:nvPr/>
        </p:nvSpPr>
        <p:spPr>
          <a:xfrm>
            <a:off x="609600" y="1739900"/>
            <a:ext cx="3467100" cy="317500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가정 설정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76B8BD-5F6B-42CD-A6E6-40C1B46DCC26}"/>
              </a:ext>
            </a:extLst>
          </p:cNvPr>
          <p:cNvSpPr>
            <a:spLocks noGrp="1"/>
          </p:cNvSpPr>
          <p:nvPr/>
        </p:nvSpPr>
        <p:spPr>
          <a:xfrm>
            <a:off x="609600" y="2108200"/>
            <a:ext cx="3467100" cy="4572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가중치와 발주 수량 설정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2289553-EB97-45D8-8F80-FA24FB5A8450}"/>
              </a:ext>
            </a:extLst>
          </p:cNvPr>
          <p:cNvSpPr>
            <a:spLocks noGrp="1"/>
          </p:cNvSpPr>
          <p:nvPr/>
        </p:nvSpPr>
        <p:spPr>
          <a:xfrm>
            <a:off x="4124325" y="21971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F60F8-28F2-435C-9113-F3FC16EF7DFA}"/>
              </a:ext>
            </a:extLst>
          </p:cNvPr>
          <p:cNvSpPr>
            <a:spLocks noGrp="1"/>
          </p:cNvSpPr>
          <p:nvPr/>
        </p:nvSpPr>
        <p:spPr>
          <a:xfrm>
            <a:off x="4362450" y="1739900"/>
            <a:ext cx="3467100" cy="317500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 검토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8E28D2-B78C-4DE8-BAFE-9AC88A0EC84E}"/>
              </a:ext>
            </a:extLst>
          </p:cNvPr>
          <p:cNvSpPr>
            <a:spLocks noGrp="1"/>
          </p:cNvSpPr>
          <p:nvPr/>
        </p:nvSpPr>
        <p:spPr>
          <a:xfrm>
            <a:off x="4362450" y="2108200"/>
            <a:ext cx="3467100" cy="4572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가정에 따른 재고 변화를 확인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F8B5597-D4E1-4A64-ABCF-EFF30D0CEA60}"/>
              </a:ext>
            </a:extLst>
          </p:cNvPr>
          <p:cNvSpPr>
            <a:spLocks noGrp="1"/>
          </p:cNvSpPr>
          <p:nvPr/>
        </p:nvSpPr>
        <p:spPr>
          <a:xfrm>
            <a:off x="7877175" y="21971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575A30-7CF2-4111-BCF7-B75788C65A6A}"/>
              </a:ext>
            </a:extLst>
          </p:cNvPr>
          <p:cNvSpPr>
            <a:spLocks noGrp="1"/>
          </p:cNvSpPr>
          <p:nvPr/>
        </p:nvSpPr>
        <p:spPr>
          <a:xfrm>
            <a:off x="8115300" y="1739900"/>
            <a:ext cx="3467100" cy="317500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발주안·승인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2575888-42E8-4813-B80F-C3988103B6E0}"/>
              </a:ext>
            </a:extLst>
          </p:cNvPr>
          <p:cNvSpPr>
            <a:spLocks noGrp="1"/>
          </p:cNvSpPr>
          <p:nvPr/>
        </p:nvSpPr>
        <p:spPr>
          <a:xfrm>
            <a:off x="8115300" y="2108200"/>
            <a:ext cx="3467100" cy="4572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세일즈 전망·납기·자금 조건 검토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9EA35E0-24C7-42D6-B554-7B3605FAB85F}"/>
              </a:ext>
            </a:extLst>
          </p:cNvPr>
          <p:cNvSpPr>
            <a:spLocks noGrp="1"/>
          </p:cNvSpPr>
          <p:nvPr/>
        </p:nvSpPr>
        <p:spPr>
          <a:xfrm>
            <a:off x="609600" y="2717800"/>
            <a:ext cx="109728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담당자가 직접 조정하는 검토 화면</a:t>
            </a:r>
          </a:p>
        </p:txBody>
      </p:sp>
      <p:pic>
        <p:nvPicPr>
          <p:cNvPr id="1001" name="SCM sample screenshot 15" descr="발주 검토 가중치와 수량 설정. 담당자 가정에 따른 시나리오 샘플 화면."/>
          <p:cNvPicPr>
            <a:picLocks noChangeAspect="1"/>
          </p:cNvPicPr>
          <p:nvPr/>
        </p:nvPicPr>
        <p:blipFill>
          <a:blip r:embed="rId3"/>
          <a:srcRect l="20811" t="11301" r="3826" b="63333"/>
          <a:stretch>
            <a:fillRect/>
          </a:stretch>
        </p:blipFill>
        <p:spPr>
          <a:xfrm>
            <a:off x="1204468" y="3124200"/>
            <a:ext cx="9783064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21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22560CF5-7FD2-414D-97B1-B3E861E1E0D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D519173-280C-4D15-B04A-2E4CD6BC1D5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41E92C0-95A9-4B17-9775-5984C771D45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기존 시트와 병행하며 팀의 사용 방식에 맞췄습니다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064117-0493-4E0F-92FD-FBCC3464D060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약 2개월 동안 업로드 결과를 기존 자료와 대조하고, 팀원들의 확인 순서와 사용 의견을 반영했습니다.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C4F4521-2F1F-4817-9DAE-7B4999E7F1E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시범 배포에서 월간 검토 기준 자료로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DCEE7C-5E02-4D7F-8565-A68760A59D36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4762500" cy="95250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2026-04  시범 배포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시트와 대시보드 결과를 병행 확인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08EEDE-73CD-408E-98EA-B5798A2E21D7}"/>
              </a:ext>
            </a:extLst>
          </p:cNvPr>
          <p:cNvSpPr>
            <a:spLocks noGrp="1"/>
          </p:cNvSpPr>
          <p:nvPr/>
        </p:nvSpPr>
        <p:spPr>
          <a:xfrm>
            <a:off x="5734050" y="25336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A53D2-CFA0-49E1-BB57-4C03DFE2C92C}"/>
              </a:ext>
            </a:extLst>
          </p:cNvPr>
          <p:cNvSpPr>
            <a:spLocks noGrp="1"/>
          </p:cNvSpPr>
          <p:nvPr/>
        </p:nvSpPr>
        <p:spPr>
          <a:xfrm>
            <a:off x="6248400" y="2200275"/>
            <a:ext cx="53340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2026-06  실무 기준 자료로 사용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월간 발주 검토에 필요한 자료를 대시보드로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2390FAFE-E34B-4626-943A-266656EDEEC6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익숙한 자료와 결과를 비교할 수 있게 하고, 실제로 사용하는 동료들의 의견을 받아 개선했습니다.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B35024D2-B7D4-4806-BBD9-531816407759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검증과 협업에서 확인한 기준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609600" y="4457700"/>
          <a:ext cx="10972800" cy="120967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대조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의견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개선 반영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실무 적용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시트와 업로드 결과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팀원의 자료 확인 순서 파악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조회·확인 흐름을 의견에 맞춰 개선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공급사 발주 검토에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-10">
            <a:extLst>
              <a:ext uri="{FF2B5EF4-FFF2-40B4-BE49-F238E27FC236}">
                <a16:creationId xmlns:a16="http://schemas.microsoft.com/office/drawing/2014/main" id="{1FD618CF-C546-445C-915B-62DAC738A0E6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적용 기준  취합 결과의 일치와 동료의 자료 확인 흐름을 함께 확인하며 운영에 반영했습니다.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9137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2C8FF70E-0FE5-490F-998D-1DACBDB381D6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DC0004-96B6-4A02-93FD-87EC386397B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846630D-FCA8-473F-85DD-8F278BCC469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취합 시간을 줄이고, 결과의 범위를 확인했습니다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A154F35-8B20-4844-A47A-DC98F7F41FA9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업로드와 검토에 드는 시간, 취합 과정 오류, 실제 발주 검토 활용을 나누어 확인했습니다.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09600" y="1790700"/>
          <a:ext cx="10972800" cy="14668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취합 시간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과정 오류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발주 검토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6~12시간 → 1시간 이내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 1명 · 업로드와 결과 검토 포함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전 보통 2~3건 → 관찰 중 0건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후 약 3개월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2026-04~08 총 5회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2026-06부터 기준 자료로 사용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4709A53F-8DE6-4FEA-B403-D408E1C7C07A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실무 적용과 결과를 읽는 기준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4124325"/>
          <a:ext cx="10972800" cy="1952625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확인한 내용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해석 범위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효율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자료를 다시 합치는 작업 감소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시간은 자료 업로드·결과 검토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검증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대시보드 취합 과정 오류 0건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원천 자료의 양식·내용 오류와 구분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발주 의사결정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 검토와 팀장 협의·승인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 시나리오는 담당자가 설정한 가정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836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4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18 / 24</a:t>
            </a:r>
            <a:endParaRPr sz="788" b="0">
              <a:solidFill>
                <a:srgbClr val="A4C7E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03.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규제 대응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관세법 개정 대응, ERP·통관 연동 기획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관련 요건 강화에 대응해,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채널 주문부터 ERP·WMS·통관까지 처리 흐름을 조율했습니다.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457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4C7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~ 2026-08-28 / 신규 연동과 기존 통관 방식 병행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67C173-A01F-A8B3-4107-DC4D6E782930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기획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조율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검증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본인 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/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각 시스템 구현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해당 개발사</a:t>
            </a:r>
          </a:p>
        </p:txBody>
      </p:sp>
    </p:spTree>
    <p:extLst>
      <p:ext uri="{BB962C8B-B14F-4D97-AF65-F5344CB8AC3E}">
        <p14:creationId xmlns:p14="http://schemas.microsoft.com/office/powerpoint/2010/main" val="407991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noGrp="1"/>
          </p:cNvSpPr>
          <p:nvPr/>
        </p:nvSpPr>
        <p:spPr>
          <a:xfrm>
            <a:off x="2457450" y="22002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noGrp="1"/>
          </p:cNvSpPr>
          <p:nvPr/>
        </p:nvSpPr>
        <p:spPr>
          <a:xfrm>
            <a:off x="2457450" y="28098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noGrp="1"/>
          </p:cNvSpPr>
          <p:nvPr/>
        </p:nvSpPr>
        <p:spPr>
          <a:xfrm>
            <a:off x="2457450" y="40290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noGrp="1"/>
          </p:cNvSpPr>
          <p:nvPr/>
        </p:nvSpPr>
        <p:spPr>
          <a:xfrm>
            <a:off x="6629400" y="215265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noGrp="1"/>
          </p:cNvSpPr>
          <p:nvPr/>
        </p:nvSpPr>
        <p:spPr>
          <a:xfrm>
            <a:off x="6629400" y="2924175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1076325"/>
          </a:xfrm>
          <a:prstGeom prst="roundRect">
            <a:avLst>
              <a:gd name="adj" fmla="val 5310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noGrp="1"/>
          </p:cNvSpPr>
          <p:nvPr/>
        </p:nvSpPr>
        <p:spPr>
          <a:xfrm>
            <a:off x="800100" y="5153025"/>
            <a:ext cx="1276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9144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417049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-0">
            <a:extLst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229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2686050"/>
          </a:xfrm>
          <a:prstGeom prst="roundRect">
            <a:avLst>
              <a:gd name="adj" fmla="val 2482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5295900" cy="2686050"/>
          </a:xfrm>
          <a:prstGeom prst="roundRect">
            <a:avLst>
              <a:gd name="adj" fmla="val 2482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noGrp="1"/>
          </p:cNvSpPr>
          <p:nvPr/>
        </p:nvSpPr>
        <p:spPr>
          <a:xfrm>
            <a:off x="847725" y="2914650"/>
            <a:ext cx="1628775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noGrp="1"/>
          </p:cNvSpPr>
          <p:nvPr/>
        </p:nvSpPr>
        <p:spPr>
          <a:xfrm>
            <a:off x="3286125" y="235267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noGrp="1"/>
          </p:cNvSpPr>
          <p:nvPr/>
        </p:nvSpPr>
        <p:spPr>
          <a:xfrm>
            <a:off x="2476500" y="3171825"/>
            <a:ext cx="3810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0" cy="9715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noGrp="1"/>
          </p:cNvSpPr>
          <p:nvPr/>
        </p:nvSpPr>
        <p:spPr>
          <a:xfrm>
            <a:off x="3105150" y="3581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46386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noGrp="1"/>
          </p:cNvSpPr>
          <p:nvPr/>
        </p:nvSpPr>
        <p:spPr>
          <a:xfrm>
            <a:off x="6562725" y="243840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noGrp="1"/>
          </p:cNvSpPr>
          <p:nvPr/>
        </p:nvSpPr>
        <p:spPr>
          <a:xfrm>
            <a:off x="6562725" y="333375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noGrp="1"/>
          </p:cNvSpPr>
          <p:nvPr/>
        </p:nvSpPr>
        <p:spPr>
          <a:xfrm>
            <a:off x="8524875" y="273367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noGrp="1"/>
          </p:cNvSpPr>
          <p:nvPr/>
        </p:nvSpPr>
        <p:spPr>
          <a:xfrm>
            <a:off x="8524875" y="362902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noGrp="1"/>
          </p:cNvSpPr>
          <p:nvPr/>
        </p:nvSpPr>
        <p:spPr>
          <a:xfrm>
            <a:off x="8839200" y="2733675"/>
            <a:ext cx="0" cy="8953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noGrp="1"/>
          </p:cNvSpPr>
          <p:nvPr/>
        </p:nvSpPr>
        <p:spPr>
          <a:xfrm>
            <a:off x="8839200" y="3238500"/>
            <a:ext cx="2286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noGrp="1"/>
          </p:cNvSpPr>
          <p:nvPr/>
        </p:nvSpPr>
        <p:spPr>
          <a:xfrm>
            <a:off x="9039225" y="31051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1981200" cy="1152525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609600" y="4981575"/>
          <a:ext cx="10972800" cy="129540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77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noGrp="1"/>
          </p:cNvSpPr>
          <p:nvPr/>
        </p:nvSpPr>
        <p:spPr>
          <a:xfrm>
            <a:off x="417195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noGrp="1"/>
          </p:cNvSpPr>
          <p:nvPr/>
        </p:nvSpPr>
        <p:spPr>
          <a:xfrm>
            <a:off x="436245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noGrp="1"/>
          </p:cNvSpPr>
          <p:nvPr/>
        </p:nvSpPr>
        <p:spPr>
          <a:xfrm>
            <a:off x="792480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4276725"/>
          <a:ext cx="10972800" cy="157162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3927529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0">
            <a:extLst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noGrp="1"/>
          </p:cNvSpPr>
          <p:nvPr/>
        </p:nvSpPr>
        <p:spPr>
          <a:xfrm>
            <a:off x="32289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noGrp="1"/>
          </p:cNvSpPr>
          <p:nvPr/>
        </p:nvSpPr>
        <p:spPr>
          <a:xfrm>
            <a:off x="33909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noGrp="1"/>
          </p:cNvSpPr>
          <p:nvPr/>
        </p:nvSpPr>
        <p:spPr>
          <a:xfrm>
            <a:off x="60102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noGrp="1"/>
          </p:cNvSpPr>
          <p:nvPr/>
        </p:nvSpPr>
        <p:spPr>
          <a:xfrm>
            <a:off x="61722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noGrp="1"/>
          </p:cNvSpPr>
          <p:nvPr/>
        </p:nvSpPr>
        <p:spPr>
          <a:xfrm>
            <a:off x="91059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noGrp="1"/>
          </p:cNvSpPr>
          <p:nvPr/>
        </p:nvSpPr>
        <p:spPr>
          <a:xfrm>
            <a:off x="436245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noGrp="1"/>
          </p:cNvSpPr>
          <p:nvPr/>
        </p:nvSpPr>
        <p:spPr>
          <a:xfrm>
            <a:off x="81153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noGrp="1"/>
          </p:cNvSpPr>
          <p:nvPr/>
        </p:nvSpPr>
        <p:spPr>
          <a:xfrm>
            <a:off x="82486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3584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2AD8618F-D2FC-461C-97DC-6ADCAA0B4E7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6DDCBA-655E-418B-BCD8-FD9C0D23F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2C730DA-86FB-46E3-A3EF-6CBF2860305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정상·오류·재제출 시나리오를 검증했습니다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050499D-8935-4F6A-B5DB-2C19CF9701D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운영환경의 기대 결과 검증과, 신규·기존 방식이 함께 사용된 주문 집계 결과를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A9E044B-2B04-4723-8E66-77E987B02026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9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테스트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1FAD52-723A-42F0-AD2C-F28C6430186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4C4491B-226F-4F40-A294-A25EBE3A9521}"/>
              </a:ext>
            </a:extLst>
          </p:cNvPr>
          <p:cNvSpPr>
            <a:spLocks noGrp="1"/>
          </p:cNvSpPr>
          <p:nvPr/>
        </p:nvSpPr>
        <p:spPr>
          <a:xfrm>
            <a:off x="1228725" y="225742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7460801-BD9B-4B9F-9FC4-736BBA595494}"/>
              </a:ext>
            </a:extLst>
          </p:cNvPr>
          <p:cNvSpPr>
            <a:spLocks noGrp="1"/>
          </p:cNvSpPr>
          <p:nvPr/>
        </p:nvSpPr>
        <p:spPr>
          <a:xfrm>
            <a:off x="2733675" y="231457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요청의 접수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8B32D6-7E90-43D6-A3A1-CA7B71E6F126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9646F69-9BF8-4519-964E-451A2A8BB388}"/>
              </a:ext>
            </a:extLst>
          </p:cNvPr>
          <p:cNvSpPr>
            <a:spLocks noGrp="1"/>
          </p:cNvSpPr>
          <p:nvPr/>
        </p:nvSpPr>
        <p:spPr>
          <a:xfrm>
            <a:off x="1228725" y="2914650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5E8A516-B000-4D07-9B63-B08E665F2D24}"/>
              </a:ext>
            </a:extLst>
          </p:cNvPr>
          <p:cNvSpPr>
            <a:spLocks noGrp="1"/>
          </p:cNvSpPr>
          <p:nvPr/>
        </p:nvSpPr>
        <p:spPr>
          <a:xfrm>
            <a:off x="2733675" y="2971800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조건에서 기대한 응답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90CC4BA-3DE1-45EC-96AC-00A6E743DC9F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E4F930D-9A24-4160-A057-A791FC395EA3}"/>
              </a:ext>
            </a:extLst>
          </p:cNvPr>
          <p:cNvSpPr>
            <a:spLocks noGrp="1"/>
          </p:cNvSpPr>
          <p:nvPr/>
        </p:nvSpPr>
        <p:spPr>
          <a:xfrm>
            <a:off x="1228725" y="357187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570F3BCD-9193-4322-9BBC-A880B6C93AAD}"/>
              </a:ext>
            </a:extLst>
          </p:cNvPr>
          <p:cNvSpPr>
            <a:spLocks noGrp="1"/>
          </p:cNvSpPr>
          <p:nvPr/>
        </p:nvSpPr>
        <p:spPr>
          <a:xfrm>
            <a:off x="2733675" y="362902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원천 보완 후 다시 제출해 성공 확인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5C8FFDC-5D2C-4280-9466-1562B2439639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295900" cy="1990725"/>
          </a:xfrm>
          <a:prstGeom prst="roundRect">
            <a:avLst>
              <a:gd name="adj" fmla="val 2871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27DED97-85E9-4430-BDBA-B455337F004C}"/>
              </a:ext>
            </a:extLst>
          </p:cNvPr>
          <p:cNvSpPr>
            <a:spLocks noGrp="1"/>
          </p:cNvSpPr>
          <p:nvPr/>
        </p:nvSpPr>
        <p:spPr>
          <a:xfrm>
            <a:off x="6591300" y="2047875"/>
            <a:ext cx="4667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 / 30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3B23F281-FE9B-4B27-8114-04AA0F254132}"/>
              </a:ext>
            </a:extLst>
          </p:cNvPr>
          <p:cNvSpPr>
            <a:spLocks noGrp="1"/>
          </p:cNvSpPr>
          <p:nvPr/>
        </p:nvSpPr>
        <p:spPr>
          <a:xfrm>
            <a:off x="6581775" y="2943225"/>
            <a:ext cx="46863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 30건 · 테스트 목적 통과</a:t>
            </a:r>
          </a:p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의도 오류를 포함한 검증으로, 전건 정상 신고 성공과 구분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81D78EE-41C6-44F1-AE94-42C70D27C68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C46F10EA-19FA-4083-8BFA-5161E10C36D3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5276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집계 기간의 운영 결과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1E6DC900-775C-43AA-B908-9C6E90EF8A3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276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일평균 약 300건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9317C88-9EF1-4254-ADB6-198E917B5A5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52768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2026-08-28 ~ 2026-09-15 집계</a:t>
            </a:r>
          </a:p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자사몰 약 230건 · 외부 채널 약 70건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7A1140DE-5ECA-408D-A10C-B64075798E37}"/>
              </a:ext>
            </a:extLst>
          </p:cNvPr>
          <p:cNvSpPr>
            <a:spLocks noGrp="1"/>
          </p:cNvSpPr>
          <p:nvPr/>
        </p:nvSpPr>
        <p:spPr>
          <a:xfrm>
            <a:off x="6286500" y="4772025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 완료 범위와 후속 보완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E18CCDEB-86E1-44A4-94FA-2703D950B74C}"/>
              </a:ext>
            </a:extLst>
          </p:cNvPr>
          <p:cNvSpPr>
            <a:spLocks noGrp="1"/>
          </p:cNvSpPr>
          <p:nvPr/>
        </p:nvSpPr>
        <p:spPr>
          <a:xfrm>
            <a:off x="6286500" y="5172075"/>
            <a:ext cx="5295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주문은 전체 통관 완료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연동과 기존 방식이 함께 사용된 운영 결과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98427010-96CD-43FE-916A-751A4007747A}"/>
              </a:ext>
            </a:extLst>
          </p:cNvPr>
          <p:cNvSpPr>
            <a:spLocks noGrp="1"/>
          </p:cNvSpPr>
          <p:nvPr/>
        </p:nvSpPr>
        <p:spPr>
          <a:xfrm>
            <a:off x="6286500" y="590550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주문의 출고 보류·정보 보완·재처리를 관리</a:t>
            </a:r>
          </a:p>
        </p:txBody>
      </p:sp>
    </p:spTree>
    <p:extLst>
      <p:ext uri="{BB962C8B-B14F-4D97-AF65-F5344CB8AC3E}">
        <p14:creationId xmlns:p14="http://schemas.microsoft.com/office/powerpoint/2010/main" val="47651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434F6B-A35B-4935-A0A0-DF071F6E7B47}"/>
              </a:ext>
            </a:extLst>
          </p:cNvPr>
          <p:cNvSpPr>
            <a:spLocks noGrp="1"/>
          </p:cNvSpPr>
          <p:nvPr/>
        </p:nvSpPr>
        <p:spPr>
          <a:xfrm>
            <a:off x="8296275" y="0"/>
            <a:ext cx="3895725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D2D2339-9FC6-479A-AD36-340E9EC8090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580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 구체적인 기준으로 바꾸고,</a:t>
            </a:r>
          </a:p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확인한 결과로 다음 판단을 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D27BF12-2AC2-47E3-907F-F3ADD1B075FF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6638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세 프로젝트에서 보여드린 일하는 방식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FEF3C7E-A232-4FB2-B6C2-1E93389E5309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0BBC360-1E82-4991-9637-D7CE9C1DACC9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먼저 바꿀 범위와 제외할 일을 정합니다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90F8981-9ACF-474F-AF28-8AF070D63833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B2B몰의 도입 범위를 선택하고, 발주 검토에 필요한 자료의 취합 흐름을 구현했습니다.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92FD025-7487-4442-A4B7-4B1921B6F060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2EFFD22-D686-4B91-AA03-68A8A370E911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사용자와 운영자의 예외를 정책으로 구체화합니다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15A60643-3249-4E58-BD4A-A61EC088719A}"/>
              </a:ext>
            </a:extLst>
          </p:cNvPr>
          <p:cNvSpPr>
            <a:spLocks noGrp="1"/>
          </p:cNvSpPr>
          <p:nvPr/>
        </p:nvSpPr>
        <p:spPr>
          <a:xfrm>
            <a:off x="990600" y="45815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카테고리 혼합주문, 판매와 출고의 구분, 주문·포장의 처리 단위를 정의했습니다.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6AE9A629-B063-4052-AC5B-CACB4ACBF0E7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58697EC-C7A7-4F37-8C29-296DAE07866A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검증하고, 동료의 사용 방식에 맞춥니다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CB7A3C1A-6438-4720-AE8A-7C1C970549D1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화면과 오류 복구를 검수하고, 대시보드는 기존 시트와 대조하며 개선했습니다.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C498E2B-E9F2-400E-B7BC-5B3ABB6E5A9E}"/>
              </a:ext>
            </a:extLst>
          </p:cNvPr>
          <p:cNvSpPr>
            <a:spLocks noGrp="1"/>
          </p:cNvSpPr>
          <p:nvPr/>
        </p:nvSpPr>
        <p:spPr>
          <a:xfrm>
            <a:off x="849630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18280621-A425-42EC-905C-B93B11112ABE}"/>
              </a:ext>
            </a:extLst>
          </p:cNvPr>
          <p:cNvSpPr>
            <a:spLocks noGrp="1"/>
          </p:cNvSpPr>
          <p:nvPr/>
        </p:nvSpPr>
        <p:spPr>
          <a:xfrm>
            <a:off x="8505825" y="3638550"/>
            <a:ext cx="3362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F9F5C56-D99F-4AFB-97D3-782AAB1CC0C7}"/>
              </a:ext>
            </a:extLst>
          </p:cNvPr>
          <p:cNvSpPr>
            <a:spLocks noGrp="1"/>
          </p:cNvSpPr>
          <p:nvPr/>
        </p:nvSpPr>
        <p:spPr>
          <a:xfrm>
            <a:off x="8515350" y="4238625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859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4316</Words>
  <Application>Microsoft Office PowerPoint</Application>
  <PresentationFormat>와이드스크린</PresentationFormat>
  <Paragraphs>648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포트폴리오: B2B 주문몰 · SCM 대시보드 · ERP·통관 연동</dc:title>
  <dc:creator>박종혁</dc:creator>
  <cp:lastModifiedBy>Jong Park</cp:lastModifiedBy>
  <cp:revision>6</cp:revision>
  <dcterms:created xsi:type="dcterms:W3CDTF">2026-09-17T13:22:45Z</dcterms:created>
  <dcterms:modified xsi:type="dcterms:W3CDTF">2026-10-07T16:30:38Z</dcterms:modified>
</cp:coreProperties>
</file>