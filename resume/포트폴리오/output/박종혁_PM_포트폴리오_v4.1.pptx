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2fd45bb7cc4bea" /><Relationship Type="http://schemas.openxmlformats.org/officeDocument/2006/relationships/extended-properties" Target="/docProps/app.xml" Id="R66236e4ad055442e" /><Relationship Type="http://schemas.openxmlformats.org/officeDocument/2006/relationships/officeDocument" Target="/ppt/presentation.xml" Id="Rcb951e44bbf846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50072318484260"/>
  </p:sldMasterIdLst>
  <p:notesMasterIdLst>
    <p:notesMasterId xmlns:r="http://schemas.openxmlformats.org/officeDocument/2006/relationships" r:id="R0118394233564df8"/>
  </p:notesMasterIdLst>
  <p:sldIdLst>
    <p:sldId xmlns:r="http://schemas.openxmlformats.org/officeDocument/2006/relationships" id="256" r:id="R4ae009192c47495b"/>
    <p:sldId xmlns:r="http://schemas.openxmlformats.org/officeDocument/2006/relationships" id="257" r:id="R76f87f411e384fc8"/>
    <p:sldId xmlns:r="http://schemas.openxmlformats.org/officeDocument/2006/relationships" id="258" r:id="R4eb06e0ee75b425f"/>
    <p:sldId xmlns:r="http://schemas.openxmlformats.org/officeDocument/2006/relationships" id="259" r:id="R1d988146b63c43d0"/>
    <p:sldId xmlns:r="http://schemas.openxmlformats.org/officeDocument/2006/relationships" id="260" r:id="R6e026815dbdc46f9"/>
    <p:sldId xmlns:r="http://schemas.openxmlformats.org/officeDocument/2006/relationships" id="261" r:id="Rf5c591f25d964473"/>
    <p:sldId xmlns:r="http://schemas.openxmlformats.org/officeDocument/2006/relationships" id="262" r:id="R75864e064c64485f"/>
    <p:sldId xmlns:r="http://schemas.openxmlformats.org/officeDocument/2006/relationships" id="263" r:id="Rf7207583c29c4ad2"/>
    <p:sldId xmlns:r="http://schemas.openxmlformats.org/officeDocument/2006/relationships" id="264" r:id="R73a110fadfd64515"/>
    <p:sldId xmlns:r="http://schemas.openxmlformats.org/officeDocument/2006/relationships" id="265" r:id="R648bd9eb91d04aea"/>
    <p:sldId xmlns:r="http://schemas.openxmlformats.org/officeDocument/2006/relationships" id="266" r:id="R8e898d5ab5b946dc"/>
    <p:sldId xmlns:r="http://schemas.openxmlformats.org/officeDocument/2006/relationships" id="267" r:id="R69e0d1f25aaa4337"/>
    <p:sldId xmlns:r="http://schemas.openxmlformats.org/officeDocument/2006/relationships" id="268" r:id="R905dbe1f41ec47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6c6b6c8fd54670" /><Relationship Type="http://schemas.openxmlformats.org/officeDocument/2006/relationships/slideMaster" Target="/ppt/slideMasters/slideMaster1.xml" Id="R8a50072318484260" /><Relationship Type="http://schemas.openxmlformats.org/officeDocument/2006/relationships/notesMaster" Target="/ppt/notesMasters/notesMaster1.xml" Id="R0118394233564df8" /><Relationship Type="http://schemas.openxmlformats.org/officeDocument/2006/relationships/presProps" Target="/ppt/presProps.xml" Id="R1e16e501fdc443e4" /><Relationship Type="http://schemas.openxmlformats.org/officeDocument/2006/relationships/tableStyles" Target="/ppt/tableStyles.xml" Id="R9691716bd3be48c9" /><Relationship Type="http://schemas.openxmlformats.org/officeDocument/2006/relationships/slide" Target="/ppt/slides/slide1.xml" Id="R4ae009192c47495b" /><Relationship Type="http://schemas.openxmlformats.org/officeDocument/2006/relationships/slide" Target="/ppt/slides/slide2.xml" Id="R76f87f411e384fc8" /><Relationship Type="http://schemas.openxmlformats.org/officeDocument/2006/relationships/slide" Target="/ppt/slides/slide3.xml" Id="R4eb06e0ee75b425f" /><Relationship Type="http://schemas.openxmlformats.org/officeDocument/2006/relationships/slide" Target="/ppt/slides/slide4.xml" Id="R1d988146b63c43d0" /><Relationship Type="http://schemas.openxmlformats.org/officeDocument/2006/relationships/slide" Target="/ppt/slides/slide5.xml" Id="R6e026815dbdc46f9" /><Relationship Type="http://schemas.openxmlformats.org/officeDocument/2006/relationships/slide" Target="/ppt/slides/slide6.xml" Id="Rf5c591f25d964473" /><Relationship Type="http://schemas.openxmlformats.org/officeDocument/2006/relationships/slide" Target="/ppt/slides/slide7.xml" Id="R75864e064c64485f" /><Relationship Type="http://schemas.openxmlformats.org/officeDocument/2006/relationships/slide" Target="/ppt/slides/slide8.xml" Id="Rf7207583c29c4ad2" /><Relationship Type="http://schemas.openxmlformats.org/officeDocument/2006/relationships/slide" Target="/ppt/slides/slide9.xml" Id="R73a110fadfd64515" /><Relationship Type="http://schemas.openxmlformats.org/officeDocument/2006/relationships/slide" Target="/ppt/slides/slide10.xml" Id="R648bd9eb91d04aea" /><Relationship Type="http://schemas.openxmlformats.org/officeDocument/2006/relationships/slide" Target="/ppt/slides/slide11.xml" Id="R8e898d5ab5b946dc" /><Relationship Type="http://schemas.openxmlformats.org/officeDocument/2006/relationships/slide" Target="/ppt/slides/slide12.xml" Id="R69e0d1f25aaa4337" /><Relationship Type="http://schemas.openxmlformats.org/officeDocument/2006/relationships/slide" Target="/ppt/slides/slide13.xml" Id="R905dbe1f41ec47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13bb21e9f541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95e47c08bf4971" /><Relationship Type="http://schemas.openxmlformats.org/officeDocument/2006/relationships/notesMaster" Target="/ppt/notesMasters/notesMaster1.xml" Id="R7479b4f6047b47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a6f5225b104c54" /><Relationship Type="http://schemas.openxmlformats.org/officeDocument/2006/relationships/notesMaster" Target="/ppt/notesMasters/notesMaster1.xml" Id="R0d2ce7a8eca440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f8a96b333c4e97" /><Relationship Type="http://schemas.openxmlformats.org/officeDocument/2006/relationships/notesMaster" Target="/ppt/notesMasters/notesMaster1.xml" Id="R8d968da2094b43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e2223f53ca4ca6" /><Relationship Type="http://schemas.openxmlformats.org/officeDocument/2006/relationships/notesMaster" Target="/ppt/notesMasters/notesMaster1.xml" Id="Raff8bf7538ba45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446ace360f4f9a" /><Relationship Type="http://schemas.openxmlformats.org/officeDocument/2006/relationships/notesMaster" Target="/ppt/notesMasters/notesMaster1.xml" Id="R2124f8cbb00445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0bfec9a4764b38" /><Relationship Type="http://schemas.openxmlformats.org/officeDocument/2006/relationships/notesMaster" Target="/ppt/notesMasters/notesMaster1.xml" Id="R92c8bb27ae5947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dc1e092d024056" /><Relationship Type="http://schemas.openxmlformats.org/officeDocument/2006/relationships/notesMaster" Target="/ppt/notesMasters/notesMaster1.xml" Id="Rd83b4f7243e342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b7daabe4fc42de" /><Relationship Type="http://schemas.openxmlformats.org/officeDocument/2006/relationships/notesMaster" Target="/ppt/notesMasters/notesMaster1.xml" Id="R70c60ee9a6bc4c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d8a5971ad7469e" /><Relationship Type="http://schemas.openxmlformats.org/officeDocument/2006/relationships/notesMaster" Target="/ppt/notesMasters/notesMaster1.xml" Id="Rb1d5b188c0b345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b39554fcf74de9" /><Relationship Type="http://schemas.openxmlformats.org/officeDocument/2006/relationships/notesMaster" Target="/ppt/notesMasters/notesMaster1.xml" Id="R427c8df449544f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a4df7b770d4c13" /><Relationship Type="http://schemas.openxmlformats.org/officeDocument/2006/relationships/notesMaster" Target="/ppt/notesMasters/notesMaster1.xml" Id="Rf87b92b1ed5c48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07e94433494a71" /><Relationship Type="http://schemas.openxmlformats.org/officeDocument/2006/relationships/notesMaster" Target="/ppt/notesMasters/notesMaster1.xml" Id="R134d54656efc46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dada37eca946ec" /><Relationship Type="http://schemas.openxmlformats.org/officeDocument/2006/relationships/notesMaster" Target="/ppt/notesMasters/notesMaster1.xml" Id="R133fc16e361d45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290d0624294a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86cd26e546438f" /><Relationship Type="http://schemas.openxmlformats.org/officeDocument/2006/relationships/slideLayout" Target="/ppt/slideLayouts/slideLayout1.xml" Id="R8030b617c6df4e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30b617c6df4e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2b51c1c634fbc" /><Relationship Type="http://schemas.openxmlformats.org/officeDocument/2006/relationships/image" Target="/ppt/media/image.png" Id="R8641b0343cfd4d9f" /><Relationship Type="http://schemas.openxmlformats.org/officeDocument/2006/relationships/notesSlide" Target="/ppt/notesSlides/notesSlide1.xml" Id="R7c201c7815e24a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ffd85d88d4d5d" /><Relationship Type="http://schemas.openxmlformats.org/officeDocument/2006/relationships/notesSlide" Target="/ppt/notesSlides/notesSlide2.xml" Id="R1cd22d12131b4f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a0a102df44837" /><Relationship Type="http://schemas.openxmlformats.org/officeDocument/2006/relationships/notesSlide" Target="/ppt/notesSlides/notesSlide3.xml" Id="Rb031d07d1ebf44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f3a81e8a24b19" /><Relationship Type="http://schemas.openxmlformats.org/officeDocument/2006/relationships/image" Target="/ppt/media/image2.png" Id="Re75811767f004655" /><Relationship Type="http://schemas.openxmlformats.org/officeDocument/2006/relationships/notesSlide" Target="/ppt/notesSlides/notesSlide4.xml" Id="Ra3b305aaeecd49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c23fefabe48d3" /><Relationship Type="http://schemas.openxmlformats.org/officeDocument/2006/relationships/image" Target="/ppt/media/image3.png" Id="R79fcb2cd76be4939" /><Relationship Type="http://schemas.openxmlformats.org/officeDocument/2006/relationships/notesSlide" Target="/ppt/notesSlides/notesSlide5.xml" Id="R376017d301a048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f4aa12a054eb9" /><Relationship Type="http://schemas.openxmlformats.org/officeDocument/2006/relationships/notesSlide" Target="/ppt/notesSlides/notesSlide6.xml" Id="Re68c8eddd8b443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c3ae71bb5417c" /><Relationship Type="http://schemas.openxmlformats.org/officeDocument/2006/relationships/notesSlide" Target="/ppt/notesSlides/notesSlide7.xml" Id="R05e52a6d9aa047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eb0a8bc604a38" /><Relationship Type="http://schemas.openxmlformats.org/officeDocument/2006/relationships/image" Target="/ppt/media/image4.png" Id="R3f86c20baa1a4473" /><Relationship Type="http://schemas.openxmlformats.org/officeDocument/2006/relationships/notesSlide" Target="/ppt/notesSlides/notesSlide8.xml" Id="Rbc43b9e1945c45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3f090fd4f4a69" /><Relationship Type="http://schemas.openxmlformats.org/officeDocument/2006/relationships/image" Target="/ppt/media/image5.png" Id="R63ccf0d1cac54d64" /><Relationship Type="http://schemas.openxmlformats.org/officeDocument/2006/relationships/notesSlide" Target="/ppt/notesSlides/notesSlide9.xml" Id="R4d55616f3fee48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ba43bf05e4d4f" /><Relationship Type="http://schemas.openxmlformats.org/officeDocument/2006/relationships/notesSlide" Target="/ppt/notesSlides/notesSlide10.xml" Id="R6eca449b0c3d4f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f8fb167b948bc" /><Relationship Type="http://schemas.openxmlformats.org/officeDocument/2006/relationships/image" Target="/ppt/media/image6.png" Id="Rc1f527da65554332" /><Relationship Type="http://schemas.openxmlformats.org/officeDocument/2006/relationships/notesSlide" Target="/ppt/notesSlides/notesSlide11.xml" Id="Ra00a24ce728847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5a3e879714434" /><Relationship Type="http://schemas.openxmlformats.org/officeDocument/2006/relationships/image" Target="/ppt/media/image7.png" Id="R0027a5fe0267433e" /><Relationship Type="http://schemas.openxmlformats.org/officeDocument/2006/relationships/notesSlide" Target="/ppt/notesSlides/notesSlide12.xml" Id="R13338958dbf841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fd79fad724290" /><Relationship Type="http://schemas.openxmlformats.org/officeDocument/2006/relationships/image" Target="/ppt/media/image8.png" Id="R3e3e2a0f9ea444b1" /><Relationship Type="http://schemas.openxmlformats.org/officeDocument/2006/relationships/notesSlide" Target="/ppt/notesSlides/notesSlide13.xml" Id="R9a53f406bb2141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16E99-33C4-4C99-8AE0-EC40026F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C7A30-2429-4D3D-95B6-5AB0EB30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PM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287F9-FF0C-4A6C-B878-AB8CE0ED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95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요구를 정책으로 만들고</a:t>
            </a:r>
          </a:p>
          <a:p xmlns:a="http://schemas.openxmlformats.org/drawingml/2006/main">
            <a:pPr algn="l">
              <a:def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검증까지 연결한 두 프로젝트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404FD-7BC3-448F-9816-F57D0EE3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통관 연동에서는 분할 출고 단위와 오류 재제출 기준을,</a:t>
            </a:r>
          </a:p>
          <a:p xmlns:a="http://schemas.openxmlformats.org/drawingml/2006/main">
            <a:pPr algn="l">
              <a:def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B2B 몰에서는 계정·결제 정책과 운영 완료 기준을 정했습니다.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3FF25-BF7C-422C-9B57-A6C8D0AC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3337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DBDFE-D4F9-45A0-BD28-567E3CA7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2D7D4-D7DE-49CD-945A-B6BFE4AC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481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F59DC-7F5D-43A3-B913-288B4623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2781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관세청 통관 연동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996A5-523E-4007-A689-FC0882E7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분할 출고 기준 · 오류 재제출 · 운영 QA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38327-F0F7-43C0-AC24-471C3390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10000"/>
            <a:ext cx="33337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A31F8-F002-44F5-A534-4405BC17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0025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AE141-626A-4B10-A110-2EEC4A34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481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B92A8-0451-4EE8-9540-F190DC55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10075"/>
            <a:ext cx="2781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산후조리원 B2B 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057D8-D0C5-4D34-A9E5-51088C50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006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계정·결제 정책 · 운영 서버 검증 ·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38E8F0-8F37-49E9-8960-DCCAB4AE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0"/>
            <a:ext cx="4143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1b0343cfd4d9f"/>
          <a:srcRect xmlns:a="http://schemas.openxmlformats.org/drawingml/2006/main" l="0" t="14894" r="0" b="148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63075" y="876300"/>
            <a:ext cx="1466850" cy="1466850"/>
          </a:xfrm>
          <a:prstGeom xmlns:a="http://schemas.openxmlformats.org/drawingml/2006/main" prst="ellipse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F127C2-5525-481A-8503-5172F4A9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박종혁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4AC85B-78D5-45E6-A414-1360FC99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프로젝트 운영 · SCM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544CB6-3E7B-4293-AA29-AB255188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3BF7D9-0C48-4494-BD46-D51378DA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48125"/>
            <a:ext cx="2905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요구사항 구조화</a:t>
            </a:r>
          </a:p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이해관계자 조율</a:t>
            </a:r>
          </a:p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완료 기준과 운영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15A6B-8101-49D3-8E92-E2FB2F7F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019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parkjonghyeok2000@gmail.com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875C37-A76F-4A2A-A161-B8B42E40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055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2026-09</a:t>
            </a:r>
          </a:p>
        </p:txBody>
      </p:sp>
    </p:spTree>
    <p:extLst>
      <p:ext uri="{BB962C8B-B14F-4D97-AF65-F5344CB8AC3E}">
        <p14:creationId xmlns:p14="http://schemas.microsoft.com/office/powerpoint/2010/main" val="6646426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B4F9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EE8EBC-DBE5-41ED-ACDE-650F1F36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01.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F938E-FC21-45FF-95AF-3FA2404B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0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rPr>
              <a:t>01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B603C-BF46-4860-A597-000AE706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6572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관세청 전자상거래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통관 연동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C7831-2312-4A52-B075-2E0FC1AC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670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분산된 주문·인증·출고·통관 데이터를 국내 DB 중심으로 연결하고,</a:t>
            </a:r>
          </a:p>
          <a:p xmlns:a="http://schemas.openxmlformats.org/drawingml/2006/main">
            <a:pPr algn="l">
              <a:def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오류 수정과 재제출 기준을 운영에 반영했습니다.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79932-AFED-4D59-AD7E-0C285A05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257300"/>
            <a:ext cx="3619500" cy="3857625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6437F"/>
          </a:solidFill>
          <a:ln xmlns:a="http://schemas.openxmlformats.org/drawingml/2006/main" w="0">
            <a:solidFill>
              <a:srgbClr val="1643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3930C-B4FE-4282-8531-4E71F6F8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00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확정 일정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41EBE-C232-4C9B-9DA3-7D23FDF6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FC6DB-75B5-4BCA-A360-8C1EBF8F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7645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연동 구조와 요구사항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E51AD-1843-4BBC-B1CB-B313049D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336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2026-08-28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74CC2-9722-47B7-9C16-506BF001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336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상용 운영 시작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3F3B1-8465-4FB5-9D51-33FC6021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909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2026-09-15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35717-151B-4329-ACE0-7EE57AE5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9090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운영 집계 기준일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C39E1-151D-4B79-B550-2945283B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4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C8794-ABCF-461F-9570-782EE95B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6CB0A-4B18-4288-B509-51BD03B8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579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국내 DB 중심 연동 구조, 두 인증 경로, 오류 수정·재제출 정책, 협력사 API 조율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89C9CA-7D1E-46BE-905B-3ABDEC5D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8CFAE4-DB9B-48CC-8DCF-2D2BFF7B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57850"/>
            <a:ext cx="579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연동 구조도 · 필드 매핑표 · 오류 재제출 기준 · 운영 테스트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F6AA4-C6B8-4CD6-8993-88A95A3F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F3DC7E-DBC7-4D33-AC6A-218A7C7E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Project 01 · 관세청 통관 연동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5696C-3C87-4CDA-B6BB-45D6B04A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2 / 13</a:t>
            </a:r>
          </a:p>
        </p:txBody>
      </p:sp>
    </p:spTree>
    <p:extLst>
      <p:ext uri="{BB962C8B-B14F-4D97-AF65-F5344CB8AC3E}">
        <p14:creationId xmlns:p14="http://schemas.microsoft.com/office/powerpoint/2010/main" val="6767197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94B5A4-78C8-409C-825A-490659F3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분산된 주문 데이터와 책임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B70DD-48A9-4052-815F-CFA91974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BD832-8CED-46D8-9F71-5D217BBD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자사몰과 외부 채널의 주문 정보를 ERP/WMS와 통관 시스템에 연결해야 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02B0D-9C60-44E0-8067-698DB91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운영 상황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97F59-AB1B-4354-AE69-21E61B70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1452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 1건이 여러 포장과 HBL로 나뉘고,</a:t>
            </a:r>
          </a:p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주문·인증·상품·출고 정보는 서로 다른 시스템에 있었습니다.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6C4AA-BDED-43BE-B825-C776B6D7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4572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8BC8B-0AF4-40A5-BA81-D2511D65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판매 채널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DDEE2-0A6C-4643-9386-24A41041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99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주문·수하인·개인통관 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20892-9191-412B-BA52-A00F3E6E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4572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95C70-810B-4E85-996C-79834EE8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ERP/WMS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045BD-456C-48D9-A030-E535A490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5285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포장·HBL·상품·출고 정보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AE721-3088-4C92-B97F-A6C883DA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4572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76A14-C6C2-40A7-91D3-69A00DD3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통관 시스템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AFF0D-1475-4217-A6BC-20BE3B12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958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거래정보 제출·검증·접수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A1FBF-4688-4442-8A7F-E2E824D8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571625"/>
            <a:ext cx="5924550" cy="361950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13157-9B4F-4212-B950-2CDB25CA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288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같은 주문을 서로 다른 단위로 다루고 있었습니다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F3AF5-6454-4D03-B9A4-762D1233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 1건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7DDCF-F8FE-486B-A9EE-A2D435A2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F65298-34FB-45D9-90D9-0166C661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2381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47541F-18F4-460C-9BE3-803B64CF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431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포장 A / HBL 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C139F9-4E98-4C78-9636-57596A3A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TRA001 A · HWB 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C735BB-3261-42CE-96E3-3BFECAE5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52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98DDD5-A0C6-471E-A1A0-EE56B8B7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76600"/>
            <a:ext cx="2381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31AF3D-6AEC-408E-9B26-5BBE3989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7662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포장 B / HBL 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797F7A-FD2A-437F-A6A9-ADBE915A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52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TRA001 B · HWB 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9DB1DE-B345-46F9-B77E-4A9215F7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14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쟁점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1D97CA-9F69-4365-B920-3EEBEA8C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 기준으로 묶으면 분할 포장과 재제출 범위가 흐려졌습니다.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FB18B3-43B5-488E-8D70-FABEE80E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858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B4F7AE-3779-40CC-8DBC-333CC0E8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530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결정해야 할 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3D7019-5355-4CF9-A048-D0FBDB6F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14975"/>
            <a:ext cx="861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통관 제출·오류 수정·재전송을 어떤 단위로 묶을지 하나의 기준으로 고정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B396E0-BBF2-4D13-9942-4DAB2756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82D58F-62D7-4DF6-8265-586986EE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문제 정의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E2F922-E098-402E-B3FD-E47EBB7B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3 / 13</a:t>
            </a:r>
          </a:p>
        </p:txBody>
      </p:sp>
    </p:spTree>
    <p:extLst>
      <p:ext uri="{BB962C8B-B14F-4D97-AF65-F5344CB8AC3E}">
        <p14:creationId xmlns:p14="http://schemas.microsoft.com/office/powerpoint/2010/main" val="19817656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269648-203B-4EAD-BC10-65588D82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분할 출고 단위를 포장 1건으로 통일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D5328-F3E8-44C8-8EDF-B5C45531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B551B-3095-4DC4-99C5-EA89BD3A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주문번호·포장·신고·운송 식별 단위가 어긋나는 문제를 하나의 운영 규칙으로 정리했습니다.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206C4-199D-46C3-B511-DA982595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585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F90E7-CE9A-49A0-871A-9552622C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09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결정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3C477-81D1-42A5-B129-A2CD6049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947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HBL = USD 150 이하 포장 1건 = TRA001 1건 = HWB 1건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ED9A7-9905-4A43-B4A4-7E35D1C7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81275"/>
            <a:ext cx="34766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42794-0CB3-463E-93A3-7489DBD7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추적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B8F6F-5350-40F9-AB32-CABA243A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3367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원주문번호는 고객 주문 추적에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7D6B6-FCDF-4067-BDD1-ACA0D765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81275"/>
            <a:ext cx="34766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7050E-BB7F-4597-B370-2F2A6CF3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90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제출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63178E-D2D6-4D8C-A779-55036F2B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3367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포장 단위로 거래정보와 HWB를 제출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A0486-067B-4E0F-9669-B1EF7FE3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81275"/>
            <a:ext cx="34766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F4048B-6750-4549-AD15-DAFA72E1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90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병합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54005-7853-4919-995C-2D6F8893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3367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hwbNo와 orderNo를 복합키로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2F90D-989B-43E0-B8E5-69B0AA03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06680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811767f004655"/>
          <a:stretch xmlns:a="http://schemas.openxmlformats.org/drawingml/2006/main"/>
        </p:blipFill>
        <p:spPr>
          <a:xfrm xmlns:a="http://schemas.openxmlformats.org/drawingml/2006/main">
            <a:off x="781050" y="3851275"/>
            <a:ext cx="10591800" cy="17653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BF0D8B-7D32-4042-B29D-F020C340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943600"/>
            <a:ext cx="4419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실제 업무 문서 발췌 · 업체명은 역할명으로 치환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5BECEA-9E26-4A3C-8E6F-7BFAD8FC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E0165C-EB8E-48D5-A7AA-5DEABAD8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분할 출고 기준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5BBBE4-A944-42FF-880C-074818F4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4 / 13</a:t>
            </a:r>
          </a:p>
        </p:txBody>
      </p:sp>
    </p:spTree>
    <p:extLst>
      <p:ext uri="{BB962C8B-B14F-4D97-AF65-F5344CB8AC3E}">
        <p14:creationId xmlns:p14="http://schemas.microsoft.com/office/powerpoint/2010/main" val="4834717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511883-2C44-4335-98F6-5DF800E1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국내 DB를 기준점으로 데이터와 실행 책임을 분리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14281-B651-4B23-B0AD-290DBBF7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8FBB7-7335-4BCC-B963-4E391355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판매 채널, ERP/WMS, 통관 시스템이 맡을 데이터와 실행 책임을 구분했습니다.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1C8FC-EDB4-414A-A343-3623522D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8B220-4E18-47B5-A61B-FDFE178B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판매 채널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48B88-70CC-4097-BA9F-BAB53356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주문·수하인·인증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34543-4BBB-4D2D-82F8-77DEB97E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6B19C-5D65-4EE4-A2AA-7AE4907B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9525">
            <a:solidFill>
              <a:srgbClr val="1B4F9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4032F-A8AF-43C4-AF84-24BA0744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국내 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67B30-DBF9-4291-8C44-F87AB061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정규화·분기·상태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91541-7B44-47C2-93FE-7D0C31A3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5B725-5851-4974-8330-0C7E73F4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52724-ACCB-45F8-9188-E68EFB24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ERP/WMS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119CF-21D4-414A-8290-C80178A3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포장·HBL·상품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3AE87-CA58-4EB1-90FA-1C7403A1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D4E61-24FE-4601-BE77-DFA24AC6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D25EBA-AB61-4C69-8B22-A0678D46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통관 시스템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D6B3C-581D-4AA6-BF5D-3A453171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병합·검증·접수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EFE8A8-A728-40CE-9EBB-FAD23D2E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오류 복구 기준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A87E2B-69DD-4903-9DEC-159FEA30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EF6C84-8829-479C-A415-AD191CD9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반려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7D3CEE-2D52-414E-B05E-F50D91BD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385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6C019D-A7D5-4A7C-BCAE-372D2472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451CE7-A6D9-40E1-B5E9-228C5274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원천 시스템 수정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B1959A-1CA8-4121-BEC8-1FB50D71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4385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3ABD76-D5B8-44C8-807C-5E94746D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3CBA26-332A-4694-AA9A-120D2C24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동일 키 재전송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7FD1D2-3F8B-4420-B8F6-1D76C66E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385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CFB156-A9C4-4337-B55D-CA2823E7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9525">
            <a:solidFill>
              <a:srgbClr val="1B4F9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C5E894-463E-41FE-931F-DEE403CB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정상 접수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41718C-0B10-4CE3-B551-A15DFFF4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10668000" cy="17716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cb2cd76be4939"/>
          <a:stretch xmlns:a="http://schemas.openxmlformats.org/drawingml/2006/main"/>
        </p:blipFill>
        <p:spPr>
          <a:xfrm xmlns:a="http://schemas.openxmlformats.org/drawingml/2006/main">
            <a:off x="781050" y="4328491"/>
            <a:ext cx="10591800" cy="1496667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85AEEF-7CD4-44B3-AD09-D51F63F6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00750"/>
            <a:ext cx="4648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실제 업무 문서 발췌 · 재전송과 최종검증 완료 기준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7E8449-8395-4DCF-9CC0-E5AAF567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9DB459-2F0A-4C27-B8F0-D3B1BF45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역할과 복구 경계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E16DD1-869D-46C3-AA23-23AE7CF8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5 / 13</a:t>
            </a:r>
          </a:p>
        </p:txBody>
      </p:sp>
    </p:spTree>
    <p:extLst>
      <p:ext uri="{BB962C8B-B14F-4D97-AF65-F5344CB8AC3E}">
        <p14:creationId xmlns:p14="http://schemas.microsoft.com/office/powerpoint/2010/main" val="9706326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CC9E16-A835-4D11-A08F-17556187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정상 접수·의도 오류·수정 재제출을 함께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4DB5C-71EB-443F-B485-7C3F752C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3C6BE-1461-4072-99D3-6F4B419E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정상 경로만 확인하지 않고 오류 반환과 복구 경로까지 운영 환경에서 확인했습니다.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BF3B9-5D5A-46D7-B664-630A993D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6A8D5-8FA3-40D4-A2E3-896432FF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CB43C-6125-4DA5-B381-E3C64BAE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2E934-3397-4C22-8082-0DC849A9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764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정상 접수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7A178-9E43-4947-B028-1F49EBEB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764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필수값을 갖춘 거래정보 제출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D9EF0-3E62-4AA0-91FA-007F78E9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145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CC0EC-BC0D-4B6C-9C76-BD7CED9C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764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정상 접수 결과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2050B-1C03-440D-AD85-614D3EA8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14DFD-F728-443F-9ABC-A5BF346C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0A2032-88DC-420A-9D79-C1DBA50A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A78B9-0EFD-40F6-B248-136A16CA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813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의도 오류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D5BFA-AA9B-4833-A552-2933B2FE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813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필수값을 의도적으로 누락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AFC6C7-E98E-41AA-8ED8-8B14843A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194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405C0-AC09-4E41-9B1F-4D72B5A4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813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예상한 오류 응답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626BB2-C867-462E-8227-892123AD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D1A9DA-2835-4AC3-900C-5B2CF64C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C64A80-D875-45F8-98A1-7C2F3F91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52CA6-CBBC-42A8-8CC9-619DBDDF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862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수정 재제출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524604-B7B8-42B4-9715-2F1DAEA5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862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원천값 수정 후 다시 제출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AD68D1-3567-4C0C-B444-9327A07F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243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377C00-5E87-4B93-844F-85765803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862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정상 접수로 전환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E08186-0735-4CD1-B744-EB55E7FB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7239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25D3D1-2F26-49C0-B223-1AEF9B21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054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운영 환경 테스트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5CADBE-762C-47BC-88F3-4FCCF2FB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48275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30건 검증 · 목적 30/30 통과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C6F968-E6F0-486B-BE17-8D157EC5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05400"/>
            <a:ext cx="34099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9DB64A-F556-4B14-A2F0-A9C0BFF3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86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 범위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702676-A368-45F7-B0AF-D1F01C83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816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세 유형별 개별 건수는 미확인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8D226F-7F5D-4963-BABB-29CD9425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E79C51-8881-4536-8D34-4C63F983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운영 QA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4F289C-F919-4D08-9887-6A64741E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6 / 13</a:t>
            </a:r>
          </a:p>
        </p:txBody>
      </p:sp>
    </p:spTree>
    <p:extLst>
      <p:ext uri="{BB962C8B-B14F-4D97-AF65-F5344CB8AC3E}">
        <p14:creationId xmlns:p14="http://schemas.microsoft.com/office/powerpoint/2010/main" val="2734188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11E270-7490-4E58-B548-03D7DB9E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환경 30건 검증 후 상용 운영을 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4B2F7-356F-4499-BFE6-C137809A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E0B6E-7C3B-429B-B54F-936DDB0E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2026-08-28부터 2026-09-15까지의 운영 집계와 측정 경계를 함께 정리했습니다.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11BB6-2687-4BF3-B459-F7B51694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FAD8A-AE29-4C14-8D9C-71CF70CB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19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30건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6037E-15C9-4DBC-9549-3AF74D11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환경 검증 · 목적 30/30 통과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B893B-3A97-4F5C-B2A5-F622073C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EE185-D349-48A2-AEBA-0E6F2531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19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약 300건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D610C-4563-41D9-8258-1CB73E07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일평균 발생 주문 규모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6C45BD-439F-4355-A817-12B757A8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573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F1B65-E530-4C0B-973F-A3F60E79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19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230 / 70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AACD3-929A-4EF8-A74B-3A15001A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자사몰 / 기타 주문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11A5F-770B-4DC2-B919-205C528B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57350"/>
            <a:ext cx="2800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9A20B-F664-494E-A132-EC30B5E1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1927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전체 완료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4DE64-9B5E-4E53-AA8C-ACD386D0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8600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집계 대상 주문 통관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938ADA-65F6-4BCC-B64D-670D4095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1085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665BEE-6474-4B82-AAAF-1CBE8885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운영 판단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0DBE8-7DF2-4A21-A778-EF361DAE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90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신규 연동과 기존 방식을 병행한 상태에서도 집계 대상 주문의 통관 완료를 확인했습니다.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74E34C-E180-494F-84E4-48CA28AC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81425"/>
            <a:ext cx="890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환경에서 30건을 검증했고, 설정한 테스트 목적은 30/30 통과했습니다. 자동 처리율·신규 경로 비중·처리 시간은 별도 계측하지 않았습니다.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B4E3BE-F9C9-4DDA-B164-D05C7861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08585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92F2D-6D61-4B50-AB44-925E1B4E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81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2026-08-28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A95C6A-5438-454D-A1CC-CBE97D3C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상용 운영 시작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B6247B-B4B6-4647-9E8F-501C968A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24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B772C0-0FE3-4299-9F73-2902F8BE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981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2026-09-15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AB1EA8-4B90-4F17-B6AD-0CEB55A3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314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집계 기준일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DBD58F-417B-4A3C-BBDB-29BE9D86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9434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확인한 결과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FCA10C-801B-4506-9980-C4027A47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76800"/>
            <a:ext cx="4010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일평균 약 300건 · 자사몰 230건 · 기타 70건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755FE7-158B-4444-B333-719B35D2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53050"/>
            <a:ext cx="4010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2026-08-28~2026-09-15 집계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8231DC-5809-424A-9AC1-2A0345FA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84991E-C6E7-4140-8717-90253E00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결과와 한계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3A3490-B5DB-4841-B9F0-03839CA5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7 / 13</a:t>
            </a:r>
          </a:p>
        </p:txBody>
      </p:sp>
    </p:spTree>
    <p:extLst>
      <p:ext uri="{BB962C8B-B14F-4D97-AF65-F5344CB8AC3E}">
        <p14:creationId xmlns:p14="http://schemas.microsoft.com/office/powerpoint/2010/main" val="12415162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E6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C32404-BF72-4459-B4D1-2038A091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02.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9B251-E5BC-4019-9BE0-E5C1A9CB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0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01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F4118-E3F5-4B6C-955E-CB0C75AE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5905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산후조리원 전용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B2B 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85072-8CA6-4AFC-B377-9E5AAE4B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600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4개 계정 유형과 혼합 주문 차단 기준을 설계하고,</a:t>
            </a:r>
          </a:p>
          <a:p xmlns:a="http://schemas.openxmlformats.org/drawingml/2006/main">
            <a:pPr algn="l">
              <a:def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운영 서버에서 직접 확인한 항목만 완료로 처리했습니다.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F93BE-0894-4FB2-B7BA-F011A804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48075"/>
            <a:ext cx="5857875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2EF67-233C-4BA7-8646-AE1C7078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6DAF7-12C3-4D81-8089-B3DC3C62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76675"/>
            <a:ext cx="453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고객사·공급사의 주문, 납기, 출고, 정산 조율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9DCC9-CBB3-4486-AC0A-7CAE9119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29D06-9223-4A61-AEEA-8E72B126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2026-06 기획 · 2026-07-16 핵심 흐름 운영 · 2026-08-31 최종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25076-4113-48D3-B045-F6F03055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2E862-BBF8-442E-A108-66FD76B5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3395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계정 정책표 · 결제 규칙 · QA 결과 · 운영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8E4B1-94E8-4964-BC58-4DAC83D5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38300"/>
            <a:ext cx="4648200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86c20baa1a4473"/>
          <a:stretch xmlns:a="http://schemas.openxmlformats.org/drawingml/2006/main"/>
        </p:blipFill>
        <p:spPr>
          <a:xfrm xmlns:a="http://schemas.openxmlformats.org/drawingml/2006/main">
            <a:off x="6896100" y="1680246"/>
            <a:ext cx="4572000" cy="1211508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31A35-D92E-42FA-A7A0-3BAA1CCD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3619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실운영 홈 화면 발췌 · 2026-08-28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8DC30B-6966-478B-A134-E8324741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57575"/>
            <a:ext cx="4572000" cy="19240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B3099B-C4CB-42AE-B827-6D9C7A53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433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화면에 반영한 운영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E1AE6-080E-4342-B601-F56D0B94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719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거래명세서 다운로드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당일 출고 마감 안내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배송 상태 확인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정확한 입금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2C8AD-9740-4C59-B44E-42681FB3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09CB5F-E15D-4456-A31B-B71EF227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Project 02 · 산후조리원 B2B 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1C973-ED35-4F35-8262-43C16191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8 / 13</a:t>
            </a:r>
          </a:p>
        </p:txBody>
      </p:sp>
    </p:spTree>
    <p:extLst>
      <p:ext uri="{BB962C8B-B14F-4D97-AF65-F5344CB8AC3E}">
        <p14:creationId xmlns:p14="http://schemas.microsoft.com/office/powerpoint/2010/main" val="10634259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21E3B3-4E3C-4B4C-92AB-1A62C1DC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시작 전 반복된 문제와 설계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387BF-7D12-4A77-AE6E-22D81454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E8DAD-A7E5-436A-BB93-C1928394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오출고·문의·입금 대조 문제를 실제 운영 화면과 정책에 연결했습니다.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A96C6-F29B-436E-8BAF-D7808F10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AD1FF-6968-4A82-8B34-334C07CA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월 2~3건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85ABF-DD63-418D-93F6-45DD8F9F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직전 6개월 평균 오출고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B682B-ED63-4F95-92FE-4FDAF01F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71CAF-AEFE-4C37-A197-627246B8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32건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6DEA4-8075-4701-9F16-5F21E1CD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2026-01~2026-06의 2주 환산 CS 문의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2CCFE-F387-43B1-9A74-E53FE55B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38BFE-09FF-425D-B57D-64F8C619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15~30분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3B950-A513-4B09-8621-7991CE1D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매일 입금 대조 시간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6CB9C-8A55-45C5-91FC-AC0E8A0A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581150"/>
            <a:ext cx="8105775" cy="22098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cf0d1cac54d64"/>
          <a:stretch xmlns:a="http://schemas.openxmlformats.org/drawingml/2006/main"/>
        </p:blipFill>
        <p:spPr>
          <a:xfrm xmlns:a="http://schemas.openxmlformats.org/drawingml/2006/main">
            <a:off x="3476625" y="1622195"/>
            <a:ext cx="8029575" cy="2127711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A9EDA-4B42-4277-85F9-6CACBD9D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38575"/>
            <a:ext cx="4648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실운영 홈 화면 발췌 · 가격 영역 제외 · 2026-08-28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E7EF8-B35F-4A89-877D-0EAF020E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767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B361C-8F9D-4801-84B2-DC554952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4767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거래명세서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11290E-00C8-4419-A24F-E8984D8B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481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 후 직접 다운로드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448F77-44D7-4647-B190-1B32B1A1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767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7FBC51-A9F3-407D-B274-489D353D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767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출고 마감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3155E4-A452-4835-90C4-239A110E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4481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당일 10시 기준 안내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3BFDA0-F099-49E8-9F9C-82D15667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149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FC24FD-20C4-42DB-B3DF-1693FD72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3149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배송 상태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983557-17D4-40EB-A160-01CC6954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863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송장번호와 진행 상태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EFA786-BCB8-46B9-93E7-ECDAF305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149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8AED4B-5B25-4385-9F76-CBEF9E22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149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입금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54B949-794E-4C45-BCC0-E518EF6E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2863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입금자명과 금액 대조 안내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6F50F0-E596-4B60-8BC3-DF1C00BE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입금 대조 시간의 개선 후 수치는 미측정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AE194E-BAA0-4254-AD8B-15591AD7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18D558-954D-4F8B-9435-71E44545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문제와 화면 반영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4D64D2-91EC-479B-8DA6-F9AE02D8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9 / 13</a:t>
            </a:r>
          </a:p>
        </p:txBody>
      </p:sp>
    </p:spTree>
    <p:extLst>
      <p:ext uri="{BB962C8B-B14F-4D97-AF65-F5344CB8AC3E}">
        <p14:creationId xmlns:p14="http://schemas.microsoft.com/office/powerpoint/2010/main" val="16883282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B6D52B-D7C0-419F-BF5D-444CE61C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기존 플랫폼에 계정·결제 정책을 추가하는 방식을 선택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D677B-C193-46D4-BE7E-C61745F4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27DCF-771D-4000-A39D-A3FFD19C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운영팀 러닝커브, 기존 인프라 일치, 유지보수 책임범위, 구축비용 순서로 판단했습니다.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38F23-0AE7-4BAF-834D-0FD023E3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A2083-8E59-49D5-A34A-A3DD454A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2E545-6A87-4A45-ADFA-C603BAD4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① 운영팀 러닝커브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1F436-F7EB-45D4-8EF4-4FDD1649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A1913-41EB-4472-96BF-EE0B93B2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② 기존 인프라 일치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C3CD7-D406-4377-BC4F-C0C4F4BC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D3E9E-6C0E-49EB-A6C3-E4ED0B46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③ 유지보수 책임범위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04B9C-67FF-4976-B37F-D40776DC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45833-2147-49C9-B77F-AEBBB4FA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④ 구축비용 · 금액 비공개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2C0E1-60C9-4964-8D86-AF5A4150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대안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F212D-4BFE-4852-B8F6-7B2C923B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66925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확인한 핵심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9F990-FB9B-468C-A5C6-D8CF0ABE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669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7D841-6638-4A09-BEA3-43AB64ED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FF80AE-A798-40A8-8DBC-B7551961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1085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B12A5-BFDC-46B8-9EC5-C614BE68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맞춤형 웹서비스 직접 개발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29353B-4B23-4E54-B1AC-F0442BE0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3842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유지보수 책임이 내부로 확대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4ABF1F-595B-411A-9F18-D4DA3A9E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19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C5993A-F160-473A-9D93-0BFEAA95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다른 쇼핑몰 솔루션 전환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1F5177-146F-447C-9515-0308F4A6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운영팀이 새 솔루션을 다시 학습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01EAD3-8647-45B1-9BE4-06271D50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28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8CECDF-850A-4035-B716-FA6A6756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858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6ED921-ADE9-471A-83B3-3FDFCA14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기존 커머스 솔루션 + 정책 맞춤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D28277-8D40-49DA-BCAA-99AB3FB9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5762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기존 인프라와 운영 방식을 유지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28A8F4-D726-4C89-AE74-172AD2FC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38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채택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1C2E53-2DBD-4757-8579-6C14F9F3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범위에서 제외한 기능과 이유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8072AB-82E5-4AA7-A9F3-537DCC8E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48225"/>
            <a:ext cx="3476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C124C3-778B-4072-9EB2-4037857E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42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F0D676-FE9E-4237-ABDE-B437DF4C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B8B4E3-A397-4433-8C35-2F2D554D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81575"/>
            <a:ext cx="2752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PG 결제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CB3101-377C-4CB7-AF58-CFE220B3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B2B 마진 대비 수수료 부담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EA20A2-3D26-4061-BC1E-FCDF299A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48225"/>
            <a:ext cx="3476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4D54C2-1B84-4E62-82EC-A385CDEE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72050"/>
            <a:ext cx="342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BE9CD8-73B9-4858-A499-8708E326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10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6279F1-F9E3-42EF-9CF8-5622B8AC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81575"/>
            <a:ext cx="2752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견적서 신규 개발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703DBC-33AA-4942-B01A-B3F9C2A8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530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기본 거래명세서로 대체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DDE2CC-2023-4B43-BBEF-F6C84D7B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48225"/>
            <a:ext cx="3476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6BC7A4-255D-4A04-B781-1E1F5068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72050"/>
            <a:ext cx="342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F0E858-ACBA-4440-B6D7-BD7CC9F6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10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86589E-ED48-4F98-A81F-3A5BECA3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81575"/>
            <a:ext cx="2752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포인트 완전 자동화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F92D18-689F-4424-ADF7-0B45FC7A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530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계약 상태 변경 시 지급 번복 위험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168FF9-8B59-4421-8A82-C6811ACE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36BB0D-A3D1-4B65-8F1F-E5CBD7D6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대안과 범위 결정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59EAA4-D52E-4FD4-A041-AE3E5412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4120229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63C92F-8026-4671-9256-2C7BA56D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개발 완료 통보 뒤에도 마이페이지 진입이 되지 않았습니다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37B8A-C6B9-4CF7-B9E3-7A537032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4539C-197C-4C05-9575-991222FE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완료의 기준을 개발사 회신에서 운영 서버 직접 확인으로 바꾼 사례입니다.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54D79-D510-4B8F-98A2-FE8A0516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5314950" cy="4267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58C58-205E-42AE-A7CD-399417E2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D6A7C-0FA3-4004-8C35-CD056613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AB57C-5867-4455-A70B-F8653C60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288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현상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6DFAF-BC09-4DF5-8847-B2E3DFAE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907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마이페이지 ‘정보 수정’ 진입 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E5242-794A-49BF-9167-25F21DDC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B1AD5-6D87-4E16-B253-517A7546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24E84-2DEC-4CDB-AD99-24666463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B1DF7-C5CE-4D16-91ED-0075048B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051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03DA7-7F6F-4788-A158-C11A6E8F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670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서버 미반영과 기존 차단 로직 잔존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2A3565-0A6F-4B7E-8B3C-7DEC81BA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08F7D-0E73-400E-9DFA-CA9E6D19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F4D737-766E-4F43-9201-79C8A159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210C9-D4FF-4F46-8520-493C625B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814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분리 점검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E733E0-3A15-482B-BF38-AF1218B0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433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배포 여부와 차단 조건을 각각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092373-0AD9-4C59-8454-55DB8997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13FD2-0A2E-49A6-AD8E-C17D0CFD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F393BE-706F-4E7F-B8CB-E90B4041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136E2-2299-4575-B41C-FF9200EE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57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결정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BEEE1A-EDEA-4698-BA59-4E81AEED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196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서버에서 기대 결과를 직접 확인한 경우만 완료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CDFA22-7E83-4255-B188-F4BF34FA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314950" cy="4267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B093CE-388E-4E60-9B18-5A62D18B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19275"/>
            <a:ext cx="481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사례가 발생한 실제 화면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1FC94D-3043-4A93-8E1C-B1BE5144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0275"/>
            <a:ext cx="2476500" cy="29337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527da65554332"/>
          <a:stretch xmlns:a="http://schemas.openxmlformats.org/drawingml/2006/main"/>
        </p:blipFill>
        <p:spPr>
          <a:xfrm xmlns:a="http://schemas.openxmlformats.org/drawingml/2006/main">
            <a:off x="7354917" y="2238375"/>
            <a:ext cx="1482665" cy="28575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497B34-8822-4944-85A1-3F917889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38375"/>
            <a:ext cx="1581150" cy="285750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27457F-6BBE-48A3-8203-6A6095D7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4792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 항목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D7D024-69D7-4290-B053-3B059A6B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876550"/>
            <a:ext cx="12192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정보 수정</a:t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메뉴 노출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진입 가능 여부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배포 여부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차단 조건 잔존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BF8F12-E599-4C68-AF4F-ECC7E412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86375"/>
            <a:ext cx="3581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실운영 마이페이지 발췌 · 2026-08-28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8BAF2A-8020-4F4D-9ABB-45FC60C0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8D76EC-6BA1-4986-9C07-E68FCE67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운영 서버 QA 사례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F21A51-D40E-4F96-83F5-FE30959B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10051777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DB64B-EF11-466B-BF68-10DCC5E9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4개 계정 유형의 상품·결제 정책을 한 표로 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B10B3-85E7-4A14-BA83-C6BA35F4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C456A-3D10-4F3F-9971-1B083AA0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등급과 카테고리 조합으로 결제 방식을 정하고, 결제 방식이 다른 혼합 주문을 차단했습니다.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530B9-6C50-4FDB-8021-D22635D0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753350" cy="3105150"/>
          </a:xfrm>
          <a:prstGeom xmlns:a="http://schemas.openxmlformats.org/drawingml/2006/main" prst="roundRect">
            <a:avLst>
              <a:gd name="adj" fmla="val 18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7a5fe0267433e"/>
          <a:stretch xmlns:a="http://schemas.openxmlformats.org/drawingml/2006/main"/>
        </p:blipFill>
        <p:spPr>
          <a:xfrm xmlns:a="http://schemas.openxmlformats.org/drawingml/2006/main">
            <a:off x="647700" y="1807425"/>
            <a:ext cx="7677150" cy="257639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EF83C-A462-45A0-8C6D-591DA299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95825"/>
            <a:ext cx="554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업무 문서 발췌 · 원문 ‘선불입금/후불입금’은 현행 ‘분유(선불/후불)’로 정리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5CCEB-29FD-4D0B-88A4-39855B0C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81150"/>
            <a:ext cx="2876550" cy="3028950"/>
          </a:xfrm>
          <a:prstGeom xmlns:a="http://schemas.openxmlformats.org/drawingml/2006/main" prst="roundRect">
            <a:avLst>
              <a:gd name="adj" fmla="val 4636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D78A4-9564-4C5C-9163-A4FEBFE0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383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결정한 정책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A16A5-326B-41FD-82B3-18ADA700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86000"/>
            <a:ext cx="238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물품계약(선불)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물품계약(후불)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분유(선불)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분유(후불)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3F2DF-D3F1-4D79-A0E1-174DC466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623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3787F-5A58-4592-BA55-42E91E4F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81425"/>
            <a:ext cx="238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관리자가 등급 × 카테고리 표에서</a:t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결제 방식을 설정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AA130-4D6C-4B27-A3B3-0A7FDCD6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10858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CAE63-3F50-4456-BF13-9C41C26E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244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혼합 주문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47123-66F2-4F41-945F-DC41D94F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48275"/>
            <a:ext cx="842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선불 상품과 후불 상품을 한 주문에 담는 경우 양방향으로 차단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5B5252-2D0F-443F-8206-4727F654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5DBC5A-F207-4EC1-B7BD-19E4E2E8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계정·결제 정책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061F56-8020-4568-8544-D6BB9E63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4093034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D211B8-C599-4E83-83ED-89A295EE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911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핵심 흐름 가동 후 오출고와 CS 문의 변화를 관찰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43ABB-C9A2-49AD-B38F-14E236B8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72F01-30ED-43F9-8658-B43326D6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초기 결과와 측정하지 못한 항목을 함께 표기했습니다.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7F47F-5CF4-43FD-AFA9-D73D9E64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3667125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EA2CF-101F-4179-AB33-6F7EFFF5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오출고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2523D-4861-41FB-B7E4-9A0A11D3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3171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월평균 2~3건  →  0건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672D0-58E8-4861-89D5-D0ECAA3E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9875"/>
            <a:ext cx="3171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직전 6개월 평균과 2026-07-16 이후 약 1개월 전체 측정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3C0D8-0F09-4F4A-B1B0-69DA311E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57575"/>
            <a:ext cx="3667125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778AC-17A6-4F2E-855B-2FBEF1CF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CS 문의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2974F-D765-40C1-86DB-9740D84C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3171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32건  →  19건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EBEDE-F487-4EF9-B323-B5894723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76775"/>
            <a:ext cx="3171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2026-01~2026-06의 2주 환산치와 2026-07~2026-08 배포 구간 2주 집계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9663D-B97E-4726-BF2B-53E7517A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90675"/>
            <a:ext cx="6838950" cy="3562350"/>
          </a:xfrm>
          <a:prstGeom xmlns:a="http://schemas.openxmlformats.org/drawingml/2006/main" prst="roundRect">
            <a:avLst>
              <a:gd name="adj" fmla="val 3743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8F7D7-FA11-4CC8-84B9-3CAD1117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28800"/>
            <a:ext cx="634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운영 상태를 확인한 실제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7C0C9-2476-4C00-9644-903819FD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28850"/>
            <a:ext cx="64198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e2a0f9ea444b1"/>
          <a:stretch xmlns:a="http://schemas.openxmlformats.org/drawingml/2006/main"/>
        </p:blipFill>
        <p:spPr>
          <a:xfrm xmlns:a="http://schemas.openxmlformats.org/drawingml/2006/main">
            <a:off x="4914900" y="2269448"/>
            <a:ext cx="6343650" cy="1299928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599EB-632A-4146-BA61-ACFE7B97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67125"/>
            <a:ext cx="4648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실운영 마이페이지 발췌 · 주문 현황은 운영 화면 구조 확인용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DCA04A-8941-4AED-A1D0-927EB8C1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862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확인한 변화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BB6F85-9530-4050-ACF8-21400E72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491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 상태를 직접 확인할 수 있는 흐름과 운영 안내가 가동되었습니다.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93F192-C15D-4207-80FF-EAD09927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52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관찰 범위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93CDCC-6A39-4570-8DDB-FD540838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05325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초기 운영 약 1개월. 입금 대조 시간과 장기 지속 효과는 미측정입니다.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1E968-A6A4-4F0F-9729-74AABDB6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8585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E8EAF9-0044-43E2-96C5-16158AAE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483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결과 해석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E5487A-0BA8-4195-B643-E094873F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81650"/>
            <a:ext cx="899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초기 운영 결과는 오출고와 CS 문의로 확인했습니다. 입금 대조 시간과 장기 지속 효과는 후속 측정 항목입니다.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E986E7-A84C-4D99-BBEE-021E3AF0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5DD76F-72BB-4776-9FCD-B6E2003A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결과와 측정 경계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F080DE-4F02-48FD-B546-86441171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18217156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박종혁</dc:creator>
  <lastModifiedBy>박종혁</lastModifiedBy>
  <dc:title>박종혁 PM 포트폴리오 v4.1</dc:title>
  <dcterms:created xsi:type="dcterms:W3CDTF">2026-09-16T23:37:21.8300000Z</dcterms:created>
  <dcterms:modified xsi:type="dcterms:W3CDTF">2026-09-16T23:37:21.8310000Z</dcterms:modified>
</coreProperties>
</file>