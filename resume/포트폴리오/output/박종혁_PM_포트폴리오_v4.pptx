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37ad64b2f4b98" /><Relationship Type="http://schemas.openxmlformats.org/officeDocument/2006/relationships/extended-properties" Target="/docProps/app.xml" Id="R9df2800317424175" /><Relationship Type="http://schemas.openxmlformats.org/officeDocument/2006/relationships/officeDocument" Target="/ppt/presentation.xml" Id="R5027eb7fa955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8ba9128684fa6"/>
  </p:sldMasterIdLst>
  <p:notesMasterIdLst>
    <p:notesMasterId xmlns:r="http://schemas.openxmlformats.org/officeDocument/2006/relationships" r:id="Ra51c19a99f9b4ae4"/>
  </p:notesMasterIdLst>
  <p:sldIdLst>
    <p:sldId xmlns:r="http://schemas.openxmlformats.org/officeDocument/2006/relationships" id="256" r:id="R04e9a63c97724bdb"/>
    <p:sldId xmlns:r="http://schemas.openxmlformats.org/officeDocument/2006/relationships" id="257" r:id="Rba144f389e1b4733"/>
    <p:sldId xmlns:r="http://schemas.openxmlformats.org/officeDocument/2006/relationships" id="258" r:id="Ra5e8d29ebfcc4a28"/>
    <p:sldId xmlns:r="http://schemas.openxmlformats.org/officeDocument/2006/relationships" id="259" r:id="Rea9f7b55d37c4256"/>
    <p:sldId xmlns:r="http://schemas.openxmlformats.org/officeDocument/2006/relationships" id="260" r:id="R96bdcc5852bd4017"/>
    <p:sldId xmlns:r="http://schemas.openxmlformats.org/officeDocument/2006/relationships" id="261" r:id="R8c983225763d4d9b"/>
    <p:sldId xmlns:r="http://schemas.openxmlformats.org/officeDocument/2006/relationships" id="262" r:id="Rbf25500cf1c44026"/>
    <p:sldId xmlns:r="http://schemas.openxmlformats.org/officeDocument/2006/relationships" id="263" r:id="Rcab786a79bc84765"/>
    <p:sldId xmlns:r="http://schemas.openxmlformats.org/officeDocument/2006/relationships" id="264" r:id="R80b63923771240f5"/>
    <p:sldId xmlns:r="http://schemas.openxmlformats.org/officeDocument/2006/relationships" id="265" r:id="R4c88e746b81946f5"/>
    <p:sldId xmlns:r="http://schemas.openxmlformats.org/officeDocument/2006/relationships" id="266" r:id="Ra99cd1d6f7ba4657"/>
    <p:sldId xmlns:r="http://schemas.openxmlformats.org/officeDocument/2006/relationships" id="267" r:id="R50f34a3b6e8c4655"/>
    <p:sldId xmlns:r="http://schemas.openxmlformats.org/officeDocument/2006/relationships" id="268" r:id="Rd7a13d8615e34d4c"/>
    <p:sldId xmlns:r="http://schemas.openxmlformats.org/officeDocument/2006/relationships" id="269" r:id="R54fbc65879124969"/>
    <p:sldId xmlns:r="http://schemas.openxmlformats.org/officeDocument/2006/relationships" id="270" r:id="R7ba97ee0ce8843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c8d8dbee66451b" /><Relationship Type="http://schemas.openxmlformats.org/officeDocument/2006/relationships/slideMaster" Target="/ppt/slideMasters/slideMaster1.xml" Id="R7908ba9128684fa6" /><Relationship Type="http://schemas.openxmlformats.org/officeDocument/2006/relationships/notesMaster" Target="/ppt/notesMasters/notesMaster1.xml" Id="Ra51c19a99f9b4ae4" /><Relationship Type="http://schemas.openxmlformats.org/officeDocument/2006/relationships/presProps" Target="/ppt/presProps.xml" Id="Radec36f488a04444" /><Relationship Type="http://schemas.openxmlformats.org/officeDocument/2006/relationships/tableStyles" Target="/ppt/tableStyles.xml" Id="R062bf5db6d62498f" /><Relationship Type="http://schemas.openxmlformats.org/officeDocument/2006/relationships/slide" Target="/ppt/slides/slide1.xml" Id="R04e9a63c97724bdb" /><Relationship Type="http://schemas.openxmlformats.org/officeDocument/2006/relationships/slide" Target="/ppt/slides/slide2.xml" Id="Rba144f389e1b4733" /><Relationship Type="http://schemas.openxmlformats.org/officeDocument/2006/relationships/slide" Target="/ppt/slides/slide3.xml" Id="Ra5e8d29ebfcc4a28" /><Relationship Type="http://schemas.openxmlformats.org/officeDocument/2006/relationships/slide" Target="/ppt/slides/slide4.xml" Id="Rea9f7b55d37c4256" /><Relationship Type="http://schemas.openxmlformats.org/officeDocument/2006/relationships/slide" Target="/ppt/slides/slide5.xml" Id="R96bdcc5852bd4017" /><Relationship Type="http://schemas.openxmlformats.org/officeDocument/2006/relationships/slide" Target="/ppt/slides/slide6.xml" Id="R8c983225763d4d9b" /><Relationship Type="http://schemas.openxmlformats.org/officeDocument/2006/relationships/slide" Target="/ppt/slides/slide7.xml" Id="Rbf25500cf1c44026" /><Relationship Type="http://schemas.openxmlformats.org/officeDocument/2006/relationships/slide" Target="/ppt/slides/slide8.xml" Id="Rcab786a79bc84765" /><Relationship Type="http://schemas.openxmlformats.org/officeDocument/2006/relationships/slide" Target="/ppt/slides/slide9.xml" Id="R80b63923771240f5" /><Relationship Type="http://schemas.openxmlformats.org/officeDocument/2006/relationships/slide" Target="/ppt/slides/slide10.xml" Id="R4c88e746b81946f5" /><Relationship Type="http://schemas.openxmlformats.org/officeDocument/2006/relationships/slide" Target="/ppt/slides/slide11.xml" Id="Ra99cd1d6f7ba4657" /><Relationship Type="http://schemas.openxmlformats.org/officeDocument/2006/relationships/slide" Target="/ppt/slides/slide12.xml" Id="R50f34a3b6e8c4655" /><Relationship Type="http://schemas.openxmlformats.org/officeDocument/2006/relationships/slide" Target="/ppt/slides/slide13.xml" Id="Rd7a13d8615e34d4c" /><Relationship Type="http://schemas.openxmlformats.org/officeDocument/2006/relationships/slide" Target="/ppt/slides/slide14.xml" Id="R54fbc65879124969" /><Relationship Type="http://schemas.openxmlformats.org/officeDocument/2006/relationships/slide" Target="/ppt/slides/slide15.xml" Id="R7ba97ee0ce8843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27810e346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c70493dab64f20" /><Relationship Type="http://schemas.openxmlformats.org/officeDocument/2006/relationships/notesMaster" Target="/ppt/notesMasters/notesMaster1.xml" Id="Rff0e103343a445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e3ff36e99c42ef" /><Relationship Type="http://schemas.openxmlformats.org/officeDocument/2006/relationships/notesMaster" Target="/ppt/notesMasters/notesMaster1.xml" Id="Rbb6c6ae6179149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ab22af06484c42" /><Relationship Type="http://schemas.openxmlformats.org/officeDocument/2006/relationships/notesMaster" Target="/ppt/notesMasters/notesMaster1.xml" Id="R1596d1162e5341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7f909b32b451a" /><Relationship Type="http://schemas.openxmlformats.org/officeDocument/2006/relationships/notesMaster" Target="/ppt/notesMasters/notesMaster1.xml" Id="R004020e6bc0c44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f55501e31444b" /><Relationship Type="http://schemas.openxmlformats.org/officeDocument/2006/relationships/notesMaster" Target="/ppt/notesMasters/notesMaster1.xml" Id="R2a67aa0db509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89cba720974959" /><Relationship Type="http://schemas.openxmlformats.org/officeDocument/2006/relationships/notesMaster" Target="/ppt/notesMasters/notesMaster1.xml" Id="R9f425fe32f194c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0f5ad43d03456b" /><Relationship Type="http://schemas.openxmlformats.org/officeDocument/2006/relationships/notesMaster" Target="/ppt/notesMasters/notesMaster1.xml" Id="Raa1edbe768d644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1564aac55549b2" /><Relationship Type="http://schemas.openxmlformats.org/officeDocument/2006/relationships/notesMaster" Target="/ppt/notesMasters/notesMaster1.xml" Id="R3c037939905743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068043cf7843ee" /><Relationship Type="http://schemas.openxmlformats.org/officeDocument/2006/relationships/notesMaster" Target="/ppt/notesMasters/notesMaster1.xml" Id="R0a46af7e5f424d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14a09848444632" /><Relationship Type="http://schemas.openxmlformats.org/officeDocument/2006/relationships/notesMaster" Target="/ppt/notesMasters/notesMaster1.xml" Id="Rd608392f6397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00e6e910654fbd" /><Relationship Type="http://schemas.openxmlformats.org/officeDocument/2006/relationships/notesMaster" Target="/ppt/notesMasters/notesMaster1.xml" Id="R8ee3922029b348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4c264e6ea4569" /><Relationship Type="http://schemas.openxmlformats.org/officeDocument/2006/relationships/notesMaster" Target="/ppt/notesMasters/notesMaster1.xml" Id="R5c322469521b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44141a15304223" /><Relationship Type="http://schemas.openxmlformats.org/officeDocument/2006/relationships/notesMaster" Target="/ppt/notesMasters/notesMaster1.xml" Id="R94d4b820025e40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80606098ac4b1a" /><Relationship Type="http://schemas.openxmlformats.org/officeDocument/2006/relationships/notesMaster" Target="/ppt/notesMasters/notesMaster1.xml" Id="R0c636806e89841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988ad168624507" /><Relationship Type="http://schemas.openxmlformats.org/officeDocument/2006/relationships/notesMaster" Target="/ppt/notesMasters/notesMaster1.xml" Id="Rae7477d2eb5c41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2867a464e42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0ab849ba340ff" /><Relationship Type="http://schemas.openxmlformats.org/officeDocument/2006/relationships/slideLayout" Target="/ppt/slideLayouts/slideLayout1.xml" Id="Reaf9ee2659a8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9ee2659a8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bd17bd3d54179" /><Relationship Type="http://schemas.openxmlformats.org/officeDocument/2006/relationships/image" Target="/ppt/media/image.png" Id="R3fc54e181e0844e7" /><Relationship Type="http://schemas.openxmlformats.org/officeDocument/2006/relationships/notesSlide" Target="/ppt/notesSlides/notesSlide1.xml" Id="R933f72e64f874f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fd4783c4f4ada" /><Relationship Type="http://schemas.openxmlformats.org/officeDocument/2006/relationships/notesSlide" Target="/ppt/notesSlides/notesSlide2.xml" Id="R398d4a0c35f8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66a44afed4083" /><Relationship Type="http://schemas.openxmlformats.org/officeDocument/2006/relationships/notesSlide" Target="/ppt/notesSlides/notesSlide3.xml" Id="R43441415481e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ad6a9a2d94c07" /><Relationship Type="http://schemas.openxmlformats.org/officeDocument/2006/relationships/notesSlide" Target="/ppt/notesSlides/notesSlide4.xml" Id="R0953252ebbc249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ef01575a44a18" /><Relationship Type="http://schemas.openxmlformats.org/officeDocument/2006/relationships/notesSlide" Target="/ppt/notesSlides/notesSlide5.xml" Id="R38bd067663824f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00a0a4e46456c" /><Relationship Type="http://schemas.openxmlformats.org/officeDocument/2006/relationships/notesSlide" Target="/ppt/notesSlides/notesSlide6.xml" Id="Rd3f6b6a0d0d6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277a43254d0b" /><Relationship Type="http://schemas.openxmlformats.org/officeDocument/2006/relationships/notesSlide" Target="/ppt/notesSlides/notesSlide7.xml" Id="R8b1db06ee04144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d028485574acc" /><Relationship Type="http://schemas.openxmlformats.org/officeDocument/2006/relationships/notesSlide" Target="/ppt/notesSlides/notesSlide8.xml" Id="R0650ef49f05c4f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7d04fd78948c6" /><Relationship Type="http://schemas.openxmlformats.org/officeDocument/2006/relationships/notesSlide" Target="/ppt/notesSlides/notesSlide9.xml" Id="R013296b97ddc47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9644d90a346ed" /><Relationship Type="http://schemas.openxmlformats.org/officeDocument/2006/relationships/notesSlide" Target="/ppt/notesSlides/notesSlide10.xml" Id="Rf94131ab35ca44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49360c154bee" /><Relationship Type="http://schemas.openxmlformats.org/officeDocument/2006/relationships/notesSlide" Target="/ppt/notesSlides/notesSlide11.xml" Id="R429bbbd6e6e74b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b59ea2f1f41e8" /><Relationship Type="http://schemas.openxmlformats.org/officeDocument/2006/relationships/notesSlide" Target="/ppt/notesSlides/notesSlide12.xml" Id="Rbddcc975a9db4c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203a3fc0049a9" /><Relationship Type="http://schemas.openxmlformats.org/officeDocument/2006/relationships/notesSlide" Target="/ppt/notesSlides/notesSlide13.xml" Id="R6ac56778d23840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1acfd539d4a9d" /><Relationship Type="http://schemas.openxmlformats.org/officeDocument/2006/relationships/notesSlide" Target="/ppt/notesSlides/notesSlide14.xml" Id="Rdf72a28eed2a48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5eb4ad6b24ff5" /><Relationship Type="http://schemas.openxmlformats.org/officeDocument/2006/relationships/notesSlide" Target="/ppt/notesSlides/notesSlide15.xml" Id="R85467515d17c43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8E9CD-CB3F-44E9-896F-C0FE296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D353E-FC30-410C-9750-606F7F72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9B2C4-C688-4DB2-9198-43AC800C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구조화하고</a:t>
            </a:r>
          </a:p>
          <a:p xmlns:a="http://schemas.openxmlformats.org/drawingml/2006/main">
            <a:pPr algn="l">
              <a:def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FF41-4E1F-456C-9C52-14210AA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619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요청을 문서로 남기고, 역할과 완료 기준을 정한 뒤</a:t>
            </a:r>
          </a:p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환경에서 결과를 확인했습니다.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C40A5-CB3E-4E6D-B36D-31BA4789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CBB26-EA78-411E-8070-AC2F8CFF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13643-04AA-45D4-8558-36012893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5AE5B-EB69-471A-8A07-FBE438C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88656-F2E1-4CCD-B29F-7714B00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 조율 · 데이터 계약 · 오류 재처리 ·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9D988-9C6D-4C41-BCD3-1A1AA2E8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38575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B2FF6-65FB-4194-B4A5-DE1CF15D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C035C-073A-45D8-880A-455E3BB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862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497DD-BA71-4881-AF9B-6BCA019F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712EB-CE6C-41E1-B23F-AEFC9AC9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정책 · 상태 관리 · 운영 QA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50027-A1DD-4DE9-BB87-ED7F34F5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54e181e0844e7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2B02C-6752-449D-87D6-D1466788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290FF-5731-47ED-AFEB-C01A99C2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2D4AD-CC8E-4A06-A268-E04A4003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4D7E1-7852-496D-B188-CF693C72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E63D3-C608-485F-B89B-E274BD2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9152B-BC5B-46A3-963A-0ED4EFB2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974187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F785C9-06C6-469D-9201-25EE95A8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BA5B7-21C1-4F72-9FED-F538168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 업무와 연결되는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F8A7F-051E-467C-9F8B-C77BB7BD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A0C1E-1C6C-4467-9FE8-AFB9394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3D478-CB1F-4F97-9C63-B4BFE86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경험을 직함이 아니라 산출물과 운영 행동으로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24599-CCA4-456F-8617-DA2227C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업무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1A17D-A65E-468C-B3CD-4E96EDD7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9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E2A2E-2F90-4B04-A7FB-1203BB18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9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산후조리원 B2B몰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A9A6E-555C-493E-B5CB-A03A398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097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공통 증거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613FD-6C46-4D36-9328-791FABE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C6034-D280-43B7-A243-3067B0E2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2BC10-1BBC-4911-8BF5-7071DA4C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EA5C0-2D33-4BF8-AF4B-20E8091F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리스크·질의대장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5CDA2-F255-4AC5-ACE0-47187BA0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요구사항 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884EE-12DC-488C-946C-616A8FAF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66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누락 방지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EA6F8-C54C-4CAA-B3D6-62E6F69C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 조율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E0071-62C8-4D97-8A7D-CBEE466B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API 요건·인증·통관 경로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8C09E-55D9-49A8-8570-2D9706E4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575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고객사·공급사 운영 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BC011-0CA2-4E66-832A-0B78B496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회신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713E0-1F5E-4005-8BF4-10F6B010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8E8A8-24CD-4885-9B6F-A1D276E4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상태 추적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E959E0-05B3-4235-A1C9-3B12F05C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우선순위·결정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85DA1-EB3D-4BA2-9FDE-49929BF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ID·상태·완료 정의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40C40-C631-4EE6-AE02-F0584F27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조치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BC0DD-5056-4BF1-B1DD-33E0E9A4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기술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2545B-4276-4778-ABD6-29A591BD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38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필드 매핑·분할출고 규칙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94AEA8-7C69-4E4E-B5E8-C829EFEF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정책 매트릭스·권한표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63639-E92F-4057-A7FC-FA23B7EC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386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전달 가능성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32970-E5EF-406C-800B-6B7B4A50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55B50-9B70-4070-B989-BBEB10E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검증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52447F-E123-4E6D-B0EE-EE1A15E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운영 환경 30건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21A044-D906-47A5-BB12-C7D7705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서버 UAT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44CE7-7245-4385-9733-3170E899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증거 기반 완료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BB49F-B52F-48B5-818E-3967665E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714BC2-CA15-4164-A84E-2A0C0C1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정식 회의록·기술영업 직접 경험은 확인된 경력으로 과장하지 않았습니다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DF375-69A5-4A39-92B5-AFD4558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6034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D507F-430C-42B2-BE13-65BE03F4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89529-FCE1-42DB-B232-E6CF7E93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D8C79-A819-4A3C-9947-4E0EB22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 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1F30E-C108-4A56-8695-CC62622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법·제도 대응을 시스템 요건, 데이터 계약, 오류 복구와 운영 검증으로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0A6BC-15AF-4F89-9A8A-FF6C40A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82381-0124-44E4-932D-C59963A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331F-1715-4485-8348-A539EF3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D06B0-3716-40CA-8BA4-03AC2790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 착수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2B75C-33C7-49EB-B9B7-CDE68AB8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FA59A-0CF5-4FEE-99FA-FD1AD2C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테스트 서버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88B92-26AB-4503-A705-DB26D1E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78BF9-72ED-409C-B874-44897ACF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오픈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E0481-8984-4DE3-8ADB-9D225AD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2026.09.15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666DA-8CDB-465C-B40C-E001968E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B5838-3AE4-4E1E-8A2C-E38CDAD4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6FE2B-BFAF-472F-B306-B7AF25F9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A69E1-8514-4B47-8793-946AA11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본인인증 두 경로, 오류 수정·재제출 정책, 외부 API 요건 조율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9BB26-1F2F-4BB9-9D78-8E4D4F4B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068F3-833B-4344-95FB-FB3A9F66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리스크·질의대장 · API 필드 매핑 · 결정 이력 · 분할출고 규칙 · QA 시나리오</a:t>
            </a:r>
          </a:p>
        </p:txBody>
      </p:sp>
    </p:spTree>
    <p:extLst>
      <p:ext uri="{BB962C8B-B14F-4D97-AF65-F5344CB8AC3E}">
        <p14:creationId xmlns:p14="http://schemas.microsoft.com/office/powerpoint/2010/main" val="1850674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F15484-D2A9-472A-871C-7239A85F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287FA-30FA-473B-AEA7-FF9710C8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받기 전에 책임과 데이터 경계부터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F2C15-BCC0-4087-965D-76AA2F73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DBCCF-C0A5-45EE-8663-CF31CC5E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A7787-DD08-4B5A-9157-9EC0C1E0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연동 실패의 원인을 기능 부족보다 정보 주체와 처리 기준의 불일치에서 찾았습니다.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A48B4-0DD1-48C7-995C-E6081709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E307E-FE8A-499E-AE09-2E6D6A1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9717A-F73A-43FE-BC70-CCCD73B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정보 주체 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E50B8-1415-4979-A0ED-52A830D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쇼핑몰·본인인증·ERP/WMS·통관 업무가 서로 다른 기준으로 정보를 보유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E446F-5B15-42B8-B40D-E995FF8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21F4B-4BAF-43B2-8C31-8D925847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88E1A-E8D6-4C81-A525-D872F90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분할출고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3BB56-663B-4503-AB33-7FCBB2F0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주문·포장·HBL·신고 단위를 같은 기준으로 맞춰야 하는 상황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FD3B5-DAE4-4560-9F8E-273C937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4004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45CBB-9F22-4613-81F2-F16AB176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115A4-26B9-4F3C-B1B7-93B57FE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2981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E3151-1873-420B-86F9-AECCC32D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981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어떤 오류를 어디서 고치고 어떻게 다시 제출할지 운영 합의가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2A8AF-A676-4B4C-982D-B43A816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프로젝트 목표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7C0A8-8699-4133-A2CD-2A4D7A0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90510-E7EB-4534-8BF5-8637E087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유형 · 데이터 필드 · 처리 상태 · 오류 복구 · 검증 기준을 하나의 운영 계약으로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B2F4D-415A-4B1F-A6F4-3123CE03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역할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5B001-B8F6-4C63-BBF6-C8A94325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3402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구조·정책·요건·검증 기준은 직접 정리하고, 개발 구현과 통관 신고 수행은 관계사 역할로 분리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D01B4-97EB-4E4F-BE81-7C7E7B60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D22B4-5164-4E63-B464-31137CD3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1C8BD-83C8-4095-BDF3-2EB5A1F3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979938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29DB78-A712-4D51-AFDD-1850043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A7A9B-22A6-4733-B032-F7FA7A7F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질문·리스크를 결정과 후속 조치까지 추적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F0E8F-6358-4B69-84CC-C39B72A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AAD82-FE8B-4B96-81B1-BAA6F16B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93B2-13A7-41B8-9869-690D6159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담당자와 기한을 꾸미지 않고, 확인된 우선순위·상태·근거만 남겼습니다.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3CE32-0EF8-4D29-A104-1A9D35D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1C8EE-CABE-4EC4-9DC0-A4F8A94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76F02-1340-4D0E-83A1-7CF5218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요청·쟁점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01926-AA14-4A52-B2C4-1C1A49DD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질문과 위험을 한 대장에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2B1BA-2895-4E0B-B1F9-53F7888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39534-77AC-45A4-B98C-56FFB66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B93AD-F696-400F-8749-FC2DD12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우선순위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F9910-9D3F-4D3C-A211-A574B3A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오픈·법규·데이터 영향으로 분류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20575-F1DC-4246-A183-2550F871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5E75B-B03A-42A9-9A5F-8F92B0EA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91130-45F2-4A95-ADF1-1273B44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787E3-9911-400C-89B4-269AFC0B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선택 기준과 범위를 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19CDC-63B4-4837-88A2-4AE67539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5A248-F932-480E-9B4F-21FEFBD3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3A72D-AA4C-4D17-977A-ED490A6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회신·조치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09018C-E675-4211-AECB-BF246B7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관계자 답변과 후속 작업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85512-C914-4352-80B8-A64BC0DB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9725"/>
            <a:ext cx="19621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5FF04-E552-4E50-A9E1-4710A98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7430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6E57A-72B1-4015-8DF6-6B3C63FE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240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 근거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D75DD-EB46-4A2B-A060-67AF4698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85975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문서·테스트 결과로 완료 판단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9955D-853C-478F-BE41-B7212E8E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2026-08-26 대장 스냅샷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92E4B-6176-4BC6-BFEE-92C1E4E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33775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10781C-14AF-4C6A-BD46-7736BACC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24062A-C9C1-4FF8-AD12-2E76ED3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해결 또는 기준 확정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00922-C541-4F9A-B5B1-766235A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2EC3CD-1C3F-41B1-B317-7D97E8F8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P0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BC330-FFAF-40F3-A230-C694154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오픈 차단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1A9AC-A55F-4DA4-AA16-99A3646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8F10E-E486-483B-AE96-A93BA7A5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P1 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0F467A-26AC-4F6C-8135-CC35A087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경로 영향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0752E-FA50-4BA7-A903-BFA813C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33775"/>
            <a:ext cx="2000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83ED25-FFCB-47FC-B1C6-6007E3CA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P2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18A4B6-6413-403A-BE34-620A0BA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910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후속 보완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E5E19D-B402-4860-B3E5-BA43937A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33775"/>
            <a:ext cx="16573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7047B9-1196-4D69-962A-815F61F3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052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판단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24EBA0-739A-4185-BEDB-9F3D2103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57650"/>
            <a:ext cx="1314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답변 수신이 아닌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기준 확정 또는</a:t>
            </a:r>
          </a:p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검증 근거 확보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18581D-B93A-4450-9F2B-20341BF0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858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0D4CBF-F8F0-4554-B6FE-713C785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관리 필드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AAF9D1-7E11-4BBB-95BD-6973587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쟁점 · 우선순위 · 상태 · 결정 근거 · 검증 자료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A5B1D2-0919-493D-BC13-D6D732A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816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개별 담당자·기한은 확보된 근거가 없어 외부 제출본에서 제외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588340-4B58-42D9-B201-EE784AA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8EA5A2-680A-4945-84F9-B89964E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BCC7EC-F12A-45BB-8A86-15747FB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020989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6D4DB4-7ECF-4C4C-AC70-0EA979A9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65668-F313-4574-941D-E8BDCDC0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연동 구조와 책임 범위를 같은 그림에 표시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E1E5-7750-4607-96BE-E3572CA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B80AD-1D03-42A2-A3F6-36488F11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D5E62-5AAF-4A29-A8B4-A0C700A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데이터가 지나가는 경로와 결정 주체를 분리해 전달 오류를 줄였습니다.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B1C24-EB12-4B62-A4B7-172C4580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8E97-E858-4F14-833B-D7E53B47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39E74-F88D-4634-AF8F-0295EC0C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주문·상품·수취인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79FCC-9FE5-4330-B0CA-355A7896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9050">
            <a:solidFill>
              <a:srgbClr val="1B4F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FEE1E-2104-43A8-8012-80BCBD64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4F537-EBCC-4B2B-BE56-FC046413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수집·정규화·전송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E27CE-FA51-4A3F-8F5B-CC8B73C4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06E16-237E-435E-9973-7BF0318E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ERP / WMS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C8FB1-B00B-4D43-8CE1-CA8128E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출고·포장·운송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43608-2EBB-4F4E-BD91-77447D4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04975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E70C5-C482-4392-AF15-863A98F9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924050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업무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6010C-DD88-4722-B919-8ABFD75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신고 응답·오류 반환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384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816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24875" y="22764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FB2E0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90EB1-BFE2-4FD3-B68B-C125D23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내 책임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96A2E-2378-428B-9DF0-31DC5BDD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4EC65-34D9-4D92-9A23-00904B1E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연동 구조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181F6-9592-4D14-B60C-AF66BA1D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 중심의 데이터 흐름과 경계 정리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BF24B-10BE-4497-88E7-3301E247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1475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ED35D-C16A-42FD-B501-6A4424E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052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E0957-F400-4244-9C35-5FCA3654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8620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본인인증 두 경로와 오류 수정·재제출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32C82-963E-4D6E-A979-53E283E7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E33D5-D29F-42A9-A2F9-AA514613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문서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3CE56-5576-42B0-8A5C-2352CED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필드 매핑·결정 이력·분할출고 규칙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9FC85-8730-47DE-8FC8-79B54C1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10100"/>
            <a:ext cx="5219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DD883A-AF68-4871-954F-729EDEA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95A69-5AEE-4A89-890F-0CC97061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815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기대 응답과 운영 환경 테스트 기준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93ED3-11E9-4E91-8C03-E62D960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FA3496-7A79-4606-A19D-4EC7692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7690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개발사는 구현, 통관 대행사는 신고 수행. 박종혁은 요건·정책·상태·QA를 연결했습니다.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7A83DD-74A7-4F6E-AD68-4F6B5E57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41316-E3A9-49C9-8813-E852F2C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1FB108-111E-498A-8EE6-4B5CFF85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434118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F2534D-FAEC-4205-94F5-AA7AAB8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73DD5-EEB0-4FDD-A49B-0B3EB91B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데이터 계약과 오류 복구 기준을 문서화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2F35-CE87-4988-BD5E-3C96A54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7F395-D24F-46B1-BF09-2CC0EFF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BFFAA-9B1E-417A-B2E2-5F351AE4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필드 이름보다 주문·포장·신고 단위가 일치하는지 먼저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A1632-2F35-44AD-A498-5808024C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858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0A750-E8D6-4408-9218-47AD57F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분할출고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457A0-C335-43AA-885E-89A1977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90700"/>
            <a:ext cx="852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EBE7F-133D-4D78-AFE6-A79E91D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86000"/>
            <a:ext cx="852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주문 수량이 아니라 실제 출고 포장 단위로 신고·운송 식별자를 맞춤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29D7B-450D-4ED7-9A1A-9CCC7F2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필드 매핑 묶음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0EB7F-BB87-48A3-BAB2-6FFB609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38BB8-5247-4864-A13C-812842D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46E1D-C7E2-4DE4-A9C7-C23F8FD1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채널 주문과 거래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C934E-5A7B-4842-B62F-C22C0984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63D09-D472-421D-854D-CC88808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상품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DA453-FFA5-43D5-9A99-66580FB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품목·수량·신고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0A8A0-557A-4C91-9702-A06CDD3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C01E9-A60C-492E-A04F-0AC0F83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수취인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691DB-8CDB-4AFA-B09F-155DFF9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통관 식별·본인확인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2E52B-F5F1-4D22-A0F7-9F329426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4765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4E40D-D98C-4126-9811-B3D59766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출고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1C20-AD59-4BD5-864B-894DCE3B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338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포장·HBL/HWB 단위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A6593-7370-4835-9E4F-9249265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처리 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9B3C2-58B6-4EE7-B816-5AF15230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B0E89-A9D9-4A9C-B0F1-BA8A590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주문 유형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9E5B7-B43A-4FCE-AB69-12B0555A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3A5F0F-BD0C-4B03-B597-FFC247BE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32FDC-64DB-4CA0-AA23-71AEB56D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경로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EF3F0-9036-410C-810F-885F5A1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14F29-F81A-4828-BD3D-8FFA04FF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9B5F0-6D4C-413E-884F-2CC84C26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응답 수신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734AE1-D766-45BF-BE2B-1E178610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10A64-3D72-4B64-8D0C-614D2719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BCFDA-46EB-4BA9-8A84-162D738E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오류 반환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A9AE85-4599-4818-BF2C-DA6F4CD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200C9-DD93-47BB-9744-78A555D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E78C2E-2E0D-4DEA-A488-C131257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원천 수정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27A1C4-0A21-45FE-BDB1-3F47B79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29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6D6EEF-7E93-4067-A7E8-86D208EF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048250"/>
            <a:ext cx="1619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92AC27-1B57-43B4-B4A9-DC36002C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578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재제출·검증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68DAA2-0AE4-4FEA-B01F-7856F2E5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연동과 기존 운영 경로를 병행했으며 자동 처리율은 측정하지 않았습니다.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7C7CCE-2764-45E7-8C55-4622669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0BCAF9-B90F-492A-A42B-5D0C48C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6982AA-BDCC-416C-AE93-4E79EB6A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918890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26BAC-080B-4503-AC89-1D87BFC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6BC7-46EA-4737-A7FB-DED4FBEF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테스트 목적과 운영 결과를 분리해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2F675-6446-4BC3-9900-02CA8278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2B872-4290-4097-B02B-F79F042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45B23-7D51-48F7-8CA6-8BB8290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통과가 자동화율을 뜻하지 않도록 범위와 한계를 함께 적었습니다.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B6C66-63F2-4CA9-B2F7-32BCB3FE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환경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FBF4C-F9ED-4A81-BE01-DC55DDA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75DF0-035F-415C-B9B4-4FF4F8F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90E8B-CFA2-4627-BD8D-5C2CDA5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6C63E2-3F02-48A5-BC47-82018377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기대 형식으로 접수되는지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AE39F-2FE5-451C-8291-2D003ECC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1A5B4-AAF2-45C8-89CD-6C83BDF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0E837-A4CC-483B-85C4-7D56037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5576B-DA80-4F20-B1C6-86AFF9F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오류 응답이 기준대로 반환되는지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B5228-86DB-4280-AE1C-DEDB8C4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2DF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8314C-12ED-4B98-9EDF-6A54349D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4F8AB-602A-4559-88B6-AD4989D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4792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58193-F2E5-496F-B367-96B79CA2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184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원천 수정 후 다시 처리되는지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B40D8-EC80-49F3-8BF3-2FCC536E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4861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B0409-D855-481D-B680-ECF333F6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6692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 /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2E88E-2F50-43AD-B914-384F85DC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05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테스트 목적 통과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FD065-4F02-4E0F-B02C-6EA651AA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76575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유형별 건수는 별도 공개하지 않음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351793-865B-4B71-AC3A-2087926C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2026-08-28~09-15 운영 집계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0C8CC-2E07-40F5-95AD-DF017551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6FC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C7EA5-0262-40AB-92F9-0B10472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32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 / 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F23DA-CA7A-444E-AE8D-D4B68843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발생 주문 규모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5641B4-CA32-4BC7-B7DA-6DD7322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6A66B-760D-4BB0-8A46-55F9621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약 230건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1B3E8-E3B7-4405-B8D3-9481D643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자사몰 · 일평균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87C27-326A-4B29-9248-69FA86E0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71950"/>
            <a:ext cx="2286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AB56FE-E3CD-47C4-B39D-A6F93A6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B72C4"/>
                </a:solidFill>
                <a:latin typeface="Malgun Gothic"/>
                <a:ea typeface="Malgun Gothic"/>
                <a:cs typeface="Malgun Gothic"/>
              </a:rPr>
              <a:t>약 70건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48480-55E1-4E4C-84BD-3AB14A96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29175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기타 채널 · 일평균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6148E-B530-4C15-BA1F-CAFCCC2D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71950"/>
            <a:ext cx="304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A32A84-56E1-4852-89F1-7A8D588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4BC49F-2D67-4850-AB87-B277CA5A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291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집계 대상 주문 전체 통관 완료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1B3BC5-8115-4414-969E-EB13D2F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9675"/>
            <a:ext cx="2628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신규 연동 + 기존 방식 병행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1D60D8-6B73-4CA4-853E-25724373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58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74E80-9E96-42D6-BC89-AD4568B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  자동 처리율 · 신규 경로 비중 · 처리시간은 미측정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279D2-3991-4F45-8193-CCA9F74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83705D-0F56-4CBB-B87B-F5C2CA45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DF9A27-D1AE-43A4-AF9F-14B72DA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122852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21CDB-416A-41D5-8DAE-60DDB97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A2484-95A0-4EF4-970F-50EDD0D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0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8CA1F-AB97-430D-B9F6-15EB4F4A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 B2B몰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FB6F4-14C0-4E1D-A925-AB3C6F9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고객사와 공급사의 주문·출고·정산 요청을 계정 정책과 운영 QA 체계로 전환했습니다.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EC8EC-84FA-41E1-B433-E89B07C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33500"/>
            <a:ext cx="3619500" cy="3810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84950-9CF0-4E08-95BE-8B752CD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6223F-BD13-4360-93C2-189E05D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BA146-2920-4D96-8583-A8F01BC1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D850A-82F1-4BE3-A902-9F99DAD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4CBD7-5C81-42C5-8DE2-69EFF04E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개발 착수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DBB66-AE1C-48F3-BCB4-D3A03BC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2026.07.16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EE7CD-DAD1-49C2-B80D-FBE9E6E7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핵심 흐름 전체 가동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842BF-7621-47C9-B279-626AE63C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2026.08.31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6B483-984D-455D-AEBA-CC59B16C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9A59A-EBE7-4388-8E47-CEBBAAF6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F4DF-FC75-47CE-8281-173F551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674C7-79F8-49CD-82E2-FC4EDEA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579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 주문/배송/정산 조율, 몰 정책·요구사항·QA·운영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E94A1-B800-4675-89AD-30E924E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8D132-03AB-4CA6-91E4-C24B686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579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 대장 · 4계정 정책 매트릭스 · 권한표 · UAT 시나리오 · 운영 매뉴얼</a:t>
            </a:r>
          </a:p>
        </p:txBody>
      </p:sp>
    </p:spTree>
    <p:extLst>
      <p:ext uri="{BB962C8B-B14F-4D97-AF65-F5344CB8AC3E}">
        <p14:creationId xmlns:p14="http://schemas.microsoft.com/office/powerpoint/2010/main" val="2605535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94307D-4FB3-47A9-BD7F-474E33A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BEF86-9B76-4505-9FC9-DD1E83B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문제를 요청 주체와 검증 수치로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3C92A-9204-4486-B75D-AC1F506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567C4-CC68-4744-9591-82AA8A6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AD89-29F4-4F28-B4BF-27AAA01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고객사·공급사·운영팀의 불편을 주문부터 정산까지의 업무 구간에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4D745-CBCA-46A9-B05B-13532C4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9F14F-0D30-41DF-9B2F-7171000C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A6DC3-3DE9-438B-93A9-B255B556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F059B-99DE-4FD7-B1B7-E1A5FF6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C406E-5ACF-48BC-BA0F-5E59814C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CDF75-45CD-463E-8384-37095AF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997A8-99A4-4C9C-9975-20FA7F0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착수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2A6B2-DF50-4C01-B1EF-D9E717C3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0037C-23D8-404F-B9DC-91A1A58B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07.16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B334D-160C-4FCF-902B-CDC45C84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가동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115C3-D60E-4A20-BDA9-9901638B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52681-18DA-4CFB-8464-458D4825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08.06~13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7211D-17F9-44E7-BE9E-D06EBA2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고도화·QA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6B2D2-816E-4300-BA83-878C3F8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743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E9E37-01EE-4B89-B305-23BC141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0383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08.31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D9606-55FB-485A-B346-A6440669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295525"/>
            <a:ext cx="128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최종 검수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C69E7-28AE-475B-AFB9-9279F070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ED9D1-B971-42D1-98D3-8F67A6A0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800A5-24FF-4809-95C3-E1E42A7B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A68C23-534D-4A36-B3FC-834B2569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8C019-9953-4CF4-87FA-0766855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출고·CS 로그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C1182E-03B3-4DF3-8694-CC27148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F592D-C4CD-4F05-93DC-DDFCCF7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DA478-6682-4271-9EE2-904C97F9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1~6월 2주 환산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B4A08-B33F-4B92-896E-97DA21D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C4C2FB-7A4E-4CAD-8CDF-657A586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문의 분류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2443DD-0234-4C7E-B5DF-E89273F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34004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DA255-B34D-4FE6-9E4B-4757DCC2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94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79C5A4-CB5E-457D-A272-BB4827FD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9975"/>
            <a:ext cx="2943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매일 반복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A77C1-ED73-43A6-A48E-AF641F80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7192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9DA513-E3CE-4844-8106-041CA398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943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근거 · 개선 후 미측정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721D9-CABF-4FC5-95ED-1D45112D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858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95971-06BF-4886-949F-F00E023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14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설계 질문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A3375D-27C3-4423-A8E1-993016B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67350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누가 어떤 계정으로 주문하고, 어떤 결제 방식과 완료 기준을 적용해야 운영 오류를 줄일 수 있는가?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66EA72-1343-49F0-BD63-EF9424C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665EE5-4A17-4EF5-BE2E-5FC9E331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308F25-F0A0-4771-9CDB-EFE8089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4613439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1E929B-6ED7-4D4D-B30A-51D94F8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F7C1E-3386-4453-B162-8C7D171B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기능 수보다 운영팀이 유지할 수 있는 구조를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3F117-8BBC-4BDA-ACE0-8E22485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B3091-4254-4DCD-BD72-42D999F6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9BDC1-FC45-420D-948A-B0C0B36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러닝커브·기존 인프라·유지보수 범위·구축비용을 기준으로 세 대안을 비교했습니다.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9A06C-B201-4172-838F-C9B8B46F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CCDF6-3C8F-4A94-BB64-B40E7C0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운영팀 학습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2D261-4022-4074-953E-42296BDA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9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기존 인프라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BD7A1-EE72-4EE5-A819-19A1D4A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0972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유지보수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B692E-1079-4CD2-A53D-8EAA332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097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787ED-B7B7-46A8-88F1-78682AB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AD89C-2E0B-4588-AC91-F43D014E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31353-097D-419C-BE64-B5157321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맞춤 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5A7A9-B63B-478A-9CDB-28A4A4B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새 업무 습득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028B4-EC2A-4BC7-85C7-EFFC4CE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별도 구축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929C-F926-4953-A5E5-96BC3AAA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자체 유지 범위 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A0258-A8C3-4B34-8006-67B01D85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D519E-1A9E-4059-AF92-44FA8BFB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77D49-9676-43A0-9063-EF09EA6E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타 쇼핑 솔루션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254E0-0B91-4D15-8B13-E5C302F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도구 전환 필요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15F62-F860-42A0-9F6D-6944166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재설정 필요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5765D-65ED-4F79-93BD-08B9A581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솔루션 종속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0B741-2684-496D-8BD3-0327402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7185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AF2975-61A9-449D-8B3A-9CB11C44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5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9050">
            <a:solidFill>
              <a:srgbClr val="9ED4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F15C3-0958-4BFE-B4E9-46E69CF9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 + 정책 커스텀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6EDDE2-5064-445A-BA3B-67D4E5DE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운영 방식 활용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AE8C9-AAF9-47BC-B926-91F1C7EB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815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현재 환경 유지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4705F-9991-4FF0-879A-64DE741F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변경 범위 한정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BB176-C59F-44A7-9F7F-3B72F8C2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381500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55A35-62D9-4DA9-8A10-4AB1C94D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308E7-47A6-4C13-8498-45DE9218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E6557-86B0-43C0-B19C-51435C6F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F7332-12D3-44FC-961E-25BB2FF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88B304-4DF3-460F-AC2C-41A23FED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F99832-257F-42A2-83E0-A750A08F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95950"/>
            <a:ext cx="33909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040D00-B0B4-40B0-B54D-39BDA0F2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DBE4E4-2276-4052-B147-82920A7E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F4381-074D-499E-BABC-D061C19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DBE80-7630-439C-A04F-4F7C9033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672622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72A759-B09E-482C-9292-D81B0BE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9B6F-E791-4A63-A775-C71927A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ID·상태·완료 기준을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F64B3-ECE4-49D3-869D-038C871B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94EA5-8433-44CD-BC10-94E5376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46815-1939-47B6-83E0-F4F2993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 반영 통보와 운영 서버에서의 실제 완료를 분리했습니다.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08780-0B71-46CD-96EF-93D23FD4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요청 유형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57E34-864A-452C-B4F1-69F40844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3FA21-53F7-44DF-B5CC-2EE8E4AC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BR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D2257-9C9E-4B83-BE6A-0FAA213D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CD70D-C4AD-4933-B767-3E25538E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기본 요구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A28E9-93DE-4506-AFEC-953C0AF8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137F-4BDA-4F63-A1D7-A6BD3ED1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B63C7-6487-4D7E-BB42-53ADCED7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EBC38-6662-45B6-BF3E-6412BAB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추가 요구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44D37-1118-43C8-85D6-7A06545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29CE4-2C74-4F49-9A7B-439B7F6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4A1A1-F73E-46AF-8AF3-8F57F5D8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DADDC-AD81-478C-BAAC-5086233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40시간 장부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73B09-B77F-4707-9616-1D599491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4B6B7-6C8E-4946-8CA1-8C15DB16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BUG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08C90-AF99-4C98-A7A7-977F8A1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129D2-2076-4602-80EA-830B8865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6B5ED-158A-44DA-9387-E70FD9A0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19621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58145-C927-4407-A57B-A88ED09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145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D2BD0-8FB6-4658-8DE2-AE5C8F1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4DB85-3E0D-4727-9674-B40C8E40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52650"/>
            <a:ext cx="981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보류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01371-2E44-493D-AA96-B0B740B8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68223-EBDB-484C-BC2A-000F4657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B8632-B42A-4BAA-8B2C-BA27792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BBA14-4AE7-4951-9776-B47C277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9CFB4-6A97-4157-ACD1-B7EA7C4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부분완료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30ADCD-86C5-410B-9D7C-B61B3E9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FFC544-04A8-49A5-8BD5-467489A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QA대기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535F0C-9CE2-4B64-AF55-72AAF78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949E4-E583-46F7-BA45-D0F7646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QA실패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E0552B-1B32-4EF1-9D08-56F09E72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0425"/>
            <a:ext cx="19621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D7C39D-5A8C-47A0-B9A5-FACD334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337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확인불가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8C5EE0-034E-43A2-84DA-51B7558F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19112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ED5ECA-8D65-49C5-ABB2-623521F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완료 정의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772A7-1023-4AA1-BEAA-11621E02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서버에서 기대 결과를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직접 확인한 경우에만 완료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0B7477-F444-4EB7-B627-141F126F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62450"/>
            <a:ext cx="5400675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F6881-78EC-4550-B225-3C3310B0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91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실제 사례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6DC816-1A8A-4706-A25E-AEF48BD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수정 기능 진입 실패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ABB012-FA0A-4911-87F9-3D6E0D0F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운영 서버 미반영 + 기존 차단 로직 잔존을 분리해 확인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971180-22A0-46C0-B81C-3B8250D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A78DD8-E036-496B-9ED5-D3CD83F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2026-08-31 최종 검수를 프로젝트 완료 기준일로 사용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706B91-64AF-400F-AE6E-4E2D5737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7925965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55E43B-FEEC-498E-8485-8832C47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CE1D4-AC9D-492E-B90B-F78B204A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정책과 운영 화면을 같은 기준으로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B36D-4F7D-4806-8F08-CA1EC34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7C64-C984-478D-BB7E-B839284E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4E607-A6B0-4EEC-A8B8-74E527F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원본 화면은 개인정보·가격이 포함되어 외부 제출본에는 안전한 재구성 화면을 사용했습니다.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C71F0-1F72-4E9B-903F-41944C4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계정 정책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7339-B68B-4F4F-8ED1-F07A16B4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52D67-308D-45B5-8132-DAE37BF9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55FD1-6AC5-410D-B0B8-3DF89A3C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F8B53-5DFA-43B3-A555-642C30B0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3FA5C-83AC-4705-95EC-C8DAF4A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52625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4002C-7F75-4229-BD7B-211CC52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240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C7C3E-CDE2-43BF-8AA1-EF00CEB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145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D389B-CFEA-4229-B649-847F94B0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BCAB6-E3F3-4FFD-B4FF-1574005A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3E851-B3BE-4476-9BE3-3076E27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FDCD1-D8BD-4257-98CF-E5054A72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BD300-2803-4EEC-8142-3FB65F11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선불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7A941-5829-43BE-9B76-C6A7FD3F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1943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E02B-1B53-49DB-849B-C058C359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099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EBD52-4297-472E-8CDF-D61E1E81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5FC96-9993-4499-B18F-1B954938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0194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후불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6A4AA-D94C-4DB6-AA3D-282EE466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40386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BECEB"/>
          </a:solidFill>
          <a:ln xmlns:a="http://schemas.openxmlformats.org/drawingml/2006/main" w="9525">
            <a:solidFill>
              <a:srgbClr val="E3B4B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BC63B-CBF0-4C96-91C1-21DC47EA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혼합주문 차단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E2858-E5CD-4E30-8AE4-F7AF4DFE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결제 방식이 다른 상품은</a:t>
            </a:r>
          </a:p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양방향으로 같은 주문에 담지 않음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36784E-86DB-47B5-928A-8BE5EE6A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71625"/>
            <a:ext cx="607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 화면 기반 재구성 · 원본 와이어프레임 유실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77007-743A-4E97-85AB-0D3CC42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C3CE4-4380-4189-B596-DB77707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1FB15-053E-4673-B99B-62398940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4EE81-6A43-4940-89DE-36AB66D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D2830-FA8D-4A0C-B2A4-A08E9CA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184C01-66F0-4669-86D5-1F2CC246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F68F0-9D42-4EA5-BFAA-3FF569A1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0A3013-2D66-4381-95C0-DFE85C3F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허용 카테고리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정책 공지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519FC2-EDC6-4960-8991-BE5AD52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1AA9B-F0B9-4B6C-AED4-9AFBE7EF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63FC97-C7B0-4DCE-BA12-268EE04B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6E9DA9-DCE8-4BB6-A933-58CD641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A05A48-0AEB-4433-921B-6422749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A730DE-7476-4005-BD96-6CE543DD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A0962A-674E-4998-924A-FA8A92BC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41B6DA-3668-4AAF-9869-4CA3479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BE235-068D-4D8D-AFBB-029B94F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본인 주문·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 정보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65D6DF-6412-433D-957D-8BCD92D2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F3BD10-DAF3-406B-B3DC-640A52F5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028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B69752-5C55-4AC2-8D30-3F1179C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885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C55558-2174-4B85-9FA1-319CFCF5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478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LIST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57EFED-E386-4780-9E56-8AFBFBC0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86025"/>
            <a:ext cx="15811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850025-81FF-4AFC-9AB1-1ECE1B9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6858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166BB6-A040-4FD9-B35A-66ED90FE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800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CCF01D-0C73-4D0E-9333-F7A2096F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95675"/>
            <a:ext cx="80010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F9F4"/>
          </a:solidFill>
          <a:ln xmlns:a="http://schemas.openxmlformats.org/drawingml/2006/main" w="9525">
            <a:solidFill>
              <a:srgbClr val="CDEAD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4DAB62-BF14-421B-ABDB-5CE3E9A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계정별 상품</a:t>
            </a:r>
          </a:p>
          <a:p xmlns:a="http://schemas.openxmlformats.org/drawingml/2006/main">
            <a:pPr algn="ctr">
              <a:def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노출 구조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9DADD1-B6E0-4DC2-8F71-F84354D5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샘플 데이터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8227D1-09F9-4420-83E1-7D03D367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67325"/>
            <a:ext cx="60769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E8FF0A-6C91-4CCF-9581-E890885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448300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증거 범위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DA4CD5-5F65-4625-9B1B-599FA01E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홈 · 마이페이지 · 물품 목록 / 공급사 전용 화면은 미확보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DA5EA4-7C87-4145-8AB6-E559381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90D44F-174A-470E-B61D-C81B73E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786EB8-F293-4D1D-A159-061B865E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7845926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500047-C22E-4096-BA79-5913B8B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8F4F7-9ACE-4226-B3EB-FA4DC971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결과와 검수 진행을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48614-59D2-4121-8EEE-A5A624B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3FB95-E59B-4B34-9A4D-6CD8B99C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38EC-6FDE-4678-92FE-9176517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33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핵심 흐름의 초기 관찰치와 계약 항목의 QA 상태를 같은 성과로 섞지 않았습니다.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DF757-5803-471E-AD37-D1A3B754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51435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9ED4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EC558-71EF-4987-8394-141BA138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43157-B9EB-4C11-8EC4-EA927C8F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866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월평균 2~3건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16583-7E0A-4CC7-A77A-C97BD95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34113-5BCB-4ADE-B88E-8494DE0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86000"/>
            <a:ext cx="2095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5413B-3DE9-4EEA-AA1A-6EF27AA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5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직전 6개월 월평균 ↔ 2026-07-16 이후 약 1개월 전체 측정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15D6F-F864-4E59-B1FA-B94BD62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8300"/>
            <a:ext cx="5495925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A29BB-7011-4B4F-B7A4-C672B24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57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배송·주문·입금 문의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239D2-1934-4270-99DD-8FD1625C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86000"/>
            <a:ext cx="142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2주 32건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D4FC9-3C2D-41B6-A08E-A7C03F40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955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31AD2-BE94-4BE0-BB45-5C36D39E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71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2주 19건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0F405-034E-4769-89EF-26440BC7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492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2026.01~06 2주 환산 ↔ 2026.07~08 배포 구간 2주 집계 · 초기 관찰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0AD75-6428-43CB-AA9E-62E03B95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운영과 검수의 경계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AE727-2F02-4AAA-82A7-D606C63C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85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1EB36-236E-42C2-99AE-9DE6FD0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2026-07-16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49AC5-B93F-44A5-94E9-4C2B0F7D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주문·입금·정산 흐름 전체 가동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A16ED-3FD7-4819-90F4-7ADC755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FB9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AA0CE-D91F-4984-889F-249C38E2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815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DEAD9"/>
                </a:solidFill>
                <a:latin typeface="Malgun Gothic"/>
                <a:ea typeface="Malgun Gothic"/>
                <a:cs typeface="Malgun Gothic"/>
              </a:rPr>
              <a:t>2026-08-31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F0E0C-E908-4E00-B10E-5345A040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958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계약상 기본 요구의 최종 검수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32FBE-2B87-4E06-A48F-B7F4480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8585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3E5CC"/>
          </a:solidFill>
          <a:ln xmlns:a="http://schemas.openxmlformats.org/drawingml/2006/main" w="9525">
            <a:solidFill>
              <a:srgbClr val="DFC5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47E66-3CC7-418C-8DB7-9BC312E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245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9A6400"/>
                </a:solidFill>
                <a:latin typeface="Malgun Gothic"/>
                <a:ea typeface="Malgun Gothic"/>
                <a:cs typeface="Malgun Gothic"/>
              </a:rPr>
              <a:t>측정 한계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212C9-0FA5-46D5-8108-5C4984FC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676900"/>
            <a:ext cx="938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 대조 개선 후 시간은 미측정 · 장기 지속 효과와 전체 CS 감소는 주장하지 않음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6AFC2-F899-464D-80D1-9C6AE23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2C511-A9ED-4DC7-9B9E-D948CC2B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박종혁 PM 포트폴리오 v4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FE2FE-BA44-4D3D-B7D0-2939A1B2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434108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038D0-EB86-4ED0-B152-C2D64BF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0441D-EBE3-4808-A9F2-C7B096A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Business Associate에서 바로 쓸 수 있는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E7F84-1643-4B2F-AECE-70ACD5A9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직접 증명할 수 있는 것과 앞으로 배울 영역을 나눠 정리했습니다.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2524D-33E9-4ADD-BA2D-051E6857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CD37C-66BA-46E0-A68E-8FA8B8B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F370B-C048-44CE-8D15-F898DBD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요청을 구조화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CD11D-FCE8-495D-A198-1158326E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질문·리스크·요구사항을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상태와 결정 근거로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F7BA1-C295-4225-B782-2CD93DB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8FB2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315F7-ED8D-4919-B0C1-5A47E7BD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46139-16D7-45C6-978F-8B6ECA1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관계자를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D91B7-A87C-43F4-8F8D-F742E033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개발·물류·통관·고객·공급사의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요건과 역할 경계를 조율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CB9D9-5B3D-440E-8010-D10EF74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04975"/>
            <a:ext cx="333375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4D82B-DF58-471A-B574-C69E9DD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60D54-AF73-4CE6-8718-9E28C701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완료를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B10AC-E980-48AE-8E35-FCC7E72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통보가 아니라 운영 화면·응답·</a:t>
            </a:r>
          </a:p>
          <a:p xmlns:a="http://schemas.openxmlformats.org/drawingml/2006/main">
            <a:pPr algn="l">
              <a:def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테스트 결과로 완료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58495-6AFA-44B0-8F9C-9FED7CB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93420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BBE35-AE6A-4F96-8848-9DE2A78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2DFF1"/>
                </a:solidFill>
                <a:latin typeface="Malgun Gothic"/>
                <a:ea typeface="Malgun Gothic"/>
                <a:cs typeface="Malgun Gothic"/>
              </a:rPr>
              <a:t>직접 증명 가능한 업무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C3DDD-3DDD-46BD-9D18-CB3D9614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요청·질의 구조화 · 외부 요건 조율 · 상태 추적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정책·기술 문서 · 운영 환경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7732B-04E8-41F2-B921-47DA04D1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367665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01397-CE91-40E4-A63E-4058EAD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71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입사 후 확장할 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ECF4B-7E90-45D7-9233-629B40A6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경영진 회의 기록 형식</a:t>
            </a:r>
          </a:p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오프라인 공간 AI 도메인</a:t>
            </a:r>
          </a:p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제안서·기술영업 절차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601FD-1433-4B49-AC74-062975D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55C11-33AC-4BF5-B19E-98E2A6D3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0E71A-34C6-4391-B3C4-EAC5F20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15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3D387-FF13-4575-A49C-9D17DCC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15050"/>
            <a:ext cx="3962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E6E73"/>
                </a:solidFill>
                <a:latin typeface="Malgun Gothic"/>
                <a:ea typeface="Malgun Gothic"/>
                <a:cs typeface="Malgun Gothic"/>
              </a:rPr>
              <a:t>관세청 통관 연동 · 산후조리원 B2B몰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F29E35-11B6-4923-BC5A-569DBE9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A9AA0"/>
                </a:solidFill>
                <a:latin typeface="Malgun Gothic"/>
                <a:ea typeface="Malgun Gothic"/>
                <a:cs typeface="Malgun Gothic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319473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</dc:title>
  <dcterms:created xsi:type="dcterms:W3CDTF">2026-09-16T22:57:25.2350000Z</dcterms:created>
  <dcterms:modified xsi:type="dcterms:W3CDTF">2026-09-16T22:57:25.2350000Z</dcterms:modified>
</coreProperties>
</file>