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DD54EE59-E33B-4365-A11D-545A0AD7BC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B4F9C"/>
          </a:solidFill>
          <a:ln w="0">
            <a:noFill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1684F63-F081-4CE5-B6D3-E61496DC67B5}"/>
              </a:ext>
            </a:extLst>
          </p:cNvPr>
          <p:cNvSpPr>
            <a:spLocks noGrp="1"/>
          </p:cNvSpPr>
          <p:nvPr/>
        </p:nvSpPr>
        <p:spPr>
          <a:xfrm>
            <a:off x="685800" y="581025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PM PORTFOLIO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0E6491E-406A-4751-841E-381035030DDC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695325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요구를 정책으로 만들고</a:t>
            </a:r>
          </a:p>
          <a:p>
            <a:pPr algn="l">
              <a:def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검증까지 연결한 두 프로젝트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9EB220-889B-4185-9CD5-EDDA8F31BA61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66675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통관 연동에서는 분할 출고 단위와 오류 재제출 기준을,</a:t>
            </a:r>
          </a:p>
          <a:p>
            <a:pPr algn="l">
              <a:def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B2B 몰에서는 계정·결제 정책과 운영 완료 기준을 정했습니다.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B28BA12-94CD-4F4E-900C-0DCF931F57BE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333750" cy="1352550"/>
          </a:xfrm>
          <a:prstGeom prst="roundRect">
            <a:avLst>
              <a:gd name="adj" fmla="val 9859"/>
            </a:avLst>
          </a:prstGeom>
          <a:solidFill>
            <a:srgbClr val="F4F8FD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5ECF508-E526-466C-BE2B-49FED7FAD157}"/>
              </a:ext>
            </a:extLst>
          </p:cNvPr>
          <p:cNvSpPr>
            <a:spLocks noGrp="1"/>
          </p:cNvSpPr>
          <p:nvPr/>
        </p:nvSpPr>
        <p:spPr>
          <a:xfrm>
            <a:off x="895350" y="4010025"/>
            <a:ext cx="1066800" cy="266700"/>
          </a:xfrm>
          <a:prstGeom prst="roundRect">
            <a:avLst>
              <a:gd name="adj" fmla="val 50000"/>
            </a:avLst>
          </a:prstGeom>
          <a:solidFill>
            <a:srgbClr val="1B4F9C"/>
          </a:solidFill>
          <a:ln w="0">
            <a:solidFill>
              <a:srgbClr val="1B4F9C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8FE7F90-387C-41F9-8D9B-04A0F4129430}"/>
              </a:ext>
            </a:extLst>
          </p:cNvPr>
          <p:cNvSpPr>
            <a:spLocks noGrp="1"/>
          </p:cNvSpPr>
          <p:nvPr/>
        </p:nvSpPr>
        <p:spPr>
          <a:xfrm>
            <a:off x="971550" y="4048125"/>
            <a:ext cx="9144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174FDA-803C-484E-BEDE-97306D4AF59B}"/>
              </a:ext>
            </a:extLst>
          </p:cNvPr>
          <p:cNvSpPr>
            <a:spLocks noGrp="1"/>
          </p:cNvSpPr>
          <p:nvPr/>
        </p:nvSpPr>
        <p:spPr>
          <a:xfrm>
            <a:off x="895350" y="4410075"/>
            <a:ext cx="278130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329609D-A563-4378-9E1C-945D1371E705}"/>
              </a:ext>
            </a:extLst>
          </p:cNvPr>
          <p:cNvSpPr>
            <a:spLocks noGrp="1"/>
          </p:cNvSpPr>
          <p:nvPr/>
        </p:nvSpPr>
        <p:spPr>
          <a:xfrm>
            <a:off x="895350" y="4800600"/>
            <a:ext cx="27813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분할 출고 기준 · 오류 재제출 · 운영 QA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B459D43-4829-4183-AD22-2C21AEC06033}"/>
              </a:ext>
            </a:extLst>
          </p:cNvPr>
          <p:cNvSpPr>
            <a:spLocks noGrp="1"/>
          </p:cNvSpPr>
          <p:nvPr/>
        </p:nvSpPr>
        <p:spPr>
          <a:xfrm>
            <a:off x="4171950" y="3810000"/>
            <a:ext cx="3333750" cy="1352550"/>
          </a:xfrm>
          <a:prstGeom prst="roundRect">
            <a:avLst>
              <a:gd name="adj" fmla="val 9859"/>
            </a:avLst>
          </a:prstGeom>
          <a:solidFill>
            <a:srgbClr val="F3FAF6"/>
          </a:solidFill>
          <a:ln w="9525">
            <a:solidFill>
              <a:srgbClr val="BFDCCB"/>
            </a:solidFill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1BF50FF-8826-4C64-A467-5FD6A3682C9A}"/>
              </a:ext>
            </a:extLst>
          </p:cNvPr>
          <p:cNvSpPr>
            <a:spLocks noGrp="1"/>
          </p:cNvSpPr>
          <p:nvPr/>
        </p:nvSpPr>
        <p:spPr>
          <a:xfrm>
            <a:off x="4381500" y="4010025"/>
            <a:ext cx="1066800" cy="266700"/>
          </a:xfrm>
          <a:prstGeom prst="roundRect">
            <a:avLst>
              <a:gd name="adj" fmla="val 50000"/>
            </a:avLst>
          </a:prstGeom>
          <a:solidFill>
            <a:srgbClr val="1E6B45"/>
          </a:solidFill>
          <a:ln w="0">
            <a:solidFill>
              <a:srgbClr val="1E6B45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143ACAE-2D95-43BC-A124-558C0BC57452}"/>
              </a:ext>
            </a:extLst>
          </p:cNvPr>
          <p:cNvSpPr>
            <a:spLocks noGrp="1"/>
          </p:cNvSpPr>
          <p:nvPr/>
        </p:nvSpPr>
        <p:spPr>
          <a:xfrm>
            <a:off x="4457700" y="4048125"/>
            <a:ext cx="9144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9E3188-5CF4-4E7B-A4AC-F90B03D735E1}"/>
              </a:ext>
            </a:extLst>
          </p:cNvPr>
          <p:cNvSpPr>
            <a:spLocks noGrp="1"/>
          </p:cNvSpPr>
          <p:nvPr/>
        </p:nvSpPr>
        <p:spPr>
          <a:xfrm>
            <a:off x="4381500" y="4410075"/>
            <a:ext cx="278130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산후조리원 B2B 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EF1153E-252B-482B-8ABF-406A4E047347}"/>
              </a:ext>
            </a:extLst>
          </p:cNvPr>
          <p:cNvSpPr>
            <a:spLocks noGrp="1"/>
          </p:cNvSpPr>
          <p:nvPr/>
        </p:nvSpPr>
        <p:spPr>
          <a:xfrm>
            <a:off x="4381500" y="4800600"/>
            <a:ext cx="27813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계정·결제 정책 · 운영 서버 검증 · 결과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82C29C-4861-4B6B-81D7-9682B8B3819C}"/>
              </a:ext>
            </a:extLst>
          </p:cNvPr>
          <p:cNvSpPr>
            <a:spLocks noGrp="1"/>
          </p:cNvSpPr>
          <p:nvPr/>
        </p:nvSpPr>
        <p:spPr>
          <a:xfrm>
            <a:off x="8048625" y="0"/>
            <a:ext cx="4143375" cy="6858000"/>
          </a:xfrm>
          <a:prstGeom prst="rect">
            <a:avLst/>
          </a:prstGeom>
          <a:solidFill>
            <a:srgbClr val="F4F4F6"/>
          </a:solidFill>
          <a:ln w="0">
            <a:solidFill>
              <a:srgbClr val="F4F4F6"/>
            </a:solidFill>
            <a:prstDash val="solid"/>
          </a:ln>
        </p:spPr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3"/>
          <a:srcRect t="14894" b="14894"/>
          <a:stretch>
            <a:fillRect/>
          </a:stretch>
        </p:blipFill>
        <p:spPr>
          <a:xfrm>
            <a:off x="9363075" y="876300"/>
            <a:ext cx="1466850" cy="1466850"/>
          </a:xfrm>
          <a:prstGeom prst="ellipse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C4D738-FE29-44CE-B879-7DF55AF3C2A8}"/>
              </a:ext>
            </a:extLst>
          </p:cNvPr>
          <p:cNvSpPr>
            <a:spLocks noGrp="1"/>
          </p:cNvSpPr>
          <p:nvPr/>
        </p:nvSpPr>
        <p:spPr>
          <a:xfrm>
            <a:off x="8572500" y="2724150"/>
            <a:ext cx="309562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박종혁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F940A9A-001F-498A-8FA9-E54F49A12B1A}"/>
              </a:ext>
            </a:extLst>
          </p:cNvPr>
          <p:cNvSpPr>
            <a:spLocks noGrp="1"/>
          </p:cNvSpPr>
          <p:nvPr/>
        </p:nvSpPr>
        <p:spPr>
          <a:xfrm>
            <a:off x="8572500" y="3181350"/>
            <a:ext cx="30956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프로젝트 운영 · SCM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9C71CFED-194E-4BEB-B5B3-4AE1A25713E9}"/>
              </a:ext>
            </a:extLst>
          </p:cNvPr>
          <p:cNvSpPr>
            <a:spLocks noGrp="1"/>
          </p:cNvSpPr>
          <p:nvPr/>
        </p:nvSpPr>
        <p:spPr>
          <a:xfrm>
            <a:off x="8572500" y="3762375"/>
            <a:ext cx="3095625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554EA47-71FC-4AF8-A6B8-BDF82B9BFC2E}"/>
              </a:ext>
            </a:extLst>
          </p:cNvPr>
          <p:cNvSpPr>
            <a:spLocks noGrp="1"/>
          </p:cNvSpPr>
          <p:nvPr/>
        </p:nvSpPr>
        <p:spPr>
          <a:xfrm>
            <a:off x="8667750" y="4048125"/>
            <a:ext cx="2905125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요구사항 구조화</a:t>
            </a:r>
          </a:p>
          <a:p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이해관계자 조율</a:t>
            </a:r>
          </a:p>
          <a:p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 기준과 운영 검증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135CA07-C45C-4339-A8CD-1ED02A8D721F}"/>
              </a:ext>
            </a:extLst>
          </p:cNvPr>
          <p:cNvSpPr>
            <a:spLocks noGrp="1"/>
          </p:cNvSpPr>
          <p:nvPr/>
        </p:nvSpPr>
        <p:spPr>
          <a:xfrm>
            <a:off x="8420100" y="6191250"/>
            <a:ext cx="3238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2026-09</a:t>
            </a:r>
          </a:p>
        </p:txBody>
      </p:sp>
    </p:spTree>
    <p:extLst>
      <p:ext uri="{BB962C8B-B14F-4D97-AF65-F5344CB8AC3E}">
        <p14:creationId xmlns:p14="http://schemas.microsoft.com/office/powerpoint/2010/main" val="1549443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7161CE1A-0105-4181-9442-C6804E6F2DF5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911542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두 프로젝트에서 반복한 PM 운영 방식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22CC7B12-20C7-4C55-BAA7-B4D6B9BD3514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9C8564-4114-437A-948F-9747D49BA0A6}"/>
              </a:ext>
            </a:extLst>
          </p:cNvPr>
          <p:cNvSpPr>
            <a:spLocks noGrp="1"/>
          </p:cNvSpPr>
          <p:nvPr/>
        </p:nvSpPr>
        <p:spPr>
          <a:xfrm>
            <a:off x="647700" y="11144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문제를 기능 목록으로 받지 않고 결정 기준, 정책, 검증 기준, 측정 범위로 나눴습니다.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084FE0C-F9FF-406F-B9C5-68A01D67ED3F}"/>
              </a:ext>
            </a:extLst>
          </p:cNvPr>
          <p:cNvSpPr>
            <a:spLocks noGrp="1"/>
          </p:cNvSpPr>
          <p:nvPr/>
        </p:nvSpPr>
        <p:spPr>
          <a:xfrm>
            <a:off x="647700" y="1647825"/>
            <a:ext cx="18859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AA80BF9-1E18-480F-8570-FA62BB49CAA3}"/>
              </a:ext>
            </a:extLst>
          </p:cNvPr>
          <p:cNvSpPr>
            <a:spLocks noGrp="1"/>
          </p:cNvSpPr>
          <p:nvPr/>
        </p:nvSpPr>
        <p:spPr>
          <a:xfrm>
            <a:off x="800100" y="1800225"/>
            <a:ext cx="419100" cy="266700"/>
          </a:xfrm>
          <a:prstGeom prst="roundRect">
            <a:avLst>
              <a:gd name="adj" fmla="val 50000"/>
            </a:avLst>
          </a:prstGeom>
          <a:solidFill>
            <a:srgbClr val="1B4F9C"/>
          </a:solidFill>
          <a:ln w="0">
            <a:solidFill>
              <a:srgbClr val="1B4F9C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5248A9-575E-4E89-BFC5-1CB752703CB3}"/>
              </a:ext>
            </a:extLst>
          </p:cNvPr>
          <p:cNvSpPr>
            <a:spLocks noGrp="1"/>
          </p:cNvSpPr>
          <p:nvPr/>
        </p:nvSpPr>
        <p:spPr>
          <a:xfrm>
            <a:off x="876300" y="1838325"/>
            <a:ext cx="2667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61BD96-060F-4385-AD04-1428F177E719}"/>
              </a:ext>
            </a:extLst>
          </p:cNvPr>
          <p:cNvSpPr>
            <a:spLocks noGrp="1"/>
          </p:cNvSpPr>
          <p:nvPr/>
        </p:nvSpPr>
        <p:spPr>
          <a:xfrm>
            <a:off x="800100" y="2190750"/>
            <a:ext cx="15811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문제 경계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D7942D-DD7C-4DFC-BFCC-7218BCDB041A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15811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사용자와 운영 주체</a:t>
            </a:r>
          </a:p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책임 범위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77EF73-A92B-463E-BBD3-ED7C4E5E0867}"/>
              </a:ext>
            </a:extLst>
          </p:cNvPr>
          <p:cNvSpPr>
            <a:spLocks noGrp="1"/>
          </p:cNvSpPr>
          <p:nvPr/>
        </p:nvSpPr>
        <p:spPr>
          <a:xfrm>
            <a:off x="2533650" y="2143125"/>
            <a:ext cx="285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27A8AEC-D9CF-479F-9ED4-D83DB9B263B9}"/>
              </a:ext>
            </a:extLst>
          </p:cNvPr>
          <p:cNvSpPr>
            <a:spLocks noGrp="1"/>
          </p:cNvSpPr>
          <p:nvPr/>
        </p:nvSpPr>
        <p:spPr>
          <a:xfrm>
            <a:off x="2819400" y="1647825"/>
            <a:ext cx="18859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B0F0657-DB80-4D2D-9DEC-26AD7DB168F8}"/>
              </a:ext>
            </a:extLst>
          </p:cNvPr>
          <p:cNvSpPr>
            <a:spLocks noGrp="1"/>
          </p:cNvSpPr>
          <p:nvPr/>
        </p:nvSpPr>
        <p:spPr>
          <a:xfrm>
            <a:off x="2971800" y="1800225"/>
            <a:ext cx="419100" cy="266700"/>
          </a:xfrm>
          <a:prstGeom prst="roundRect">
            <a:avLst>
              <a:gd name="adj" fmla="val 50000"/>
            </a:avLst>
          </a:prstGeom>
          <a:solidFill>
            <a:srgbClr val="1B4F9C"/>
          </a:solidFill>
          <a:ln w="0">
            <a:solidFill>
              <a:srgbClr val="1B4F9C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5A641D0-39EC-4F0C-A9D6-CD8EF9D90DB8}"/>
              </a:ext>
            </a:extLst>
          </p:cNvPr>
          <p:cNvSpPr>
            <a:spLocks noGrp="1"/>
          </p:cNvSpPr>
          <p:nvPr/>
        </p:nvSpPr>
        <p:spPr>
          <a:xfrm>
            <a:off x="3048000" y="1838325"/>
            <a:ext cx="2667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0861A3E-7D20-43E5-8FA8-3CE14D08078E}"/>
              </a:ext>
            </a:extLst>
          </p:cNvPr>
          <p:cNvSpPr>
            <a:spLocks noGrp="1"/>
          </p:cNvSpPr>
          <p:nvPr/>
        </p:nvSpPr>
        <p:spPr>
          <a:xfrm>
            <a:off x="2971800" y="2190750"/>
            <a:ext cx="15811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767192-F9BE-4D47-84CD-7870CAE2E815}"/>
              </a:ext>
            </a:extLst>
          </p:cNvPr>
          <p:cNvSpPr>
            <a:spLocks noGrp="1"/>
          </p:cNvSpPr>
          <p:nvPr/>
        </p:nvSpPr>
        <p:spPr>
          <a:xfrm>
            <a:off x="2971800" y="2571750"/>
            <a:ext cx="15811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대안과 제외 범위</a:t>
            </a:r>
          </a:p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선택 이유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C253FF9-49FF-4462-9C5D-97450EA3E526}"/>
              </a:ext>
            </a:extLst>
          </p:cNvPr>
          <p:cNvSpPr>
            <a:spLocks noGrp="1"/>
          </p:cNvSpPr>
          <p:nvPr/>
        </p:nvSpPr>
        <p:spPr>
          <a:xfrm>
            <a:off x="4705350" y="2143125"/>
            <a:ext cx="285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36B91A5-E54C-48BD-BD8F-4248D112BFAE}"/>
              </a:ext>
            </a:extLst>
          </p:cNvPr>
          <p:cNvSpPr>
            <a:spLocks noGrp="1"/>
          </p:cNvSpPr>
          <p:nvPr/>
        </p:nvSpPr>
        <p:spPr>
          <a:xfrm>
            <a:off x="4991100" y="1647825"/>
            <a:ext cx="1885950" cy="1371600"/>
          </a:xfrm>
          <a:prstGeom prst="roundRect">
            <a:avLst>
              <a:gd name="adj" fmla="val 8333"/>
            </a:avLst>
          </a:prstGeom>
          <a:solidFill>
            <a:srgbClr val="F4F8FD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F086B3B-518D-4448-8852-490740747D72}"/>
              </a:ext>
            </a:extLst>
          </p:cNvPr>
          <p:cNvSpPr>
            <a:spLocks noGrp="1"/>
          </p:cNvSpPr>
          <p:nvPr/>
        </p:nvSpPr>
        <p:spPr>
          <a:xfrm>
            <a:off x="5143500" y="1800225"/>
            <a:ext cx="419100" cy="266700"/>
          </a:xfrm>
          <a:prstGeom prst="roundRect">
            <a:avLst>
              <a:gd name="adj" fmla="val 50000"/>
            </a:avLst>
          </a:prstGeom>
          <a:solidFill>
            <a:srgbClr val="1B4F9C"/>
          </a:solidFill>
          <a:ln w="0">
            <a:solidFill>
              <a:srgbClr val="1B4F9C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9E7D98-9493-4169-86BC-EB875AC1B3E0}"/>
              </a:ext>
            </a:extLst>
          </p:cNvPr>
          <p:cNvSpPr>
            <a:spLocks noGrp="1"/>
          </p:cNvSpPr>
          <p:nvPr/>
        </p:nvSpPr>
        <p:spPr>
          <a:xfrm>
            <a:off x="5219700" y="1838325"/>
            <a:ext cx="2667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F3EAD33-04E2-4CD7-9796-25344B7FE51C}"/>
              </a:ext>
            </a:extLst>
          </p:cNvPr>
          <p:cNvSpPr>
            <a:spLocks noGrp="1"/>
          </p:cNvSpPr>
          <p:nvPr/>
        </p:nvSpPr>
        <p:spPr>
          <a:xfrm>
            <a:off x="5143500" y="2190750"/>
            <a:ext cx="15811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정책·데이터 계약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F38EEBF-B36B-45CE-A42F-704BA710B855}"/>
              </a:ext>
            </a:extLst>
          </p:cNvPr>
          <p:cNvSpPr>
            <a:spLocks noGrp="1"/>
          </p:cNvSpPr>
          <p:nvPr/>
        </p:nvSpPr>
        <p:spPr>
          <a:xfrm>
            <a:off x="5143500" y="2571750"/>
            <a:ext cx="15811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단위와 권한</a:t>
            </a:r>
          </a:p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필드와 상태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A839F9-9692-4CD9-BABC-8B03FB582B54}"/>
              </a:ext>
            </a:extLst>
          </p:cNvPr>
          <p:cNvSpPr>
            <a:spLocks noGrp="1"/>
          </p:cNvSpPr>
          <p:nvPr/>
        </p:nvSpPr>
        <p:spPr>
          <a:xfrm>
            <a:off x="6877050" y="2143125"/>
            <a:ext cx="285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91BCF36-CFC4-4362-B70E-BB98D071EBDD}"/>
              </a:ext>
            </a:extLst>
          </p:cNvPr>
          <p:cNvSpPr>
            <a:spLocks noGrp="1"/>
          </p:cNvSpPr>
          <p:nvPr/>
        </p:nvSpPr>
        <p:spPr>
          <a:xfrm>
            <a:off x="7162800" y="1647825"/>
            <a:ext cx="18859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C60F264-2ACF-4481-918A-2B35BCD2FE89}"/>
              </a:ext>
            </a:extLst>
          </p:cNvPr>
          <p:cNvSpPr>
            <a:spLocks noGrp="1"/>
          </p:cNvSpPr>
          <p:nvPr/>
        </p:nvSpPr>
        <p:spPr>
          <a:xfrm>
            <a:off x="7315200" y="1800225"/>
            <a:ext cx="419100" cy="266700"/>
          </a:xfrm>
          <a:prstGeom prst="roundRect">
            <a:avLst>
              <a:gd name="adj" fmla="val 50000"/>
            </a:avLst>
          </a:prstGeom>
          <a:solidFill>
            <a:srgbClr val="1E6B45"/>
          </a:solidFill>
          <a:ln w="0">
            <a:solidFill>
              <a:srgbClr val="1E6B45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B57B7C9-78C1-4E88-87DA-84360609E83F}"/>
              </a:ext>
            </a:extLst>
          </p:cNvPr>
          <p:cNvSpPr>
            <a:spLocks noGrp="1"/>
          </p:cNvSpPr>
          <p:nvPr/>
        </p:nvSpPr>
        <p:spPr>
          <a:xfrm>
            <a:off x="7391400" y="1838325"/>
            <a:ext cx="2667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169DFB2-B7CB-4198-BAA9-F7312BF52F86}"/>
              </a:ext>
            </a:extLst>
          </p:cNvPr>
          <p:cNvSpPr>
            <a:spLocks noGrp="1"/>
          </p:cNvSpPr>
          <p:nvPr/>
        </p:nvSpPr>
        <p:spPr>
          <a:xfrm>
            <a:off x="7315200" y="2190750"/>
            <a:ext cx="15811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완료·QA 기준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54A9309-0E09-443A-AA59-2DD653369FA2}"/>
              </a:ext>
            </a:extLst>
          </p:cNvPr>
          <p:cNvSpPr>
            <a:spLocks noGrp="1"/>
          </p:cNvSpPr>
          <p:nvPr/>
        </p:nvSpPr>
        <p:spPr>
          <a:xfrm>
            <a:off x="7315200" y="2571750"/>
            <a:ext cx="15811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서버 확인</a:t>
            </a:r>
          </a:p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오류 복구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81F0408-E4E7-4035-B6BD-45A1A890BACA}"/>
              </a:ext>
            </a:extLst>
          </p:cNvPr>
          <p:cNvSpPr>
            <a:spLocks noGrp="1"/>
          </p:cNvSpPr>
          <p:nvPr/>
        </p:nvSpPr>
        <p:spPr>
          <a:xfrm>
            <a:off x="9048750" y="2143125"/>
            <a:ext cx="285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5B3592A-4116-4B6A-A488-26F825114167}"/>
              </a:ext>
            </a:extLst>
          </p:cNvPr>
          <p:cNvSpPr>
            <a:spLocks noGrp="1"/>
          </p:cNvSpPr>
          <p:nvPr/>
        </p:nvSpPr>
        <p:spPr>
          <a:xfrm>
            <a:off x="9334500" y="1647825"/>
            <a:ext cx="188595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C54BD2D-48B5-4F33-86DB-E3CDF2185E2F}"/>
              </a:ext>
            </a:extLst>
          </p:cNvPr>
          <p:cNvSpPr>
            <a:spLocks noGrp="1"/>
          </p:cNvSpPr>
          <p:nvPr/>
        </p:nvSpPr>
        <p:spPr>
          <a:xfrm>
            <a:off x="9486900" y="1800225"/>
            <a:ext cx="419100" cy="266700"/>
          </a:xfrm>
          <a:prstGeom prst="roundRect">
            <a:avLst>
              <a:gd name="adj" fmla="val 50000"/>
            </a:avLst>
          </a:prstGeom>
          <a:solidFill>
            <a:srgbClr val="1E6B45"/>
          </a:solidFill>
          <a:ln w="0">
            <a:solidFill>
              <a:srgbClr val="1E6B45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BA7297-A436-4EB3-AD2B-D21E70964263}"/>
              </a:ext>
            </a:extLst>
          </p:cNvPr>
          <p:cNvSpPr>
            <a:spLocks noGrp="1"/>
          </p:cNvSpPr>
          <p:nvPr/>
        </p:nvSpPr>
        <p:spPr>
          <a:xfrm>
            <a:off x="9563100" y="1838325"/>
            <a:ext cx="2667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51CEF41-9048-4563-8454-02BE1545FAA0}"/>
              </a:ext>
            </a:extLst>
          </p:cNvPr>
          <p:cNvSpPr>
            <a:spLocks noGrp="1"/>
          </p:cNvSpPr>
          <p:nvPr/>
        </p:nvSpPr>
        <p:spPr>
          <a:xfrm>
            <a:off x="9486900" y="2190750"/>
            <a:ext cx="15811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결과·측정 경계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BC27455-4F7A-4194-9C44-F4BEBE478036}"/>
              </a:ext>
            </a:extLst>
          </p:cNvPr>
          <p:cNvSpPr>
            <a:spLocks noGrp="1"/>
          </p:cNvSpPr>
          <p:nvPr/>
        </p:nvSpPr>
        <p:spPr>
          <a:xfrm>
            <a:off x="9486900" y="2571750"/>
            <a:ext cx="15811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확인한 변화</a:t>
            </a:r>
          </a:p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미계측 항목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C298DFC-4724-4940-9A3F-77934FB79247}"/>
              </a:ext>
            </a:extLst>
          </p:cNvPr>
          <p:cNvSpPr>
            <a:spLocks noGrp="1"/>
          </p:cNvSpPr>
          <p:nvPr/>
        </p:nvSpPr>
        <p:spPr>
          <a:xfrm>
            <a:off x="647700" y="3476625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93EBB129-58D6-45E3-99DE-BAFC734AFB78}"/>
              </a:ext>
            </a:extLst>
          </p:cNvPr>
          <p:cNvSpPr>
            <a:spLocks noGrp="1"/>
          </p:cNvSpPr>
          <p:nvPr/>
        </p:nvSpPr>
        <p:spPr>
          <a:xfrm>
            <a:off x="647700" y="3810000"/>
            <a:ext cx="10858500" cy="0"/>
          </a:xfrm>
          <a:prstGeom prst="line">
            <a:avLst/>
          </a:prstGeom>
          <a:noFill/>
          <a:ln w="9525">
            <a:solidFill>
              <a:srgbClr val="B9CEE8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DA13B7-3112-41AF-86DC-D600C6C88B4A}"/>
              </a:ext>
            </a:extLst>
          </p:cNvPr>
          <p:cNvSpPr>
            <a:spLocks noGrp="1"/>
          </p:cNvSpPr>
          <p:nvPr/>
        </p:nvSpPr>
        <p:spPr>
          <a:xfrm>
            <a:off x="647700" y="3981450"/>
            <a:ext cx="18859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주문·포장 식별자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F39D011-FBC7-4184-8236-A8C4CF2639A8}"/>
              </a:ext>
            </a:extLst>
          </p:cNvPr>
          <p:cNvSpPr>
            <a:spLocks noGrp="1"/>
          </p:cNvSpPr>
          <p:nvPr/>
        </p:nvSpPr>
        <p:spPr>
          <a:xfrm>
            <a:off x="2819400" y="3981450"/>
            <a:ext cx="18859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협력사 API 요건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89B4CF8-6477-402C-A8F9-F64FFE0E071C}"/>
              </a:ext>
            </a:extLst>
          </p:cNvPr>
          <p:cNvSpPr>
            <a:spLocks noGrp="1"/>
          </p:cNvSpPr>
          <p:nvPr/>
        </p:nvSpPr>
        <p:spPr>
          <a:xfrm>
            <a:off x="4991100" y="3981450"/>
            <a:ext cx="18859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필드·복합키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6CDAA75-96E3-4CBB-B44A-F3939C11561B}"/>
              </a:ext>
            </a:extLst>
          </p:cNvPr>
          <p:cNvSpPr>
            <a:spLocks noGrp="1"/>
          </p:cNvSpPr>
          <p:nvPr/>
        </p:nvSpPr>
        <p:spPr>
          <a:xfrm>
            <a:off x="7162800" y="3981450"/>
            <a:ext cx="18859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접수·병합·재시도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0318339-5AC0-441C-AFCB-D8EE7BA215DE}"/>
              </a:ext>
            </a:extLst>
          </p:cNvPr>
          <p:cNvSpPr>
            <a:spLocks noGrp="1"/>
          </p:cNvSpPr>
          <p:nvPr/>
        </p:nvSpPr>
        <p:spPr>
          <a:xfrm>
            <a:off x="9334500" y="3981450"/>
            <a:ext cx="18859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30건 검증과 운영 집계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D332AD0-E9AD-404C-9CA4-BF7E46ABBEB4}"/>
              </a:ext>
            </a:extLst>
          </p:cNvPr>
          <p:cNvSpPr>
            <a:spLocks noGrp="1"/>
          </p:cNvSpPr>
          <p:nvPr/>
        </p:nvSpPr>
        <p:spPr>
          <a:xfrm>
            <a:off x="647700" y="461010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산후조리원 B2B 몰</a:t>
            </a:r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1A7E6F69-3FDF-4AC6-9F2D-910EAE0687E7}"/>
              </a:ext>
            </a:extLst>
          </p:cNvPr>
          <p:cNvSpPr>
            <a:spLocks noGrp="1"/>
          </p:cNvSpPr>
          <p:nvPr/>
        </p:nvSpPr>
        <p:spPr>
          <a:xfrm>
            <a:off x="647700" y="4943475"/>
            <a:ext cx="10858500" cy="0"/>
          </a:xfrm>
          <a:prstGeom prst="line">
            <a:avLst/>
          </a:prstGeom>
          <a:noFill/>
          <a:ln w="9525">
            <a:solidFill>
              <a:srgbClr val="BFDCCB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557FBB8-B26B-4E7D-9266-BC9D68BEFF05}"/>
              </a:ext>
            </a:extLst>
          </p:cNvPr>
          <p:cNvSpPr>
            <a:spLocks noGrp="1"/>
          </p:cNvSpPr>
          <p:nvPr/>
        </p:nvSpPr>
        <p:spPr>
          <a:xfrm>
            <a:off x="647700" y="5114925"/>
            <a:ext cx="18859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오출고·CS·입금 대조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61BB48B-537E-4362-B478-03A406F63491}"/>
              </a:ext>
            </a:extLst>
          </p:cNvPr>
          <p:cNvSpPr>
            <a:spLocks noGrp="1"/>
          </p:cNvSpPr>
          <p:nvPr/>
        </p:nvSpPr>
        <p:spPr>
          <a:xfrm>
            <a:off x="2819400" y="5114925"/>
            <a:ext cx="18859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플랫폼 대안 비교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E2F73A1-EE53-44F0-8072-60375CC4F520}"/>
              </a:ext>
            </a:extLst>
          </p:cNvPr>
          <p:cNvSpPr>
            <a:spLocks noGrp="1"/>
          </p:cNvSpPr>
          <p:nvPr/>
        </p:nvSpPr>
        <p:spPr>
          <a:xfrm>
            <a:off x="4991100" y="5114925"/>
            <a:ext cx="18859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계정·결제 정책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01FE1A8-2B40-41E8-A580-2B6BCB5727DD}"/>
              </a:ext>
            </a:extLst>
          </p:cNvPr>
          <p:cNvSpPr>
            <a:spLocks noGrp="1"/>
          </p:cNvSpPr>
          <p:nvPr/>
        </p:nvSpPr>
        <p:spPr>
          <a:xfrm>
            <a:off x="7162800" y="5114925"/>
            <a:ext cx="18859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운영 서버 직접 확인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513F3CE-473E-4ACD-BE6B-9AA237B6788A}"/>
              </a:ext>
            </a:extLst>
          </p:cNvPr>
          <p:cNvSpPr>
            <a:spLocks noGrp="1"/>
          </p:cNvSpPr>
          <p:nvPr/>
        </p:nvSpPr>
        <p:spPr>
          <a:xfrm>
            <a:off x="9334500" y="5114925"/>
            <a:ext cx="18859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초기 성과와 후속 지표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0887C3E5-6629-4245-B1D6-2056FC536234}"/>
              </a:ext>
            </a:extLst>
          </p:cNvPr>
          <p:cNvSpPr>
            <a:spLocks noGrp="1"/>
          </p:cNvSpPr>
          <p:nvPr/>
        </p:nvSpPr>
        <p:spPr>
          <a:xfrm>
            <a:off x="647700" y="5772150"/>
            <a:ext cx="10858500" cy="400050"/>
          </a:xfrm>
          <a:prstGeom prst="roundRect">
            <a:avLst>
              <a:gd name="adj" fmla="val 19048"/>
            </a:avLst>
          </a:prstGeom>
          <a:solidFill>
            <a:srgbClr val="F4F4F6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F523A5D-2164-47EB-AC44-8D820A2EB1F3}"/>
              </a:ext>
            </a:extLst>
          </p:cNvPr>
          <p:cNvSpPr>
            <a:spLocks noGrp="1"/>
          </p:cNvSpPr>
          <p:nvPr/>
        </p:nvSpPr>
        <p:spPr>
          <a:xfrm>
            <a:off x="838200" y="5867400"/>
            <a:ext cx="1143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공통 원칙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6D19DE2-5383-43F6-A922-37EDDC5E59B3}"/>
              </a:ext>
            </a:extLst>
          </p:cNvPr>
          <p:cNvSpPr>
            <a:spLocks noGrp="1"/>
          </p:cNvSpPr>
          <p:nvPr/>
        </p:nvSpPr>
        <p:spPr>
          <a:xfrm>
            <a:off x="2076450" y="5829300"/>
            <a:ext cx="91440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개발 완료 통보보다 운영 결과를 우선하고, 확인하지 못한 수치는 미계측으로 남겼습니다.</a:t>
            </a:r>
          </a:p>
        </p:txBody>
      </p:sp>
      <p:sp>
        <p:nvSpPr>
          <p:cNvPr id="50" name="직선 연결선 49">
            <a:extLst>
              <a:ext uri="{FF2B5EF4-FFF2-40B4-BE49-F238E27FC236}">
                <a16:creationId xmlns:a16="http://schemas.microsoft.com/office/drawing/2014/main" id="{1C280423-9F40-4BBF-B8D0-AD563CF06F94}"/>
              </a:ext>
            </a:extLst>
          </p:cNvPr>
          <p:cNvSpPr>
            <a:spLocks noGrp="1"/>
          </p:cNvSpPr>
          <p:nvPr/>
        </p:nvSpPr>
        <p:spPr>
          <a:xfrm>
            <a:off x="647700" y="64389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DE06403-717C-4315-AC27-324ED0D086F6}"/>
              </a:ext>
            </a:extLst>
          </p:cNvPr>
          <p:cNvSpPr>
            <a:spLocks noGrp="1"/>
          </p:cNvSpPr>
          <p:nvPr/>
        </p:nvSpPr>
        <p:spPr>
          <a:xfrm>
            <a:off x="647700" y="6515100"/>
            <a:ext cx="91916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포트폴리오 개요 · PM 운영 방식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4CFF61F-264B-434E-95A8-2287CE7D1452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8057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97818E0-EEDE-4DE2-A6B2-AD80A02DD254}"/>
              </a:ext>
            </a:extLst>
          </p:cNvPr>
          <p:cNvSpPr>
            <a:spLocks noGrp="1"/>
          </p:cNvSpPr>
          <p:nvPr/>
        </p:nvSpPr>
        <p:spPr>
          <a:xfrm>
            <a:off x="647700" y="542925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4B23F6-780A-4BBB-B474-98DF39048786}"/>
              </a:ext>
            </a:extLst>
          </p:cNvPr>
          <p:cNvSpPr>
            <a:spLocks noGrp="1"/>
          </p:cNvSpPr>
          <p:nvPr/>
        </p:nvSpPr>
        <p:spPr>
          <a:xfrm>
            <a:off x="10572750" y="581025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rPr>
              <a:t>01 / 07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A6B331-74B1-4C8F-BF27-DC92E5D0DB63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6572250" cy="971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관세청 전자상거래</a:t>
            </a:r>
          </a:p>
          <a:p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통관 연동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72058D-BBD4-45AA-B000-4D1C535D01EF}"/>
              </a:ext>
            </a:extLst>
          </p:cNvPr>
          <p:cNvSpPr>
            <a:spLocks noGrp="1"/>
          </p:cNvSpPr>
          <p:nvPr/>
        </p:nvSpPr>
        <p:spPr>
          <a:xfrm>
            <a:off x="647700" y="2600325"/>
            <a:ext cx="67056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분산된 주문·인증·출고·통관 데이터를 국내 DB 중심으로 연결하고,</a:t>
            </a:r>
          </a:p>
          <a:p>
            <a:pPr algn="l">
              <a:def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오류 수정과 재제출 기준을 운영에 반영했습니다.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961E524-B071-4397-A971-C0E1286CA34B}"/>
              </a:ext>
            </a:extLst>
          </p:cNvPr>
          <p:cNvSpPr>
            <a:spLocks noGrp="1"/>
          </p:cNvSpPr>
          <p:nvPr/>
        </p:nvSpPr>
        <p:spPr>
          <a:xfrm>
            <a:off x="7858125" y="1257300"/>
            <a:ext cx="3619500" cy="3857625"/>
          </a:xfrm>
          <a:prstGeom prst="roundRect">
            <a:avLst>
              <a:gd name="adj" fmla="val 4737"/>
            </a:avLst>
          </a:prstGeom>
          <a:solidFill>
            <a:srgbClr val="16437F"/>
          </a:solidFill>
          <a:ln w="0">
            <a:solidFill>
              <a:srgbClr val="16437F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3115D39-5716-45A5-B9FA-CA2988F5F80B}"/>
              </a:ext>
            </a:extLst>
          </p:cNvPr>
          <p:cNvSpPr>
            <a:spLocks noGrp="1"/>
          </p:cNvSpPr>
          <p:nvPr/>
        </p:nvSpPr>
        <p:spPr>
          <a:xfrm>
            <a:off x="8191500" y="160020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확정 일정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8F0644-AEC0-4BC2-B338-9D752AFBA9F4}"/>
              </a:ext>
            </a:extLst>
          </p:cNvPr>
          <p:cNvSpPr>
            <a:spLocks noGrp="1"/>
          </p:cNvSpPr>
          <p:nvPr/>
        </p:nvSpPr>
        <p:spPr>
          <a:xfrm>
            <a:off x="8191500" y="207645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FF803D-9260-412B-BEAB-6CB3A7142A4D}"/>
              </a:ext>
            </a:extLst>
          </p:cNvPr>
          <p:cNvSpPr>
            <a:spLocks noGrp="1"/>
          </p:cNvSpPr>
          <p:nvPr/>
        </p:nvSpPr>
        <p:spPr>
          <a:xfrm>
            <a:off x="9382125" y="2076450"/>
            <a:ext cx="17335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연동 구조와 요구사항 정리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D767CE-91F3-4AAE-BBFF-0DAF42D6E533}"/>
              </a:ext>
            </a:extLst>
          </p:cNvPr>
          <p:cNvSpPr>
            <a:spLocks noGrp="1"/>
          </p:cNvSpPr>
          <p:nvPr/>
        </p:nvSpPr>
        <p:spPr>
          <a:xfrm>
            <a:off x="8191500" y="2733675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2026-08-28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CEA8DF5-2999-4B6D-9635-3D567D776E82}"/>
              </a:ext>
            </a:extLst>
          </p:cNvPr>
          <p:cNvSpPr>
            <a:spLocks noGrp="1"/>
          </p:cNvSpPr>
          <p:nvPr/>
        </p:nvSpPr>
        <p:spPr>
          <a:xfrm>
            <a:off x="9382125" y="2733675"/>
            <a:ext cx="17335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상용 운영 시작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FB9ED59-4211-41A1-B0F6-5D02005A687E}"/>
              </a:ext>
            </a:extLst>
          </p:cNvPr>
          <p:cNvSpPr>
            <a:spLocks noGrp="1"/>
          </p:cNvSpPr>
          <p:nvPr/>
        </p:nvSpPr>
        <p:spPr>
          <a:xfrm>
            <a:off x="8191500" y="33909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2026-09-15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ADC08A-F583-444E-B4C7-38EC65CE0B24}"/>
              </a:ext>
            </a:extLst>
          </p:cNvPr>
          <p:cNvSpPr>
            <a:spLocks noGrp="1"/>
          </p:cNvSpPr>
          <p:nvPr/>
        </p:nvSpPr>
        <p:spPr>
          <a:xfrm>
            <a:off x="9382125" y="3390900"/>
            <a:ext cx="17335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운영 집계 기준일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5BC8499E-BFD3-4822-A70F-D5AFE1732F7E}"/>
              </a:ext>
            </a:extLst>
          </p:cNvPr>
          <p:cNvSpPr>
            <a:spLocks noGrp="1"/>
          </p:cNvSpPr>
          <p:nvPr/>
        </p:nvSpPr>
        <p:spPr>
          <a:xfrm>
            <a:off x="647700" y="4714875"/>
            <a:ext cx="6667500" cy="0"/>
          </a:xfrm>
          <a:prstGeom prst="line">
            <a:avLst/>
          </a:prstGeom>
          <a:noFill/>
          <a:ln w="9525">
            <a:solidFill>
              <a:srgbClr val="D6E4F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D6B16B1-AAF1-424C-B51D-7EA2F09E1506}"/>
              </a:ext>
            </a:extLst>
          </p:cNvPr>
          <p:cNvSpPr>
            <a:spLocks noGrp="1"/>
          </p:cNvSpPr>
          <p:nvPr/>
        </p:nvSpPr>
        <p:spPr>
          <a:xfrm>
            <a:off x="647700" y="4972050"/>
            <a:ext cx="800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D5E4A77-D5DB-473E-8366-4E2AB4A48E25}"/>
              </a:ext>
            </a:extLst>
          </p:cNvPr>
          <p:cNvSpPr>
            <a:spLocks noGrp="1"/>
          </p:cNvSpPr>
          <p:nvPr/>
        </p:nvSpPr>
        <p:spPr>
          <a:xfrm>
            <a:off x="1524000" y="4933950"/>
            <a:ext cx="57912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 중심 연동 구조, 두 인증 경로, 오류 수정·재제출 정책, 협력사 API 조율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5930538-3ED7-46D3-BCFB-E6416B005603}"/>
              </a:ext>
            </a:extLst>
          </p:cNvPr>
          <p:cNvSpPr>
            <a:spLocks noGrp="1"/>
          </p:cNvSpPr>
          <p:nvPr/>
        </p:nvSpPr>
        <p:spPr>
          <a:xfrm>
            <a:off x="647700" y="5686425"/>
            <a:ext cx="800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E50449D-A35B-42CA-B135-D6F23142FC1C}"/>
              </a:ext>
            </a:extLst>
          </p:cNvPr>
          <p:cNvSpPr>
            <a:spLocks noGrp="1"/>
          </p:cNvSpPr>
          <p:nvPr/>
        </p:nvSpPr>
        <p:spPr>
          <a:xfrm>
            <a:off x="1524000" y="5657850"/>
            <a:ext cx="57912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연동 구조도 · 필드 매핑표 · 오류 재제출 기준 · 운영 테스트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66E607BE-E4E2-4CB9-976E-C398B60163D7}"/>
              </a:ext>
            </a:extLst>
          </p:cNvPr>
          <p:cNvSpPr>
            <a:spLocks noGrp="1"/>
          </p:cNvSpPr>
          <p:nvPr/>
        </p:nvSpPr>
        <p:spPr>
          <a:xfrm>
            <a:off x="647700" y="64389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E87C050-93A4-4312-9CD7-2D5829C039B9}"/>
              </a:ext>
            </a:extLst>
          </p:cNvPr>
          <p:cNvSpPr>
            <a:spLocks noGrp="1"/>
          </p:cNvSpPr>
          <p:nvPr/>
        </p:nvSpPr>
        <p:spPr>
          <a:xfrm>
            <a:off x="647700" y="6515100"/>
            <a:ext cx="91916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Project 01 · 관세청 통관 연동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BBCD36B-E3B9-43B1-8F2E-2FEDB5F74071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855528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6FE09443-ED5B-4DF3-B206-E4AB22318447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911542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분산된 주문 데이터와 책임 범위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AEF1A65C-B9C9-4281-ADF9-BD61FA3E9D68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437DC7-498E-471F-B74D-16A1AFAF1D30}"/>
              </a:ext>
            </a:extLst>
          </p:cNvPr>
          <p:cNvSpPr>
            <a:spLocks noGrp="1"/>
          </p:cNvSpPr>
          <p:nvPr/>
        </p:nvSpPr>
        <p:spPr>
          <a:xfrm>
            <a:off x="647700" y="11144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자사몰과 외부 채널의 주문 정보를 ERP/WMS와 통관 시스템에 연결해야 했습니다.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D02E90-AE57-4FB3-BE8F-EBD0D13BD052}"/>
              </a:ext>
            </a:extLst>
          </p:cNvPr>
          <p:cNvSpPr>
            <a:spLocks noGrp="1"/>
          </p:cNvSpPr>
          <p:nvPr/>
        </p:nvSpPr>
        <p:spPr>
          <a:xfrm>
            <a:off x="647700" y="158115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상황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2AA2CC-2F3C-4E38-9DCA-559C4558C2D4}"/>
              </a:ext>
            </a:extLst>
          </p:cNvPr>
          <p:cNvSpPr>
            <a:spLocks noGrp="1"/>
          </p:cNvSpPr>
          <p:nvPr/>
        </p:nvSpPr>
        <p:spPr>
          <a:xfrm>
            <a:off x="647700" y="1914525"/>
            <a:ext cx="45720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1건이 여러 포장과 HBL로 나뉘고,</a:t>
            </a:r>
          </a:p>
          <a:p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주문·인증·상품·출고 정보는 서로 다른 시스템에 있었습니다.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492CE2D-923E-4648-82AA-8362CC613A86}"/>
              </a:ext>
            </a:extLst>
          </p:cNvPr>
          <p:cNvSpPr>
            <a:spLocks noGrp="1"/>
          </p:cNvSpPr>
          <p:nvPr/>
        </p:nvSpPr>
        <p:spPr>
          <a:xfrm>
            <a:off x="647700" y="2838450"/>
            <a:ext cx="4572000" cy="590550"/>
          </a:xfrm>
          <a:prstGeom prst="roundRect">
            <a:avLst>
              <a:gd name="adj" fmla="val 16129"/>
            </a:avLst>
          </a:prstGeom>
          <a:solidFill>
            <a:srgbClr val="F4F4F6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661784-C9C1-424E-8ED7-76723106FC5C}"/>
              </a:ext>
            </a:extLst>
          </p:cNvPr>
          <p:cNvSpPr>
            <a:spLocks noGrp="1"/>
          </p:cNvSpPr>
          <p:nvPr/>
        </p:nvSpPr>
        <p:spPr>
          <a:xfrm>
            <a:off x="838200" y="300990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78A557-C332-4B2F-86B9-F297D0E0007E}"/>
              </a:ext>
            </a:extLst>
          </p:cNvPr>
          <p:cNvSpPr>
            <a:spLocks noGrp="1"/>
          </p:cNvSpPr>
          <p:nvPr/>
        </p:nvSpPr>
        <p:spPr>
          <a:xfrm>
            <a:off x="2095500" y="3009900"/>
            <a:ext cx="2895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주문·수하인·개인통관 정보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CA559EC-8C97-44FC-B978-547531347C07}"/>
              </a:ext>
            </a:extLst>
          </p:cNvPr>
          <p:cNvSpPr>
            <a:spLocks noGrp="1"/>
          </p:cNvSpPr>
          <p:nvPr/>
        </p:nvSpPr>
        <p:spPr>
          <a:xfrm>
            <a:off x="647700" y="3581400"/>
            <a:ext cx="4572000" cy="590550"/>
          </a:xfrm>
          <a:prstGeom prst="roundRect">
            <a:avLst>
              <a:gd name="adj" fmla="val 16129"/>
            </a:avLst>
          </a:prstGeom>
          <a:solidFill>
            <a:srgbClr val="F4F8FD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2E8BFE-9295-4703-9CC3-DE9BF52BED9F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ERP/WMS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510F69-685D-4D06-AFC4-8A8F0D38D71C}"/>
              </a:ext>
            </a:extLst>
          </p:cNvPr>
          <p:cNvSpPr>
            <a:spLocks noGrp="1"/>
          </p:cNvSpPr>
          <p:nvPr/>
        </p:nvSpPr>
        <p:spPr>
          <a:xfrm>
            <a:off x="2095500" y="3752850"/>
            <a:ext cx="2895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포장·HBL·상품·출고 정보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2AAAC05-A083-492F-BDEF-DBA6CD9796E3}"/>
              </a:ext>
            </a:extLst>
          </p:cNvPr>
          <p:cNvSpPr>
            <a:spLocks noGrp="1"/>
          </p:cNvSpPr>
          <p:nvPr/>
        </p:nvSpPr>
        <p:spPr>
          <a:xfrm>
            <a:off x="647700" y="4324350"/>
            <a:ext cx="4572000" cy="590550"/>
          </a:xfrm>
          <a:prstGeom prst="roundRect">
            <a:avLst>
              <a:gd name="adj" fmla="val 16129"/>
            </a:avLst>
          </a:prstGeom>
          <a:solidFill>
            <a:srgbClr val="F4F4F6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D5CAD4-241C-40C8-9B84-D914C15277D4}"/>
              </a:ext>
            </a:extLst>
          </p:cNvPr>
          <p:cNvSpPr>
            <a:spLocks noGrp="1"/>
          </p:cNvSpPr>
          <p:nvPr/>
        </p:nvSpPr>
        <p:spPr>
          <a:xfrm>
            <a:off x="838200" y="449580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시스템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DF94260-A32B-4DF5-9CA0-6577D67BBF38}"/>
              </a:ext>
            </a:extLst>
          </p:cNvPr>
          <p:cNvSpPr>
            <a:spLocks noGrp="1"/>
          </p:cNvSpPr>
          <p:nvPr/>
        </p:nvSpPr>
        <p:spPr>
          <a:xfrm>
            <a:off x="2095500" y="4495800"/>
            <a:ext cx="28956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거래정보 제출·검증·접수 결과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D35842C-C549-4D18-B845-5A0E5D326483}"/>
              </a:ext>
            </a:extLst>
          </p:cNvPr>
          <p:cNvSpPr>
            <a:spLocks noGrp="1"/>
          </p:cNvSpPr>
          <p:nvPr/>
        </p:nvSpPr>
        <p:spPr>
          <a:xfrm>
            <a:off x="5581650" y="1571625"/>
            <a:ext cx="5924550" cy="3619500"/>
          </a:xfrm>
          <a:prstGeom prst="roundRect">
            <a:avLst>
              <a:gd name="adj" fmla="val 3684"/>
            </a:avLst>
          </a:prstGeom>
          <a:solidFill>
            <a:srgbClr val="F4F8FD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561EBB9-579D-48C6-94BC-A76BD006B728}"/>
              </a:ext>
            </a:extLst>
          </p:cNvPr>
          <p:cNvSpPr>
            <a:spLocks noGrp="1"/>
          </p:cNvSpPr>
          <p:nvPr/>
        </p:nvSpPr>
        <p:spPr>
          <a:xfrm>
            <a:off x="5867400" y="1809750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주문과 포장은 1:1이 아니었습니다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489215-1F71-4A4F-9204-61BC1AE8DB1C}"/>
              </a:ext>
            </a:extLst>
          </p:cNvPr>
          <p:cNvSpPr>
            <a:spLocks noGrp="1"/>
          </p:cNvSpPr>
          <p:nvPr/>
        </p:nvSpPr>
        <p:spPr>
          <a:xfrm>
            <a:off x="5829300" y="2352675"/>
            <a:ext cx="5905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분할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4BF7B76-30FF-4BF2-A11C-7F4CEB2490F4}"/>
              </a:ext>
            </a:extLst>
          </p:cNvPr>
          <p:cNvSpPr>
            <a:spLocks noGrp="1"/>
          </p:cNvSpPr>
          <p:nvPr/>
        </p:nvSpPr>
        <p:spPr>
          <a:xfrm>
            <a:off x="6515100" y="2209800"/>
            <a:ext cx="1466850" cy="5334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05DF56E-F91E-4C41-A8B1-EAFD4A5122A9}"/>
              </a:ext>
            </a:extLst>
          </p:cNvPr>
          <p:cNvSpPr>
            <a:spLocks noGrp="1"/>
          </p:cNvSpPr>
          <p:nvPr/>
        </p:nvSpPr>
        <p:spPr>
          <a:xfrm>
            <a:off x="6648450" y="2352675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A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35D9E07-8A45-4BB5-884D-55618C0549CA}"/>
              </a:ext>
            </a:extLst>
          </p:cNvPr>
          <p:cNvSpPr>
            <a:spLocks noGrp="1"/>
          </p:cNvSpPr>
          <p:nvPr/>
        </p:nvSpPr>
        <p:spPr>
          <a:xfrm>
            <a:off x="8039100" y="2324100"/>
            <a:ext cx="3048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3E63A73-9CD6-446A-9E54-7C8AC291282E}"/>
              </a:ext>
            </a:extLst>
          </p:cNvPr>
          <p:cNvSpPr>
            <a:spLocks noGrp="1"/>
          </p:cNvSpPr>
          <p:nvPr/>
        </p:nvSpPr>
        <p:spPr>
          <a:xfrm>
            <a:off x="8401050" y="2114550"/>
            <a:ext cx="121920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F596793-91D5-4C7B-A8E2-751DC4ADDDB3}"/>
              </a:ext>
            </a:extLst>
          </p:cNvPr>
          <p:cNvSpPr>
            <a:spLocks noGrp="1"/>
          </p:cNvSpPr>
          <p:nvPr/>
        </p:nvSpPr>
        <p:spPr>
          <a:xfrm>
            <a:off x="8496300" y="2247900"/>
            <a:ext cx="102870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A-1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5079DC-05E0-498D-9912-4F1B6D72085F}"/>
              </a:ext>
            </a:extLst>
          </p:cNvPr>
          <p:cNvSpPr>
            <a:spLocks noGrp="1"/>
          </p:cNvSpPr>
          <p:nvPr/>
        </p:nvSpPr>
        <p:spPr>
          <a:xfrm>
            <a:off x="8496300" y="2524125"/>
            <a:ext cx="1028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HBL 1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80DF805-B087-478F-AA24-E249FA71B48F}"/>
              </a:ext>
            </a:extLst>
          </p:cNvPr>
          <p:cNvSpPr>
            <a:spLocks noGrp="1"/>
          </p:cNvSpPr>
          <p:nvPr/>
        </p:nvSpPr>
        <p:spPr>
          <a:xfrm>
            <a:off x="9734550" y="2114550"/>
            <a:ext cx="121920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9C8EDB-83F6-4B4C-9131-8CB3E3A4BBFD}"/>
              </a:ext>
            </a:extLst>
          </p:cNvPr>
          <p:cNvSpPr>
            <a:spLocks noGrp="1"/>
          </p:cNvSpPr>
          <p:nvPr/>
        </p:nvSpPr>
        <p:spPr>
          <a:xfrm>
            <a:off x="9829800" y="2247900"/>
            <a:ext cx="102870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A-2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6D0DB5A-957D-4CFB-8514-1D01E9B72887}"/>
              </a:ext>
            </a:extLst>
          </p:cNvPr>
          <p:cNvSpPr>
            <a:spLocks noGrp="1"/>
          </p:cNvSpPr>
          <p:nvPr/>
        </p:nvSpPr>
        <p:spPr>
          <a:xfrm>
            <a:off x="9829800" y="2524125"/>
            <a:ext cx="10287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HBL 2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AF3D318A-2703-4FC6-8898-01FD61B13F92}"/>
              </a:ext>
            </a:extLst>
          </p:cNvPr>
          <p:cNvSpPr>
            <a:spLocks noGrp="1"/>
          </p:cNvSpPr>
          <p:nvPr/>
        </p:nvSpPr>
        <p:spPr>
          <a:xfrm>
            <a:off x="5829300" y="3057525"/>
            <a:ext cx="5429250" cy="0"/>
          </a:xfrm>
          <a:prstGeom prst="line">
            <a:avLst/>
          </a:prstGeom>
          <a:noFill/>
          <a:ln w="9525">
            <a:solidFill>
              <a:srgbClr val="B9CEE8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5853CA0-DDA7-4BE1-AAF6-9DEE611AF59F}"/>
              </a:ext>
            </a:extLst>
          </p:cNvPr>
          <p:cNvSpPr>
            <a:spLocks noGrp="1"/>
          </p:cNvSpPr>
          <p:nvPr/>
        </p:nvSpPr>
        <p:spPr>
          <a:xfrm>
            <a:off x="5829300" y="3400425"/>
            <a:ext cx="5905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합배송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AC9FEDA-9A15-4E09-8C7B-4A24D1273263}"/>
              </a:ext>
            </a:extLst>
          </p:cNvPr>
          <p:cNvSpPr>
            <a:spLocks noGrp="1"/>
          </p:cNvSpPr>
          <p:nvPr/>
        </p:nvSpPr>
        <p:spPr>
          <a:xfrm>
            <a:off x="6515100" y="3209925"/>
            <a:ext cx="1066800" cy="609600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8C4CA3-C6ED-4C08-A507-6A6910EBA798}"/>
              </a:ext>
            </a:extLst>
          </p:cNvPr>
          <p:cNvSpPr>
            <a:spLocks noGrp="1"/>
          </p:cNvSpPr>
          <p:nvPr/>
        </p:nvSpPr>
        <p:spPr>
          <a:xfrm>
            <a:off x="6610350" y="3400425"/>
            <a:ext cx="8763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B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3BC88EA-1403-4968-811F-1963029F0863}"/>
              </a:ext>
            </a:extLst>
          </p:cNvPr>
          <p:cNvSpPr>
            <a:spLocks noGrp="1"/>
          </p:cNvSpPr>
          <p:nvPr/>
        </p:nvSpPr>
        <p:spPr>
          <a:xfrm>
            <a:off x="7620000" y="337185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9A69435-1425-4AE7-82D7-EA74E8CC5D3B}"/>
              </a:ext>
            </a:extLst>
          </p:cNvPr>
          <p:cNvSpPr>
            <a:spLocks noGrp="1"/>
          </p:cNvSpPr>
          <p:nvPr/>
        </p:nvSpPr>
        <p:spPr>
          <a:xfrm>
            <a:off x="7924800" y="3209925"/>
            <a:ext cx="1066800" cy="609600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23483CC-301A-4AD6-BD1C-7AD7547817A1}"/>
              </a:ext>
            </a:extLst>
          </p:cNvPr>
          <p:cNvSpPr>
            <a:spLocks noGrp="1"/>
          </p:cNvSpPr>
          <p:nvPr/>
        </p:nvSpPr>
        <p:spPr>
          <a:xfrm>
            <a:off x="8020050" y="3400425"/>
            <a:ext cx="8763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C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3E8C788-1887-4A2F-89D8-077ED2830CE9}"/>
              </a:ext>
            </a:extLst>
          </p:cNvPr>
          <p:cNvSpPr>
            <a:spLocks noGrp="1"/>
          </p:cNvSpPr>
          <p:nvPr/>
        </p:nvSpPr>
        <p:spPr>
          <a:xfrm>
            <a:off x="9048750" y="3371850"/>
            <a:ext cx="3048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1BB5A2B-4374-49DB-9385-C0F720FB3530}"/>
              </a:ext>
            </a:extLst>
          </p:cNvPr>
          <p:cNvSpPr>
            <a:spLocks noGrp="1"/>
          </p:cNvSpPr>
          <p:nvPr/>
        </p:nvSpPr>
        <p:spPr>
          <a:xfrm>
            <a:off x="9410700" y="3114675"/>
            <a:ext cx="1543050" cy="8001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04B08B3-A2FC-412C-B9A0-895F6AB65258}"/>
              </a:ext>
            </a:extLst>
          </p:cNvPr>
          <p:cNvSpPr>
            <a:spLocks noGrp="1"/>
          </p:cNvSpPr>
          <p:nvPr/>
        </p:nvSpPr>
        <p:spPr>
          <a:xfrm>
            <a:off x="9505950" y="3276600"/>
            <a:ext cx="13525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D / HBL 3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D069092-2C26-4BC6-BB9D-409AFE506D1F}"/>
              </a:ext>
            </a:extLst>
          </p:cNvPr>
          <p:cNvSpPr>
            <a:spLocks noGrp="1"/>
          </p:cNvSpPr>
          <p:nvPr/>
        </p:nvSpPr>
        <p:spPr>
          <a:xfrm>
            <a:off x="9505950" y="3581400"/>
            <a:ext cx="1352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거래정보 2건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479FA09-4057-4A9C-AD56-C0A45E82CF74}"/>
              </a:ext>
            </a:extLst>
          </p:cNvPr>
          <p:cNvSpPr>
            <a:spLocks noGrp="1"/>
          </p:cNvSpPr>
          <p:nvPr/>
        </p:nvSpPr>
        <p:spPr>
          <a:xfrm>
            <a:off x="5829300" y="4352925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쟁점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961750D-3D59-4594-BC67-0CF8BE2DF2A3}"/>
              </a:ext>
            </a:extLst>
          </p:cNvPr>
          <p:cNvSpPr>
            <a:spLocks noGrp="1"/>
          </p:cNvSpPr>
          <p:nvPr/>
        </p:nvSpPr>
        <p:spPr>
          <a:xfrm>
            <a:off x="6496050" y="4286250"/>
            <a:ext cx="46291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원주문번호와 포장 식별자를 한 필드에 섞으면 추적과 검수가 어려워졌습니다.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6F978A3-3A69-4A5A-94AB-0189D02AA607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0858500" cy="819150"/>
          </a:xfrm>
          <a:prstGeom prst="roundRect">
            <a:avLst>
              <a:gd name="adj" fmla="val 13953"/>
            </a:avLst>
          </a:prstGeom>
          <a:solidFill>
            <a:srgbClr val="1B4F9C"/>
          </a:solidFill>
          <a:ln w="0">
            <a:solidFill>
              <a:srgbClr val="1B4F9C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EFD0BFD-E04D-4A00-9773-14B497DE28F2}"/>
              </a:ext>
            </a:extLst>
          </p:cNvPr>
          <p:cNvSpPr>
            <a:spLocks noGrp="1"/>
          </p:cNvSpPr>
          <p:nvPr/>
        </p:nvSpPr>
        <p:spPr>
          <a:xfrm>
            <a:off x="895350" y="5553075"/>
            <a:ext cx="15811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결정해야 할 것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017C9A7-2149-4300-AF69-8A41892EDEF9}"/>
              </a:ext>
            </a:extLst>
          </p:cNvPr>
          <p:cNvSpPr>
            <a:spLocks noGrp="1"/>
          </p:cNvSpPr>
          <p:nvPr/>
        </p:nvSpPr>
        <p:spPr>
          <a:xfrm>
            <a:off x="2571750" y="5514975"/>
            <a:ext cx="86106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원주문번호와 ERP 포장번호·HBL을 분리해 1:N 관계를 보존</a:t>
            </a:r>
          </a:p>
        </p:txBody>
      </p:sp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E69508EE-BA63-4A54-BAA3-0BD58A2C54AA}"/>
              </a:ext>
            </a:extLst>
          </p:cNvPr>
          <p:cNvSpPr>
            <a:spLocks noGrp="1"/>
          </p:cNvSpPr>
          <p:nvPr/>
        </p:nvSpPr>
        <p:spPr>
          <a:xfrm>
            <a:off x="647700" y="64389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FC6F320-F122-48DB-AB3B-66BAED5A0B01}"/>
              </a:ext>
            </a:extLst>
          </p:cNvPr>
          <p:cNvSpPr>
            <a:spLocks noGrp="1"/>
          </p:cNvSpPr>
          <p:nvPr/>
        </p:nvSpPr>
        <p:spPr>
          <a:xfrm>
            <a:off x="647700" y="6515100"/>
            <a:ext cx="91916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문제 정의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5DBF3FB-A900-4CC8-BF3C-AF8EBBEFAF77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1269965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121B7651-DF0C-45FE-B1FC-59AD5D1A5F25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911542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원주문번호와 포장 식별자를 분리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D074A91C-D434-4B58-9060-BADCAF6E8CC6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1886ED7-CDA9-4F78-9E0A-273DE6F80968}"/>
              </a:ext>
            </a:extLst>
          </p:cNvPr>
          <p:cNvSpPr>
            <a:spLocks noGrp="1"/>
          </p:cNvSpPr>
          <p:nvPr/>
        </p:nvSpPr>
        <p:spPr>
          <a:xfrm>
            <a:off x="647700" y="11144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고객 주문 추적과 ERP 포장 처리를 한 필드에 섞지 않고 각각의 식별자를 보존했습니다.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375AEB8-C220-4D13-83B0-CF58A8D4F2DD}"/>
              </a:ext>
            </a:extLst>
          </p:cNvPr>
          <p:cNvSpPr>
            <a:spLocks noGrp="1"/>
          </p:cNvSpPr>
          <p:nvPr/>
        </p:nvSpPr>
        <p:spPr>
          <a:xfrm>
            <a:off x="647700" y="1562100"/>
            <a:ext cx="10858500" cy="819150"/>
          </a:xfrm>
          <a:prstGeom prst="roundRect">
            <a:avLst>
              <a:gd name="adj" fmla="val 16279"/>
            </a:avLst>
          </a:prstGeom>
          <a:solidFill>
            <a:srgbClr val="1B4F9C"/>
          </a:solidFill>
          <a:ln w="0">
            <a:solidFill>
              <a:srgbClr val="1B4F9C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CAF4E48-1B9F-46E6-9C40-E174BD210BA7}"/>
              </a:ext>
            </a:extLst>
          </p:cNvPr>
          <p:cNvSpPr>
            <a:spLocks noGrp="1"/>
          </p:cNvSpPr>
          <p:nvPr/>
        </p:nvSpPr>
        <p:spPr>
          <a:xfrm>
            <a:off x="885825" y="180975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EB49D64-9702-4E56-BB80-899DCA5890A2}"/>
              </a:ext>
            </a:extLst>
          </p:cNvPr>
          <p:cNvSpPr>
            <a:spLocks noGrp="1"/>
          </p:cNvSpPr>
          <p:nvPr/>
        </p:nvSpPr>
        <p:spPr>
          <a:xfrm>
            <a:off x="1695450" y="1752600"/>
            <a:ext cx="947737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외부 orderNo는 원주문번호 유지 · 분할번호는 erpPackageOrderNo로 별도 저장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C9539E7-EE0B-4B5D-BC68-5A1FCDDACFF6}"/>
              </a:ext>
            </a:extLst>
          </p:cNvPr>
          <p:cNvSpPr>
            <a:spLocks noGrp="1"/>
          </p:cNvSpPr>
          <p:nvPr/>
        </p:nvSpPr>
        <p:spPr>
          <a:xfrm>
            <a:off x="647700" y="2581275"/>
            <a:ext cx="3476625" cy="742950"/>
          </a:xfrm>
          <a:prstGeom prst="roundRect">
            <a:avLst>
              <a:gd name="adj" fmla="val 12821"/>
            </a:avLst>
          </a:prstGeom>
          <a:solidFill>
            <a:srgbClr val="F4F8FD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B1CCB04-DDBF-4049-8601-0A11DE9BA025}"/>
              </a:ext>
            </a:extLst>
          </p:cNvPr>
          <p:cNvSpPr>
            <a:spLocks noGrp="1"/>
          </p:cNvSpPr>
          <p:nvPr/>
        </p:nvSpPr>
        <p:spPr>
          <a:xfrm>
            <a:off x="819150" y="27908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주문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EF34A6-E825-4005-A487-30F71AB3BA3A}"/>
              </a:ext>
            </a:extLst>
          </p:cNvPr>
          <p:cNvSpPr>
            <a:spLocks noGrp="1"/>
          </p:cNvSpPr>
          <p:nvPr/>
        </p:nvSpPr>
        <p:spPr>
          <a:xfrm>
            <a:off x="1447800" y="273367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고도몰·관세청·GGATE에 원주문번호 유지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CB71627-B73A-4D98-8093-0862207F0393}"/>
              </a:ext>
            </a:extLst>
          </p:cNvPr>
          <p:cNvSpPr>
            <a:spLocks noGrp="1"/>
          </p:cNvSpPr>
          <p:nvPr/>
        </p:nvSpPr>
        <p:spPr>
          <a:xfrm>
            <a:off x="4324350" y="2581275"/>
            <a:ext cx="3476625" cy="742950"/>
          </a:xfrm>
          <a:prstGeom prst="roundRect">
            <a:avLst>
              <a:gd name="adj" fmla="val 12821"/>
            </a:avLst>
          </a:prstGeom>
          <a:solidFill>
            <a:srgbClr val="F4F8FD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A7E346-C8E7-4CDA-BAC0-77929420F181}"/>
              </a:ext>
            </a:extLst>
          </p:cNvPr>
          <p:cNvSpPr>
            <a:spLocks noGrp="1"/>
          </p:cNvSpPr>
          <p:nvPr/>
        </p:nvSpPr>
        <p:spPr>
          <a:xfrm>
            <a:off x="4495800" y="27908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포장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E41348-0F92-4B14-BF6A-041B1E0F2FE4}"/>
              </a:ext>
            </a:extLst>
          </p:cNvPr>
          <p:cNvSpPr>
            <a:spLocks noGrp="1"/>
          </p:cNvSpPr>
          <p:nvPr/>
        </p:nvSpPr>
        <p:spPr>
          <a:xfrm>
            <a:off x="5124450" y="273367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erpPackageOrderNo와 HBL로 분할 포장 추적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F41C1F5-2F8F-4B1A-8ED9-FF7D19A953DD}"/>
              </a:ext>
            </a:extLst>
          </p:cNvPr>
          <p:cNvSpPr>
            <a:spLocks noGrp="1"/>
          </p:cNvSpPr>
          <p:nvPr/>
        </p:nvSpPr>
        <p:spPr>
          <a:xfrm>
            <a:off x="8001000" y="2581275"/>
            <a:ext cx="3476625" cy="742950"/>
          </a:xfrm>
          <a:prstGeom prst="roundRect">
            <a:avLst>
              <a:gd name="adj" fmla="val 12821"/>
            </a:avLst>
          </a:prstGeom>
          <a:solidFill>
            <a:srgbClr val="F4F8FD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D7C011-5176-4605-B765-29ACCF8CEA4B}"/>
              </a:ext>
            </a:extLst>
          </p:cNvPr>
          <p:cNvSpPr>
            <a:spLocks noGrp="1"/>
          </p:cNvSpPr>
          <p:nvPr/>
        </p:nvSpPr>
        <p:spPr>
          <a:xfrm>
            <a:off x="8172450" y="2790825"/>
            <a:ext cx="6096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병합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D65A51B-DA3B-46EA-828E-F4E72770A77E}"/>
              </a:ext>
            </a:extLst>
          </p:cNvPr>
          <p:cNvSpPr>
            <a:spLocks noGrp="1"/>
          </p:cNvSpPr>
          <p:nvPr/>
        </p:nvSpPr>
        <p:spPr>
          <a:xfrm>
            <a:off x="8801100" y="273367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hwbNo와 orderNo를 복합키로 사용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78EFEB1-31E8-4AA3-9F77-F23AA3556123}"/>
              </a:ext>
            </a:extLst>
          </p:cNvPr>
          <p:cNvSpPr>
            <a:spLocks noGrp="1"/>
          </p:cNvSpPr>
          <p:nvPr/>
        </p:nvSpPr>
        <p:spPr>
          <a:xfrm>
            <a:off x="647700" y="3609975"/>
            <a:ext cx="5200650" cy="2190750"/>
          </a:xfrm>
          <a:prstGeom prst="roundRect">
            <a:avLst>
              <a:gd name="adj" fmla="val 5217"/>
            </a:avLst>
          </a:prstGeom>
          <a:solidFill>
            <a:srgbClr val="F4F8FD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EB69658-E5BA-4481-BC2B-A87E10C3B48C}"/>
              </a:ext>
            </a:extLst>
          </p:cNvPr>
          <p:cNvSpPr>
            <a:spLocks noGrp="1"/>
          </p:cNvSpPr>
          <p:nvPr/>
        </p:nvSpPr>
        <p:spPr>
          <a:xfrm>
            <a:off x="876300" y="381000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분할 주문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40314C-44C8-4340-8B55-E4E9F837E8DA}"/>
              </a:ext>
            </a:extLst>
          </p:cNvPr>
          <p:cNvSpPr>
            <a:spLocks noGrp="1"/>
          </p:cNvSpPr>
          <p:nvPr/>
        </p:nvSpPr>
        <p:spPr>
          <a:xfrm>
            <a:off x="2266950" y="3810000"/>
            <a:ext cx="32956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같은 orderNo를 유지하고 포장 식별자만 분리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B4FED09-0BDA-4336-A9BA-E95023E4F9E9}"/>
              </a:ext>
            </a:extLst>
          </p:cNvPr>
          <p:cNvSpPr>
            <a:spLocks noGrp="1"/>
          </p:cNvSpPr>
          <p:nvPr/>
        </p:nvSpPr>
        <p:spPr>
          <a:xfrm>
            <a:off x="914400" y="4295775"/>
            <a:ext cx="142875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39F05A-C12F-470F-87D1-DF0518A85511}"/>
              </a:ext>
            </a:extLst>
          </p:cNvPr>
          <p:cNvSpPr>
            <a:spLocks noGrp="1"/>
          </p:cNvSpPr>
          <p:nvPr/>
        </p:nvSpPr>
        <p:spPr>
          <a:xfrm>
            <a:off x="1038225" y="4524375"/>
            <a:ext cx="11811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orderNo A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C775609-9E30-49F6-BD97-6D46F9C32231}"/>
              </a:ext>
            </a:extLst>
          </p:cNvPr>
          <p:cNvSpPr>
            <a:spLocks noGrp="1"/>
          </p:cNvSpPr>
          <p:nvPr/>
        </p:nvSpPr>
        <p:spPr>
          <a:xfrm>
            <a:off x="2400300" y="44958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513D9BD-03F2-4B46-B572-4B9AEA6E971A}"/>
              </a:ext>
            </a:extLst>
          </p:cNvPr>
          <p:cNvSpPr>
            <a:spLocks noGrp="1"/>
          </p:cNvSpPr>
          <p:nvPr/>
        </p:nvSpPr>
        <p:spPr>
          <a:xfrm>
            <a:off x="2781300" y="4162425"/>
            <a:ext cx="1238250" cy="9525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167A226-588B-4E9E-845E-A8D610FC2311}"/>
              </a:ext>
            </a:extLst>
          </p:cNvPr>
          <p:cNvSpPr>
            <a:spLocks noGrp="1"/>
          </p:cNvSpPr>
          <p:nvPr/>
        </p:nvSpPr>
        <p:spPr>
          <a:xfrm>
            <a:off x="2895600" y="4314825"/>
            <a:ext cx="10096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A-1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53908D9-09BB-4C88-9B26-E023C8A4C9EC}"/>
              </a:ext>
            </a:extLst>
          </p:cNvPr>
          <p:cNvSpPr>
            <a:spLocks noGrp="1"/>
          </p:cNvSpPr>
          <p:nvPr/>
        </p:nvSpPr>
        <p:spPr>
          <a:xfrm>
            <a:off x="2895600" y="4591050"/>
            <a:ext cx="10096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ERP 포장번호</a:t>
            </a:r>
          </a:p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HBL 1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77E1BC9-969C-4086-8319-37770BB8090D}"/>
              </a:ext>
            </a:extLst>
          </p:cNvPr>
          <p:cNvSpPr>
            <a:spLocks noGrp="1"/>
          </p:cNvSpPr>
          <p:nvPr/>
        </p:nvSpPr>
        <p:spPr>
          <a:xfrm>
            <a:off x="4171950" y="4162425"/>
            <a:ext cx="1238250" cy="9525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3CC0870-1956-405F-BF03-680103CB98A0}"/>
              </a:ext>
            </a:extLst>
          </p:cNvPr>
          <p:cNvSpPr>
            <a:spLocks noGrp="1"/>
          </p:cNvSpPr>
          <p:nvPr/>
        </p:nvSpPr>
        <p:spPr>
          <a:xfrm>
            <a:off x="4286250" y="4314825"/>
            <a:ext cx="10096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A-2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B1B4A83-72FA-4D31-A95F-B0739A9BD726}"/>
              </a:ext>
            </a:extLst>
          </p:cNvPr>
          <p:cNvSpPr>
            <a:spLocks noGrp="1"/>
          </p:cNvSpPr>
          <p:nvPr/>
        </p:nvSpPr>
        <p:spPr>
          <a:xfrm>
            <a:off x="4286250" y="4591050"/>
            <a:ext cx="10096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ERP 포장번호</a:t>
            </a:r>
          </a:p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HBL 2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366EB9E-6F39-4805-8756-3FDDA62666A2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4495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외부 orderNo는 A로 유지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62437EE-382E-4FB0-BCD6-173233F2EDCD}"/>
              </a:ext>
            </a:extLst>
          </p:cNvPr>
          <p:cNvSpPr>
            <a:spLocks noGrp="1"/>
          </p:cNvSpPr>
          <p:nvPr/>
        </p:nvSpPr>
        <p:spPr>
          <a:xfrm>
            <a:off x="6076950" y="3609975"/>
            <a:ext cx="542925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2325234-5C21-4D27-B19B-32B173EF914D}"/>
              </a:ext>
            </a:extLst>
          </p:cNvPr>
          <p:cNvSpPr>
            <a:spLocks noGrp="1"/>
          </p:cNvSpPr>
          <p:nvPr/>
        </p:nvSpPr>
        <p:spPr>
          <a:xfrm>
            <a:off x="6305550" y="381000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합배송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EE2E90-FB91-4AD4-9AD4-FD3264CE141E}"/>
              </a:ext>
            </a:extLst>
          </p:cNvPr>
          <p:cNvSpPr>
            <a:spLocks noGrp="1"/>
          </p:cNvSpPr>
          <p:nvPr/>
        </p:nvSpPr>
        <p:spPr>
          <a:xfrm>
            <a:off x="7524750" y="3810000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한 HBL에 주문 여러 건이면 거래정보도 주문별로 제출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48E3A3B-8C24-4B6F-995C-224E276A0AE4}"/>
              </a:ext>
            </a:extLst>
          </p:cNvPr>
          <p:cNvSpPr>
            <a:spLocks noGrp="1"/>
          </p:cNvSpPr>
          <p:nvPr/>
        </p:nvSpPr>
        <p:spPr>
          <a:xfrm>
            <a:off x="6400800" y="4295775"/>
            <a:ext cx="120015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CDB77C5-B2D3-4A40-BEB9-E62B394ACF5F}"/>
              </a:ext>
            </a:extLst>
          </p:cNvPr>
          <p:cNvSpPr>
            <a:spLocks noGrp="1"/>
          </p:cNvSpPr>
          <p:nvPr/>
        </p:nvSpPr>
        <p:spPr>
          <a:xfrm>
            <a:off x="6515100" y="4524375"/>
            <a:ext cx="9715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orderNo B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50FDB68-7CFE-4A36-8BC6-CF8328F0DC54}"/>
              </a:ext>
            </a:extLst>
          </p:cNvPr>
          <p:cNvSpPr>
            <a:spLocks noGrp="1"/>
          </p:cNvSpPr>
          <p:nvPr/>
        </p:nvSpPr>
        <p:spPr>
          <a:xfrm>
            <a:off x="7658100" y="4495800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C9829AB-311C-4075-8858-F0B143CFC9DA}"/>
              </a:ext>
            </a:extLst>
          </p:cNvPr>
          <p:cNvSpPr>
            <a:spLocks noGrp="1"/>
          </p:cNvSpPr>
          <p:nvPr/>
        </p:nvSpPr>
        <p:spPr>
          <a:xfrm>
            <a:off x="8001000" y="4295775"/>
            <a:ext cx="1200150" cy="685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C863AB5-738F-4D0D-A20A-47E2851FC02D}"/>
              </a:ext>
            </a:extLst>
          </p:cNvPr>
          <p:cNvSpPr>
            <a:spLocks noGrp="1"/>
          </p:cNvSpPr>
          <p:nvPr/>
        </p:nvSpPr>
        <p:spPr>
          <a:xfrm>
            <a:off x="8115300" y="4524375"/>
            <a:ext cx="9715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orderNo C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BE34E29-3E78-4BB1-910F-CA3DB66158C4}"/>
              </a:ext>
            </a:extLst>
          </p:cNvPr>
          <p:cNvSpPr>
            <a:spLocks noGrp="1"/>
          </p:cNvSpPr>
          <p:nvPr/>
        </p:nvSpPr>
        <p:spPr>
          <a:xfrm>
            <a:off x="9258300" y="44958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F1E1ED2-1B93-4FDD-B8A1-F0623FAD1712}"/>
              </a:ext>
            </a:extLst>
          </p:cNvPr>
          <p:cNvSpPr>
            <a:spLocks noGrp="1"/>
          </p:cNvSpPr>
          <p:nvPr/>
        </p:nvSpPr>
        <p:spPr>
          <a:xfrm>
            <a:off x="9639300" y="4162425"/>
            <a:ext cx="1428750" cy="952500"/>
          </a:xfrm>
          <a:prstGeom prst="roundRect">
            <a:avLst>
              <a:gd name="adj" fmla="val 9000"/>
            </a:avLst>
          </a:prstGeom>
          <a:solidFill>
            <a:srgbClr val="F4F8FD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434AE36-EBB0-44C0-8CDC-688E6CBFD87A}"/>
              </a:ext>
            </a:extLst>
          </p:cNvPr>
          <p:cNvSpPr>
            <a:spLocks noGrp="1"/>
          </p:cNvSpPr>
          <p:nvPr/>
        </p:nvSpPr>
        <p:spPr>
          <a:xfrm>
            <a:off x="9753600" y="4314825"/>
            <a:ext cx="12001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HBL 3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81C1D47-4B94-400F-8BC5-9BBE65DBD8AB}"/>
              </a:ext>
            </a:extLst>
          </p:cNvPr>
          <p:cNvSpPr>
            <a:spLocks noGrp="1"/>
          </p:cNvSpPr>
          <p:nvPr/>
        </p:nvSpPr>
        <p:spPr>
          <a:xfrm>
            <a:off x="9753600" y="4591050"/>
            <a:ext cx="12001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TRA001</a:t>
            </a:r>
          </a:p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거래정보 2건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4E38BD7-54B1-44DD-AF25-880DE587B10A}"/>
              </a:ext>
            </a:extLst>
          </p:cNvPr>
          <p:cNvSpPr>
            <a:spLocks noGrp="1"/>
          </p:cNvSpPr>
          <p:nvPr/>
        </p:nvSpPr>
        <p:spPr>
          <a:xfrm>
            <a:off x="6305550" y="53340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HBL은 포장 식별자, orderNo는 거래 추적 식별자</a:t>
            </a:r>
          </a:p>
        </p:txBody>
      </p:sp>
      <p:sp>
        <p:nvSpPr>
          <p:cNvPr id="42" name="직선 연결선 41">
            <a:extLst>
              <a:ext uri="{FF2B5EF4-FFF2-40B4-BE49-F238E27FC236}">
                <a16:creationId xmlns:a16="http://schemas.microsoft.com/office/drawing/2014/main" id="{7AC7A700-EC56-41CC-9635-A06D7C8FAA63}"/>
              </a:ext>
            </a:extLst>
          </p:cNvPr>
          <p:cNvSpPr>
            <a:spLocks noGrp="1"/>
          </p:cNvSpPr>
          <p:nvPr/>
        </p:nvSpPr>
        <p:spPr>
          <a:xfrm>
            <a:off x="647700" y="64389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92C4827-7B1F-4DFC-AE58-81B1A8C591A8}"/>
              </a:ext>
            </a:extLst>
          </p:cNvPr>
          <p:cNvSpPr>
            <a:spLocks noGrp="1"/>
          </p:cNvSpPr>
          <p:nvPr/>
        </p:nvSpPr>
        <p:spPr>
          <a:xfrm>
            <a:off x="647700" y="6515100"/>
            <a:ext cx="91916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분할 출고 기준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5223AE0-DC04-4FD8-809D-94827C6BC5A8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1130937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F1F23077-0FD6-44E1-BEE3-6CB37E71C6B6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911542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데이터 계약을 필드·주체·키·완료 기준으로 명시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A3040FDE-F5D6-438F-9988-A284357636AF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AF6BB9-ADDD-41C9-BDD8-54F80294E460}"/>
              </a:ext>
            </a:extLst>
          </p:cNvPr>
          <p:cNvSpPr>
            <a:spLocks noGrp="1"/>
          </p:cNvSpPr>
          <p:nvPr/>
        </p:nvSpPr>
        <p:spPr>
          <a:xfrm>
            <a:off x="647700" y="11144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연동 참여자가 같은 주문을 같은 상태로 해석하도록 전달 형식과 검증 조건을 한 문서에 묶었습니다.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5A0F11B-5446-4C66-9A64-9B598093C4AC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7505700" cy="3171825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" y="1922876"/>
            <a:ext cx="7429500" cy="24883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E99AD7F-2338-47B6-8E96-AA81110EF990}"/>
              </a:ext>
            </a:extLst>
          </p:cNvPr>
          <p:cNvSpPr>
            <a:spLocks noGrp="1"/>
          </p:cNvSpPr>
          <p:nvPr/>
        </p:nvSpPr>
        <p:spPr>
          <a:xfrm>
            <a:off x="3257550" y="4810125"/>
            <a:ext cx="4819650" cy="180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planning_v7 업무 문서 발췌 · 2026-09-08 기준 · 역할명 일부 치환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0DF9C6A-5D7D-4EA7-AC26-A015806668B0}"/>
              </a:ext>
            </a:extLst>
          </p:cNvPr>
          <p:cNvSpPr>
            <a:spLocks noGrp="1"/>
          </p:cNvSpPr>
          <p:nvPr/>
        </p:nvSpPr>
        <p:spPr>
          <a:xfrm>
            <a:off x="8362950" y="1619250"/>
            <a:ext cx="3143250" cy="3095625"/>
          </a:xfrm>
          <a:prstGeom prst="roundRect">
            <a:avLst>
              <a:gd name="adj" fmla="val 4308"/>
            </a:avLst>
          </a:prstGeom>
          <a:solidFill>
            <a:srgbClr val="F4F8FD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158118-1001-4A70-B05A-548F0B237076}"/>
              </a:ext>
            </a:extLst>
          </p:cNvPr>
          <p:cNvSpPr>
            <a:spLocks noGrp="1"/>
          </p:cNvSpPr>
          <p:nvPr/>
        </p:nvSpPr>
        <p:spPr>
          <a:xfrm>
            <a:off x="8610600" y="1857375"/>
            <a:ext cx="26479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데이터 계약의 네 요소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8B722EB-098D-4CA3-B7A9-18BE95DBD22B}"/>
              </a:ext>
            </a:extLst>
          </p:cNvPr>
          <p:cNvSpPr>
            <a:spLocks noGrp="1"/>
          </p:cNvSpPr>
          <p:nvPr/>
        </p:nvSpPr>
        <p:spPr>
          <a:xfrm>
            <a:off x="8610600" y="230505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주문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8F8BA2D-23C9-46FE-A94B-43DE59A73D69}"/>
              </a:ext>
            </a:extLst>
          </p:cNvPr>
          <p:cNvSpPr>
            <a:spLocks noGrp="1"/>
          </p:cNvSpPr>
          <p:nvPr/>
        </p:nvSpPr>
        <p:spPr>
          <a:xfrm>
            <a:off x="9220200" y="2286000"/>
            <a:ext cx="20383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orderNo는 플랫폼 원주문번호 유지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8B81C27C-E88E-489C-AC53-05B6EE84321D}"/>
              </a:ext>
            </a:extLst>
          </p:cNvPr>
          <p:cNvSpPr>
            <a:spLocks noGrp="1"/>
          </p:cNvSpPr>
          <p:nvPr/>
        </p:nvSpPr>
        <p:spPr>
          <a:xfrm>
            <a:off x="8610600" y="2676525"/>
            <a:ext cx="2647950" cy="0"/>
          </a:xfrm>
          <a:prstGeom prst="line">
            <a:avLst/>
          </a:prstGeom>
          <a:noFill/>
          <a:ln w="9525">
            <a:solidFill>
              <a:srgbClr val="B9CEE8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83BD47D-C247-404B-B492-7AA3F1808E31}"/>
              </a:ext>
            </a:extLst>
          </p:cNvPr>
          <p:cNvSpPr>
            <a:spLocks noGrp="1"/>
          </p:cNvSpPr>
          <p:nvPr/>
        </p:nvSpPr>
        <p:spPr>
          <a:xfrm>
            <a:off x="8610600" y="285750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포장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FABB6DE-07CC-44A7-B415-C21472FE7930}"/>
              </a:ext>
            </a:extLst>
          </p:cNvPr>
          <p:cNvSpPr>
            <a:spLocks noGrp="1"/>
          </p:cNvSpPr>
          <p:nvPr/>
        </p:nvSpPr>
        <p:spPr>
          <a:xfrm>
            <a:off x="9220200" y="2838450"/>
            <a:ext cx="20383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erpPackageOrderNo와 HBL을 별도 보존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04F8CF49-4B5E-4236-A4B9-2E0812754F05}"/>
              </a:ext>
            </a:extLst>
          </p:cNvPr>
          <p:cNvSpPr>
            <a:spLocks noGrp="1"/>
          </p:cNvSpPr>
          <p:nvPr/>
        </p:nvSpPr>
        <p:spPr>
          <a:xfrm>
            <a:off x="8610600" y="3228975"/>
            <a:ext cx="2647950" cy="0"/>
          </a:xfrm>
          <a:prstGeom prst="line">
            <a:avLst/>
          </a:prstGeom>
          <a:noFill/>
          <a:ln w="9525">
            <a:solidFill>
              <a:srgbClr val="B9CEE8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C3599D-D9BD-4851-B11A-DE84EE006139}"/>
              </a:ext>
            </a:extLst>
          </p:cNvPr>
          <p:cNvSpPr>
            <a:spLocks noGrp="1"/>
          </p:cNvSpPr>
          <p:nvPr/>
        </p:nvSpPr>
        <p:spPr>
          <a:xfrm>
            <a:off x="8610600" y="340995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병합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AE82540-BA96-42CA-B29B-BF431F67D6D3}"/>
              </a:ext>
            </a:extLst>
          </p:cNvPr>
          <p:cNvSpPr>
            <a:spLocks noGrp="1"/>
          </p:cNvSpPr>
          <p:nvPr/>
        </p:nvSpPr>
        <p:spPr>
          <a:xfrm>
            <a:off x="9220200" y="3390900"/>
            <a:ext cx="20383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hwbNo와 orderNo로 동일 건 식별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8ABC0A89-81BF-4EFB-960E-CDB8C18C9841}"/>
              </a:ext>
            </a:extLst>
          </p:cNvPr>
          <p:cNvSpPr>
            <a:spLocks noGrp="1"/>
          </p:cNvSpPr>
          <p:nvPr/>
        </p:nvSpPr>
        <p:spPr>
          <a:xfrm>
            <a:off x="8610600" y="3781425"/>
            <a:ext cx="2647950" cy="0"/>
          </a:xfrm>
          <a:prstGeom prst="line">
            <a:avLst/>
          </a:prstGeom>
          <a:noFill/>
          <a:ln w="9525">
            <a:solidFill>
              <a:srgbClr val="B9CEE8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C1EBB27-9357-4FC6-BEE0-45079FBB272D}"/>
              </a:ext>
            </a:extLst>
          </p:cNvPr>
          <p:cNvSpPr>
            <a:spLocks noGrp="1"/>
          </p:cNvSpPr>
          <p:nvPr/>
        </p:nvSpPr>
        <p:spPr>
          <a:xfrm>
            <a:off x="8610600" y="396240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FB8742-8AAC-4827-8444-755FB24D2DB9}"/>
              </a:ext>
            </a:extLst>
          </p:cNvPr>
          <p:cNvSpPr>
            <a:spLocks noGrp="1"/>
          </p:cNvSpPr>
          <p:nvPr/>
        </p:nvSpPr>
        <p:spPr>
          <a:xfrm>
            <a:off x="9220200" y="3943350"/>
            <a:ext cx="20383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txif_sbmt_no로 관세청 결과 대사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4D2A206-3938-4DCD-B5CA-7FF25809B35E}"/>
              </a:ext>
            </a:extLst>
          </p:cNvPr>
          <p:cNvSpPr>
            <a:spLocks noGrp="1"/>
          </p:cNvSpPr>
          <p:nvPr/>
        </p:nvSpPr>
        <p:spPr>
          <a:xfrm>
            <a:off x="647700" y="5181600"/>
            <a:ext cx="10858500" cy="876300"/>
          </a:xfrm>
          <a:prstGeom prst="roundRect">
            <a:avLst>
              <a:gd name="adj" fmla="val 13043"/>
            </a:avLst>
          </a:prstGeom>
          <a:solidFill>
            <a:srgbClr val="F4F4F6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BAAAB15-FF28-4D40-B2D1-34054DA2A930}"/>
              </a:ext>
            </a:extLst>
          </p:cNvPr>
          <p:cNvSpPr>
            <a:spLocks noGrp="1"/>
          </p:cNvSpPr>
          <p:nvPr/>
        </p:nvSpPr>
        <p:spPr>
          <a:xfrm>
            <a:off x="876300" y="5448300"/>
            <a:ext cx="12573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문서의 역할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CAFC377-8666-48D2-966F-2A6E8999A89B}"/>
              </a:ext>
            </a:extLst>
          </p:cNvPr>
          <p:cNvSpPr>
            <a:spLocks noGrp="1"/>
          </p:cNvSpPr>
          <p:nvPr/>
        </p:nvSpPr>
        <p:spPr>
          <a:xfrm>
            <a:off x="2190750" y="5343525"/>
            <a:ext cx="89725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개발사별 구현 지시와 운영팀의 확인 기준을 같은 표에 두어, 누락과 책임 공백을 검수 항목으로 바꿨습니다.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A9F41E3E-6211-4FB9-ADCD-39B93858EA41}"/>
              </a:ext>
            </a:extLst>
          </p:cNvPr>
          <p:cNvSpPr>
            <a:spLocks noGrp="1"/>
          </p:cNvSpPr>
          <p:nvPr/>
        </p:nvSpPr>
        <p:spPr>
          <a:xfrm>
            <a:off x="647700" y="64389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E2511B-E354-4E32-A7F5-CD8D88606E7D}"/>
              </a:ext>
            </a:extLst>
          </p:cNvPr>
          <p:cNvSpPr>
            <a:spLocks noGrp="1"/>
          </p:cNvSpPr>
          <p:nvPr/>
        </p:nvSpPr>
        <p:spPr>
          <a:xfrm>
            <a:off x="647700" y="6515100"/>
            <a:ext cx="91916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데이터 계약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786D051-7717-4641-BD36-BBD5273F8B5B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153396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1A8C7FEE-B8BA-4D51-A3EA-255A1DCC5A2A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911542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접수·병합·통관 완료 상태를 분리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277B3AF2-0C05-4790-899E-6371386348E4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BE59B9-7260-4E71-B943-6F054890191A}"/>
              </a:ext>
            </a:extLst>
          </p:cNvPr>
          <p:cNvSpPr>
            <a:spLocks noGrp="1"/>
          </p:cNvSpPr>
          <p:nvPr/>
        </p:nvSpPr>
        <p:spPr>
          <a:xfrm>
            <a:off x="647700" y="11144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HTTP 접수와 최종 완료를 같은 상태로 보지 않고, 제공자별 조회 키와 재시도 기준을 나눴습니다.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DB4054C-2289-4DDD-9527-01B64B2F85FA}"/>
              </a:ext>
            </a:extLst>
          </p:cNvPr>
          <p:cNvSpPr>
            <a:spLocks noGrp="1"/>
          </p:cNvSpPr>
          <p:nvPr/>
        </p:nvSpPr>
        <p:spPr>
          <a:xfrm>
            <a:off x="647700" y="1628775"/>
            <a:ext cx="2381250" cy="952500"/>
          </a:xfrm>
          <a:prstGeom prst="roundRect">
            <a:avLst>
              <a:gd name="adj" fmla="val 12000"/>
            </a:avLst>
          </a:prstGeom>
          <a:solidFill>
            <a:srgbClr val="F4F4F6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8B5B53-6016-4176-825D-F8A26F259CA2}"/>
              </a:ext>
            </a:extLst>
          </p:cNvPr>
          <p:cNvSpPr>
            <a:spLocks noGrp="1"/>
          </p:cNvSpPr>
          <p:nvPr/>
        </p:nvSpPr>
        <p:spPr>
          <a:xfrm>
            <a:off x="819150" y="18192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A89619C-D3F4-4FC0-ABB4-96E055FE4F09}"/>
              </a:ext>
            </a:extLst>
          </p:cNvPr>
          <p:cNvSpPr>
            <a:spLocks noGrp="1"/>
          </p:cNvSpPr>
          <p:nvPr/>
        </p:nvSpPr>
        <p:spPr>
          <a:xfrm>
            <a:off x="819150" y="2200275"/>
            <a:ext cx="20383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주문·수하인·인증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974EA0-C688-4A51-A082-6CA392B53ADF}"/>
              </a:ext>
            </a:extLst>
          </p:cNvPr>
          <p:cNvSpPr>
            <a:spLocks noGrp="1"/>
          </p:cNvSpPr>
          <p:nvPr/>
        </p:nvSpPr>
        <p:spPr>
          <a:xfrm>
            <a:off x="3048000" y="1952625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161B915-00AC-426A-9F96-37A308F51F20}"/>
              </a:ext>
            </a:extLst>
          </p:cNvPr>
          <p:cNvSpPr>
            <a:spLocks noGrp="1"/>
          </p:cNvSpPr>
          <p:nvPr/>
        </p:nvSpPr>
        <p:spPr>
          <a:xfrm>
            <a:off x="3429000" y="1628775"/>
            <a:ext cx="2381250" cy="952500"/>
          </a:xfrm>
          <a:prstGeom prst="roundRect">
            <a:avLst>
              <a:gd name="adj" fmla="val 12000"/>
            </a:avLst>
          </a:prstGeom>
          <a:solidFill>
            <a:srgbClr val="1B4F9C"/>
          </a:solidFill>
          <a:ln w="9525">
            <a:solidFill>
              <a:srgbClr val="1B4F9C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81FA818-0A7F-421A-BE41-5C1EC1C7B6ED}"/>
              </a:ext>
            </a:extLst>
          </p:cNvPr>
          <p:cNvSpPr>
            <a:spLocks noGrp="1"/>
          </p:cNvSpPr>
          <p:nvPr/>
        </p:nvSpPr>
        <p:spPr>
          <a:xfrm>
            <a:off x="3600450" y="18192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D3FE78-C700-4DF6-9F10-C8397608978C}"/>
              </a:ext>
            </a:extLst>
          </p:cNvPr>
          <p:cNvSpPr>
            <a:spLocks noGrp="1"/>
          </p:cNvSpPr>
          <p:nvPr/>
        </p:nvSpPr>
        <p:spPr>
          <a:xfrm>
            <a:off x="3600450" y="2200275"/>
            <a:ext cx="20383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정규화·분기·상태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791642-81D7-490E-9C30-2367864FF4EE}"/>
              </a:ext>
            </a:extLst>
          </p:cNvPr>
          <p:cNvSpPr>
            <a:spLocks noGrp="1"/>
          </p:cNvSpPr>
          <p:nvPr/>
        </p:nvSpPr>
        <p:spPr>
          <a:xfrm>
            <a:off x="5829300" y="1952625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592AA77-FD3A-4DBE-92CF-BD196CEBB00E}"/>
              </a:ext>
            </a:extLst>
          </p:cNvPr>
          <p:cNvSpPr>
            <a:spLocks noGrp="1"/>
          </p:cNvSpPr>
          <p:nvPr/>
        </p:nvSpPr>
        <p:spPr>
          <a:xfrm>
            <a:off x="6210300" y="1628775"/>
            <a:ext cx="2381250" cy="952500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B5E02D3-C213-4F1A-A2AE-F30E9E7EEA4D}"/>
              </a:ext>
            </a:extLst>
          </p:cNvPr>
          <p:cNvSpPr>
            <a:spLocks noGrp="1"/>
          </p:cNvSpPr>
          <p:nvPr/>
        </p:nvSpPr>
        <p:spPr>
          <a:xfrm>
            <a:off x="6381750" y="18192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ERP/WMS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EB33B32-F0F4-4861-9A08-31066F366675}"/>
              </a:ext>
            </a:extLst>
          </p:cNvPr>
          <p:cNvSpPr>
            <a:spLocks noGrp="1"/>
          </p:cNvSpPr>
          <p:nvPr/>
        </p:nvSpPr>
        <p:spPr>
          <a:xfrm>
            <a:off x="6381750" y="2200275"/>
            <a:ext cx="20383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포장·HBL·상품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D4F0890-C958-4AA8-A3C6-3EF2C91AB939}"/>
              </a:ext>
            </a:extLst>
          </p:cNvPr>
          <p:cNvSpPr>
            <a:spLocks noGrp="1"/>
          </p:cNvSpPr>
          <p:nvPr/>
        </p:nvSpPr>
        <p:spPr>
          <a:xfrm>
            <a:off x="8610600" y="1952625"/>
            <a:ext cx="381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5E5A2E4-728A-4391-8058-83F368C3082F}"/>
              </a:ext>
            </a:extLst>
          </p:cNvPr>
          <p:cNvSpPr>
            <a:spLocks noGrp="1"/>
          </p:cNvSpPr>
          <p:nvPr/>
        </p:nvSpPr>
        <p:spPr>
          <a:xfrm>
            <a:off x="8991600" y="1628775"/>
            <a:ext cx="2381250" cy="952500"/>
          </a:xfrm>
          <a:prstGeom prst="roundRect">
            <a:avLst>
              <a:gd name="adj" fmla="val 12000"/>
            </a:avLst>
          </a:prstGeom>
          <a:solidFill>
            <a:srgbClr val="F4F4F6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F61320B-1F48-4A2A-A04A-7C70E96A90B0}"/>
              </a:ext>
            </a:extLst>
          </p:cNvPr>
          <p:cNvSpPr>
            <a:spLocks noGrp="1"/>
          </p:cNvSpPr>
          <p:nvPr/>
        </p:nvSpPr>
        <p:spPr>
          <a:xfrm>
            <a:off x="9163050" y="1819275"/>
            <a:ext cx="20383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시스템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6A6620-CDBE-4A7F-B69D-D04BE1D2A224}"/>
              </a:ext>
            </a:extLst>
          </p:cNvPr>
          <p:cNvSpPr>
            <a:spLocks noGrp="1"/>
          </p:cNvSpPr>
          <p:nvPr/>
        </p:nvSpPr>
        <p:spPr>
          <a:xfrm>
            <a:off x="9163050" y="2200275"/>
            <a:ext cx="20383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병합·검증·접수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8CBC0C-060A-4033-A762-061022977F1E}"/>
              </a:ext>
            </a:extLst>
          </p:cNvPr>
          <p:cNvSpPr>
            <a:spLocks noGrp="1"/>
          </p:cNvSpPr>
          <p:nvPr/>
        </p:nvSpPr>
        <p:spPr>
          <a:xfrm>
            <a:off x="647700" y="28956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상태와 복구 기준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02D016E-52C6-472F-ADA2-D68A20AA5951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2333625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574EF03-0BD5-4E8B-B83F-40F4BD42B32F}"/>
              </a:ext>
            </a:extLst>
          </p:cNvPr>
          <p:cNvSpPr>
            <a:spLocks noGrp="1"/>
          </p:cNvSpPr>
          <p:nvPr/>
        </p:nvSpPr>
        <p:spPr>
          <a:xfrm>
            <a:off x="790575" y="3467100"/>
            <a:ext cx="20478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HTTP 202 접수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F1D28A-7099-40C2-903F-13543B39F2EA}"/>
              </a:ext>
            </a:extLst>
          </p:cNvPr>
          <p:cNvSpPr>
            <a:spLocks noGrp="1"/>
          </p:cNvSpPr>
          <p:nvPr/>
        </p:nvSpPr>
        <p:spPr>
          <a:xfrm>
            <a:off x="2990850" y="3438525"/>
            <a:ext cx="3810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1FFD55F-0933-4176-8D5D-8046372E9F12}"/>
              </a:ext>
            </a:extLst>
          </p:cNvPr>
          <p:cNvSpPr>
            <a:spLocks noGrp="1"/>
          </p:cNvSpPr>
          <p:nvPr/>
        </p:nvSpPr>
        <p:spPr>
          <a:xfrm>
            <a:off x="3381375" y="3286125"/>
            <a:ext cx="2333625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0E05F4-2149-4AE4-BA88-D81606F75B8D}"/>
              </a:ext>
            </a:extLst>
          </p:cNvPr>
          <p:cNvSpPr>
            <a:spLocks noGrp="1"/>
          </p:cNvSpPr>
          <p:nvPr/>
        </p:nvSpPr>
        <p:spPr>
          <a:xfrm>
            <a:off x="3524250" y="3467100"/>
            <a:ext cx="20478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status/search 확인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A47D380-92D8-4847-AFEA-55B02FA6CC96}"/>
              </a:ext>
            </a:extLst>
          </p:cNvPr>
          <p:cNvSpPr>
            <a:spLocks noGrp="1"/>
          </p:cNvSpPr>
          <p:nvPr/>
        </p:nvSpPr>
        <p:spPr>
          <a:xfrm>
            <a:off x="5724525" y="3438525"/>
            <a:ext cx="3810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410E909-4E23-4F7A-B090-F36AA1B467ED}"/>
              </a:ext>
            </a:extLst>
          </p:cNvPr>
          <p:cNvSpPr>
            <a:spLocks noGrp="1"/>
          </p:cNvSpPr>
          <p:nvPr/>
        </p:nvSpPr>
        <p:spPr>
          <a:xfrm>
            <a:off x="6115050" y="3286125"/>
            <a:ext cx="2333625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5A69152-7A04-4FE7-B9A0-113E0F3119D9}"/>
              </a:ext>
            </a:extLst>
          </p:cNvPr>
          <p:cNvSpPr>
            <a:spLocks noGrp="1"/>
          </p:cNvSpPr>
          <p:nvPr/>
        </p:nvSpPr>
        <p:spPr>
          <a:xfrm>
            <a:off x="6257925" y="3467100"/>
            <a:ext cx="20478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원천 수정·재시도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B2E5511-CA0B-49CD-8483-D2522E164D57}"/>
              </a:ext>
            </a:extLst>
          </p:cNvPr>
          <p:cNvSpPr>
            <a:spLocks noGrp="1"/>
          </p:cNvSpPr>
          <p:nvPr/>
        </p:nvSpPr>
        <p:spPr>
          <a:xfrm>
            <a:off x="8458200" y="3438525"/>
            <a:ext cx="3810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E8EC527-2B13-47C7-AD88-DFC735A2042C}"/>
              </a:ext>
            </a:extLst>
          </p:cNvPr>
          <p:cNvSpPr>
            <a:spLocks noGrp="1"/>
          </p:cNvSpPr>
          <p:nvPr/>
        </p:nvSpPr>
        <p:spPr>
          <a:xfrm>
            <a:off x="8848725" y="3286125"/>
            <a:ext cx="2333625" cy="590550"/>
          </a:xfrm>
          <a:prstGeom prst="roundRect">
            <a:avLst>
              <a:gd name="adj" fmla="val 16129"/>
            </a:avLst>
          </a:prstGeom>
          <a:solidFill>
            <a:srgbClr val="1B4F9C"/>
          </a:solidFill>
          <a:ln w="9525">
            <a:solidFill>
              <a:srgbClr val="1B4F9C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438DA95-09D1-46C9-BE4D-C38965F63222}"/>
              </a:ext>
            </a:extLst>
          </p:cNvPr>
          <p:cNvSpPr>
            <a:spLocks noGrp="1"/>
          </p:cNvSpPr>
          <p:nvPr/>
        </p:nvSpPr>
        <p:spPr>
          <a:xfrm>
            <a:off x="8991600" y="3467100"/>
            <a:ext cx="20478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merged·통관 결과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3A2727F-B0B5-495C-A220-B7A63101856A}"/>
              </a:ext>
            </a:extLst>
          </p:cNvPr>
          <p:cNvSpPr>
            <a:spLocks noGrp="1"/>
          </p:cNvSpPr>
          <p:nvPr/>
        </p:nvSpPr>
        <p:spPr>
          <a:xfrm>
            <a:off x="742950" y="4191000"/>
            <a:ext cx="10668000" cy="177165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pic>
        <p:nvPicPr>
          <p:cNvPr id="68" name="그림 6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10063" y="4229100"/>
            <a:ext cx="6933773" cy="1695450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209A944E-7F0C-42B1-9098-4A3F01F33F6D}"/>
              </a:ext>
            </a:extLst>
          </p:cNvPr>
          <p:cNvSpPr>
            <a:spLocks noGrp="1"/>
          </p:cNvSpPr>
          <p:nvPr/>
        </p:nvSpPr>
        <p:spPr>
          <a:xfrm>
            <a:off x="6229350" y="6000750"/>
            <a:ext cx="5143500" cy="180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planning_v7 업무 문서 발췌 · 2026-09-08 기준 · 역할명 일부 치환</a:t>
            </a:r>
          </a:p>
        </p:txBody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4414468D-30DD-4244-BD0C-89A7EF062CCC}"/>
              </a:ext>
            </a:extLst>
          </p:cNvPr>
          <p:cNvSpPr>
            <a:spLocks noGrp="1"/>
          </p:cNvSpPr>
          <p:nvPr/>
        </p:nvSpPr>
        <p:spPr>
          <a:xfrm>
            <a:off x="647700" y="64389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82AE78D-EE54-4BB7-8E4D-16B5781B18FE}"/>
              </a:ext>
            </a:extLst>
          </p:cNvPr>
          <p:cNvSpPr>
            <a:spLocks noGrp="1"/>
          </p:cNvSpPr>
          <p:nvPr/>
        </p:nvSpPr>
        <p:spPr>
          <a:xfrm>
            <a:off x="647700" y="6515100"/>
            <a:ext cx="91916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역할과 복구 경계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355C377-506A-4D18-8ABF-81F75B4AB76E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1907950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233B57FD-9DD7-4784-99E7-3A7AC91D5E4A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911542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접수·의도 오류·수정 재제출을 함께 검증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DFC338DC-C9C9-4FFF-B332-18AB193844BB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494791-9881-4DCD-AAA8-D8D286FB7419}"/>
              </a:ext>
            </a:extLst>
          </p:cNvPr>
          <p:cNvSpPr>
            <a:spLocks noGrp="1"/>
          </p:cNvSpPr>
          <p:nvPr/>
        </p:nvSpPr>
        <p:spPr>
          <a:xfrm>
            <a:off x="647700" y="11144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정상 경로만 확인하지 않고 오류 반환과 복구 경로까지 운영 환경에서 확인했습니다.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B36AFBC-82AE-495C-9B6F-3C8F103EF39B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08585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7BE9764-148F-44C6-939E-54BEB21BF4E7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476250" cy="266700"/>
          </a:xfrm>
          <a:prstGeom prst="roundRect">
            <a:avLst>
              <a:gd name="adj" fmla="val 50000"/>
            </a:avLst>
          </a:prstGeom>
          <a:solidFill>
            <a:srgbClr val="1B4F9C"/>
          </a:solidFill>
          <a:ln w="0">
            <a:solidFill>
              <a:srgbClr val="1B4F9C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D8BA9D-FE41-4CC7-9FC8-D5DB7C175C1E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A573B46-6039-41F6-84C5-78206668D8B5}"/>
              </a:ext>
            </a:extLst>
          </p:cNvPr>
          <p:cNvSpPr>
            <a:spLocks noGrp="1"/>
          </p:cNvSpPr>
          <p:nvPr/>
        </p:nvSpPr>
        <p:spPr>
          <a:xfrm>
            <a:off x="1504950" y="1876425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762732-2804-49D8-99FB-A57A66622AE1}"/>
              </a:ext>
            </a:extLst>
          </p:cNvPr>
          <p:cNvSpPr>
            <a:spLocks noGrp="1"/>
          </p:cNvSpPr>
          <p:nvPr/>
        </p:nvSpPr>
        <p:spPr>
          <a:xfrm>
            <a:off x="3333750" y="1876425"/>
            <a:ext cx="33528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필수값을 갖춘 거래정보 제출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9A7CA9-6E7C-4C17-BB24-665265D30DB1}"/>
              </a:ext>
            </a:extLst>
          </p:cNvPr>
          <p:cNvSpPr>
            <a:spLocks noGrp="1"/>
          </p:cNvSpPr>
          <p:nvPr/>
        </p:nvSpPr>
        <p:spPr>
          <a:xfrm>
            <a:off x="6800850" y="1914525"/>
            <a:ext cx="4953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C1234A1-3A27-456F-94A7-D8B82524A5D2}"/>
              </a:ext>
            </a:extLst>
          </p:cNvPr>
          <p:cNvSpPr>
            <a:spLocks noGrp="1"/>
          </p:cNvSpPr>
          <p:nvPr/>
        </p:nvSpPr>
        <p:spPr>
          <a:xfrm>
            <a:off x="7429500" y="1876425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정상 접수 결과 확인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263F26D-5E9D-44DD-BADC-62B0107B7335}"/>
              </a:ext>
            </a:extLst>
          </p:cNvPr>
          <p:cNvSpPr>
            <a:spLocks noGrp="1"/>
          </p:cNvSpPr>
          <p:nvPr/>
        </p:nvSpPr>
        <p:spPr>
          <a:xfrm>
            <a:off x="647700" y="2743200"/>
            <a:ext cx="108585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35303B-333E-4A72-A753-0CE732D893F2}"/>
              </a:ext>
            </a:extLst>
          </p:cNvPr>
          <p:cNvSpPr>
            <a:spLocks noGrp="1"/>
          </p:cNvSpPr>
          <p:nvPr/>
        </p:nvSpPr>
        <p:spPr>
          <a:xfrm>
            <a:off x="838200" y="3067050"/>
            <a:ext cx="476250" cy="266700"/>
          </a:xfrm>
          <a:prstGeom prst="roundRect">
            <a:avLst>
              <a:gd name="adj" fmla="val 50000"/>
            </a:avLst>
          </a:prstGeom>
          <a:solidFill>
            <a:srgbClr val="1B4F9C"/>
          </a:solidFill>
          <a:ln w="0">
            <a:solidFill>
              <a:srgbClr val="1B4F9C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DAD44E-E9A6-46F3-8C45-807206780082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DD3072-3781-49F7-B973-24E15FB98914}"/>
              </a:ext>
            </a:extLst>
          </p:cNvPr>
          <p:cNvSpPr>
            <a:spLocks noGrp="1"/>
          </p:cNvSpPr>
          <p:nvPr/>
        </p:nvSpPr>
        <p:spPr>
          <a:xfrm>
            <a:off x="1504950" y="2981325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의도 오류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9B78BE-598B-42F1-A0A7-D26618BA042E}"/>
              </a:ext>
            </a:extLst>
          </p:cNvPr>
          <p:cNvSpPr>
            <a:spLocks noGrp="1"/>
          </p:cNvSpPr>
          <p:nvPr/>
        </p:nvSpPr>
        <p:spPr>
          <a:xfrm>
            <a:off x="3333750" y="2981325"/>
            <a:ext cx="33528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필수값을 의도적으로 누락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E8F7F73-7858-42C8-9E8E-6D78F84407C6}"/>
              </a:ext>
            </a:extLst>
          </p:cNvPr>
          <p:cNvSpPr>
            <a:spLocks noGrp="1"/>
          </p:cNvSpPr>
          <p:nvPr/>
        </p:nvSpPr>
        <p:spPr>
          <a:xfrm>
            <a:off x="6800850" y="3019425"/>
            <a:ext cx="4953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F13FAE-F080-40E1-AFFD-228204A39DB1}"/>
              </a:ext>
            </a:extLst>
          </p:cNvPr>
          <p:cNvSpPr>
            <a:spLocks noGrp="1"/>
          </p:cNvSpPr>
          <p:nvPr/>
        </p:nvSpPr>
        <p:spPr>
          <a:xfrm>
            <a:off x="7429500" y="2981325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예상한 오류 응답 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D923595-5FF0-4B38-885E-051AF231DE9C}"/>
              </a:ext>
            </a:extLst>
          </p:cNvPr>
          <p:cNvSpPr>
            <a:spLocks noGrp="1"/>
          </p:cNvSpPr>
          <p:nvPr/>
        </p:nvSpPr>
        <p:spPr>
          <a:xfrm>
            <a:off x="647700" y="3848100"/>
            <a:ext cx="10858500" cy="914400"/>
          </a:xfrm>
          <a:prstGeom prst="roundRect">
            <a:avLst>
              <a:gd name="adj" fmla="val 12500"/>
            </a:avLst>
          </a:prstGeom>
          <a:solidFill>
            <a:srgbClr val="F4F8FD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3529A76-5E9E-4FD0-83E2-8A923F44AEA3}"/>
              </a:ext>
            </a:extLst>
          </p:cNvPr>
          <p:cNvSpPr>
            <a:spLocks noGrp="1"/>
          </p:cNvSpPr>
          <p:nvPr/>
        </p:nvSpPr>
        <p:spPr>
          <a:xfrm>
            <a:off x="838200" y="4171950"/>
            <a:ext cx="476250" cy="266700"/>
          </a:xfrm>
          <a:prstGeom prst="roundRect">
            <a:avLst>
              <a:gd name="adj" fmla="val 50000"/>
            </a:avLst>
          </a:prstGeom>
          <a:solidFill>
            <a:srgbClr val="1B4F9C"/>
          </a:solidFill>
          <a:ln w="0">
            <a:solidFill>
              <a:srgbClr val="1B4F9C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555DA23-2318-4C87-94CF-B60F7DA6634C}"/>
              </a:ext>
            </a:extLst>
          </p:cNvPr>
          <p:cNvSpPr>
            <a:spLocks noGrp="1"/>
          </p:cNvSpPr>
          <p:nvPr/>
        </p:nvSpPr>
        <p:spPr>
          <a:xfrm>
            <a:off x="914400" y="42100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9FC10C0-B31B-4B29-B8CF-D5F148245764}"/>
              </a:ext>
            </a:extLst>
          </p:cNvPr>
          <p:cNvSpPr>
            <a:spLocks noGrp="1"/>
          </p:cNvSpPr>
          <p:nvPr/>
        </p:nvSpPr>
        <p:spPr>
          <a:xfrm>
            <a:off x="1504950" y="4086225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수정 재제출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94D6E2C-8766-44FE-80E4-C642C94E7E11}"/>
              </a:ext>
            </a:extLst>
          </p:cNvPr>
          <p:cNvSpPr>
            <a:spLocks noGrp="1"/>
          </p:cNvSpPr>
          <p:nvPr/>
        </p:nvSpPr>
        <p:spPr>
          <a:xfrm>
            <a:off x="3333750" y="4086225"/>
            <a:ext cx="33528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원천값 수정 후 다시 제출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3559038-0D8A-4675-8117-A75BD52117B6}"/>
              </a:ext>
            </a:extLst>
          </p:cNvPr>
          <p:cNvSpPr>
            <a:spLocks noGrp="1"/>
          </p:cNvSpPr>
          <p:nvPr/>
        </p:nvSpPr>
        <p:spPr>
          <a:xfrm>
            <a:off x="6800850" y="4124325"/>
            <a:ext cx="4953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33D5B1C-6C73-40AC-AB68-4C838FB70D13}"/>
              </a:ext>
            </a:extLst>
          </p:cNvPr>
          <p:cNvSpPr>
            <a:spLocks noGrp="1"/>
          </p:cNvSpPr>
          <p:nvPr/>
        </p:nvSpPr>
        <p:spPr>
          <a:xfrm>
            <a:off x="7429500" y="4086225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정상 접수로 전환 확인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CBDE640-9E4A-46CA-88F9-9D6D5DD03EF5}"/>
              </a:ext>
            </a:extLst>
          </p:cNvPr>
          <p:cNvSpPr>
            <a:spLocks noGrp="1"/>
          </p:cNvSpPr>
          <p:nvPr/>
        </p:nvSpPr>
        <p:spPr>
          <a:xfrm>
            <a:off x="647700" y="5105400"/>
            <a:ext cx="7239000" cy="971550"/>
          </a:xfrm>
          <a:prstGeom prst="roundRect">
            <a:avLst>
              <a:gd name="adj" fmla="val 11765"/>
            </a:avLst>
          </a:prstGeom>
          <a:solidFill>
            <a:srgbClr val="1B4F9C"/>
          </a:solidFill>
          <a:ln w="0">
            <a:solidFill>
              <a:srgbClr val="1B4F9C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1A64491-0BAB-443F-912C-618DBEB16534}"/>
              </a:ext>
            </a:extLst>
          </p:cNvPr>
          <p:cNvSpPr>
            <a:spLocks noGrp="1"/>
          </p:cNvSpPr>
          <p:nvPr/>
        </p:nvSpPr>
        <p:spPr>
          <a:xfrm>
            <a:off x="895350" y="530542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운영 환경 테스트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5B62602-6751-4C05-9722-5925C8D98787}"/>
              </a:ext>
            </a:extLst>
          </p:cNvPr>
          <p:cNvSpPr>
            <a:spLocks noGrp="1"/>
          </p:cNvSpPr>
          <p:nvPr/>
        </p:nvSpPr>
        <p:spPr>
          <a:xfrm>
            <a:off x="2952750" y="5248275"/>
            <a:ext cx="46291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30건 검증 · 목적 30/30 통과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8AC1CC0-B5E8-4672-AD7D-12774B63CCAC}"/>
              </a:ext>
            </a:extLst>
          </p:cNvPr>
          <p:cNvSpPr>
            <a:spLocks noGrp="1"/>
          </p:cNvSpPr>
          <p:nvPr/>
        </p:nvSpPr>
        <p:spPr>
          <a:xfrm>
            <a:off x="8096250" y="5105400"/>
            <a:ext cx="3409950" cy="971550"/>
          </a:xfrm>
          <a:prstGeom prst="roundRect">
            <a:avLst>
              <a:gd name="adj" fmla="val 11765"/>
            </a:avLst>
          </a:prstGeom>
          <a:solidFill>
            <a:srgbClr val="F4F4F6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8B15C99-E347-4FE4-B809-980A490D2248}"/>
              </a:ext>
            </a:extLst>
          </p:cNvPr>
          <p:cNvSpPr>
            <a:spLocks noGrp="1"/>
          </p:cNvSpPr>
          <p:nvPr/>
        </p:nvSpPr>
        <p:spPr>
          <a:xfrm>
            <a:off x="8305800" y="5286375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 범위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60AB0BC-C3CF-4048-B4D7-B67B832C4FCB}"/>
              </a:ext>
            </a:extLst>
          </p:cNvPr>
          <p:cNvSpPr>
            <a:spLocks noGrp="1"/>
          </p:cNvSpPr>
          <p:nvPr/>
        </p:nvSpPr>
        <p:spPr>
          <a:xfrm>
            <a:off x="8305800" y="5581650"/>
            <a:ext cx="295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세 유형별 개별 건수는 미확인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04BE7B68-C209-440F-8B5D-47D3B1DB9058}"/>
              </a:ext>
            </a:extLst>
          </p:cNvPr>
          <p:cNvSpPr>
            <a:spLocks noGrp="1"/>
          </p:cNvSpPr>
          <p:nvPr/>
        </p:nvSpPr>
        <p:spPr>
          <a:xfrm>
            <a:off x="647700" y="64389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AEB5E84-ECC7-4CBB-B4C3-35C27201A0DA}"/>
              </a:ext>
            </a:extLst>
          </p:cNvPr>
          <p:cNvSpPr>
            <a:spLocks noGrp="1"/>
          </p:cNvSpPr>
          <p:nvPr/>
        </p:nvSpPr>
        <p:spPr>
          <a:xfrm>
            <a:off x="647700" y="6515100"/>
            <a:ext cx="91916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운영 QA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EB7360A-CA92-44A6-91B5-3F05FBD60376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1103217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7CBA755A-D2CD-4F65-8C56-DB82B9BB82AD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911542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환경 30건 검증 후 상용 운영을 시작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A83AA130-7F26-4C4C-BF92-1882852B4FE6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196D93F-DA93-496F-B9E8-4F790AFB2C36}"/>
              </a:ext>
            </a:extLst>
          </p:cNvPr>
          <p:cNvSpPr>
            <a:spLocks noGrp="1"/>
          </p:cNvSpPr>
          <p:nvPr/>
        </p:nvSpPr>
        <p:spPr>
          <a:xfrm>
            <a:off x="647700" y="11144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2026-08-28부터 2026-09-15까지의 운영 집계와 측정 경계를 함께 정리했습니다.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27C1F50-77BF-4B21-A57F-787DAE940482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2457450" cy="1066800"/>
          </a:xfrm>
          <a:prstGeom prst="roundRect">
            <a:avLst>
              <a:gd name="adj" fmla="val 10714"/>
            </a:avLst>
          </a:prstGeom>
          <a:solidFill>
            <a:srgbClr val="F4F8FD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88591B-170E-481D-8166-E8BD196C30AB}"/>
              </a:ext>
            </a:extLst>
          </p:cNvPr>
          <p:cNvSpPr>
            <a:spLocks noGrp="1"/>
          </p:cNvSpPr>
          <p:nvPr/>
        </p:nvSpPr>
        <p:spPr>
          <a:xfrm>
            <a:off x="781050" y="1819275"/>
            <a:ext cx="2190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30건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C431DF-627F-4F1F-9249-3B640208B815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환경 검증 · 목적 30/30 통과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6079E02-68AF-4168-B531-D9A98978C511}"/>
              </a:ext>
            </a:extLst>
          </p:cNvPr>
          <p:cNvSpPr>
            <a:spLocks noGrp="1"/>
          </p:cNvSpPr>
          <p:nvPr/>
        </p:nvSpPr>
        <p:spPr>
          <a:xfrm>
            <a:off x="3333750" y="1657350"/>
            <a:ext cx="24574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4AB072-C18B-4727-82A6-C8D8B60FA661}"/>
              </a:ext>
            </a:extLst>
          </p:cNvPr>
          <p:cNvSpPr>
            <a:spLocks noGrp="1"/>
          </p:cNvSpPr>
          <p:nvPr/>
        </p:nvSpPr>
        <p:spPr>
          <a:xfrm>
            <a:off x="3467100" y="1819275"/>
            <a:ext cx="2190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약 300건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7F7794-A065-43C1-A502-4E29C256A23C}"/>
              </a:ext>
            </a:extLst>
          </p:cNvPr>
          <p:cNvSpPr>
            <a:spLocks noGrp="1"/>
          </p:cNvSpPr>
          <p:nvPr/>
        </p:nvSpPr>
        <p:spPr>
          <a:xfrm>
            <a:off x="3467100" y="228600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일평균 발생 주문 규모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889E111-9AFB-4296-8DF0-D97360BEB12D}"/>
              </a:ext>
            </a:extLst>
          </p:cNvPr>
          <p:cNvSpPr>
            <a:spLocks noGrp="1"/>
          </p:cNvSpPr>
          <p:nvPr/>
        </p:nvSpPr>
        <p:spPr>
          <a:xfrm>
            <a:off x="6019800" y="1657350"/>
            <a:ext cx="24574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491522B-C7F2-4CE1-A995-0D407237319A}"/>
              </a:ext>
            </a:extLst>
          </p:cNvPr>
          <p:cNvSpPr>
            <a:spLocks noGrp="1"/>
          </p:cNvSpPr>
          <p:nvPr/>
        </p:nvSpPr>
        <p:spPr>
          <a:xfrm>
            <a:off x="6153150" y="1819275"/>
            <a:ext cx="2190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230 / 70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0E5509-4B79-4F07-9E44-11B07CAE3869}"/>
              </a:ext>
            </a:extLst>
          </p:cNvPr>
          <p:cNvSpPr>
            <a:spLocks noGrp="1"/>
          </p:cNvSpPr>
          <p:nvPr/>
        </p:nvSpPr>
        <p:spPr>
          <a:xfrm>
            <a:off x="6153150" y="228600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자사몰 / 기타 주문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8CA905F-6298-42B8-948E-A9BEBA400A0D}"/>
              </a:ext>
            </a:extLst>
          </p:cNvPr>
          <p:cNvSpPr>
            <a:spLocks noGrp="1"/>
          </p:cNvSpPr>
          <p:nvPr/>
        </p:nvSpPr>
        <p:spPr>
          <a:xfrm>
            <a:off x="8705850" y="1657350"/>
            <a:ext cx="2800350" cy="1066800"/>
          </a:xfrm>
          <a:prstGeom prst="roundRect">
            <a:avLst>
              <a:gd name="adj" fmla="val 10714"/>
            </a:avLst>
          </a:prstGeom>
          <a:solidFill>
            <a:srgbClr val="F4F8FD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C99738-667A-44E9-AFA2-B12490BAA083}"/>
              </a:ext>
            </a:extLst>
          </p:cNvPr>
          <p:cNvSpPr>
            <a:spLocks noGrp="1"/>
          </p:cNvSpPr>
          <p:nvPr/>
        </p:nvSpPr>
        <p:spPr>
          <a:xfrm>
            <a:off x="8839200" y="1819275"/>
            <a:ext cx="25336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전체 완료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FFA78C-B23C-42A0-A239-EB08D7463ABB}"/>
              </a:ext>
            </a:extLst>
          </p:cNvPr>
          <p:cNvSpPr>
            <a:spLocks noGrp="1"/>
          </p:cNvSpPr>
          <p:nvPr/>
        </p:nvSpPr>
        <p:spPr>
          <a:xfrm>
            <a:off x="8839200" y="2286000"/>
            <a:ext cx="25336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집계 대상 주문 통관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B9E1BBE-14F8-43FA-89DB-16CBA78DA98A}"/>
              </a:ext>
            </a:extLst>
          </p:cNvPr>
          <p:cNvSpPr>
            <a:spLocks noGrp="1"/>
          </p:cNvSpPr>
          <p:nvPr/>
        </p:nvSpPr>
        <p:spPr>
          <a:xfrm>
            <a:off x="647700" y="3076575"/>
            <a:ext cx="10858500" cy="1381125"/>
          </a:xfrm>
          <a:prstGeom prst="roundRect">
            <a:avLst>
              <a:gd name="adj" fmla="val 8276"/>
            </a:avLst>
          </a:prstGeom>
          <a:solidFill>
            <a:srgbClr val="F4F4F6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59A4F60-6BB8-4D56-A2EB-5F4AF80C7937}"/>
              </a:ext>
            </a:extLst>
          </p:cNvPr>
          <p:cNvSpPr>
            <a:spLocks noGrp="1"/>
          </p:cNvSpPr>
          <p:nvPr/>
        </p:nvSpPr>
        <p:spPr>
          <a:xfrm>
            <a:off x="895350" y="3305175"/>
            <a:ext cx="1181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판단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47EF9AC-1E16-479F-B339-7B9681A27834}"/>
              </a:ext>
            </a:extLst>
          </p:cNvPr>
          <p:cNvSpPr>
            <a:spLocks noGrp="1"/>
          </p:cNvSpPr>
          <p:nvPr/>
        </p:nvSpPr>
        <p:spPr>
          <a:xfrm>
            <a:off x="2152650" y="3257550"/>
            <a:ext cx="8905875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신규 연동과 기존 방식을 병행한 상태에서도 집계 대상 주문의 통관 완료를 확인했습니다.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2006CE4-7AF0-4916-8D4E-031DDD67CE8C}"/>
              </a:ext>
            </a:extLst>
          </p:cNvPr>
          <p:cNvSpPr>
            <a:spLocks noGrp="1"/>
          </p:cNvSpPr>
          <p:nvPr/>
        </p:nvSpPr>
        <p:spPr>
          <a:xfrm>
            <a:off x="2152650" y="3781425"/>
            <a:ext cx="89058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환경에서 30건을 검증했고, 설정한 테스트 목적은 30/30 통과했습니다. 자동 처리율·신규 경로 비중·처리 시간은 별도 계측하지 않았습니다.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6D6BE76-AD96-4AF3-A042-E175ABCAF7B4}"/>
              </a:ext>
            </a:extLst>
          </p:cNvPr>
          <p:cNvSpPr>
            <a:spLocks noGrp="1"/>
          </p:cNvSpPr>
          <p:nvPr/>
        </p:nvSpPr>
        <p:spPr>
          <a:xfrm>
            <a:off x="647700" y="4686300"/>
            <a:ext cx="10858500" cy="1390650"/>
          </a:xfrm>
          <a:prstGeom prst="roundRect">
            <a:avLst>
              <a:gd name="adj" fmla="val 8219"/>
            </a:avLst>
          </a:prstGeom>
          <a:solidFill>
            <a:srgbClr val="F4F8FD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9197A9-8EFA-40EE-8264-4177AE6CB393}"/>
              </a:ext>
            </a:extLst>
          </p:cNvPr>
          <p:cNvSpPr>
            <a:spLocks noGrp="1"/>
          </p:cNvSpPr>
          <p:nvPr/>
        </p:nvSpPr>
        <p:spPr>
          <a:xfrm>
            <a:off x="895350" y="498157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2026-08-28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89EB1A4-D2CE-4E9A-A52F-34B4AEE8104B}"/>
              </a:ext>
            </a:extLst>
          </p:cNvPr>
          <p:cNvSpPr>
            <a:spLocks noGrp="1"/>
          </p:cNvSpPr>
          <p:nvPr/>
        </p:nvSpPr>
        <p:spPr>
          <a:xfrm>
            <a:off x="895350" y="5314950"/>
            <a:ext cx="1619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상용 운영 시작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968455F-9814-4799-9E61-5AB5A5233720}"/>
              </a:ext>
            </a:extLst>
          </p:cNvPr>
          <p:cNvSpPr>
            <a:spLocks noGrp="1"/>
          </p:cNvSpPr>
          <p:nvPr/>
        </p:nvSpPr>
        <p:spPr>
          <a:xfrm>
            <a:off x="2667000" y="51244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82D8DCF-CCCF-4EEE-AE6F-A4C0F37C327B}"/>
              </a:ext>
            </a:extLst>
          </p:cNvPr>
          <p:cNvSpPr>
            <a:spLocks noGrp="1"/>
          </p:cNvSpPr>
          <p:nvPr/>
        </p:nvSpPr>
        <p:spPr>
          <a:xfrm>
            <a:off x="3381375" y="4981575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2026-09-15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70B249-C811-429D-AB55-9030F1E6F364}"/>
              </a:ext>
            </a:extLst>
          </p:cNvPr>
          <p:cNvSpPr>
            <a:spLocks noGrp="1"/>
          </p:cNvSpPr>
          <p:nvPr/>
        </p:nvSpPr>
        <p:spPr>
          <a:xfrm>
            <a:off x="3381375" y="5314950"/>
            <a:ext cx="1619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집계 기준일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28AA022-CDDD-4794-ADB5-7CDE9662E8F6}"/>
              </a:ext>
            </a:extLst>
          </p:cNvPr>
          <p:cNvSpPr>
            <a:spLocks noGrp="1"/>
          </p:cNvSpPr>
          <p:nvPr/>
        </p:nvSpPr>
        <p:spPr>
          <a:xfrm>
            <a:off x="5743575" y="4943475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확인한 결과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E74382B-0CA9-4CAB-A169-9AFCFEF28BAD}"/>
              </a:ext>
            </a:extLst>
          </p:cNvPr>
          <p:cNvSpPr>
            <a:spLocks noGrp="1"/>
          </p:cNvSpPr>
          <p:nvPr/>
        </p:nvSpPr>
        <p:spPr>
          <a:xfrm>
            <a:off x="7067550" y="4876800"/>
            <a:ext cx="401002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일평균 약 300건 · 자사몰 230건 · 기타 70건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AFADF1E-0C1C-4FC0-A765-550B6392C44C}"/>
              </a:ext>
            </a:extLst>
          </p:cNvPr>
          <p:cNvSpPr>
            <a:spLocks noGrp="1"/>
          </p:cNvSpPr>
          <p:nvPr/>
        </p:nvSpPr>
        <p:spPr>
          <a:xfrm>
            <a:off x="7067550" y="5353050"/>
            <a:ext cx="401002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2026-08-28~2026-09-15 집계</a:t>
            </a: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6457904E-EB2A-4961-9091-FFEDD88C1CC0}"/>
              </a:ext>
            </a:extLst>
          </p:cNvPr>
          <p:cNvSpPr>
            <a:spLocks noGrp="1"/>
          </p:cNvSpPr>
          <p:nvPr/>
        </p:nvSpPr>
        <p:spPr>
          <a:xfrm>
            <a:off x="647700" y="64389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6797337-1A78-42C5-A0A8-8AC0BC305C8C}"/>
              </a:ext>
            </a:extLst>
          </p:cNvPr>
          <p:cNvSpPr>
            <a:spLocks noGrp="1"/>
          </p:cNvSpPr>
          <p:nvPr/>
        </p:nvSpPr>
        <p:spPr>
          <a:xfrm>
            <a:off x="647700" y="6515100"/>
            <a:ext cx="91916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결과와 한계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E59114-BF47-434E-A1D1-6D065AB0F37B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538528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6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7B0EF3-4F5C-418B-A95E-E3D106399937}"/>
              </a:ext>
            </a:extLst>
          </p:cNvPr>
          <p:cNvSpPr>
            <a:spLocks noGrp="1"/>
          </p:cNvSpPr>
          <p:nvPr/>
        </p:nvSpPr>
        <p:spPr>
          <a:xfrm>
            <a:off x="647700" y="542925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C4035B0-546E-45C7-871F-8118E5DD3F4B}"/>
              </a:ext>
            </a:extLst>
          </p:cNvPr>
          <p:cNvSpPr>
            <a:spLocks noGrp="1"/>
          </p:cNvSpPr>
          <p:nvPr/>
        </p:nvSpPr>
        <p:spPr>
          <a:xfrm>
            <a:off x="10572750" y="581025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00" b="0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01 / 07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C2615A-C1A4-49C6-9292-96C2B27FBAF0}"/>
              </a:ext>
            </a:extLst>
          </p:cNvPr>
          <p:cNvSpPr>
            <a:spLocks noGrp="1"/>
          </p:cNvSpPr>
          <p:nvPr/>
        </p:nvSpPr>
        <p:spPr>
          <a:xfrm>
            <a:off x="647700" y="1333500"/>
            <a:ext cx="5905500" cy="971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산후조리원 전용</a:t>
            </a:r>
          </a:p>
          <a:p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B2B 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A6C586-59B5-4D9C-9855-E918327F2E13}"/>
              </a:ext>
            </a:extLst>
          </p:cNvPr>
          <p:cNvSpPr>
            <a:spLocks noGrp="1"/>
          </p:cNvSpPr>
          <p:nvPr/>
        </p:nvSpPr>
        <p:spPr>
          <a:xfrm>
            <a:off x="647700" y="2552700"/>
            <a:ext cx="60007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4개 계정 유형과 혼합 주문 차단 기준을 설계하고,</a:t>
            </a:r>
          </a:p>
          <a:p>
            <a:pPr algn="l">
              <a:def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운영 서버에서 직접 확인한 항목만 완료로 처리했습니다.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D6611A7-AF9D-4359-A6D3-54C4CA8E640C}"/>
              </a:ext>
            </a:extLst>
          </p:cNvPr>
          <p:cNvSpPr>
            <a:spLocks noGrp="1"/>
          </p:cNvSpPr>
          <p:nvPr/>
        </p:nvSpPr>
        <p:spPr>
          <a:xfrm>
            <a:off x="647700" y="3648075"/>
            <a:ext cx="5857875" cy="1733550"/>
          </a:xfrm>
          <a:prstGeom prst="roundRect">
            <a:avLst>
              <a:gd name="adj" fmla="val 8791"/>
            </a:avLst>
          </a:prstGeom>
          <a:solidFill>
            <a:srgbClr val="17563A"/>
          </a:solidFill>
          <a:ln w="0">
            <a:solidFill>
              <a:srgbClr val="17563A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E60345-DBDB-41E0-8611-40C7C3FE85B6}"/>
              </a:ext>
            </a:extLst>
          </p:cNvPr>
          <p:cNvSpPr>
            <a:spLocks noGrp="1"/>
          </p:cNvSpPr>
          <p:nvPr/>
        </p:nvSpPr>
        <p:spPr>
          <a:xfrm>
            <a:off x="895350" y="39052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1B2AE3-8A60-4655-90C3-9E3C25807886}"/>
              </a:ext>
            </a:extLst>
          </p:cNvPr>
          <p:cNvSpPr>
            <a:spLocks noGrp="1"/>
          </p:cNvSpPr>
          <p:nvPr/>
        </p:nvSpPr>
        <p:spPr>
          <a:xfrm>
            <a:off x="1619250" y="3876675"/>
            <a:ext cx="45339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고객사·공급사의 주문, 납기, 출고, 정산 조율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6EFA67-2CBA-4C64-9BFB-F61E7CAA2936}"/>
              </a:ext>
            </a:extLst>
          </p:cNvPr>
          <p:cNvSpPr>
            <a:spLocks noGrp="1"/>
          </p:cNvSpPr>
          <p:nvPr/>
        </p:nvSpPr>
        <p:spPr>
          <a:xfrm>
            <a:off x="895350" y="4410075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4975F1-4977-4782-A226-7591039DEFC1}"/>
              </a:ext>
            </a:extLst>
          </p:cNvPr>
          <p:cNvSpPr>
            <a:spLocks noGrp="1"/>
          </p:cNvSpPr>
          <p:nvPr/>
        </p:nvSpPr>
        <p:spPr>
          <a:xfrm>
            <a:off x="1619250" y="4305300"/>
            <a:ext cx="45339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2026-06 기획 · 07-02 개발 착수 · 07-16 핵심 흐름 운영</a:t>
            </a:r>
          </a:p>
          <a:p>
            <a:pPr algn="l"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08-06~13 운영 고도화·QA · 08-31 최종 검수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F0090C-9F9F-47B0-8FAA-43C5B7ACC731}"/>
              </a:ext>
            </a:extLst>
          </p:cNvPr>
          <p:cNvSpPr>
            <a:spLocks noGrp="1"/>
          </p:cNvSpPr>
          <p:nvPr/>
        </p:nvSpPr>
        <p:spPr>
          <a:xfrm>
            <a:off x="895350" y="49720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BDAE1F-0448-4232-AE94-9E98E4E40814}"/>
              </a:ext>
            </a:extLst>
          </p:cNvPr>
          <p:cNvSpPr>
            <a:spLocks noGrp="1"/>
          </p:cNvSpPr>
          <p:nvPr/>
        </p:nvSpPr>
        <p:spPr>
          <a:xfrm>
            <a:off x="1619250" y="4933950"/>
            <a:ext cx="45339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정책표 · 결제 규칙 · QA 결과 · 운영 화면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8DEDAAE-8D8C-4137-B9E9-91D5A553F233}"/>
              </a:ext>
            </a:extLst>
          </p:cNvPr>
          <p:cNvSpPr>
            <a:spLocks noGrp="1"/>
          </p:cNvSpPr>
          <p:nvPr/>
        </p:nvSpPr>
        <p:spPr>
          <a:xfrm>
            <a:off x="6858000" y="1638300"/>
            <a:ext cx="4648200" cy="1295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96100" y="1680246"/>
            <a:ext cx="4572000" cy="1211508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ADDC4E-45B3-4145-A373-98D5090D0D75}"/>
              </a:ext>
            </a:extLst>
          </p:cNvPr>
          <p:cNvSpPr>
            <a:spLocks noGrp="1"/>
          </p:cNvSpPr>
          <p:nvPr/>
        </p:nvSpPr>
        <p:spPr>
          <a:xfrm>
            <a:off x="7848600" y="2990850"/>
            <a:ext cx="3619500" cy="180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실운영 홈 화면 발췌 · 2026-08-28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C58551E-7142-4231-9885-F0B74094C2AF}"/>
              </a:ext>
            </a:extLst>
          </p:cNvPr>
          <p:cNvSpPr>
            <a:spLocks noGrp="1"/>
          </p:cNvSpPr>
          <p:nvPr/>
        </p:nvSpPr>
        <p:spPr>
          <a:xfrm>
            <a:off x="6896100" y="3457575"/>
            <a:ext cx="4572000" cy="1924050"/>
          </a:xfrm>
          <a:prstGeom prst="roundRect">
            <a:avLst>
              <a:gd name="adj" fmla="val 7921"/>
            </a:avLst>
          </a:prstGeom>
          <a:solidFill>
            <a:srgbClr val="17563A"/>
          </a:solidFill>
          <a:ln w="0">
            <a:solidFill>
              <a:srgbClr val="17563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FCF7975-45A0-415B-8B49-27E2A9B4CA78}"/>
              </a:ext>
            </a:extLst>
          </p:cNvPr>
          <p:cNvSpPr>
            <a:spLocks noGrp="1"/>
          </p:cNvSpPr>
          <p:nvPr/>
        </p:nvSpPr>
        <p:spPr>
          <a:xfrm>
            <a:off x="7181850" y="3743325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화면에 반영한 운영 기준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30C347-2828-4004-9857-D5FB11D7DE0A}"/>
              </a:ext>
            </a:extLst>
          </p:cNvPr>
          <p:cNvSpPr>
            <a:spLocks noGrp="1"/>
          </p:cNvSpPr>
          <p:nvPr/>
        </p:nvSpPr>
        <p:spPr>
          <a:xfrm>
            <a:off x="7181850" y="4171950"/>
            <a:ext cx="40005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거래명세서 다운로드</a:t>
            </a:r>
          </a:p>
          <a:p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당일 출고 마감 안내</a:t>
            </a:r>
          </a:p>
          <a:p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배송 상태 확인</a:t>
            </a:r>
          </a:p>
          <a:p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정확한 입금 확인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E0451EE1-9D4E-4EE6-863A-DC95187DE1BA}"/>
              </a:ext>
            </a:extLst>
          </p:cNvPr>
          <p:cNvSpPr>
            <a:spLocks noGrp="1"/>
          </p:cNvSpPr>
          <p:nvPr/>
        </p:nvSpPr>
        <p:spPr>
          <a:xfrm>
            <a:off x="647700" y="64389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9CBD023-1F28-4E58-8B2F-891B4D27767E}"/>
              </a:ext>
            </a:extLst>
          </p:cNvPr>
          <p:cNvSpPr>
            <a:spLocks noGrp="1"/>
          </p:cNvSpPr>
          <p:nvPr/>
        </p:nvSpPr>
        <p:spPr>
          <a:xfrm>
            <a:off x="647700" y="6515100"/>
            <a:ext cx="91916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Project 02 · 산후조리원 B2B 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4F6C33-3BAA-442E-B315-C987C26E259C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306023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>
            <a:extLst>
              <a:ext uri="{FF2B5EF4-FFF2-40B4-BE49-F238E27FC236}">
                <a16:creationId xmlns:a16="http://schemas.microsoft.com/office/drawing/2014/main" id="{25C9BA80-BD4A-41D3-AF31-73843C5ECCFA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911542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시작 전 반복된 문제와 설계 기준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D24D4FE5-FF3E-4282-B4A8-AD807F6D4E58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4729C7-6D10-4410-B571-D8DDCEE81128}"/>
              </a:ext>
            </a:extLst>
          </p:cNvPr>
          <p:cNvSpPr>
            <a:spLocks noGrp="1"/>
          </p:cNvSpPr>
          <p:nvPr/>
        </p:nvSpPr>
        <p:spPr>
          <a:xfrm>
            <a:off x="647700" y="11144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오출고·문의·입금 대조 문제를 실제 운영 화면과 정책에 연결했습니다.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822C4C5-0E77-4D97-B857-AE984EEB4234}"/>
              </a:ext>
            </a:extLst>
          </p:cNvPr>
          <p:cNvSpPr>
            <a:spLocks noGrp="1"/>
          </p:cNvSpPr>
          <p:nvPr/>
        </p:nvSpPr>
        <p:spPr>
          <a:xfrm>
            <a:off x="647700" y="1609725"/>
            <a:ext cx="2400300" cy="1066800"/>
          </a:xfrm>
          <a:prstGeom prst="roundRect">
            <a:avLst>
              <a:gd name="adj" fmla="val 10714"/>
            </a:avLst>
          </a:prstGeom>
          <a:solidFill>
            <a:srgbClr val="F3FAF6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4398DC-8048-4511-9578-113F51027A69}"/>
              </a:ext>
            </a:extLst>
          </p:cNvPr>
          <p:cNvSpPr>
            <a:spLocks noGrp="1"/>
          </p:cNvSpPr>
          <p:nvPr/>
        </p:nvSpPr>
        <p:spPr>
          <a:xfrm>
            <a:off x="781050" y="1771650"/>
            <a:ext cx="21336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월 2~3건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76CB7B1-7640-4ADB-8420-ED4BB96BF2BE}"/>
              </a:ext>
            </a:extLst>
          </p:cNvPr>
          <p:cNvSpPr>
            <a:spLocks noGrp="1"/>
          </p:cNvSpPr>
          <p:nvPr/>
        </p:nvSpPr>
        <p:spPr>
          <a:xfrm>
            <a:off x="781050" y="2238375"/>
            <a:ext cx="21336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직전 6개월 평균 오출고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89249F7-E5B6-4DA4-A85D-14AA95C782AD}"/>
              </a:ext>
            </a:extLst>
          </p:cNvPr>
          <p:cNvSpPr>
            <a:spLocks noGrp="1"/>
          </p:cNvSpPr>
          <p:nvPr/>
        </p:nvSpPr>
        <p:spPr>
          <a:xfrm>
            <a:off x="647700" y="2828925"/>
            <a:ext cx="24003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8C3BF6-8690-4DD6-AC5F-9B2493CD59BA}"/>
              </a:ext>
            </a:extLst>
          </p:cNvPr>
          <p:cNvSpPr>
            <a:spLocks noGrp="1"/>
          </p:cNvSpPr>
          <p:nvPr/>
        </p:nvSpPr>
        <p:spPr>
          <a:xfrm>
            <a:off x="781050" y="2990850"/>
            <a:ext cx="21336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32건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63F8F5-B24A-46BA-8492-60F704CD05DF}"/>
              </a:ext>
            </a:extLst>
          </p:cNvPr>
          <p:cNvSpPr>
            <a:spLocks noGrp="1"/>
          </p:cNvSpPr>
          <p:nvPr/>
        </p:nvSpPr>
        <p:spPr>
          <a:xfrm>
            <a:off x="781050" y="3457575"/>
            <a:ext cx="21336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2026-01~2026-06의 2주 환산 CS 문의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D778957-36D4-4B9C-A163-B7AC992BEDA0}"/>
              </a:ext>
            </a:extLst>
          </p:cNvPr>
          <p:cNvSpPr>
            <a:spLocks noGrp="1"/>
          </p:cNvSpPr>
          <p:nvPr/>
        </p:nvSpPr>
        <p:spPr>
          <a:xfrm>
            <a:off x="647700" y="4048125"/>
            <a:ext cx="24003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D60F19-CF14-4554-874E-8049919302D5}"/>
              </a:ext>
            </a:extLst>
          </p:cNvPr>
          <p:cNvSpPr>
            <a:spLocks noGrp="1"/>
          </p:cNvSpPr>
          <p:nvPr/>
        </p:nvSpPr>
        <p:spPr>
          <a:xfrm>
            <a:off x="781050" y="4210050"/>
            <a:ext cx="21336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15~30분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A5280A-F85C-4393-A45F-DDFC7661D3B4}"/>
              </a:ext>
            </a:extLst>
          </p:cNvPr>
          <p:cNvSpPr>
            <a:spLocks noGrp="1"/>
          </p:cNvSpPr>
          <p:nvPr/>
        </p:nvSpPr>
        <p:spPr>
          <a:xfrm>
            <a:off x="781050" y="4676775"/>
            <a:ext cx="21336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매일 입금 대조 시간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7D57D41-91BF-4617-9328-05756DE1A05B}"/>
              </a:ext>
            </a:extLst>
          </p:cNvPr>
          <p:cNvSpPr>
            <a:spLocks noGrp="1"/>
          </p:cNvSpPr>
          <p:nvPr/>
        </p:nvSpPr>
        <p:spPr>
          <a:xfrm>
            <a:off x="3476625" y="1609725"/>
            <a:ext cx="8029575" cy="4114800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4080364-3104-4CD2-A835-C1BB1A44E1DB}"/>
              </a:ext>
            </a:extLst>
          </p:cNvPr>
          <p:cNvSpPr>
            <a:spLocks noGrp="1"/>
          </p:cNvSpPr>
          <p:nvPr/>
        </p:nvSpPr>
        <p:spPr>
          <a:xfrm>
            <a:off x="3724275" y="183832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관찰한 문제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053EABE-5C5E-4996-A695-2510CB3A1134}"/>
              </a:ext>
            </a:extLst>
          </p:cNvPr>
          <p:cNvSpPr>
            <a:spLocks noGrp="1"/>
          </p:cNvSpPr>
          <p:nvPr/>
        </p:nvSpPr>
        <p:spPr>
          <a:xfrm>
            <a:off x="6038850" y="1838325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원인 가설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231C2F-8441-4E8B-A103-06F94E1979E0}"/>
              </a:ext>
            </a:extLst>
          </p:cNvPr>
          <p:cNvSpPr>
            <a:spLocks noGrp="1"/>
          </p:cNvSpPr>
          <p:nvPr/>
        </p:nvSpPr>
        <p:spPr>
          <a:xfrm>
            <a:off x="8696325" y="1838325"/>
            <a:ext cx="2333625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정책·화면 반영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0A04AAE6-CDD1-4760-BDD4-CF952BA4E613}"/>
              </a:ext>
            </a:extLst>
          </p:cNvPr>
          <p:cNvSpPr>
            <a:spLocks noGrp="1"/>
          </p:cNvSpPr>
          <p:nvPr/>
        </p:nvSpPr>
        <p:spPr>
          <a:xfrm>
            <a:off x="3724275" y="2171700"/>
            <a:ext cx="7534275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DE0F7B-C81A-45C4-97A9-26F71A834C3B}"/>
              </a:ext>
            </a:extLst>
          </p:cNvPr>
          <p:cNvSpPr>
            <a:spLocks noGrp="1"/>
          </p:cNvSpPr>
          <p:nvPr/>
        </p:nvSpPr>
        <p:spPr>
          <a:xfrm>
            <a:off x="3781425" y="2447925"/>
            <a:ext cx="16764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거래명세서 요청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C3407B9-532B-4C6C-AF6B-7C53202721D5}"/>
              </a:ext>
            </a:extLst>
          </p:cNvPr>
          <p:cNvSpPr>
            <a:spLocks noGrp="1"/>
          </p:cNvSpPr>
          <p:nvPr/>
        </p:nvSpPr>
        <p:spPr>
          <a:xfrm>
            <a:off x="5772150" y="2428875"/>
            <a:ext cx="23241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셀프 조회 경로 부재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167E1C8-7388-46A4-913D-5D2FC31032AE}"/>
              </a:ext>
            </a:extLst>
          </p:cNvPr>
          <p:cNvSpPr>
            <a:spLocks noGrp="1"/>
          </p:cNvSpPr>
          <p:nvPr/>
        </p:nvSpPr>
        <p:spPr>
          <a:xfrm>
            <a:off x="8458200" y="2419350"/>
            <a:ext cx="26479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주문 후 직접 다운로드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17B8E014-7E94-4FB8-9D6D-5508C96DE254}"/>
              </a:ext>
            </a:extLst>
          </p:cNvPr>
          <p:cNvSpPr>
            <a:spLocks noGrp="1"/>
          </p:cNvSpPr>
          <p:nvPr/>
        </p:nvSpPr>
        <p:spPr>
          <a:xfrm>
            <a:off x="3724275" y="2914650"/>
            <a:ext cx="7534275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79616EB-1E69-4F65-8D62-369D6EADBC1D}"/>
              </a:ext>
            </a:extLst>
          </p:cNvPr>
          <p:cNvSpPr>
            <a:spLocks noGrp="1"/>
          </p:cNvSpPr>
          <p:nvPr/>
        </p:nvSpPr>
        <p:spPr>
          <a:xfrm>
            <a:off x="3781425" y="3228975"/>
            <a:ext cx="16764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당일 출고 문의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260E9DC-CFA2-47EF-A418-D25AFC40A07C}"/>
              </a:ext>
            </a:extLst>
          </p:cNvPr>
          <p:cNvSpPr>
            <a:spLocks noGrp="1"/>
          </p:cNvSpPr>
          <p:nvPr/>
        </p:nvSpPr>
        <p:spPr>
          <a:xfrm>
            <a:off x="5772150" y="3209925"/>
            <a:ext cx="23241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마감 기준 노출 부족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055BAC3-4418-4422-8D20-060C7BFAA96C}"/>
              </a:ext>
            </a:extLst>
          </p:cNvPr>
          <p:cNvSpPr>
            <a:spLocks noGrp="1"/>
          </p:cNvSpPr>
          <p:nvPr/>
        </p:nvSpPr>
        <p:spPr>
          <a:xfrm>
            <a:off x="8458200" y="3200400"/>
            <a:ext cx="26479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영업일 10시 마감 안내</a:t>
            </a:r>
          </a:p>
        </p:txBody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F0B8D2FE-E7D0-4A05-B444-133A5E5F5E6B}"/>
              </a:ext>
            </a:extLst>
          </p:cNvPr>
          <p:cNvSpPr>
            <a:spLocks noGrp="1"/>
          </p:cNvSpPr>
          <p:nvPr/>
        </p:nvSpPr>
        <p:spPr>
          <a:xfrm>
            <a:off x="3724275" y="3695700"/>
            <a:ext cx="7534275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78689BB-01A1-46BE-9583-9206B716FF34}"/>
              </a:ext>
            </a:extLst>
          </p:cNvPr>
          <p:cNvSpPr>
            <a:spLocks noGrp="1"/>
          </p:cNvSpPr>
          <p:nvPr/>
        </p:nvSpPr>
        <p:spPr>
          <a:xfrm>
            <a:off x="3781425" y="4010025"/>
            <a:ext cx="16764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배송 현황 문의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94A1CB1-6BFD-4577-B40F-7527A9AB6AE3}"/>
              </a:ext>
            </a:extLst>
          </p:cNvPr>
          <p:cNvSpPr>
            <a:spLocks noGrp="1"/>
          </p:cNvSpPr>
          <p:nvPr/>
        </p:nvSpPr>
        <p:spPr>
          <a:xfrm>
            <a:off x="5772150" y="3990975"/>
            <a:ext cx="23241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송장과 상태 정보 분산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1159CA4-3050-4232-8FFB-C7AEBEEF77A9}"/>
              </a:ext>
            </a:extLst>
          </p:cNvPr>
          <p:cNvSpPr>
            <a:spLocks noGrp="1"/>
          </p:cNvSpPr>
          <p:nvPr/>
        </p:nvSpPr>
        <p:spPr>
          <a:xfrm>
            <a:off x="8458200" y="3981450"/>
            <a:ext cx="26479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마이페이지 상태 확인</a:t>
            </a: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99BA2458-A4A2-4001-971F-08C21A2AD26F}"/>
              </a:ext>
            </a:extLst>
          </p:cNvPr>
          <p:cNvSpPr>
            <a:spLocks noGrp="1"/>
          </p:cNvSpPr>
          <p:nvPr/>
        </p:nvSpPr>
        <p:spPr>
          <a:xfrm>
            <a:off x="3724275" y="4476750"/>
            <a:ext cx="7534275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964715B-DDCF-49C6-A912-FE37CB363AC4}"/>
              </a:ext>
            </a:extLst>
          </p:cNvPr>
          <p:cNvSpPr>
            <a:spLocks noGrp="1"/>
          </p:cNvSpPr>
          <p:nvPr/>
        </p:nvSpPr>
        <p:spPr>
          <a:xfrm>
            <a:off x="3648075" y="4629150"/>
            <a:ext cx="7686675" cy="666750"/>
          </a:xfrm>
          <a:prstGeom prst="roundRect">
            <a:avLst>
              <a:gd name="adj" fmla="val 11429"/>
            </a:avLst>
          </a:prstGeom>
          <a:solidFill>
            <a:srgbClr val="E8F5EE"/>
          </a:solidFill>
          <a:ln w="9525">
            <a:solidFill>
              <a:srgbClr val="BFDCCB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F3C5441-0ED4-46AF-AAD9-9FF44A8C72EB}"/>
              </a:ext>
            </a:extLst>
          </p:cNvPr>
          <p:cNvSpPr>
            <a:spLocks noGrp="1"/>
          </p:cNvSpPr>
          <p:nvPr/>
        </p:nvSpPr>
        <p:spPr>
          <a:xfrm>
            <a:off x="3781425" y="4791075"/>
            <a:ext cx="16764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입금 대조 지연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5B3518D-93F1-407B-BAEC-5429C98D836E}"/>
              </a:ext>
            </a:extLst>
          </p:cNvPr>
          <p:cNvSpPr>
            <a:spLocks noGrp="1"/>
          </p:cNvSpPr>
          <p:nvPr/>
        </p:nvSpPr>
        <p:spPr>
          <a:xfrm>
            <a:off x="5772150" y="4772025"/>
            <a:ext cx="23241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입금자명·금액 불일치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34EA9DA-9D72-455F-AB20-8B9AE68C9623}"/>
              </a:ext>
            </a:extLst>
          </p:cNvPr>
          <p:cNvSpPr>
            <a:spLocks noGrp="1"/>
          </p:cNvSpPr>
          <p:nvPr/>
        </p:nvSpPr>
        <p:spPr>
          <a:xfrm>
            <a:off x="8458200" y="4762500"/>
            <a:ext cx="26479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정확한 입금 정보 안내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7D10673-B776-4571-B214-13EC497D5C3D}"/>
              </a:ext>
            </a:extLst>
          </p:cNvPr>
          <p:cNvSpPr>
            <a:spLocks noGrp="1"/>
          </p:cNvSpPr>
          <p:nvPr/>
        </p:nvSpPr>
        <p:spPr>
          <a:xfrm>
            <a:off x="647700" y="5448300"/>
            <a:ext cx="24003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입금 대조 시간의 개선 후 수치는 미측정</a:t>
            </a: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1CB8A8F6-991D-4E6F-96FF-9CB2FEA8554F}"/>
              </a:ext>
            </a:extLst>
          </p:cNvPr>
          <p:cNvSpPr>
            <a:spLocks noGrp="1"/>
          </p:cNvSpPr>
          <p:nvPr/>
        </p:nvSpPr>
        <p:spPr>
          <a:xfrm>
            <a:off x="647700" y="64389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9D0DCF3-8FEC-4093-B9DA-40ED3EF93FD5}"/>
              </a:ext>
            </a:extLst>
          </p:cNvPr>
          <p:cNvSpPr>
            <a:spLocks noGrp="1"/>
          </p:cNvSpPr>
          <p:nvPr/>
        </p:nvSpPr>
        <p:spPr>
          <a:xfrm>
            <a:off x="647700" y="6515100"/>
            <a:ext cx="91916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문제와 화면 반영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63D7429-63B3-4125-8AEB-9102446ABADF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1468906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A36DA97D-81BF-4415-B150-6B86B86121B2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911542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기존 플랫폼에 계정·결제 정책을 추가하는 방식을 선택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AFFFA135-545E-4E6C-90F6-FEC1802FEEB0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35B4F00-C549-4786-8C98-65C2ED89FD33}"/>
              </a:ext>
            </a:extLst>
          </p:cNvPr>
          <p:cNvSpPr>
            <a:spLocks noGrp="1"/>
          </p:cNvSpPr>
          <p:nvPr/>
        </p:nvSpPr>
        <p:spPr>
          <a:xfrm>
            <a:off x="647700" y="11144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운영팀 러닝커브, 기존 인프라 일치, 유지보수 책임범위, 구축비용 순서로 판단했습니다.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BE2E4F-EBFA-4E23-AC2F-A41343CC1AB8}"/>
              </a:ext>
            </a:extLst>
          </p:cNvPr>
          <p:cNvSpPr>
            <a:spLocks noGrp="1"/>
          </p:cNvSpPr>
          <p:nvPr/>
        </p:nvSpPr>
        <p:spPr>
          <a:xfrm>
            <a:off x="647700" y="15525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70ED4FE-E31D-4E44-963B-1FDE9003171C}"/>
              </a:ext>
            </a:extLst>
          </p:cNvPr>
          <p:cNvSpPr>
            <a:spLocks noGrp="1"/>
          </p:cNvSpPr>
          <p:nvPr/>
        </p:nvSpPr>
        <p:spPr>
          <a:xfrm>
            <a:off x="1714500" y="1466850"/>
            <a:ext cx="2266950" cy="400050"/>
          </a:xfrm>
          <a:prstGeom prst="roundRect">
            <a:avLst>
              <a:gd name="adj" fmla="val 19048"/>
            </a:avLst>
          </a:prstGeom>
          <a:solidFill>
            <a:srgbClr val="E8F5EE"/>
          </a:solidFill>
          <a:ln w="9525">
            <a:solidFill>
              <a:srgbClr val="BFDCCB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6B7DEE-23CE-4165-85F1-6F29C5A423D5}"/>
              </a:ext>
            </a:extLst>
          </p:cNvPr>
          <p:cNvSpPr>
            <a:spLocks noGrp="1"/>
          </p:cNvSpPr>
          <p:nvPr/>
        </p:nvSpPr>
        <p:spPr>
          <a:xfrm>
            <a:off x="1809750" y="1562100"/>
            <a:ext cx="20764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① 운영팀 러닝커브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2DAE275-227F-4334-B37B-53B55122EC4E}"/>
              </a:ext>
            </a:extLst>
          </p:cNvPr>
          <p:cNvSpPr>
            <a:spLocks noGrp="1"/>
          </p:cNvSpPr>
          <p:nvPr/>
        </p:nvSpPr>
        <p:spPr>
          <a:xfrm>
            <a:off x="4152900" y="1466850"/>
            <a:ext cx="2266950" cy="400050"/>
          </a:xfrm>
          <a:prstGeom prst="roundRect">
            <a:avLst>
              <a:gd name="adj" fmla="val 19048"/>
            </a:avLst>
          </a:prstGeom>
          <a:solidFill>
            <a:srgbClr val="F4F4F6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BE35A9-E836-4C47-A1CD-6276BA55569F}"/>
              </a:ext>
            </a:extLst>
          </p:cNvPr>
          <p:cNvSpPr>
            <a:spLocks noGrp="1"/>
          </p:cNvSpPr>
          <p:nvPr/>
        </p:nvSpPr>
        <p:spPr>
          <a:xfrm>
            <a:off x="4248150" y="1562100"/>
            <a:ext cx="20764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② 기존 인프라 일치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914FB97-87F5-477F-A352-B299E6D052CB}"/>
              </a:ext>
            </a:extLst>
          </p:cNvPr>
          <p:cNvSpPr>
            <a:spLocks noGrp="1"/>
          </p:cNvSpPr>
          <p:nvPr/>
        </p:nvSpPr>
        <p:spPr>
          <a:xfrm>
            <a:off x="6591300" y="1466850"/>
            <a:ext cx="2266950" cy="400050"/>
          </a:xfrm>
          <a:prstGeom prst="roundRect">
            <a:avLst>
              <a:gd name="adj" fmla="val 19048"/>
            </a:avLst>
          </a:prstGeom>
          <a:solidFill>
            <a:srgbClr val="F4F4F6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4DE5B9-5FC4-4B20-B50E-F9F178C5F5DD}"/>
              </a:ext>
            </a:extLst>
          </p:cNvPr>
          <p:cNvSpPr>
            <a:spLocks noGrp="1"/>
          </p:cNvSpPr>
          <p:nvPr/>
        </p:nvSpPr>
        <p:spPr>
          <a:xfrm>
            <a:off x="6686550" y="1562100"/>
            <a:ext cx="20764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③ 유지보수 책임범위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E771E44-F8C3-42B7-8ADD-55276A466310}"/>
              </a:ext>
            </a:extLst>
          </p:cNvPr>
          <p:cNvSpPr>
            <a:spLocks noGrp="1"/>
          </p:cNvSpPr>
          <p:nvPr/>
        </p:nvSpPr>
        <p:spPr>
          <a:xfrm>
            <a:off x="9029700" y="1466850"/>
            <a:ext cx="2266950" cy="400050"/>
          </a:xfrm>
          <a:prstGeom prst="roundRect">
            <a:avLst>
              <a:gd name="adj" fmla="val 19048"/>
            </a:avLst>
          </a:prstGeom>
          <a:solidFill>
            <a:srgbClr val="F4F4F6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8B8C4C-5013-4FC4-A098-A85F859B4B18}"/>
              </a:ext>
            </a:extLst>
          </p:cNvPr>
          <p:cNvSpPr>
            <a:spLocks noGrp="1"/>
          </p:cNvSpPr>
          <p:nvPr/>
        </p:nvSpPr>
        <p:spPr>
          <a:xfrm>
            <a:off x="9124950" y="1562100"/>
            <a:ext cx="20764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④ 구축비용 · 금액 비공개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56A4E2-21CA-4621-A3E7-D188C01C59FF}"/>
              </a:ext>
            </a:extLst>
          </p:cNvPr>
          <p:cNvSpPr>
            <a:spLocks noGrp="1"/>
          </p:cNvSpPr>
          <p:nvPr/>
        </p:nvSpPr>
        <p:spPr>
          <a:xfrm>
            <a:off x="647700" y="206692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대안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8804769-2D2D-435A-933D-B9A685F811B0}"/>
              </a:ext>
            </a:extLst>
          </p:cNvPr>
          <p:cNvSpPr>
            <a:spLocks noGrp="1"/>
          </p:cNvSpPr>
          <p:nvPr/>
        </p:nvSpPr>
        <p:spPr>
          <a:xfrm>
            <a:off x="4000500" y="2066925"/>
            <a:ext cx="5334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확인한 핵심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21390E-B086-4421-8D77-4BE75F446092}"/>
              </a:ext>
            </a:extLst>
          </p:cNvPr>
          <p:cNvSpPr>
            <a:spLocks noGrp="1"/>
          </p:cNvSpPr>
          <p:nvPr/>
        </p:nvSpPr>
        <p:spPr>
          <a:xfrm>
            <a:off x="9791700" y="206692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BA869E90-60A5-4846-9672-815DA3FE8EAD}"/>
              </a:ext>
            </a:extLst>
          </p:cNvPr>
          <p:cNvSpPr>
            <a:spLocks noGrp="1"/>
          </p:cNvSpPr>
          <p:nvPr/>
        </p:nvSpPr>
        <p:spPr>
          <a:xfrm>
            <a:off x="647700" y="23622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9621AC2-2F59-440F-9775-73DE9C2884B6}"/>
              </a:ext>
            </a:extLst>
          </p:cNvPr>
          <p:cNvSpPr>
            <a:spLocks noGrp="1"/>
          </p:cNvSpPr>
          <p:nvPr/>
        </p:nvSpPr>
        <p:spPr>
          <a:xfrm>
            <a:off x="647700" y="2495550"/>
            <a:ext cx="10858500" cy="495300"/>
          </a:xfrm>
          <a:prstGeom prst="rect">
            <a:avLst/>
          </a:prstGeom>
          <a:solidFill>
            <a:srgbClr val="F4F4F6"/>
          </a:solidFill>
          <a:ln w="0">
            <a:solidFill>
              <a:srgbClr val="F4F4F6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BA030EF-1B19-4206-B47D-47F55566E84C}"/>
              </a:ext>
            </a:extLst>
          </p:cNvPr>
          <p:cNvSpPr>
            <a:spLocks noGrp="1"/>
          </p:cNvSpPr>
          <p:nvPr/>
        </p:nvSpPr>
        <p:spPr>
          <a:xfrm>
            <a:off x="800100" y="2638425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맞춤형 웹서비스 직접 개발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F2C4247-EE7F-4DE0-8CFF-86154B4E99B5}"/>
              </a:ext>
            </a:extLst>
          </p:cNvPr>
          <p:cNvSpPr>
            <a:spLocks noGrp="1"/>
          </p:cNvSpPr>
          <p:nvPr/>
        </p:nvSpPr>
        <p:spPr>
          <a:xfrm>
            <a:off x="4000500" y="2638425"/>
            <a:ext cx="53340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유지보수 책임이 내부로 확대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13BBF1C-199F-4532-94A8-DF53C2F85E4C}"/>
              </a:ext>
            </a:extLst>
          </p:cNvPr>
          <p:cNvSpPr>
            <a:spLocks noGrp="1"/>
          </p:cNvSpPr>
          <p:nvPr/>
        </p:nvSpPr>
        <p:spPr>
          <a:xfrm>
            <a:off x="9791700" y="26193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D4629B2-1639-44B6-9AC7-37F6A5C4A1D6}"/>
              </a:ext>
            </a:extLst>
          </p:cNvPr>
          <p:cNvSpPr>
            <a:spLocks noGrp="1"/>
          </p:cNvSpPr>
          <p:nvPr/>
        </p:nvSpPr>
        <p:spPr>
          <a:xfrm>
            <a:off x="800100" y="3248025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다른 쇼핑몰 솔루션 전환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9B5566A-FFC8-4FCF-B38D-ED64DD482DF4}"/>
              </a:ext>
            </a:extLst>
          </p:cNvPr>
          <p:cNvSpPr>
            <a:spLocks noGrp="1"/>
          </p:cNvSpPr>
          <p:nvPr/>
        </p:nvSpPr>
        <p:spPr>
          <a:xfrm>
            <a:off x="4000500" y="3248025"/>
            <a:ext cx="53340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운영팀이 새 솔루션을 다시 학습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B231349-73F9-4FAD-A587-7892506BD2AF}"/>
              </a:ext>
            </a:extLst>
          </p:cNvPr>
          <p:cNvSpPr>
            <a:spLocks noGrp="1"/>
          </p:cNvSpPr>
          <p:nvPr/>
        </p:nvSpPr>
        <p:spPr>
          <a:xfrm>
            <a:off x="9791700" y="32289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C9F17DD-943B-4D2D-9FE2-B5E60AAFA984}"/>
              </a:ext>
            </a:extLst>
          </p:cNvPr>
          <p:cNvSpPr>
            <a:spLocks noGrp="1"/>
          </p:cNvSpPr>
          <p:nvPr/>
        </p:nvSpPr>
        <p:spPr>
          <a:xfrm>
            <a:off x="647700" y="3714750"/>
            <a:ext cx="10858500" cy="495300"/>
          </a:xfrm>
          <a:prstGeom prst="roundRect">
            <a:avLst>
              <a:gd name="adj" fmla="val 15385"/>
            </a:avLst>
          </a:prstGeom>
          <a:solidFill>
            <a:srgbClr val="E8F5EE"/>
          </a:solidFill>
          <a:ln w="9525">
            <a:solidFill>
              <a:srgbClr val="BFDCC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6CC0011-73AB-4410-A278-AD7BF6F1125D}"/>
              </a:ext>
            </a:extLst>
          </p:cNvPr>
          <p:cNvSpPr>
            <a:spLocks noGrp="1"/>
          </p:cNvSpPr>
          <p:nvPr/>
        </p:nvSpPr>
        <p:spPr>
          <a:xfrm>
            <a:off x="800100" y="3857625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기존 커머스 솔루션 + 정책 맞춤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8A43B9A-A0E9-41C4-B450-B34116C61C07}"/>
              </a:ext>
            </a:extLst>
          </p:cNvPr>
          <p:cNvSpPr>
            <a:spLocks noGrp="1"/>
          </p:cNvSpPr>
          <p:nvPr/>
        </p:nvSpPr>
        <p:spPr>
          <a:xfrm>
            <a:off x="4000500" y="3857625"/>
            <a:ext cx="53340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기존 인프라와 운영 방식을 유지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CADFC96-8035-41F9-8AA6-77FEF340146E}"/>
              </a:ext>
            </a:extLst>
          </p:cNvPr>
          <p:cNvSpPr>
            <a:spLocks noGrp="1"/>
          </p:cNvSpPr>
          <p:nvPr/>
        </p:nvSpPr>
        <p:spPr>
          <a:xfrm>
            <a:off x="9791700" y="38385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채택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6072270-60F1-4FD3-AF42-C3FB9225E769}"/>
              </a:ext>
            </a:extLst>
          </p:cNvPr>
          <p:cNvSpPr>
            <a:spLocks noGrp="1"/>
          </p:cNvSpPr>
          <p:nvPr/>
        </p:nvSpPr>
        <p:spPr>
          <a:xfrm>
            <a:off x="647700" y="44577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범위에서 제외한 기능과 이유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B25C6F2-72B8-41BE-812A-9F8890770053}"/>
              </a:ext>
            </a:extLst>
          </p:cNvPr>
          <p:cNvSpPr>
            <a:spLocks noGrp="1"/>
          </p:cNvSpPr>
          <p:nvPr/>
        </p:nvSpPr>
        <p:spPr>
          <a:xfrm>
            <a:off x="647700" y="4848225"/>
            <a:ext cx="3476625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12552F9-4891-4580-8F42-9D2FF9F03931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342900" cy="266700"/>
          </a:xfrm>
          <a:prstGeom prst="roundRect">
            <a:avLst>
              <a:gd name="adj" fmla="val 50000"/>
            </a:avLst>
          </a:prstGeom>
          <a:solidFill>
            <a:srgbClr val="1E6B45"/>
          </a:solidFill>
          <a:ln w="0">
            <a:solidFill>
              <a:srgbClr val="1E6B45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54D415C-7FBD-411F-AE26-454EDAB15A05}"/>
              </a:ext>
            </a:extLst>
          </p:cNvPr>
          <p:cNvSpPr>
            <a:spLocks noGrp="1"/>
          </p:cNvSpPr>
          <p:nvPr/>
        </p:nvSpPr>
        <p:spPr>
          <a:xfrm>
            <a:off x="857250" y="5010150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0500A6D-5D31-4E6E-88CC-3D0FE5712083}"/>
              </a:ext>
            </a:extLst>
          </p:cNvPr>
          <p:cNvSpPr>
            <a:spLocks noGrp="1"/>
          </p:cNvSpPr>
          <p:nvPr/>
        </p:nvSpPr>
        <p:spPr>
          <a:xfrm>
            <a:off x="1219200" y="4981575"/>
            <a:ext cx="275272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PG 결제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87BEEBA-D1CC-4EEE-9E1D-CE7CEA2C2145}"/>
              </a:ext>
            </a:extLst>
          </p:cNvPr>
          <p:cNvSpPr>
            <a:spLocks noGrp="1"/>
          </p:cNvSpPr>
          <p:nvPr/>
        </p:nvSpPr>
        <p:spPr>
          <a:xfrm>
            <a:off x="819150" y="5353050"/>
            <a:ext cx="313372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B2B 마진 대비 수수료 부담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9BE3F80-4A82-4769-A6AA-5F758A2784D6}"/>
              </a:ext>
            </a:extLst>
          </p:cNvPr>
          <p:cNvSpPr>
            <a:spLocks noGrp="1"/>
          </p:cNvSpPr>
          <p:nvPr/>
        </p:nvSpPr>
        <p:spPr>
          <a:xfrm>
            <a:off x="4324350" y="4848225"/>
            <a:ext cx="3476625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683DE7A-F5C9-4D9A-A8B2-89D1B9A00C9F}"/>
              </a:ext>
            </a:extLst>
          </p:cNvPr>
          <p:cNvSpPr>
            <a:spLocks noGrp="1"/>
          </p:cNvSpPr>
          <p:nvPr/>
        </p:nvSpPr>
        <p:spPr>
          <a:xfrm>
            <a:off x="4457700" y="4972050"/>
            <a:ext cx="342900" cy="266700"/>
          </a:xfrm>
          <a:prstGeom prst="roundRect">
            <a:avLst>
              <a:gd name="adj" fmla="val 50000"/>
            </a:avLst>
          </a:prstGeom>
          <a:solidFill>
            <a:srgbClr val="1E6B45"/>
          </a:solidFill>
          <a:ln w="0">
            <a:solidFill>
              <a:srgbClr val="1E6B4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EBC6878-E812-491B-9B1E-71AED051F5EA}"/>
              </a:ext>
            </a:extLst>
          </p:cNvPr>
          <p:cNvSpPr>
            <a:spLocks noGrp="1"/>
          </p:cNvSpPr>
          <p:nvPr/>
        </p:nvSpPr>
        <p:spPr>
          <a:xfrm>
            <a:off x="4533900" y="5010150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8E6AF1-0BC5-4BA7-8C0C-B81EF2280700}"/>
              </a:ext>
            </a:extLst>
          </p:cNvPr>
          <p:cNvSpPr>
            <a:spLocks noGrp="1"/>
          </p:cNvSpPr>
          <p:nvPr/>
        </p:nvSpPr>
        <p:spPr>
          <a:xfrm>
            <a:off x="4895850" y="4981575"/>
            <a:ext cx="275272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견적서 신규 개발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6E422B2-0B2E-4FD6-A909-54ECCD661A7C}"/>
              </a:ext>
            </a:extLst>
          </p:cNvPr>
          <p:cNvSpPr>
            <a:spLocks noGrp="1"/>
          </p:cNvSpPr>
          <p:nvPr/>
        </p:nvSpPr>
        <p:spPr>
          <a:xfrm>
            <a:off x="4495800" y="5353050"/>
            <a:ext cx="313372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기본 거래명세서로 대체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9D3AA12-F3C9-4E21-AFE9-45AE8BFA0B65}"/>
              </a:ext>
            </a:extLst>
          </p:cNvPr>
          <p:cNvSpPr>
            <a:spLocks noGrp="1"/>
          </p:cNvSpPr>
          <p:nvPr/>
        </p:nvSpPr>
        <p:spPr>
          <a:xfrm>
            <a:off x="8001000" y="4848225"/>
            <a:ext cx="3476625" cy="1028700"/>
          </a:xfrm>
          <a:prstGeom prst="roundRect">
            <a:avLst>
              <a:gd name="adj" fmla="val 11111"/>
            </a:avLst>
          </a:prstGeom>
          <a:solidFill>
            <a:srgbClr val="F3FAF6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B7DA189-6A93-4CE3-8D70-C29FC2A76094}"/>
              </a:ext>
            </a:extLst>
          </p:cNvPr>
          <p:cNvSpPr>
            <a:spLocks noGrp="1"/>
          </p:cNvSpPr>
          <p:nvPr/>
        </p:nvSpPr>
        <p:spPr>
          <a:xfrm>
            <a:off x="8134350" y="4972050"/>
            <a:ext cx="342900" cy="266700"/>
          </a:xfrm>
          <a:prstGeom prst="roundRect">
            <a:avLst>
              <a:gd name="adj" fmla="val 50000"/>
            </a:avLst>
          </a:prstGeom>
          <a:solidFill>
            <a:srgbClr val="1E6B45"/>
          </a:solidFill>
          <a:ln w="0">
            <a:solidFill>
              <a:srgbClr val="1E6B45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A5DA152-6A6E-4836-AC4D-9BE5FB9D13AF}"/>
              </a:ext>
            </a:extLst>
          </p:cNvPr>
          <p:cNvSpPr>
            <a:spLocks noGrp="1"/>
          </p:cNvSpPr>
          <p:nvPr/>
        </p:nvSpPr>
        <p:spPr>
          <a:xfrm>
            <a:off x="8210550" y="5010150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6204102-2979-46D9-B969-80990DD09C8B}"/>
              </a:ext>
            </a:extLst>
          </p:cNvPr>
          <p:cNvSpPr>
            <a:spLocks noGrp="1"/>
          </p:cNvSpPr>
          <p:nvPr/>
        </p:nvSpPr>
        <p:spPr>
          <a:xfrm>
            <a:off x="8572500" y="4981575"/>
            <a:ext cx="275272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포인트 완전 자동화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4F71C6D-D798-4025-BF80-FFFBAB64A1DD}"/>
              </a:ext>
            </a:extLst>
          </p:cNvPr>
          <p:cNvSpPr>
            <a:spLocks noGrp="1"/>
          </p:cNvSpPr>
          <p:nvPr/>
        </p:nvSpPr>
        <p:spPr>
          <a:xfrm>
            <a:off x="8172450" y="5353050"/>
            <a:ext cx="313372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계약 상태 변경 시 지급 번복 위험</a:t>
            </a:r>
          </a:p>
        </p:txBody>
      </p:sp>
      <p:sp>
        <p:nvSpPr>
          <p:cNvPr id="44" name="직선 연결선 43">
            <a:extLst>
              <a:ext uri="{FF2B5EF4-FFF2-40B4-BE49-F238E27FC236}">
                <a16:creationId xmlns:a16="http://schemas.microsoft.com/office/drawing/2014/main" id="{23EFE48B-6355-42FD-9B4D-95E7E079B979}"/>
              </a:ext>
            </a:extLst>
          </p:cNvPr>
          <p:cNvSpPr>
            <a:spLocks noGrp="1"/>
          </p:cNvSpPr>
          <p:nvPr/>
        </p:nvSpPr>
        <p:spPr>
          <a:xfrm>
            <a:off x="647700" y="64389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C47D294-5BEF-41D3-B74B-5C6FA83FFAEC}"/>
              </a:ext>
            </a:extLst>
          </p:cNvPr>
          <p:cNvSpPr>
            <a:spLocks noGrp="1"/>
          </p:cNvSpPr>
          <p:nvPr/>
        </p:nvSpPr>
        <p:spPr>
          <a:xfrm>
            <a:off x="647700" y="6515100"/>
            <a:ext cx="91916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대안과 범위 결정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97B5F04-690D-4998-89A5-590FCA1905D8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350102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A6F373E6-DEEF-4F45-9CA1-EA40B0F72173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911542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요구사항을 계약 범위와 검수 상태로 분리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1C7DCB47-7C47-40F7-A632-7DFDED91EED6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AAC2518-021C-450C-83D4-DFA35C5F40FC}"/>
              </a:ext>
            </a:extLst>
          </p:cNvPr>
          <p:cNvSpPr>
            <a:spLocks noGrp="1"/>
          </p:cNvSpPr>
          <p:nvPr/>
        </p:nvSpPr>
        <p:spPr>
          <a:xfrm>
            <a:off x="647700" y="11144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요청의 성격을 먼저 구분하고, 개발사 반영 통보와 운영 완료를 다른 상태로 관리했습니다.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AE3AF0A-F6B7-4E58-920B-54A8A982C648}"/>
              </a:ext>
            </a:extLst>
          </p:cNvPr>
          <p:cNvSpPr>
            <a:spLocks noGrp="1"/>
          </p:cNvSpPr>
          <p:nvPr/>
        </p:nvSpPr>
        <p:spPr>
          <a:xfrm>
            <a:off x="647700" y="15240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요구사항 분류</a:t>
            </a:r>
          </a:p>
        </p:txBody>
      </p:sp>
      <p:graphicFrame>
        <p:nvGraphicFramePr>
          <p:cNvPr id="33" name="표 32"/>
          <p:cNvGraphicFramePr/>
          <p:nvPr/>
        </p:nvGraphicFramePr>
        <p:xfrm>
          <a:off x="647700" y="1885950"/>
          <a:ext cx="6762750" cy="3390900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756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5250" marR="95250" marT="66675" marB="66675"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756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</a:t>
                      </a:r>
                    </a:p>
                  </a:txBody>
                  <a:tcPr marL="95250" marR="95250" marT="66675" marB="66675"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756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기준</a:t>
                      </a:r>
                    </a:p>
                  </a:txBody>
                  <a:tcPr marL="95250" marR="95250" marT="66675" marB="66675">
                    <a:solidFill>
                      <a:srgbClr val="E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56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BR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개발요구 01~22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서버에서 기대 결과를 확인할 때 완료</a:t>
                      </a: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56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 밖 추가 요청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공수 산정과 승인 후 착수</a:t>
                      </a: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56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40시간 유지보수 장부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 차감·예약·잔여 시간을 분리</a:t>
                      </a: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56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BUG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기능의 비정상 동작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하자로 분리해 우선 처리</a:t>
                      </a: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56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HOLD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의사결정·외부 확인 대기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A1A1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재개 조건과 확인 주체를 기록</a:t>
                      </a:r>
                    </a:p>
                  </a:txBody>
                  <a:tcPr marL="95250" marR="95250" marT="66675" marB="666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FD6D3B8-E8A3-42CC-9D13-95FA0074F045}"/>
              </a:ext>
            </a:extLst>
          </p:cNvPr>
          <p:cNvSpPr>
            <a:spLocks noGrp="1"/>
          </p:cNvSpPr>
          <p:nvPr/>
        </p:nvSpPr>
        <p:spPr>
          <a:xfrm>
            <a:off x="7753350" y="1524000"/>
            <a:ext cx="3752850" cy="3752850"/>
          </a:xfrm>
          <a:prstGeom prst="roundRect">
            <a:avLst>
              <a:gd name="adj" fmla="val 3553"/>
            </a:avLst>
          </a:prstGeom>
          <a:solidFill>
            <a:srgbClr val="F3FAF6"/>
          </a:solidFill>
          <a:ln w="9525">
            <a:solidFill>
              <a:srgbClr val="BFDCCB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AE65C24-A763-4907-9DC5-E35197FC5D0D}"/>
              </a:ext>
            </a:extLst>
          </p:cNvPr>
          <p:cNvSpPr>
            <a:spLocks noGrp="1"/>
          </p:cNvSpPr>
          <p:nvPr/>
        </p:nvSpPr>
        <p:spPr>
          <a:xfrm>
            <a:off x="8001000" y="1771650"/>
            <a:ext cx="325755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BR 22건 검수 현황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633C7C9-D463-451C-AC65-1C6EC974EDA1}"/>
              </a:ext>
            </a:extLst>
          </p:cNvPr>
          <p:cNvSpPr>
            <a:spLocks noGrp="1"/>
          </p:cNvSpPr>
          <p:nvPr/>
        </p:nvSpPr>
        <p:spPr>
          <a:xfrm>
            <a:off x="8001000" y="2105025"/>
            <a:ext cx="32575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기준일 2026-08-13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4E6C48-2C0E-4F35-AE35-75E282D30EF1}"/>
              </a:ext>
            </a:extLst>
          </p:cNvPr>
          <p:cNvSpPr>
            <a:spLocks noGrp="1"/>
          </p:cNvSpPr>
          <p:nvPr/>
        </p:nvSpPr>
        <p:spPr>
          <a:xfrm>
            <a:off x="8001000" y="2533650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17건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2D6B26-A91A-4630-B795-5ED24B30A72F}"/>
              </a:ext>
            </a:extLst>
          </p:cNvPr>
          <p:cNvSpPr>
            <a:spLocks noGrp="1"/>
          </p:cNvSpPr>
          <p:nvPr/>
        </p:nvSpPr>
        <p:spPr>
          <a:xfrm>
            <a:off x="8858250" y="2543175"/>
            <a:ext cx="22669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배포·QA 필요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F850E31E-9157-4936-86E0-48344D77DAB4}"/>
              </a:ext>
            </a:extLst>
          </p:cNvPr>
          <p:cNvSpPr>
            <a:spLocks noGrp="1"/>
          </p:cNvSpPr>
          <p:nvPr/>
        </p:nvSpPr>
        <p:spPr>
          <a:xfrm>
            <a:off x="8001000" y="2886075"/>
            <a:ext cx="3124200" cy="0"/>
          </a:xfrm>
          <a:prstGeom prst="line">
            <a:avLst/>
          </a:prstGeom>
          <a:noFill/>
          <a:ln w="9525">
            <a:solidFill>
              <a:srgbClr val="BFDCCB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4FC269-01E2-4B12-B706-0956A7D91263}"/>
              </a:ext>
            </a:extLst>
          </p:cNvPr>
          <p:cNvSpPr>
            <a:spLocks noGrp="1"/>
          </p:cNvSpPr>
          <p:nvPr/>
        </p:nvSpPr>
        <p:spPr>
          <a:xfrm>
            <a:off x="8001000" y="3009900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1건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35CA99-71CC-4554-96CC-12413B481C7B}"/>
              </a:ext>
            </a:extLst>
          </p:cNvPr>
          <p:cNvSpPr>
            <a:spLocks noGrp="1"/>
          </p:cNvSpPr>
          <p:nvPr/>
        </p:nvSpPr>
        <p:spPr>
          <a:xfrm>
            <a:off x="8858250" y="3019425"/>
            <a:ext cx="22669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부분완료·QA 필요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88097CCE-7519-4739-8D35-C41F2EB74AD7}"/>
              </a:ext>
            </a:extLst>
          </p:cNvPr>
          <p:cNvSpPr>
            <a:spLocks noGrp="1"/>
          </p:cNvSpPr>
          <p:nvPr/>
        </p:nvSpPr>
        <p:spPr>
          <a:xfrm>
            <a:off x="8001000" y="3362325"/>
            <a:ext cx="3124200" cy="0"/>
          </a:xfrm>
          <a:prstGeom prst="line">
            <a:avLst/>
          </a:prstGeom>
          <a:noFill/>
          <a:ln w="9525">
            <a:solidFill>
              <a:srgbClr val="BFDCCB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EAEE63-F215-4BA7-9301-BA5128A5D75D}"/>
              </a:ext>
            </a:extLst>
          </p:cNvPr>
          <p:cNvSpPr>
            <a:spLocks noGrp="1"/>
          </p:cNvSpPr>
          <p:nvPr/>
        </p:nvSpPr>
        <p:spPr>
          <a:xfrm>
            <a:off x="8001000" y="3486150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1건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CD07828-62A7-4A84-A894-5A4601AF9DBE}"/>
              </a:ext>
            </a:extLst>
          </p:cNvPr>
          <p:cNvSpPr>
            <a:spLocks noGrp="1"/>
          </p:cNvSpPr>
          <p:nvPr/>
        </p:nvSpPr>
        <p:spPr>
          <a:xfrm>
            <a:off x="8858250" y="3495675"/>
            <a:ext cx="22669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수정완료·회귀 QA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453034F3-B539-411E-876C-F56890EF70BA}"/>
              </a:ext>
            </a:extLst>
          </p:cNvPr>
          <p:cNvSpPr>
            <a:spLocks noGrp="1"/>
          </p:cNvSpPr>
          <p:nvPr/>
        </p:nvSpPr>
        <p:spPr>
          <a:xfrm>
            <a:off x="8001000" y="3838575"/>
            <a:ext cx="3124200" cy="0"/>
          </a:xfrm>
          <a:prstGeom prst="line">
            <a:avLst/>
          </a:prstGeom>
          <a:noFill/>
          <a:ln w="9525">
            <a:solidFill>
              <a:srgbClr val="BFDCCB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6BE2F4-627B-49B6-B8FF-BC32403DB2D3}"/>
              </a:ext>
            </a:extLst>
          </p:cNvPr>
          <p:cNvSpPr>
            <a:spLocks noGrp="1"/>
          </p:cNvSpPr>
          <p:nvPr/>
        </p:nvSpPr>
        <p:spPr>
          <a:xfrm>
            <a:off x="8001000" y="3962400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1건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8D4C145-5D43-4E66-BA53-FA40992B7758}"/>
              </a:ext>
            </a:extLst>
          </p:cNvPr>
          <p:cNvSpPr>
            <a:spLocks noGrp="1"/>
          </p:cNvSpPr>
          <p:nvPr/>
        </p:nvSpPr>
        <p:spPr>
          <a:xfrm>
            <a:off x="8858250" y="3971925"/>
            <a:ext cx="22669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구현변경·QA 필요</a:t>
            </a:r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6FBE1191-9FE1-4018-82E3-880F20ECF48C}"/>
              </a:ext>
            </a:extLst>
          </p:cNvPr>
          <p:cNvSpPr>
            <a:spLocks noGrp="1"/>
          </p:cNvSpPr>
          <p:nvPr/>
        </p:nvSpPr>
        <p:spPr>
          <a:xfrm>
            <a:off x="8001000" y="4314825"/>
            <a:ext cx="3124200" cy="0"/>
          </a:xfrm>
          <a:prstGeom prst="line">
            <a:avLst/>
          </a:prstGeom>
          <a:noFill/>
          <a:ln w="9525">
            <a:solidFill>
              <a:srgbClr val="BFDCCB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B809FE9-3AB6-41AB-A1AC-8A8303AFD08C}"/>
              </a:ext>
            </a:extLst>
          </p:cNvPr>
          <p:cNvSpPr>
            <a:spLocks noGrp="1"/>
          </p:cNvSpPr>
          <p:nvPr/>
        </p:nvSpPr>
        <p:spPr>
          <a:xfrm>
            <a:off x="8001000" y="4438650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2건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B474136-24EE-4B58-B612-6C6388741647}"/>
              </a:ext>
            </a:extLst>
          </p:cNvPr>
          <p:cNvSpPr>
            <a:spLocks noGrp="1"/>
          </p:cNvSpPr>
          <p:nvPr/>
        </p:nvSpPr>
        <p:spPr>
          <a:xfrm>
            <a:off x="8858250" y="4448175"/>
            <a:ext cx="22669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진행 중인 계약 항목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F209146-C838-4D7C-95FC-3978AB179EC6}"/>
              </a:ext>
            </a:extLst>
          </p:cNvPr>
          <p:cNvSpPr>
            <a:spLocks noGrp="1"/>
          </p:cNvSpPr>
          <p:nvPr/>
        </p:nvSpPr>
        <p:spPr>
          <a:xfrm>
            <a:off x="647700" y="5543550"/>
            <a:ext cx="10858500" cy="533400"/>
          </a:xfrm>
          <a:prstGeom prst="roundRect">
            <a:avLst>
              <a:gd name="adj" fmla="val 17857"/>
            </a:avLst>
          </a:prstGeom>
          <a:solidFill>
            <a:srgbClr val="1E6B45"/>
          </a:solidFill>
          <a:ln w="0">
            <a:solidFill>
              <a:srgbClr val="1E6B45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9EB2AF-636C-49C8-AD4B-C251329D41C2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성과와 검수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C55F7C6-60FA-4EE2-917D-716FF62900C3}"/>
              </a:ext>
            </a:extLst>
          </p:cNvPr>
          <p:cNvSpPr>
            <a:spLocks noGrp="1"/>
          </p:cNvSpPr>
          <p:nvPr/>
        </p:nvSpPr>
        <p:spPr>
          <a:xfrm>
            <a:off x="2133600" y="5619750"/>
            <a:ext cx="9048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흐름은 07-16 전체 가동 후 약 1개월 관찰 · 기본 개발요구 22건은 08-31 최종검수까지 운영 QA 지속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66300C43-1465-45BE-A284-D41926964FBB}"/>
              </a:ext>
            </a:extLst>
          </p:cNvPr>
          <p:cNvSpPr>
            <a:spLocks noGrp="1"/>
          </p:cNvSpPr>
          <p:nvPr/>
        </p:nvSpPr>
        <p:spPr>
          <a:xfrm>
            <a:off x="647700" y="64389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380B11B-BDD9-4F79-AD07-C8E744117AD3}"/>
              </a:ext>
            </a:extLst>
          </p:cNvPr>
          <p:cNvSpPr>
            <a:spLocks noGrp="1"/>
          </p:cNvSpPr>
          <p:nvPr/>
        </p:nvSpPr>
        <p:spPr>
          <a:xfrm>
            <a:off x="647700" y="6515100"/>
            <a:ext cx="91916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요구사항과 완료 정의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545C0E-0C58-4E9A-956A-CA8B269059E0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689964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967A1C2A-3F35-4B36-9A4D-16B92EC17153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911542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개발 완료 통보 뒤에도 마이페이지 진입이 되지 않았습니다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A18F3B3B-E699-4E28-801B-87F85FE37356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451A6B-A45E-4F91-B3F4-B76A7E1F4996}"/>
              </a:ext>
            </a:extLst>
          </p:cNvPr>
          <p:cNvSpPr>
            <a:spLocks noGrp="1"/>
          </p:cNvSpPr>
          <p:nvPr/>
        </p:nvSpPr>
        <p:spPr>
          <a:xfrm>
            <a:off x="647700" y="11144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완료의 기준을 개발사 회신에서 운영 서버 직접 확인으로 바꾼 사례입니다.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F00A2DC-FC16-48AA-A8AC-7DAB6FA81859}"/>
              </a:ext>
            </a:extLst>
          </p:cNvPr>
          <p:cNvSpPr>
            <a:spLocks noGrp="1"/>
          </p:cNvSpPr>
          <p:nvPr/>
        </p:nvSpPr>
        <p:spPr>
          <a:xfrm>
            <a:off x="647700" y="1581150"/>
            <a:ext cx="5314950" cy="4267200"/>
          </a:xfrm>
          <a:prstGeom prst="roundRect">
            <a:avLst>
              <a:gd name="adj" fmla="val 3125"/>
            </a:avLst>
          </a:prstGeom>
          <a:solidFill>
            <a:srgbClr val="F3FAF6"/>
          </a:solidFill>
          <a:ln w="9525">
            <a:solidFill>
              <a:srgbClr val="BFDCCB"/>
            </a:solidFill>
            <a:prstDash val="solid"/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28B5C5A-A8F0-427D-822D-E92BB92C4831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457200" cy="266700"/>
          </a:xfrm>
          <a:prstGeom prst="roundRect">
            <a:avLst>
              <a:gd name="adj" fmla="val 50000"/>
            </a:avLst>
          </a:prstGeom>
          <a:solidFill>
            <a:srgbClr val="1E6B45"/>
          </a:solidFill>
          <a:ln w="0">
            <a:solidFill>
              <a:srgbClr val="1E6B45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3C23A7-757B-422C-9876-3F84B5C62FBD}"/>
              </a:ext>
            </a:extLst>
          </p:cNvPr>
          <p:cNvSpPr>
            <a:spLocks noGrp="1"/>
          </p:cNvSpPr>
          <p:nvPr/>
        </p:nvSpPr>
        <p:spPr>
          <a:xfrm>
            <a:off x="933450" y="1847850"/>
            <a:ext cx="3048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914AC50-B688-4899-94E9-BC93C2CF3333}"/>
              </a:ext>
            </a:extLst>
          </p:cNvPr>
          <p:cNvSpPr>
            <a:spLocks noGrp="1"/>
          </p:cNvSpPr>
          <p:nvPr/>
        </p:nvSpPr>
        <p:spPr>
          <a:xfrm>
            <a:off x="1466850" y="182880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현상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9260BFD-695A-4B37-9E0D-6E8C5CD1E862}"/>
              </a:ext>
            </a:extLst>
          </p:cNvPr>
          <p:cNvSpPr>
            <a:spLocks noGrp="1"/>
          </p:cNvSpPr>
          <p:nvPr/>
        </p:nvSpPr>
        <p:spPr>
          <a:xfrm>
            <a:off x="2362200" y="1790700"/>
            <a:ext cx="32766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마이페이지 ‘정보 수정’ 진입 실패</a:t>
            </a: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C8AD8A1E-1BD6-4EE6-AF2F-78D46D04C502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4762500" cy="0"/>
          </a:xfrm>
          <a:prstGeom prst="line">
            <a:avLst/>
          </a:prstGeom>
          <a:noFill/>
          <a:ln w="9525">
            <a:solidFill>
              <a:srgbClr val="BFDCCB"/>
            </a:solidFill>
            <a:prstDash val="solid"/>
          </a:ln>
        </p:spPr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D8D2B15-119E-42DF-A367-5CA5F3DE6B8D}"/>
              </a:ext>
            </a:extLst>
          </p:cNvPr>
          <p:cNvSpPr>
            <a:spLocks noGrp="1"/>
          </p:cNvSpPr>
          <p:nvPr/>
        </p:nvSpPr>
        <p:spPr>
          <a:xfrm>
            <a:off x="857250" y="2686050"/>
            <a:ext cx="457200" cy="266700"/>
          </a:xfrm>
          <a:prstGeom prst="roundRect">
            <a:avLst>
              <a:gd name="adj" fmla="val 50000"/>
            </a:avLst>
          </a:prstGeom>
          <a:solidFill>
            <a:srgbClr val="1E6B45"/>
          </a:solidFill>
          <a:ln w="0">
            <a:solidFill>
              <a:srgbClr val="1E6B45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A4F37D-B3B5-426C-B770-E46D1450044E}"/>
              </a:ext>
            </a:extLst>
          </p:cNvPr>
          <p:cNvSpPr>
            <a:spLocks noGrp="1"/>
          </p:cNvSpPr>
          <p:nvPr/>
        </p:nvSpPr>
        <p:spPr>
          <a:xfrm>
            <a:off x="933450" y="2724150"/>
            <a:ext cx="3048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6CB03D-B657-4ADC-99F3-3A135DFD0320}"/>
              </a:ext>
            </a:extLst>
          </p:cNvPr>
          <p:cNvSpPr>
            <a:spLocks noGrp="1"/>
          </p:cNvSpPr>
          <p:nvPr/>
        </p:nvSpPr>
        <p:spPr>
          <a:xfrm>
            <a:off x="1466850" y="270510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2DFBE4-6376-47B1-991D-8358EB0599BF}"/>
              </a:ext>
            </a:extLst>
          </p:cNvPr>
          <p:cNvSpPr>
            <a:spLocks noGrp="1"/>
          </p:cNvSpPr>
          <p:nvPr/>
        </p:nvSpPr>
        <p:spPr>
          <a:xfrm>
            <a:off x="2362200" y="2667000"/>
            <a:ext cx="32766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서버 미반영과 기존 차단 로직 잔존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ED5A7704-5233-448D-9BF4-899AE1A60A09}"/>
              </a:ext>
            </a:extLst>
          </p:cNvPr>
          <p:cNvSpPr>
            <a:spLocks noGrp="1"/>
          </p:cNvSpPr>
          <p:nvPr/>
        </p:nvSpPr>
        <p:spPr>
          <a:xfrm>
            <a:off x="857250" y="3257550"/>
            <a:ext cx="4762500" cy="0"/>
          </a:xfrm>
          <a:prstGeom prst="line">
            <a:avLst/>
          </a:prstGeom>
          <a:noFill/>
          <a:ln w="9525">
            <a:solidFill>
              <a:srgbClr val="BFDCCB"/>
            </a:solidFill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0C795B5-7486-40E7-8956-E5191F7331AC}"/>
              </a:ext>
            </a:extLst>
          </p:cNvPr>
          <p:cNvSpPr>
            <a:spLocks noGrp="1"/>
          </p:cNvSpPr>
          <p:nvPr/>
        </p:nvSpPr>
        <p:spPr>
          <a:xfrm>
            <a:off x="857250" y="3562350"/>
            <a:ext cx="457200" cy="266700"/>
          </a:xfrm>
          <a:prstGeom prst="roundRect">
            <a:avLst>
              <a:gd name="adj" fmla="val 50000"/>
            </a:avLst>
          </a:prstGeom>
          <a:solidFill>
            <a:srgbClr val="1E6B45"/>
          </a:solidFill>
          <a:ln w="0">
            <a:solidFill>
              <a:srgbClr val="1E6B45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B78BDB-5D41-4F0A-B2C5-C55B69A3B4A4}"/>
              </a:ext>
            </a:extLst>
          </p:cNvPr>
          <p:cNvSpPr>
            <a:spLocks noGrp="1"/>
          </p:cNvSpPr>
          <p:nvPr/>
        </p:nvSpPr>
        <p:spPr>
          <a:xfrm>
            <a:off x="933450" y="3600450"/>
            <a:ext cx="3048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4E97088-BD66-49CA-8C73-E4CE4B538C70}"/>
              </a:ext>
            </a:extLst>
          </p:cNvPr>
          <p:cNvSpPr>
            <a:spLocks noGrp="1"/>
          </p:cNvSpPr>
          <p:nvPr/>
        </p:nvSpPr>
        <p:spPr>
          <a:xfrm>
            <a:off x="1466850" y="358140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분리 점검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067412C-F5D3-4148-8C61-8F472CCC7D99}"/>
              </a:ext>
            </a:extLst>
          </p:cNvPr>
          <p:cNvSpPr>
            <a:spLocks noGrp="1"/>
          </p:cNvSpPr>
          <p:nvPr/>
        </p:nvSpPr>
        <p:spPr>
          <a:xfrm>
            <a:off x="2362200" y="3543300"/>
            <a:ext cx="32766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배포 여부와 차단 조건을 각각 확인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BCC0676F-8128-4A67-844A-42AEE7B7E38A}"/>
              </a:ext>
            </a:extLst>
          </p:cNvPr>
          <p:cNvSpPr>
            <a:spLocks noGrp="1"/>
          </p:cNvSpPr>
          <p:nvPr/>
        </p:nvSpPr>
        <p:spPr>
          <a:xfrm>
            <a:off x="857250" y="4133850"/>
            <a:ext cx="4762500" cy="0"/>
          </a:xfrm>
          <a:prstGeom prst="line">
            <a:avLst/>
          </a:prstGeom>
          <a:noFill/>
          <a:ln w="9525">
            <a:solidFill>
              <a:srgbClr val="BFDCCB"/>
            </a:solidFill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531A594-E55A-4AE9-809D-A6D88C606456}"/>
              </a:ext>
            </a:extLst>
          </p:cNvPr>
          <p:cNvSpPr>
            <a:spLocks noGrp="1"/>
          </p:cNvSpPr>
          <p:nvPr/>
        </p:nvSpPr>
        <p:spPr>
          <a:xfrm>
            <a:off x="857250" y="4438650"/>
            <a:ext cx="457200" cy="266700"/>
          </a:xfrm>
          <a:prstGeom prst="roundRect">
            <a:avLst>
              <a:gd name="adj" fmla="val 50000"/>
            </a:avLst>
          </a:prstGeom>
          <a:solidFill>
            <a:srgbClr val="1E6B45"/>
          </a:solidFill>
          <a:ln w="0">
            <a:solidFill>
              <a:srgbClr val="1E6B45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D851EAC-960B-442C-AEC1-6E9ECBCF22C9}"/>
              </a:ext>
            </a:extLst>
          </p:cNvPr>
          <p:cNvSpPr>
            <a:spLocks noGrp="1"/>
          </p:cNvSpPr>
          <p:nvPr/>
        </p:nvSpPr>
        <p:spPr>
          <a:xfrm>
            <a:off x="933450" y="4476750"/>
            <a:ext cx="3048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5B2DE66-0F2A-4C43-932A-845190E08086}"/>
              </a:ext>
            </a:extLst>
          </p:cNvPr>
          <p:cNvSpPr>
            <a:spLocks noGrp="1"/>
          </p:cNvSpPr>
          <p:nvPr/>
        </p:nvSpPr>
        <p:spPr>
          <a:xfrm>
            <a:off x="1466850" y="445770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BBA99B6-F11B-411A-865D-0D4DA16A13C1}"/>
              </a:ext>
            </a:extLst>
          </p:cNvPr>
          <p:cNvSpPr>
            <a:spLocks noGrp="1"/>
          </p:cNvSpPr>
          <p:nvPr/>
        </p:nvSpPr>
        <p:spPr>
          <a:xfrm>
            <a:off x="2362200" y="4419600"/>
            <a:ext cx="32766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서버에서 기대 결과를 직접 확인한 경우만 완료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3ECF49F-E8A7-47B5-9D4A-B88EC2A7BBF3}"/>
              </a:ext>
            </a:extLst>
          </p:cNvPr>
          <p:cNvSpPr>
            <a:spLocks noGrp="1"/>
          </p:cNvSpPr>
          <p:nvPr/>
        </p:nvSpPr>
        <p:spPr>
          <a:xfrm>
            <a:off x="6191250" y="1581150"/>
            <a:ext cx="5314950" cy="42672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5D21D21-3DD6-4291-B4BB-B1B78FD24ED1}"/>
              </a:ext>
            </a:extLst>
          </p:cNvPr>
          <p:cNvSpPr>
            <a:spLocks noGrp="1"/>
          </p:cNvSpPr>
          <p:nvPr/>
        </p:nvSpPr>
        <p:spPr>
          <a:xfrm>
            <a:off x="6438900" y="1819275"/>
            <a:ext cx="48196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사례가 발생한 실제 화면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0EF311B-479A-4459-B58B-4B3F99606819}"/>
              </a:ext>
            </a:extLst>
          </p:cNvPr>
          <p:cNvSpPr>
            <a:spLocks noGrp="1"/>
          </p:cNvSpPr>
          <p:nvPr/>
        </p:nvSpPr>
        <p:spPr>
          <a:xfrm>
            <a:off x="6858000" y="2200275"/>
            <a:ext cx="2476500" cy="29337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54917" y="2238375"/>
            <a:ext cx="1482665" cy="2857500"/>
          </a:xfrm>
          <a:prstGeom prst="rect">
            <a:avLst/>
          </a:prstGeom>
        </p:spPr>
      </p:pic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230E100-C89E-45FA-965B-0E78507F0CD7}"/>
              </a:ext>
            </a:extLst>
          </p:cNvPr>
          <p:cNvSpPr>
            <a:spLocks noGrp="1"/>
          </p:cNvSpPr>
          <p:nvPr/>
        </p:nvSpPr>
        <p:spPr>
          <a:xfrm>
            <a:off x="9544050" y="2238375"/>
            <a:ext cx="1581150" cy="2857500"/>
          </a:xfrm>
          <a:prstGeom prst="roundRect">
            <a:avLst>
              <a:gd name="adj" fmla="val 6024"/>
            </a:avLst>
          </a:prstGeom>
          <a:solidFill>
            <a:srgbClr val="F4F4F6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B6682D9-B1E3-479B-A3E4-A6BC136B6971}"/>
              </a:ext>
            </a:extLst>
          </p:cNvPr>
          <p:cNvSpPr>
            <a:spLocks noGrp="1"/>
          </p:cNvSpPr>
          <p:nvPr/>
        </p:nvSpPr>
        <p:spPr>
          <a:xfrm>
            <a:off x="9725025" y="2447925"/>
            <a:ext cx="12192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 항목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25561FB-8236-4329-88C4-D57D9A3F2B6D}"/>
              </a:ext>
            </a:extLst>
          </p:cNvPr>
          <p:cNvSpPr>
            <a:spLocks noGrp="1"/>
          </p:cNvSpPr>
          <p:nvPr/>
        </p:nvSpPr>
        <p:spPr>
          <a:xfrm>
            <a:off x="9725025" y="2876550"/>
            <a:ext cx="1219200" cy="1866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정보 수정</a:t>
            </a:r>
          </a:p>
          <a:p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메뉴 노출</a:t>
            </a:r>
          </a:p>
          <a:p>
            <a:endParaRPr sz="1050" b="0">
              <a:solidFill>
                <a:srgbClr val="67676C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진입 가능 여부</a:t>
            </a:r>
          </a:p>
          <a:p>
            <a:endParaRPr sz="1050" b="0">
              <a:solidFill>
                <a:srgbClr val="67676C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배포 여부</a:t>
            </a:r>
          </a:p>
          <a:p>
            <a:endParaRPr sz="1050" b="0">
              <a:solidFill>
                <a:srgbClr val="67676C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차단 조건 잔존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0D3216E-E21B-434F-9278-E932788F59F1}"/>
              </a:ext>
            </a:extLst>
          </p:cNvPr>
          <p:cNvSpPr>
            <a:spLocks noGrp="1"/>
          </p:cNvSpPr>
          <p:nvPr/>
        </p:nvSpPr>
        <p:spPr>
          <a:xfrm>
            <a:off x="7543800" y="5286375"/>
            <a:ext cx="3581400" cy="180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마이페이지 발췌 · 2026-08-28</a:t>
            </a:r>
          </a:p>
        </p:txBody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16F6F29B-BC8F-4E62-85BF-21E43786F1D8}"/>
              </a:ext>
            </a:extLst>
          </p:cNvPr>
          <p:cNvSpPr>
            <a:spLocks noGrp="1"/>
          </p:cNvSpPr>
          <p:nvPr/>
        </p:nvSpPr>
        <p:spPr>
          <a:xfrm>
            <a:off x="647700" y="64389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8EACA6B-B8EC-4AC1-8ABB-5446B4EAA855}"/>
              </a:ext>
            </a:extLst>
          </p:cNvPr>
          <p:cNvSpPr>
            <a:spLocks noGrp="1"/>
          </p:cNvSpPr>
          <p:nvPr/>
        </p:nvSpPr>
        <p:spPr>
          <a:xfrm>
            <a:off x="647700" y="6515100"/>
            <a:ext cx="91916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운영 서버 QA 사례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B362EE2-44C6-4571-897F-DA6F0342C57C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162257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2E750371-C78A-4009-8A39-6D8266A94E08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911542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4개 계정 유형의 상품·결제 정책을 한 표로 고정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BBD88A76-AF1B-4630-B72F-DCD97C1411AF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EF1DD6-D6FF-4FFE-8EC9-38D1D06D70C6}"/>
              </a:ext>
            </a:extLst>
          </p:cNvPr>
          <p:cNvSpPr>
            <a:spLocks noGrp="1"/>
          </p:cNvSpPr>
          <p:nvPr/>
        </p:nvSpPr>
        <p:spPr>
          <a:xfrm>
            <a:off x="647700" y="11144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등급과 카테고리 조합으로 결제 방식을 정하고, 결제 방식이 다른 혼합 주문을 차단했습니다.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E8D1170-69A6-4CDC-A5C6-F36B436D5072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7753350" cy="3105150"/>
          </a:xfrm>
          <a:prstGeom prst="roundRect">
            <a:avLst>
              <a:gd name="adj" fmla="val 1840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" y="1807425"/>
            <a:ext cx="7677150" cy="257639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279B452-DFDA-4072-8076-95D77042BD2D}"/>
              </a:ext>
            </a:extLst>
          </p:cNvPr>
          <p:cNvSpPr>
            <a:spLocks noGrp="1"/>
          </p:cNvSpPr>
          <p:nvPr/>
        </p:nvSpPr>
        <p:spPr>
          <a:xfrm>
            <a:off x="2781300" y="4695825"/>
            <a:ext cx="5543550" cy="180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업무 문서 발췌 · 원문 ‘선불입금/후불입금’은 현행 ‘분유(선불/후불)’로 정리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ACD5247-C8C3-466D-97FE-F0C2BD8BE1D0}"/>
              </a:ext>
            </a:extLst>
          </p:cNvPr>
          <p:cNvSpPr>
            <a:spLocks noGrp="1"/>
          </p:cNvSpPr>
          <p:nvPr/>
        </p:nvSpPr>
        <p:spPr>
          <a:xfrm>
            <a:off x="8629650" y="1581150"/>
            <a:ext cx="2876550" cy="3028950"/>
          </a:xfrm>
          <a:prstGeom prst="roundRect">
            <a:avLst>
              <a:gd name="adj" fmla="val 4636"/>
            </a:avLst>
          </a:prstGeom>
          <a:solidFill>
            <a:srgbClr val="F3FAF6"/>
          </a:solidFill>
          <a:ln w="9525">
            <a:solidFill>
              <a:srgbClr val="BFDCCB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3B46BB5-049F-4843-B254-60C61AFB181B}"/>
              </a:ext>
            </a:extLst>
          </p:cNvPr>
          <p:cNvSpPr>
            <a:spLocks noGrp="1"/>
          </p:cNvSpPr>
          <p:nvPr/>
        </p:nvSpPr>
        <p:spPr>
          <a:xfrm>
            <a:off x="8877300" y="183832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결정한 정책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327DEA-FB47-43EC-8D99-E2DB1033DE21}"/>
              </a:ext>
            </a:extLst>
          </p:cNvPr>
          <p:cNvSpPr>
            <a:spLocks noGrp="1"/>
          </p:cNvSpPr>
          <p:nvPr/>
        </p:nvSpPr>
        <p:spPr>
          <a:xfrm>
            <a:off x="8877300" y="2286000"/>
            <a:ext cx="2381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물품계약(선불)</a:t>
            </a:r>
          </a:p>
          <a:p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물품계약(후불)</a:t>
            </a:r>
          </a:p>
          <a:p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분유(선불)</a:t>
            </a:r>
          </a:p>
          <a:p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분유(후불)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E5DACC08-A147-483C-AB4D-AF6C4606744F}"/>
              </a:ext>
            </a:extLst>
          </p:cNvPr>
          <p:cNvSpPr>
            <a:spLocks noGrp="1"/>
          </p:cNvSpPr>
          <p:nvPr/>
        </p:nvSpPr>
        <p:spPr>
          <a:xfrm>
            <a:off x="8877300" y="3562350"/>
            <a:ext cx="2381250" cy="0"/>
          </a:xfrm>
          <a:prstGeom prst="line">
            <a:avLst/>
          </a:prstGeom>
          <a:noFill/>
          <a:ln w="9525">
            <a:solidFill>
              <a:srgbClr val="BFDCCB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725E2CA-B941-41C0-BA18-88C58CBE23C7}"/>
              </a:ext>
            </a:extLst>
          </p:cNvPr>
          <p:cNvSpPr>
            <a:spLocks noGrp="1"/>
          </p:cNvSpPr>
          <p:nvPr/>
        </p:nvSpPr>
        <p:spPr>
          <a:xfrm>
            <a:off x="8877300" y="3781425"/>
            <a:ext cx="2381250" cy="5429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관리자가 등급 × 카테고리 표에서</a:t>
            </a:r>
          </a:p>
          <a:p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결제 방식을 설정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465453F-EF89-4DE2-AB40-286952FB91BB}"/>
              </a:ext>
            </a:extLst>
          </p:cNvPr>
          <p:cNvSpPr>
            <a:spLocks noGrp="1"/>
          </p:cNvSpPr>
          <p:nvPr/>
        </p:nvSpPr>
        <p:spPr>
          <a:xfrm>
            <a:off x="647700" y="5076825"/>
            <a:ext cx="10858500" cy="1000125"/>
          </a:xfrm>
          <a:prstGeom prst="roundRect">
            <a:avLst>
              <a:gd name="adj" fmla="val 11429"/>
            </a:avLst>
          </a:prstGeom>
          <a:solidFill>
            <a:srgbClr val="1E6B45"/>
          </a:solidFill>
          <a:ln w="0">
            <a:solidFill>
              <a:srgbClr val="1E6B45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1C5B95-7A1B-4FCA-8A90-8FB90181C34D}"/>
              </a:ext>
            </a:extLst>
          </p:cNvPr>
          <p:cNvSpPr>
            <a:spLocks noGrp="1"/>
          </p:cNvSpPr>
          <p:nvPr/>
        </p:nvSpPr>
        <p:spPr>
          <a:xfrm>
            <a:off x="895350" y="532447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혼합 주문 차단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A1FEF3-70C3-4643-981E-A8B06C30F56A}"/>
              </a:ext>
            </a:extLst>
          </p:cNvPr>
          <p:cNvSpPr>
            <a:spLocks noGrp="1"/>
          </p:cNvSpPr>
          <p:nvPr/>
        </p:nvSpPr>
        <p:spPr>
          <a:xfrm>
            <a:off x="2762250" y="5248275"/>
            <a:ext cx="84201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선불 상품과 후불 상품을 한 주문에 담는 경우 양방향으로 차단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FF17D3CD-0345-4488-A0DE-1B1C2882820D}"/>
              </a:ext>
            </a:extLst>
          </p:cNvPr>
          <p:cNvSpPr>
            <a:spLocks noGrp="1"/>
          </p:cNvSpPr>
          <p:nvPr/>
        </p:nvSpPr>
        <p:spPr>
          <a:xfrm>
            <a:off x="647700" y="64389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3F7C406-91EC-4563-8B56-8C855132A97D}"/>
              </a:ext>
            </a:extLst>
          </p:cNvPr>
          <p:cNvSpPr>
            <a:spLocks noGrp="1"/>
          </p:cNvSpPr>
          <p:nvPr/>
        </p:nvSpPr>
        <p:spPr>
          <a:xfrm>
            <a:off x="647700" y="6515100"/>
            <a:ext cx="91916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계정·결제 정책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025BAF-9CDA-42B4-B02F-06132F22FE51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92357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0F8AF79D-B680-4DAE-B6D2-B85EF49FBDA0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911542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핵심 흐름 가동 후 오출고와 CS 문의 변화를 관찰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FBCC0EF1-8023-433A-9B29-2605209C26C7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1835BEC-E803-45DB-96FB-577077DC6E64}"/>
              </a:ext>
            </a:extLst>
          </p:cNvPr>
          <p:cNvSpPr>
            <a:spLocks noGrp="1"/>
          </p:cNvSpPr>
          <p:nvPr/>
        </p:nvSpPr>
        <p:spPr>
          <a:xfrm>
            <a:off x="647700" y="11144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초기 결과와 측정하지 못한 항목을 함께 표기했습니다.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56CB3EA-0524-4BE5-985C-7229B7752677}"/>
              </a:ext>
            </a:extLst>
          </p:cNvPr>
          <p:cNvSpPr>
            <a:spLocks noGrp="1"/>
          </p:cNvSpPr>
          <p:nvPr/>
        </p:nvSpPr>
        <p:spPr>
          <a:xfrm>
            <a:off x="647700" y="1590675"/>
            <a:ext cx="3667125" cy="1695450"/>
          </a:xfrm>
          <a:prstGeom prst="roundRect">
            <a:avLst>
              <a:gd name="adj" fmla="val 7865"/>
            </a:avLst>
          </a:prstGeom>
          <a:solidFill>
            <a:srgbClr val="F3FAF6"/>
          </a:solidFill>
          <a:ln w="9525">
            <a:solidFill>
              <a:srgbClr val="BFDCCB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025739-E2BA-4454-B806-1D4867EF86AD}"/>
              </a:ext>
            </a:extLst>
          </p:cNvPr>
          <p:cNvSpPr>
            <a:spLocks noGrp="1"/>
          </p:cNvSpPr>
          <p:nvPr/>
        </p:nvSpPr>
        <p:spPr>
          <a:xfrm>
            <a:off x="895350" y="1809750"/>
            <a:ext cx="12001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오출고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059606B-772A-4527-89CC-392446F52BD9}"/>
              </a:ext>
            </a:extLst>
          </p:cNvPr>
          <p:cNvSpPr>
            <a:spLocks noGrp="1"/>
          </p:cNvSpPr>
          <p:nvPr/>
        </p:nvSpPr>
        <p:spPr>
          <a:xfrm>
            <a:off x="895350" y="2219325"/>
            <a:ext cx="31718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월평균 2~3건  →  0건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318634-C3E3-4AF4-83E7-D542CF7BA513}"/>
              </a:ext>
            </a:extLst>
          </p:cNvPr>
          <p:cNvSpPr>
            <a:spLocks noGrp="1"/>
          </p:cNvSpPr>
          <p:nvPr/>
        </p:nvSpPr>
        <p:spPr>
          <a:xfrm>
            <a:off x="895350" y="2809875"/>
            <a:ext cx="3171825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직전 6개월 평균과 2026-07-16 이후 약 1개월 전체 측정 비교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E701001-CD5F-43C9-A73A-32BF93A4027F}"/>
              </a:ext>
            </a:extLst>
          </p:cNvPr>
          <p:cNvSpPr>
            <a:spLocks noGrp="1"/>
          </p:cNvSpPr>
          <p:nvPr/>
        </p:nvSpPr>
        <p:spPr>
          <a:xfrm>
            <a:off x="647700" y="3457575"/>
            <a:ext cx="3667125" cy="169545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1DB4233-1064-4A3A-82FC-7CF58DB054E5}"/>
              </a:ext>
            </a:extLst>
          </p:cNvPr>
          <p:cNvSpPr>
            <a:spLocks noGrp="1"/>
          </p:cNvSpPr>
          <p:nvPr/>
        </p:nvSpPr>
        <p:spPr>
          <a:xfrm>
            <a:off x="895350" y="3676650"/>
            <a:ext cx="12001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CS 문의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3BBB4F-3C96-4EAE-A54B-DECB8342AF32}"/>
              </a:ext>
            </a:extLst>
          </p:cNvPr>
          <p:cNvSpPr>
            <a:spLocks noGrp="1"/>
          </p:cNvSpPr>
          <p:nvPr/>
        </p:nvSpPr>
        <p:spPr>
          <a:xfrm>
            <a:off x="895350" y="4086225"/>
            <a:ext cx="31718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32건  →  19건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4694FC3-7CB5-4E0F-81F2-0A626DBBA70F}"/>
              </a:ext>
            </a:extLst>
          </p:cNvPr>
          <p:cNvSpPr>
            <a:spLocks noGrp="1"/>
          </p:cNvSpPr>
          <p:nvPr/>
        </p:nvSpPr>
        <p:spPr>
          <a:xfrm>
            <a:off x="895350" y="4676775"/>
            <a:ext cx="3171825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2026-01~2026-06의 2주 환산치와 2026-07~2026-08 배포 구간 2주 집계 비교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EE35AB1-E644-45E5-838F-AD16ADECE9B9}"/>
              </a:ext>
            </a:extLst>
          </p:cNvPr>
          <p:cNvSpPr>
            <a:spLocks noGrp="1"/>
          </p:cNvSpPr>
          <p:nvPr/>
        </p:nvSpPr>
        <p:spPr>
          <a:xfrm>
            <a:off x="4667250" y="1590675"/>
            <a:ext cx="6838950" cy="3562350"/>
          </a:xfrm>
          <a:prstGeom prst="roundRect">
            <a:avLst>
              <a:gd name="adj" fmla="val 3743"/>
            </a:avLst>
          </a:prstGeom>
          <a:solidFill>
            <a:srgbClr val="F4F4F6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1B0800-8D06-4BEA-A6D9-C1A43DA6E422}"/>
              </a:ext>
            </a:extLst>
          </p:cNvPr>
          <p:cNvSpPr>
            <a:spLocks noGrp="1"/>
          </p:cNvSpPr>
          <p:nvPr/>
        </p:nvSpPr>
        <p:spPr>
          <a:xfrm>
            <a:off x="4914900" y="1828800"/>
            <a:ext cx="63436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운영 상태를 확인한 실제 화면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7F983ED-B5B3-4AAD-B0AF-92E034494A00}"/>
              </a:ext>
            </a:extLst>
          </p:cNvPr>
          <p:cNvSpPr>
            <a:spLocks noGrp="1"/>
          </p:cNvSpPr>
          <p:nvPr/>
        </p:nvSpPr>
        <p:spPr>
          <a:xfrm>
            <a:off x="4876800" y="2228850"/>
            <a:ext cx="6419850" cy="1381125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6D6DB"/>
            </a:solidFill>
            <a:prstDash val="solid"/>
          </a:ln>
        </p:spPr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14900" y="2269448"/>
            <a:ext cx="6343650" cy="129992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0EEF3210-D67B-41E4-842C-726C121898C6}"/>
              </a:ext>
            </a:extLst>
          </p:cNvPr>
          <p:cNvSpPr>
            <a:spLocks noGrp="1"/>
          </p:cNvSpPr>
          <p:nvPr/>
        </p:nvSpPr>
        <p:spPr>
          <a:xfrm>
            <a:off x="6610350" y="3667125"/>
            <a:ext cx="4648200" cy="180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마이페이지 발췌 · 주문 현황은 운영 화면 구조 확인용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3C2D1A7-B6FE-4A7E-A388-884A2F111B1D}"/>
              </a:ext>
            </a:extLst>
          </p:cNvPr>
          <p:cNvSpPr>
            <a:spLocks noGrp="1"/>
          </p:cNvSpPr>
          <p:nvPr/>
        </p:nvSpPr>
        <p:spPr>
          <a:xfrm>
            <a:off x="4914900" y="4086225"/>
            <a:ext cx="1238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확인한 변화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1DADF98-4C97-4C98-9908-53E8A79562D0}"/>
              </a:ext>
            </a:extLst>
          </p:cNvPr>
          <p:cNvSpPr>
            <a:spLocks noGrp="1"/>
          </p:cNvSpPr>
          <p:nvPr/>
        </p:nvSpPr>
        <p:spPr>
          <a:xfrm>
            <a:off x="6172200" y="4038600"/>
            <a:ext cx="49149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상태를 직접 확인할 수 있는 흐름과 운영 안내가 가동되었습니다.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788262C-7036-499C-998E-FA95F52A8362}"/>
              </a:ext>
            </a:extLst>
          </p:cNvPr>
          <p:cNvSpPr>
            <a:spLocks noGrp="1"/>
          </p:cNvSpPr>
          <p:nvPr/>
        </p:nvSpPr>
        <p:spPr>
          <a:xfrm>
            <a:off x="4914900" y="4552950"/>
            <a:ext cx="1238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관찰 범위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136212-1C1D-460B-9CC1-EC4C92779198}"/>
              </a:ext>
            </a:extLst>
          </p:cNvPr>
          <p:cNvSpPr>
            <a:spLocks noGrp="1"/>
          </p:cNvSpPr>
          <p:nvPr/>
        </p:nvSpPr>
        <p:spPr>
          <a:xfrm>
            <a:off x="6172200" y="4505325"/>
            <a:ext cx="49149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초기 운영 약 1개월. 입금 대조 시간과 장기 지속 효과는 미측정입니다.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671CB1F-5BDA-4E26-A238-2AA06DE9A8F7}"/>
              </a:ext>
            </a:extLst>
          </p:cNvPr>
          <p:cNvSpPr>
            <a:spLocks noGrp="1"/>
          </p:cNvSpPr>
          <p:nvPr/>
        </p:nvSpPr>
        <p:spPr>
          <a:xfrm>
            <a:off x="647700" y="5467350"/>
            <a:ext cx="10858500" cy="609600"/>
          </a:xfrm>
          <a:prstGeom prst="roundRect">
            <a:avLst>
              <a:gd name="adj" fmla="val 15625"/>
            </a:avLst>
          </a:prstGeom>
          <a:solidFill>
            <a:srgbClr val="1E6B45"/>
          </a:solidFill>
          <a:ln w="0">
            <a:solidFill>
              <a:srgbClr val="1E6B45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D5B7CA7-9232-4ED1-83E6-D40BB0A54C5D}"/>
              </a:ext>
            </a:extLst>
          </p:cNvPr>
          <p:cNvSpPr>
            <a:spLocks noGrp="1"/>
          </p:cNvSpPr>
          <p:nvPr/>
        </p:nvSpPr>
        <p:spPr>
          <a:xfrm>
            <a:off x="895350" y="5648325"/>
            <a:ext cx="1238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결과 해석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6AEBD63-B9F3-4CF0-911B-B4F7718782E9}"/>
              </a:ext>
            </a:extLst>
          </p:cNvPr>
          <p:cNvSpPr>
            <a:spLocks noGrp="1"/>
          </p:cNvSpPr>
          <p:nvPr/>
        </p:nvSpPr>
        <p:spPr>
          <a:xfrm>
            <a:off x="2190750" y="5581650"/>
            <a:ext cx="89916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초기 운영 결과는 오출고와 CS 문의로 확인했습니다. 입금 대조 시간과 장기 지속 효과는 후속 측정 항목입니다.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80F800E7-7533-403C-9F7A-ACE891804AD5}"/>
              </a:ext>
            </a:extLst>
          </p:cNvPr>
          <p:cNvSpPr>
            <a:spLocks noGrp="1"/>
          </p:cNvSpPr>
          <p:nvPr/>
        </p:nvSpPr>
        <p:spPr>
          <a:xfrm>
            <a:off x="647700" y="64389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0325ABB-0E76-4B47-B5FD-F85DD37B8A25}"/>
              </a:ext>
            </a:extLst>
          </p:cNvPr>
          <p:cNvSpPr>
            <a:spLocks noGrp="1"/>
          </p:cNvSpPr>
          <p:nvPr/>
        </p:nvSpPr>
        <p:spPr>
          <a:xfrm>
            <a:off x="647700" y="6515100"/>
            <a:ext cx="91916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결과와 측정 경계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A61F667-0206-4616-9105-EE5DD9B1F2DE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1652049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D4C4F72D-0A47-495E-B645-22F6CB00D423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911542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두 프로젝트가 보여준 PM 역할</a:t>
            </a:r>
          </a:p>
        </p:txBody>
      </p:sp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041B20BB-B575-4B7D-9ADF-3CD1C5138D43}"/>
              </a:ext>
            </a:extLst>
          </p:cNvPr>
          <p:cNvSpPr>
            <a:spLocks noGrp="1"/>
          </p:cNvSpPr>
          <p:nvPr/>
        </p:nvSpPr>
        <p:spPr>
          <a:xfrm>
            <a:off x="647700" y="962025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148DEAE-59BD-436E-83E5-52C908592006}"/>
              </a:ext>
            </a:extLst>
          </p:cNvPr>
          <p:cNvSpPr>
            <a:spLocks noGrp="1"/>
          </p:cNvSpPr>
          <p:nvPr/>
        </p:nvSpPr>
        <p:spPr>
          <a:xfrm>
            <a:off x="647700" y="11144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문제 정의에서 멈추지 않고 정책과 데이터 계약을 만들고 운영 환경에서 결과를 확인했습니다.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B4D037C-EA68-49EA-83A9-C1D2B15FA173}"/>
              </a:ext>
            </a:extLst>
          </p:cNvPr>
          <p:cNvSpPr>
            <a:spLocks noGrp="1"/>
          </p:cNvSpPr>
          <p:nvPr/>
        </p:nvSpPr>
        <p:spPr>
          <a:xfrm>
            <a:off x="647700" y="1628775"/>
            <a:ext cx="5257800" cy="3162300"/>
          </a:xfrm>
          <a:prstGeom prst="roundRect">
            <a:avLst>
              <a:gd name="adj" fmla="val 4819"/>
            </a:avLst>
          </a:prstGeom>
          <a:solidFill>
            <a:srgbClr val="F4F8FD"/>
          </a:solidFill>
          <a:ln w="9525">
            <a:solidFill>
              <a:srgbClr val="B9CEE8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AEAE9F-12EE-4162-B4B0-DD51E128A825}"/>
              </a:ext>
            </a:extLst>
          </p:cNvPr>
          <p:cNvSpPr>
            <a:spLocks noGrp="1"/>
          </p:cNvSpPr>
          <p:nvPr/>
        </p:nvSpPr>
        <p:spPr>
          <a:xfrm>
            <a:off x="914400" y="1895475"/>
            <a:ext cx="472440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9A4E8D2-E8E7-4B2E-B6F8-D66991F3AEF0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6858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CC3545-9F8D-4A4A-AF06-A6DE9F080FBB}"/>
              </a:ext>
            </a:extLst>
          </p:cNvPr>
          <p:cNvSpPr>
            <a:spLocks noGrp="1"/>
          </p:cNvSpPr>
          <p:nvPr/>
        </p:nvSpPr>
        <p:spPr>
          <a:xfrm>
            <a:off x="1657350" y="2381250"/>
            <a:ext cx="39814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분할·합배송과 시스템별 식별자 불일치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B1837C1A-160F-4723-94D0-B82DA840574A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4724400" cy="0"/>
          </a:xfrm>
          <a:prstGeom prst="line">
            <a:avLst/>
          </a:prstGeom>
          <a:noFill/>
          <a:ln w="9525">
            <a:solidFill>
              <a:srgbClr val="B9CEE8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24437C-ACA7-41B9-82C8-EB3841C6B33C}"/>
              </a:ext>
            </a:extLst>
          </p:cNvPr>
          <p:cNvSpPr>
            <a:spLocks noGrp="1"/>
          </p:cNvSpPr>
          <p:nvPr/>
        </p:nvSpPr>
        <p:spPr>
          <a:xfrm>
            <a:off x="914400" y="2943225"/>
            <a:ext cx="6858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20061B-8A9B-4B1F-9695-A3DC9F2259C1}"/>
              </a:ext>
            </a:extLst>
          </p:cNvPr>
          <p:cNvSpPr>
            <a:spLocks noGrp="1"/>
          </p:cNvSpPr>
          <p:nvPr/>
        </p:nvSpPr>
        <p:spPr>
          <a:xfrm>
            <a:off x="1657350" y="2924175"/>
            <a:ext cx="39814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원주문번호·ERP 포장번호·HBL을 분리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DF25BF22-7CBA-40EA-8779-962C42683AC3}"/>
              </a:ext>
            </a:extLst>
          </p:cNvPr>
          <p:cNvSpPr>
            <a:spLocks noGrp="1"/>
          </p:cNvSpPr>
          <p:nvPr/>
        </p:nvSpPr>
        <p:spPr>
          <a:xfrm>
            <a:off x="914400" y="3314700"/>
            <a:ext cx="4724400" cy="0"/>
          </a:xfrm>
          <a:prstGeom prst="line">
            <a:avLst/>
          </a:prstGeom>
          <a:noFill/>
          <a:ln w="9525">
            <a:solidFill>
              <a:srgbClr val="B9CEE8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BED38B-8287-4565-BC38-BC932D27021C}"/>
              </a:ext>
            </a:extLst>
          </p:cNvPr>
          <p:cNvSpPr>
            <a:spLocks noGrp="1"/>
          </p:cNvSpPr>
          <p:nvPr/>
        </p:nvSpPr>
        <p:spPr>
          <a:xfrm>
            <a:off x="914400" y="3486150"/>
            <a:ext cx="6858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9824F52-39EE-4EE4-A36D-E62F166E2DB8}"/>
              </a:ext>
            </a:extLst>
          </p:cNvPr>
          <p:cNvSpPr>
            <a:spLocks noGrp="1"/>
          </p:cNvSpPr>
          <p:nvPr/>
        </p:nvSpPr>
        <p:spPr>
          <a:xfrm>
            <a:off x="1657350" y="3467100"/>
            <a:ext cx="39814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필드 매핑, 복합키, 상태·재시도 기준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44756567-A848-4B77-BD4B-3125E837D0CA}"/>
              </a:ext>
            </a:extLst>
          </p:cNvPr>
          <p:cNvSpPr>
            <a:spLocks noGrp="1"/>
          </p:cNvSpPr>
          <p:nvPr/>
        </p:nvSpPr>
        <p:spPr>
          <a:xfrm>
            <a:off x="914400" y="3857625"/>
            <a:ext cx="4724400" cy="0"/>
          </a:xfrm>
          <a:prstGeom prst="line">
            <a:avLst/>
          </a:prstGeom>
          <a:noFill/>
          <a:ln w="9525">
            <a:solidFill>
              <a:srgbClr val="B9CEE8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539384-74E7-4A99-A04E-9CDBD2ACC433}"/>
              </a:ext>
            </a:extLst>
          </p:cNvPr>
          <p:cNvSpPr>
            <a:spLocks noGrp="1"/>
          </p:cNvSpPr>
          <p:nvPr/>
        </p:nvSpPr>
        <p:spPr>
          <a:xfrm>
            <a:off x="914400" y="4029075"/>
            <a:ext cx="6858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3D12EF3-EED9-4189-A57D-22A51C04B99E}"/>
              </a:ext>
            </a:extLst>
          </p:cNvPr>
          <p:cNvSpPr>
            <a:spLocks noGrp="1"/>
          </p:cNvSpPr>
          <p:nvPr/>
        </p:nvSpPr>
        <p:spPr>
          <a:xfrm>
            <a:off x="1657350" y="4010025"/>
            <a:ext cx="39814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환경 30건 목적 30/30 통과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AC71DDC-F387-49B9-8DF2-976AA67FB4CA}"/>
              </a:ext>
            </a:extLst>
          </p:cNvPr>
          <p:cNvSpPr>
            <a:spLocks noGrp="1"/>
          </p:cNvSpPr>
          <p:nvPr/>
        </p:nvSpPr>
        <p:spPr>
          <a:xfrm>
            <a:off x="6248400" y="1628775"/>
            <a:ext cx="5257800" cy="3162300"/>
          </a:xfrm>
          <a:prstGeom prst="roundRect">
            <a:avLst>
              <a:gd name="adj" fmla="val 4819"/>
            </a:avLst>
          </a:prstGeom>
          <a:solidFill>
            <a:srgbClr val="F3FAF6"/>
          </a:solidFill>
          <a:ln w="9525">
            <a:solidFill>
              <a:srgbClr val="BFDCCB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C9F88F3-7176-4158-A8C9-D225EFCDC8AC}"/>
              </a:ext>
            </a:extLst>
          </p:cNvPr>
          <p:cNvSpPr>
            <a:spLocks noGrp="1"/>
          </p:cNvSpPr>
          <p:nvPr/>
        </p:nvSpPr>
        <p:spPr>
          <a:xfrm>
            <a:off x="6515100" y="1895475"/>
            <a:ext cx="472440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산후조리원 B2B 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4F246A6-A572-4924-9A67-1B2142B7290A}"/>
              </a:ext>
            </a:extLst>
          </p:cNvPr>
          <p:cNvSpPr>
            <a:spLocks noGrp="1"/>
          </p:cNvSpPr>
          <p:nvPr/>
        </p:nvSpPr>
        <p:spPr>
          <a:xfrm>
            <a:off x="6515100" y="2400300"/>
            <a:ext cx="6858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E27E25-918B-4FC5-872F-65058C183E22}"/>
              </a:ext>
            </a:extLst>
          </p:cNvPr>
          <p:cNvSpPr>
            <a:spLocks noGrp="1"/>
          </p:cNvSpPr>
          <p:nvPr/>
        </p:nvSpPr>
        <p:spPr>
          <a:xfrm>
            <a:off x="7258050" y="2381250"/>
            <a:ext cx="39814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오출고, 반복 문의, 수기 입금 대조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D240BAE2-59F2-41C2-96A6-1F6E8CD08BB8}"/>
              </a:ext>
            </a:extLst>
          </p:cNvPr>
          <p:cNvSpPr>
            <a:spLocks noGrp="1"/>
          </p:cNvSpPr>
          <p:nvPr/>
        </p:nvSpPr>
        <p:spPr>
          <a:xfrm>
            <a:off x="6515100" y="2771775"/>
            <a:ext cx="4724400" cy="0"/>
          </a:xfrm>
          <a:prstGeom prst="line">
            <a:avLst/>
          </a:prstGeom>
          <a:noFill/>
          <a:ln w="9525">
            <a:solidFill>
              <a:srgbClr val="BFDCCB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497315-50B5-4261-B6D6-B844C5B2615C}"/>
              </a:ext>
            </a:extLst>
          </p:cNvPr>
          <p:cNvSpPr>
            <a:spLocks noGrp="1"/>
          </p:cNvSpPr>
          <p:nvPr/>
        </p:nvSpPr>
        <p:spPr>
          <a:xfrm>
            <a:off x="6515100" y="2943225"/>
            <a:ext cx="6858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1FE622A-BBF4-400A-AD74-99FB5D64A0DA}"/>
              </a:ext>
            </a:extLst>
          </p:cNvPr>
          <p:cNvSpPr>
            <a:spLocks noGrp="1"/>
          </p:cNvSpPr>
          <p:nvPr/>
        </p:nvSpPr>
        <p:spPr>
          <a:xfrm>
            <a:off x="7258050" y="2924175"/>
            <a:ext cx="39814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기존 플랫폼을 유지하고 정책을 맞춤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86FCF258-8967-4896-B365-B35A2AE97AF3}"/>
              </a:ext>
            </a:extLst>
          </p:cNvPr>
          <p:cNvSpPr>
            <a:spLocks noGrp="1"/>
          </p:cNvSpPr>
          <p:nvPr/>
        </p:nvSpPr>
        <p:spPr>
          <a:xfrm>
            <a:off x="6515100" y="3314700"/>
            <a:ext cx="4724400" cy="0"/>
          </a:xfrm>
          <a:prstGeom prst="line">
            <a:avLst/>
          </a:prstGeom>
          <a:noFill/>
          <a:ln w="9525">
            <a:solidFill>
              <a:srgbClr val="BFDCCB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1290E9-348F-4CBB-ADFA-5431083079A9}"/>
              </a:ext>
            </a:extLst>
          </p:cNvPr>
          <p:cNvSpPr>
            <a:spLocks noGrp="1"/>
          </p:cNvSpPr>
          <p:nvPr/>
        </p:nvSpPr>
        <p:spPr>
          <a:xfrm>
            <a:off x="6515100" y="3486150"/>
            <a:ext cx="6858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CF08BD9-F06C-40FE-AFE5-EDD07D385D08}"/>
              </a:ext>
            </a:extLst>
          </p:cNvPr>
          <p:cNvSpPr>
            <a:spLocks noGrp="1"/>
          </p:cNvSpPr>
          <p:nvPr/>
        </p:nvSpPr>
        <p:spPr>
          <a:xfrm>
            <a:off x="7258050" y="3467100"/>
            <a:ext cx="39814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계정·결제 정책, 요구사항 상태, 운영 QA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45AE5F71-2E8F-42E1-9455-1FAAE6360FD7}"/>
              </a:ext>
            </a:extLst>
          </p:cNvPr>
          <p:cNvSpPr>
            <a:spLocks noGrp="1"/>
          </p:cNvSpPr>
          <p:nvPr/>
        </p:nvSpPr>
        <p:spPr>
          <a:xfrm>
            <a:off x="6515100" y="3857625"/>
            <a:ext cx="4724400" cy="0"/>
          </a:xfrm>
          <a:prstGeom prst="line">
            <a:avLst/>
          </a:prstGeom>
          <a:noFill/>
          <a:ln w="9525">
            <a:solidFill>
              <a:srgbClr val="BFDCCB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59637CF-7632-445A-B65A-54511AFE8FEA}"/>
              </a:ext>
            </a:extLst>
          </p:cNvPr>
          <p:cNvSpPr>
            <a:spLocks noGrp="1"/>
          </p:cNvSpPr>
          <p:nvPr/>
        </p:nvSpPr>
        <p:spPr>
          <a:xfrm>
            <a:off x="6515100" y="4029075"/>
            <a:ext cx="6858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E5588C7-F0EE-4348-8817-431C86781D4D}"/>
              </a:ext>
            </a:extLst>
          </p:cNvPr>
          <p:cNvSpPr>
            <a:spLocks noGrp="1"/>
          </p:cNvSpPr>
          <p:nvPr/>
        </p:nvSpPr>
        <p:spPr>
          <a:xfrm>
            <a:off x="7258050" y="4010025"/>
            <a:ext cx="39814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오출고 0건과 CS 문의 초기 감소 관찰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6CF9A0B-2638-430E-B2D5-0628069D9E4E}"/>
              </a:ext>
            </a:extLst>
          </p:cNvPr>
          <p:cNvSpPr>
            <a:spLocks noGrp="1"/>
          </p:cNvSpPr>
          <p:nvPr/>
        </p:nvSpPr>
        <p:spPr>
          <a:xfrm>
            <a:off x="647700" y="5124450"/>
            <a:ext cx="12573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후속 측정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1A9ACBB-E49E-4673-BA92-D3FDAB1ACEF0}"/>
              </a:ext>
            </a:extLst>
          </p:cNvPr>
          <p:cNvSpPr>
            <a:spLocks noGrp="1"/>
          </p:cNvSpPr>
          <p:nvPr/>
        </p:nvSpPr>
        <p:spPr>
          <a:xfrm>
            <a:off x="647700" y="5476875"/>
            <a:ext cx="10858500" cy="609600"/>
          </a:xfrm>
          <a:prstGeom prst="roundRect">
            <a:avLst>
              <a:gd name="adj" fmla="val 15625"/>
            </a:avLst>
          </a:prstGeom>
          <a:solidFill>
            <a:srgbClr val="F4F4F6"/>
          </a:solidFill>
          <a:ln w="9525">
            <a:solidFill>
              <a:srgbClr val="D6D6DB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349546E-7A54-4A3E-9965-3511A35D4AAD}"/>
              </a:ext>
            </a:extLst>
          </p:cNvPr>
          <p:cNvSpPr>
            <a:spLocks noGrp="1"/>
          </p:cNvSpPr>
          <p:nvPr/>
        </p:nvSpPr>
        <p:spPr>
          <a:xfrm>
            <a:off x="876300" y="5657850"/>
            <a:ext cx="9144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7638B8-B802-45DB-AD44-1B124E6D37DE}"/>
              </a:ext>
            </a:extLst>
          </p:cNvPr>
          <p:cNvSpPr>
            <a:spLocks noGrp="1"/>
          </p:cNvSpPr>
          <p:nvPr/>
        </p:nvSpPr>
        <p:spPr>
          <a:xfrm>
            <a:off x="1790700" y="56197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자동 처리율 · 신규 경로 비중 · 처리 시간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7CF3F10-DE94-45F0-841B-761D5F10DC9F}"/>
              </a:ext>
            </a:extLst>
          </p:cNvPr>
          <p:cNvSpPr>
            <a:spLocks noGrp="1"/>
          </p:cNvSpPr>
          <p:nvPr/>
        </p:nvSpPr>
        <p:spPr>
          <a:xfrm>
            <a:off x="6000750" y="5657850"/>
            <a:ext cx="9144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B2B 몰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1310D57-6A6D-406F-8F71-8B5148FCE8E2}"/>
              </a:ext>
            </a:extLst>
          </p:cNvPr>
          <p:cNvSpPr>
            <a:spLocks noGrp="1"/>
          </p:cNvSpPr>
          <p:nvPr/>
        </p:nvSpPr>
        <p:spPr>
          <a:xfrm>
            <a:off x="6915150" y="5619750"/>
            <a:ext cx="43434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입금 대조 시간 · 오출고와 CS 문의의 장기 추이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FE6D905B-3124-4766-8969-BE26C693BAC2}"/>
              </a:ext>
            </a:extLst>
          </p:cNvPr>
          <p:cNvSpPr>
            <a:spLocks noGrp="1"/>
          </p:cNvSpPr>
          <p:nvPr/>
        </p:nvSpPr>
        <p:spPr>
          <a:xfrm>
            <a:off x="647700" y="6438900"/>
            <a:ext cx="10858500" cy="0"/>
          </a:xfrm>
          <a:prstGeom prst="line">
            <a:avLst/>
          </a:prstGeom>
          <a:noFill/>
          <a:ln w="9525">
            <a:solidFill>
              <a:srgbClr val="D6D6DB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D6DD732-DF59-4ACD-8C08-4E41DB8913A4}"/>
              </a:ext>
            </a:extLst>
          </p:cNvPr>
          <p:cNvSpPr>
            <a:spLocks noGrp="1"/>
          </p:cNvSpPr>
          <p:nvPr/>
        </p:nvSpPr>
        <p:spPr>
          <a:xfrm>
            <a:off x="647700" y="6515100"/>
            <a:ext cx="919162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박종혁 PM 포트폴리오 · 요약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901ED43-2E2D-4F6B-BA59-6FBEB25A3F3A}"/>
              </a:ext>
            </a:extLst>
          </p:cNvPr>
          <p:cNvSpPr>
            <a:spLocks noGrp="1"/>
          </p:cNvSpPr>
          <p:nvPr/>
        </p:nvSpPr>
        <p:spPr>
          <a:xfrm>
            <a:off x="10172700" y="6515100"/>
            <a:ext cx="1333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36672363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1889</Words>
  <Application>Microsoft Office PowerPoint</Application>
  <DocSecurity>0</DocSecurity>
  <PresentationFormat>와이드스크린</PresentationFormat>
  <Paragraphs>430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박종혁 PM 포트폴리오 v4.2</dc:title>
  <dc:creator>박종혁</dc:creator>
  <cp:lastModifiedBy>admin</cp:lastModifiedBy>
  <cp:revision>1</cp:revision>
  <dcterms:created xsi:type="dcterms:W3CDTF">2026-09-17T05:45:21Z</dcterms:created>
  <dcterms:modified xsi:type="dcterms:W3CDTF">2026-09-17T05:49:05Z</dcterms:modified>
</cp:coreProperties>
</file>