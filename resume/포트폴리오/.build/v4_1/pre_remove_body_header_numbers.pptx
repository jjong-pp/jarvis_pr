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bb9b064e8a4dc1" /><Relationship Type="http://schemas.openxmlformats.org/officeDocument/2006/relationships/extended-properties" Target="/docProps/app.xml" Id="Rc8947fa9176443ef" /><Relationship Type="http://schemas.openxmlformats.org/officeDocument/2006/relationships/officeDocument" Target="/ppt/presentation.xml" Id="R1ea1a843f6494a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05e5b51efc4d75"/>
  </p:sldMasterIdLst>
  <p:notesMasterIdLst>
    <p:notesMasterId xmlns:r="http://schemas.openxmlformats.org/officeDocument/2006/relationships" r:id="Raa2d8d8cb26448a8"/>
  </p:notesMasterIdLst>
  <p:sldIdLst>
    <p:sldId xmlns:r="http://schemas.openxmlformats.org/officeDocument/2006/relationships" id="256" r:id="R5e32a9e0a6644080"/>
    <p:sldId xmlns:r="http://schemas.openxmlformats.org/officeDocument/2006/relationships" id="257" r:id="R3e64630e0c4e4d0c"/>
    <p:sldId xmlns:r="http://schemas.openxmlformats.org/officeDocument/2006/relationships" id="258" r:id="R1817f590d8774448"/>
    <p:sldId xmlns:r="http://schemas.openxmlformats.org/officeDocument/2006/relationships" id="259" r:id="Rd6d0c42451b642b4"/>
    <p:sldId xmlns:r="http://schemas.openxmlformats.org/officeDocument/2006/relationships" id="260" r:id="Ra7e06bf3354949e1"/>
    <p:sldId xmlns:r="http://schemas.openxmlformats.org/officeDocument/2006/relationships" id="261" r:id="Rfb221fd4739b4d01"/>
    <p:sldId xmlns:r="http://schemas.openxmlformats.org/officeDocument/2006/relationships" id="262" r:id="Rd1ae31943b7547f2"/>
    <p:sldId xmlns:r="http://schemas.openxmlformats.org/officeDocument/2006/relationships" id="263" r:id="R8c6919626a2d4803"/>
    <p:sldId xmlns:r="http://schemas.openxmlformats.org/officeDocument/2006/relationships" id="264" r:id="R3ead0697038b4cb5"/>
    <p:sldId xmlns:r="http://schemas.openxmlformats.org/officeDocument/2006/relationships" id="265" r:id="R107108c9b1474fab"/>
    <p:sldId xmlns:r="http://schemas.openxmlformats.org/officeDocument/2006/relationships" id="266" r:id="Rcab9dcaeb06340ed"/>
    <p:sldId xmlns:r="http://schemas.openxmlformats.org/officeDocument/2006/relationships" id="267" r:id="Rf3f6f0bb6f424315"/>
    <p:sldId xmlns:r="http://schemas.openxmlformats.org/officeDocument/2006/relationships" id="268" r:id="R349e1e2bed1e45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3c896b58664b62" /><Relationship Type="http://schemas.openxmlformats.org/officeDocument/2006/relationships/slideMaster" Target="/ppt/slideMasters/slideMaster1.xml" Id="Ra105e5b51efc4d75" /><Relationship Type="http://schemas.openxmlformats.org/officeDocument/2006/relationships/notesMaster" Target="/ppt/notesMasters/notesMaster1.xml" Id="Raa2d8d8cb26448a8" /><Relationship Type="http://schemas.openxmlformats.org/officeDocument/2006/relationships/presProps" Target="/ppt/presProps.xml" Id="R8b3f1f8158264eae" /><Relationship Type="http://schemas.openxmlformats.org/officeDocument/2006/relationships/tableStyles" Target="/ppt/tableStyles.xml" Id="Ref6a805bbb9842e6" /><Relationship Type="http://schemas.openxmlformats.org/officeDocument/2006/relationships/slide" Target="/ppt/slides/slide1.xml" Id="R5e32a9e0a6644080" /><Relationship Type="http://schemas.openxmlformats.org/officeDocument/2006/relationships/slide" Target="/ppt/slides/slide2.xml" Id="R3e64630e0c4e4d0c" /><Relationship Type="http://schemas.openxmlformats.org/officeDocument/2006/relationships/slide" Target="/ppt/slides/slide3.xml" Id="R1817f590d8774448" /><Relationship Type="http://schemas.openxmlformats.org/officeDocument/2006/relationships/slide" Target="/ppt/slides/slide4.xml" Id="Rd6d0c42451b642b4" /><Relationship Type="http://schemas.openxmlformats.org/officeDocument/2006/relationships/slide" Target="/ppt/slides/slide5.xml" Id="Ra7e06bf3354949e1" /><Relationship Type="http://schemas.openxmlformats.org/officeDocument/2006/relationships/slide" Target="/ppt/slides/slide6.xml" Id="Rfb221fd4739b4d01" /><Relationship Type="http://schemas.openxmlformats.org/officeDocument/2006/relationships/slide" Target="/ppt/slides/slide7.xml" Id="Rd1ae31943b7547f2" /><Relationship Type="http://schemas.openxmlformats.org/officeDocument/2006/relationships/slide" Target="/ppt/slides/slide8.xml" Id="R8c6919626a2d4803" /><Relationship Type="http://schemas.openxmlformats.org/officeDocument/2006/relationships/slide" Target="/ppt/slides/slide9.xml" Id="R3ead0697038b4cb5" /><Relationship Type="http://schemas.openxmlformats.org/officeDocument/2006/relationships/slide" Target="/ppt/slides/slide10.xml" Id="R107108c9b1474fab" /><Relationship Type="http://schemas.openxmlformats.org/officeDocument/2006/relationships/slide" Target="/ppt/slides/slide11.xml" Id="Rcab9dcaeb06340ed" /><Relationship Type="http://schemas.openxmlformats.org/officeDocument/2006/relationships/slide" Target="/ppt/slides/slide12.xml" Id="Rf3f6f0bb6f424315" /><Relationship Type="http://schemas.openxmlformats.org/officeDocument/2006/relationships/slide" Target="/ppt/slides/slide13.xml" Id="R349e1e2bed1e45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997d91c1734e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522f426475411b" /><Relationship Type="http://schemas.openxmlformats.org/officeDocument/2006/relationships/notesMaster" Target="/ppt/notesMasters/notesMaster1.xml" Id="Rb87606f96d1e42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b1875b854d455a" /><Relationship Type="http://schemas.openxmlformats.org/officeDocument/2006/relationships/notesMaster" Target="/ppt/notesMasters/notesMaster1.xml" Id="R4d2bcd49661b4f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68e7c9664c4771" /><Relationship Type="http://schemas.openxmlformats.org/officeDocument/2006/relationships/notesMaster" Target="/ppt/notesMasters/notesMaster1.xml" Id="R2db0cf59ba4544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c0828862be497c" /><Relationship Type="http://schemas.openxmlformats.org/officeDocument/2006/relationships/notesMaster" Target="/ppt/notesMasters/notesMaster1.xml" Id="Rffebf1d4813a49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e8922b08be4e3a" /><Relationship Type="http://schemas.openxmlformats.org/officeDocument/2006/relationships/notesMaster" Target="/ppt/notesMasters/notesMaster1.xml" Id="R0902829da4df44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770555f8df4e64" /><Relationship Type="http://schemas.openxmlformats.org/officeDocument/2006/relationships/notesMaster" Target="/ppt/notesMasters/notesMaster1.xml" Id="R97635df396c14e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06f1c43b5a4df6" /><Relationship Type="http://schemas.openxmlformats.org/officeDocument/2006/relationships/notesMaster" Target="/ppt/notesMasters/notesMaster1.xml" Id="R98d5990695f24d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759762d0e8497f" /><Relationship Type="http://schemas.openxmlformats.org/officeDocument/2006/relationships/notesMaster" Target="/ppt/notesMasters/notesMaster1.xml" Id="Rc2cca4127f544a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f1f6922233459c" /><Relationship Type="http://schemas.openxmlformats.org/officeDocument/2006/relationships/notesMaster" Target="/ppt/notesMasters/notesMaster1.xml" Id="Ra1a49b8acaa440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a012b9a2524a58" /><Relationship Type="http://schemas.openxmlformats.org/officeDocument/2006/relationships/notesMaster" Target="/ppt/notesMasters/notesMaster1.xml" Id="R047f78f4362347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47188d46c64422" /><Relationship Type="http://schemas.openxmlformats.org/officeDocument/2006/relationships/notesMaster" Target="/ppt/notesMasters/notesMaster1.xml" Id="Re64f5000e43840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cec56c64d447f4" /><Relationship Type="http://schemas.openxmlformats.org/officeDocument/2006/relationships/notesMaster" Target="/ppt/notesMasters/notesMaster1.xml" Id="R147a4b512be24b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844d8cd923428d" /><Relationship Type="http://schemas.openxmlformats.org/officeDocument/2006/relationships/notesMaster" Target="/ppt/notesMasters/notesMaster1.xml" Id="R7dd307bd407c4a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8b535f2ad4c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7dfcbffc1348c1" /><Relationship Type="http://schemas.openxmlformats.org/officeDocument/2006/relationships/slideLayout" Target="/ppt/slideLayouts/slideLayout1.xml" Id="Recbe750d623244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be750d623244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8414f17f743f5" /><Relationship Type="http://schemas.openxmlformats.org/officeDocument/2006/relationships/image" Target="/ppt/media/image.png" Id="Rc5970fe0d214443a" /><Relationship Type="http://schemas.openxmlformats.org/officeDocument/2006/relationships/notesSlide" Target="/ppt/notesSlides/notesSlide1.xml" Id="R13a17deb671c45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d6f0eced940fb" /><Relationship Type="http://schemas.openxmlformats.org/officeDocument/2006/relationships/notesSlide" Target="/ppt/notesSlides/notesSlide2.xml" Id="Rf642634a18184f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5803ea3e443ae" /><Relationship Type="http://schemas.openxmlformats.org/officeDocument/2006/relationships/notesSlide" Target="/ppt/notesSlides/notesSlide3.xml" Id="Re8c2b16753d144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b881865f6451a" /><Relationship Type="http://schemas.openxmlformats.org/officeDocument/2006/relationships/image" Target="/ppt/media/image2.png" Id="R18ce5b7c3bc644a2" /><Relationship Type="http://schemas.openxmlformats.org/officeDocument/2006/relationships/notesSlide" Target="/ppt/notesSlides/notesSlide4.xml" Id="Rb97f2044e70644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8ecc61a1b4693" /><Relationship Type="http://schemas.openxmlformats.org/officeDocument/2006/relationships/image" Target="/ppt/media/image3.png" Id="R2c1b6f7208604704" /><Relationship Type="http://schemas.openxmlformats.org/officeDocument/2006/relationships/notesSlide" Target="/ppt/notesSlides/notesSlide5.xml" Id="R6f4bb63b25674d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5220f554a446f" /><Relationship Type="http://schemas.openxmlformats.org/officeDocument/2006/relationships/notesSlide" Target="/ppt/notesSlides/notesSlide6.xml" Id="Rc7bdf791af234e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254f94dcd4b91" /><Relationship Type="http://schemas.openxmlformats.org/officeDocument/2006/relationships/notesSlide" Target="/ppt/notesSlides/notesSlide7.xml" Id="Rf045dbac68ee4e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cb6585fd14f16" /><Relationship Type="http://schemas.openxmlformats.org/officeDocument/2006/relationships/image" Target="/ppt/media/image4.png" Id="R469dd61dc05f4e29" /><Relationship Type="http://schemas.openxmlformats.org/officeDocument/2006/relationships/notesSlide" Target="/ppt/notesSlides/notesSlide8.xml" Id="R09af818eb95a41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7b15214af4e17" /><Relationship Type="http://schemas.openxmlformats.org/officeDocument/2006/relationships/image" Target="/ppt/media/image5.png" Id="R4a425e0122094ff7" /><Relationship Type="http://schemas.openxmlformats.org/officeDocument/2006/relationships/notesSlide" Target="/ppt/notesSlides/notesSlide9.xml" Id="Rc68a24e9de324b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1efd867444dff" /><Relationship Type="http://schemas.openxmlformats.org/officeDocument/2006/relationships/notesSlide" Target="/ppt/notesSlides/notesSlide10.xml" Id="R73798c77cbf44d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8177c1964459f" /><Relationship Type="http://schemas.openxmlformats.org/officeDocument/2006/relationships/image" Target="/ppt/media/image6.png" Id="Rb696c65d37a043db" /><Relationship Type="http://schemas.openxmlformats.org/officeDocument/2006/relationships/notesSlide" Target="/ppt/notesSlides/notesSlide11.xml" Id="Rdb170f7063aa43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355763e62423a" /><Relationship Type="http://schemas.openxmlformats.org/officeDocument/2006/relationships/image" Target="/ppt/media/image7.png" Id="R504ef31806be4139" /><Relationship Type="http://schemas.openxmlformats.org/officeDocument/2006/relationships/notesSlide" Target="/ppt/notesSlides/notesSlide12.xml" Id="R66cbdf86a0824d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0f056179246af" /><Relationship Type="http://schemas.openxmlformats.org/officeDocument/2006/relationships/image" Target="/ppt/media/image8.png" Id="R9441d62939f24e9a" /><Relationship Type="http://schemas.openxmlformats.org/officeDocument/2006/relationships/notesSlide" Target="/ppt/notesSlides/notesSlide13.xml" Id="R78ffa491619044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84F50-7F42-41C3-883E-C9549F4D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E1EE3-3912-4683-A5C7-796A6D66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PM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50807-9B12-4963-ABCE-8C852390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요구를 정책으로 만들고</a:t>
            </a:r>
          </a:p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검증까지 연결한 두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BC77B-248C-48BC-B63F-1095DF79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통관 연동에서는 분할 출고 단위와 오류 재제출 기준을,</a:t>
            </a:r>
          </a:p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몰에서는 계정·결제 정책과 운영 완료 기준을 정했습니다.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21AF4-D9C4-41D4-A7DE-77ABF9BB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3B0D1-F53E-4379-AA1B-37CDD292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3F1CE-E321-4CED-B5F5-FABBB989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413B3-E5CC-4943-8572-9BA86D0E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96CDB-1C2E-4E83-96B3-5ED6197D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분할 출고 기준 · 오류 재제출 · 운영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37221-CAC8-49A4-98D3-08070FE1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26F34-E2C5-4BBB-B5D9-0F6C4178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E650E-02DF-4E99-9DBB-D3C7D18E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6A377-14C5-4C97-81FE-8396EBEE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 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8F541-2B84-40AD-9F58-6C7C5A41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계정·결제 정책 · 운영 서버 검증 ·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BA152-1656-42A4-BAB6-B9C0EDCB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0"/>
            <a:ext cx="414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70fe0d214443a"/>
          <a:srcRect xmlns:a="http://schemas.openxmlformats.org/drawingml/2006/main" l="0" t="14894" r="0" b="1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3075" y="876300"/>
            <a:ext cx="1466850" cy="1466850"/>
          </a:xfrm>
          <a:prstGeom xmlns:a="http://schemas.openxmlformats.org/drawingml/2006/main" prst="ellipse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71604-F9AD-407F-83E8-C7212365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A8C90-7E98-4216-87CF-64783D7D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프로젝트 운영 · SCM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DA14A-9D53-4817-A3D9-299E5859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5BA37-48CC-44A5-A208-B5412866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구조화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이해관계자 조율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기준과 운영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E7935-E755-4FF4-A59D-74A90FEE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19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parkjonghyeok2000@gmail.com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84359-E736-4E88-BCDA-B00A4987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055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2026-09</a:t>
            </a:r>
          </a:p>
        </p:txBody>
      </p:sp>
    </p:spTree>
    <p:extLst>
      <p:ext uri="{BB962C8B-B14F-4D97-AF65-F5344CB8AC3E}">
        <p14:creationId xmlns:p14="http://schemas.microsoft.com/office/powerpoint/2010/main" val="1601480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4F9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78140-1394-4DD7-ADB4-3825854A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6EF56-EF8E-4EF7-9E10-E76F1FB4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C76F8-38B7-463A-81DD-F23BE582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57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관세청 전자상거래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연동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B3F41-1027-4A6F-946B-02B587F2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670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분산된 주문·인증·출고·통관 데이터를 국내 DB 중심으로 연결하고,</a:t>
            </a:r>
          </a:p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오류 수정과 재제출 기준을 운영에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798E9-A6C9-4398-856E-C8E70E82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57300"/>
            <a:ext cx="3619500" cy="3857625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BC6D0-A0E5-4FDA-9307-DBC73601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08A4E-F8C8-44BA-ACEC-463F7B97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8DCB0-D5D9-4BF9-9AC7-A88B3520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764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연동 구조와 요구사항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1EC35-1798-4801-9E92-7B6D672C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33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E2B42-B6C2-4F6A-B071-3574C7DA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926DF-1B87-4B39-8507-7EB3768A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FA5BD-0A85-4449-825F-AB56066F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909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BE6EA-94A3-46A7-AE62-4262D5EA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70197-C6E7-4042-8E10-7E7533DD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AED26-8F86-4640-98CD-DA0ED0E1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579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 중심 연동 구조, 두 인증 경로, 오류 수정·재제출 정책, 협력사 API 조율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C153D-3807-4FFC-AFB8-E4E5416C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51004-78C3-43BF-9047-5F979FE3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579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연동 구조도 · 필드 매핑표 · 오류 재제출 기준 · 운영 테스트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21336-2D5E-4EA6-AA54-6513C431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79FB5-138E-4812-9021-0AAEB922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01 · 관세청 통관 연동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A81DC-D892-4E39-90C7-E35A9E1E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7987648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504E1-01BF-463A-B7E3-9DF0166B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분산된 주문 데이터와 책임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4101B-4C68-4E81-B2C5-A4B104E6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80848-077F-49A9-90CC-423CA4FE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9F0FC-73C0-4AC5-9428-28CFCEF5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자사몰과 외부 채널의 주문 정보를 ERP/WMS와 통관 시스템에 연결해야 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B5D34-00CF-4142-AC05-E51396D3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상황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2018A-CA82-4DDA-9FEA-E666A7C0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1건이 여러 포장과 HBL로 나뉘고,</a:t>
            </a:r>
          </a:p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주문·인증·상품·출고 정보는 서로 다른 시스템에 있었습니다.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11AA0-998A-4E51-9529-306F12C5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C23DC-E525-4D12-92E3-695F8086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2E2C7-0BEE-44AA-A129-4C8ED965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주문·수하인·개인통관 정보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91AC2-956B-490E-96FA-93427E94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8CDA8-42BD-4235-B792-E1A826D9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72CF1-E03B-429F-BE27-E4441D9F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포장·HBL·상품·출고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1217A-AB15-4D1D-8454-8CCA8F76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EDE05-3FFF-4F9C-A5BB-8ECDB120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AEC15-E7BA-40AE-A7B9-1CC0E963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거래정보 제출·검증·접수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96282-4072-4742-8698-77AE3917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71625"/>
            <a:ext cx="59245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9DB23-848B-4DD0-A362-8FF1E6E1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28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같은 주문을 서로 다른 단위로 다루고 있었습니다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21154-319D-47EC-974D-FC84BF98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3DEFC-7904-448E-9B55-F4D9B837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4D19F-9268-458B-A1DB-CB544DC7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4265D-A13D-40B6-B1EB-13196112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431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A / HBL 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CF40C-81C2-4CF5-A78D-4852B44A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 A · HWB 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717441-3184-450A-83DB-247CDBFC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CD32D-622E-41A9-959A-34636DD8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23551E-C2A9-4C20-A9C6-6DB4E47D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B / HBL 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96C83E-A164-4A84-A5D7-BDCB0579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 B · HWB 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C71E9-3558-410E-B8D0-F300429A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14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쟁점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5AB629-D679-4803-95B5-EF4EF1B6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기준으로 묶으면 분할 포장과 재제출 범위가 흐려졌습니다.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63F99A-FA29-4FCB-A611-7110081E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58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55EB1F-FFD2-43C3-9025-B6D55D6F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53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결정해야 할 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11ACB1-87F2-447F-9536-AC792088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14975"/>
            <a:ext cx="861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제출·오류 수정·재전송을 어떤 단위로 묶을지 하나의 기준으로 고정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43BA4-82FE-40B9-857F-315E73F5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1749DC-D797-4C24-9858-1585B65C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문제 정의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40B806-97E3-425D-9D99-A0797EE5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2243496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24C3A-F9E6-473D-9DF4-2A0EB7DF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분할 출고 단위를 포장 1건으로 통일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C08FB-CE3C-4510-8ACB-A441AC57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A2E64-EDF3-478D-A0B3-F54EA746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8F3F1-F1DB-44F1-A507-1AA066B0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주문번호·포장·신고·운송 식별 단위가 어긋나는 문제를 하나의 운영 규칙으로 정리했습니다.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793AE-495C-47B7-BB02-363B593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585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E6015-0A57-4403-A503-0D70F885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9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1F3BD-4D33-4B8B-8805-D6292B62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HBL = USD 150 이하 포장 1건 = TRA001 1건 = HWB 1건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C077F-A4DD-4A72-995B-6F895595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CF653-0101-439B-9F89-1A1C0788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추적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379ED-7347-4FC6-8767-EFEA33FF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원주문번호는 고객 주문 추적에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252DB-1912-41E7-A301-CEE2000D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76682-B9ED-42C8-BFAE-5291FCF8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031DE-AB7B-48BB-B449-7B1113AD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포장 단위로 거래정보와 HWB를 제출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A9406-AFFB-4260-8203-FA3F1B1A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1B5DA-9AA9-47D3-8263-FE5D57E5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병합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85CE6-CA44-40C3-A223-2D7870B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hwbNo와 orderNo를 복합키로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F339C-08CD-4884-9212-728F4B92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6680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e5b7c3bc644a2"/>
          <a:stretch xmlns:a="http://schemas.openxmlformats.org/drawingml/2006/main"/>
        </p:blipFill>
        <p:spPr>
          <a:xfrm xmlns:a="http://schemas.openxmlformats.org/drawingml/2006/main">
            <a:off x="781050" y="3851275"/>
            <a:ext cx="10591800" cy="1765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B9A81-5EC9-4E16-8DE4-7725AF7D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43600"/>
            <a:ext cx="441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실제 업무 문서 발췌 · 업체명은 역할명으로 치환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E49048-9A5B-4C0F-B6E1-E633A9B8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481C6-33C9-447C-825E-EB2AF503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분할 출고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75561-3C4B-4DAA-A9D3-AA0E8AB0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1033104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B83975-D410-445A-84EE-758ADBC3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국내 DB를 기준점으로 데이터와 실행 책임을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1EB65-2962-4456-B1AA-6817BE03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7B925-6985-4CE7-ACB2-5FCE2D0E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3DE34-ACA4-4322-A9F4-01ACF533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판매 채널, ERP/WMS, 통관 시스템이 맡을 데이터와 실행 책임을 구분했습니다.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94E4E-265D-46C1-8701-5482A3EC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22422-31C5-4EEA-B655-0FB0A08F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6DD31-9EA0-41C6-AAB4-44B02852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주문·수하인·인증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ADD62-FCFF-4560-8FB2-37FB117B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817B7-955D-40CC-BB95-3D56F314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69AF1-81C4-4028-865A-5F2ECB8D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0FFCA-224D-487F-9B88-75FC19D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정규화·분기·상태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6811F-25F9-4882-8AC2-9FBEFD81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E1102-CBCA-43C7-8B1B-0FD231A4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EA034-8763-4933-875B-08D3BDA5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8A831-D24C-4C97-910E-2EE2DA9C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C6330-2EF5-402E-B29D-FD463F14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43451-5910-4514-B4E7-FA009B35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D9C92-F90A-43D0-874A-8C14C056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BAB83-06F1-4B84-9B01-D6BB470C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병합·검증·접수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8C12C-3280-42D8-B15A-225766AB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오류 복구 기준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7F21F2-78FC-495C-86ED-B7B78F39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EE3EE-5C76-4673-AEA7-B0375733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반려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8435A1-56BE-43EA-9040-075C4AC3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C2EF1-1EC2-4B98-8BC1-52741CD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FF578-0078-44D2-8278-50A14636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원천 시스템 수정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30708E-35E4-4711-BAFC-FF60624B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CECAF0-EB4F-48D0-B21A-324079D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BF554-1322-405C-8040-BA75DE2E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동일 키 재전송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0420F0-756D-4BF1-91B6-51FA2FCE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AFEC2F-9B51-48E2-BBC8-D2FC5D4C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768211-4448-490A-9773-01037D30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접수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F7A2E1-09D4-4363-B6D5-7327B48E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06680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b6f7208604704"/>
          <a:stretch xmlns:a="http://schemas.openxmlformats.org/drawingml/2006/main"/>
        </p:blipFill>
        <p:spPr>
          <a:xfrm xmlns:a="http://schemas.openxmlformats.org/drawingml/2006/main">
            <a:off x="781050" y="4328491"/>
            <a:ext cx="10591800" cy="1496667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3A915B-6785-4F29-A345-7C2C6E97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00750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실제 업무 문서 발췌 · 재전송과 최종검증 완료 기준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FDBF6A-0497-4A63-AA1E-4FA9854A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59154C-F510-4AF4-B2E1-93A2454A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역할과 복구 경계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3D6637-1642-4D43-B63A-0BAF743C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4368471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ECAC2E-15F3-4103-AB34-4F3C531C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접수·의도 오류·수정 재제출을 함께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9CF86-EB5E-46AB-A809-35E6F16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FD111-3225-494D-A162-C5D6D0C0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FD918-DB60-4E10-B9F2-DC14F78A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정상 경로만 확인하지 않고 오류 반환과 복구 경로까지 운영 환경에서 확인했습니다.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00CFC-9579-464C-BB10-3B04F310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6AE26-90D8-4B8A-BCC5-8265B63B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19BDC-1405-4967-81E6-B39AD773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3EE76-6B22-4CB4-93EB-7CCE1343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764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C9CF8-FC41-4A68-8BD3-A0479DDD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764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갖춘 거래정보 제출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9BFEA-49AE-4F00-B543-DCEE2327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145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B8E65-E557-49EF-BED6-6AF928D2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764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 결과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57FC4-671A-4A9A-8E78-F33030F5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E51FA-B2AD-4179-8A73-13D75FE7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6499C-34BC-4CA0-B05D-2339F930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FC580-9DD3-4360-9D9D-69D89294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81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의도 오류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AF83E-F122-4741-BFF8-692D12F2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813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의도적으로 누락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A75A8-FEE9-443D-8DC4-DEBC61ED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194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54F4F-CCF8-419D-8B9D-E2367202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813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예상한 오류 응답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6AA55-0153-4244-B2E8-44A678BA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FE2CF-A562-43A3-87C8-C5410F0E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306B9-DA14-40F8-919F-EA9DDD58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1067B-B12A-4270-A859-2ED2F449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 재제출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B6A1C-FCAD-47A3-9569-D1BE37A2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862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원천값 수정 후 다시 제출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3700BB-250D-43C6-8CD6-8067172A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62585C-0D00-4EFD-96F2-C28C1112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862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접수로 전환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E251A-E97F-4FE0-84D2-D52DE6AE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7239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22B22E-1338-4984-8B9A-06360EE4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운영 환경 테스트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0F2776-DFC5-4E88-B7F3-1F0CA2D5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30건 검증 · 목적 30/30 통과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C01D50-CB7F-4857-AB90-A2EDE50D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4099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49B142-8C11-40D6-A60A-E9B4693E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86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F120C4-183B-474A-B98C-51A1617C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81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세 유형별 개별 건수는 미확인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8A9BC4-C0C7-4D1F-8572-A3E18DD2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AF94DB-61AC-4E6E-8F4D-F9B6C8A2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운영 QA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71542B-F2D8-4C52-89E9-25A5A376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2125187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89FC13-6DC5-4154-A0CE-F79AF5C0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환경 30건 검증 후 상용 운영을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A5A16-8F65-4420-8CF8-143A9698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7EC61-CC89-4E85-9854-6932B3B9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E1D31-A73B-4EFC-A847-6E3E616E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2026-08-28부터 2026-09-15까지의 운영 집계와 측정 경계를 함께 정리했습니다.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78FAD-715C-4272-A651-4A51CC13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99E4F-1153-4560-8076-EAB86F53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30건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2897C-0BC9-463C-98B4-029F534D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 검증 · 목적 30/30 통과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C6897-13BE-4970-A86F-85806B33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A1C02-F563-4EC9-884E-F8EC2D86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약 300건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E32AC-9771-486C-BF87-A28BDD11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일평균 발생 주문 규모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7E742-09DF-4435-86B9-AA2A1757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998B8-62ED-4653-9DE4-D8150730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230 / 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E2963-A5C7-4A7F-A4AE-96791CDB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 / 기타 주문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69163-66AB-421A-85CC-30A7AB50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2800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D76D7-D97D-49B0-8F6B-DE86CB00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192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전체 완료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02905-DC3C-4B03-8151-801D25FD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집계 대상 주문 통관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7BE10-5D49-46EF-95E3-1B83AE36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085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6F1C3-D682-4C61-9FD2-D6099E1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8BB5A-4E41-4438-8D19-712A0C21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신규 연동과 기존 방식을 병행한 상태에서도 집계 대상 주문의 통관 완료를 확인했습니다.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E9184-0251-447A-89B8-8E61B656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81425"/>
            <a:ext cx="890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환경에서 30건을 검증했고, 설정한 테스트 목적은 30/30 통과했습니다. 자동 처리율·신규 경로 비중·처리 시간은 별도 계측하지 않았습니다.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1C7F2-113C-43B2-9032-8406677E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85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43A09-83DD-46A4-A62F-E4BB70A0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70138-3797-4BBE-A8AD-C41B285A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16622-4007-4F59-A7D4-0E66BC94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8CDE0-852E-4A41-A38B-E6497F5B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A402A5-CE14-48FE-B6F4-19EA7EAD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A5C84F-7A73-4FB0-9379-9C5F7FF4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9434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확인한 결과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0A84F0-5F0A-4F16-8777-FDCD5C25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76800"/>
            <a:ext cx="4010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일평균 약 300건 · 자사몰 230건 · 기타 70건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A38CDD-F016-491D-BBC1-10039CA2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53050"/>
            <a:ext cx="4010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2026-08-28~2026-09-15 집계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2635FC-DA40-4070-906B-6108DB34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6E32D6-195D-47DC-B7E8-FE868AD9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결과와 한계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A2F9F-53D3-4247-88BA-F71008AD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1695081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6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BA815-70D2-4C46-9A2E-72FC0309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A9A68-122E-446F-9509-CA258917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8FB40-AF6B-4166-8FF6-5573C20B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90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산후조리원 전용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B2B 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78361-D67B-4176-80DE-4E54E190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600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4개 계정 유형과 혼합 주문 차단 기준을 설계하고,</a:t>
            </a:r>
          </a:p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운영 서버에서 직접 확인한 항목만 완료로 처리했습니다.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ADA82-A2CC-49E5-B1EC-05E18DBF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5857875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60BC3-A212-4A77-AC40-566C7F33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5C228-661A-4B05-B564-1EB6546F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453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고객사·공급사의 주문, 납기, 출고, 정산 조율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94985-C9D7-4ACC-8BAD-82343690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054FE-869B-4C7E-9537-6A2C5C48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2026-06 기획 · 2026-07-16 핵심 흐름 운영 · 2026-08-31 최종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647F6-6B3C-4533-9DFB-05DBB38E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331F3-2CB4-4DF1-91A9-44DDBDCA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정책표 · 결제 규칙 · QA 결과 · 운영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96E5C-5349-4265-A71B-BB134A96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38300"/>
            <a:ext cx="46482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dd61dc05f4e29"/>
          <a:stretch xmlns:a="http://schemas.openxmlformats.org/drawingml/2006/main"/>
        </p:blipFill>
        <p:spPr>
          <a:xfrm xmlns:a="http://schemas.openxmlformats.org/drawingml/2006/main">
            <a:off x="6896100" y="1680246"/>
            <a:ext cx="4572000" cy="121150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3B91C-3530-419E-802A-A4410C3C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실운영 홈 화면 발췌 · 2026-08-28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2C64F-DF9B-48C0-8957-CD6A31E3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57575"/>
            <a:ext cx="457200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BC5F9-5204-4ADC-8D17-416DBE3A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433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화면에 반영한 운영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01A7E-B8CB-408C-9B0D-C9C2F906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거래명세서 다운로드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당일 출고 마감 안내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배송 상태 확인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정확한 입금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8BFBE-4ECA-4067-9B1A-448D032B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E7720-40ED-4EAC-B3D5-D569A1A1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02 · 산후조리원 B2B 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92F29-1B38-4EC5-859D-62B1A207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394365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CA2C6E-8C3B-4E6E-8964-2C5A447D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시작 전 반복된 문제와 설계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FD47F-94D2-44FF-A365-9613AAD9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AF331-50B5-4970-9C4F-BE973239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242F2-4641-46B3-9169-C0A5028B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오출고·문의·입금 대조 문제를 실제 운영 화면과 정책에 연결했습니다.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993FF-6252-481F-AE1A-B5E19CE8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93D7-879D-49DF-A769-72E67B9F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 2~3건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8A98B-7D07-4F06-A456-1116E5E5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 오출고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15D33-B596-4F1C-AE64-E46B8A0E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96ADD-F920-4184-A5A5-A3E80D89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B5AB6-FD7E-4344-97E3-057D2CCD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 CS 문의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FB8B7-47AC-41CF-8A34-4DE37122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A6F3F-912E-4DCF-9D7D-C81C0DD6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15~30분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3F9B0-E124-4B61-A83E-B34708C7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매일 입금 대조 시간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F0526-7E75-421D-9569-9C0E5865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581150"/>
            <a:ext cx="8105775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25e0122094ff7"/>
          <a:stretch xmlns:a="http://schemas.openxmlformats.org/drawingml/2006/main"/>
        </p:blipFill>
        <p:spPr>
          <a:xfrm xmlns:a="http://schemas.openxmlformats.org/drawingml/2006/main">
            <a:off x="3476625" y="1622195"/>
            <a:ext cx="8029575" cy="2127711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41099-17A5-40FD-ADF7-69D422F6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3857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홈 화면 발췌 · 가격 영역 제외 · 2026-08-28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61F38-8F8D-4313-A22D-91E35BF6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767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C4A03-D2CF-4A7C-9623-0EF3F029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767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거래명세서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B612F-A8EA-4CEE-AEF0-F7603120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48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후 직접 다운로드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A7EE8-DD29-458C-A10B-737FCB82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67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E03C3-2EFD-41CB-8E0D-AEE06193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출고 마감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FF03E-0499-47A7-9699-6DCA5E78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448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당일 10시 기준 안내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7BC8D-2AC9-4E10-B363-28470E4E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149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600A3D-9BEA-4B46-B162-7EAB6421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3149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배송 상태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9C68D-0107-48CE-BB05-07D7B58E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863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송장번호와 진행 상태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A15EF1-13C1-47DB-A1D1-CD4A47B6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149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6AC191-D0A1-454E-98FD-88220F53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149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입금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80EA8A-4CBC-4021-AD52-7B9E1BF7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2863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입금자명과 금액 대조 안내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2FEDD8-3CB1-4191-A7E0-1B47B7F8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입금 대조 시간의 개선 후 수치는 미측정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523E78-B7C7-4882-A371-22779F34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9D148D-BCC7-492B-8A84-CCE7C9C1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문제와 화면 반영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5C4F47-71CA-4703-948F-8BBE8D16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1083262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FD1F35-A2B6-4313-A203-7A7F4715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플랫폼에 계정·결제 정책을 추가하는 방식을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70B06-B9C7-4FE3-942F-E807E558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DA9BE-ADE4-46B8-814E-E94ED720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DE847-E410-44F7-AE39-558AD983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 러닝커브, 기존 인프라 일치, 유지보수 책임범위, 구축비용 순서로 판단했습니다.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AA011-AD0A-4E1C-AF97-24A05B83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95C67-A1A7-46BA-8988-E0C3DEF6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98092-301E-4C4F-B404-712A366E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① 운영팀 러닝커브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E67EC-F0D2-42E3-86F9-AFCC00BB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C476B-1C36-4BC1-80A4-3864EF41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② 기존 인프라 일치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554A2-0E6A-4150-AC8C-26D30C77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11865-0B02-4EB1-B2FD-13FF13D2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③ 유지보수 책임범위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5701C-7052-4D7E-BEFD-67FCC2B9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C1872-51D3-4ACA-A279-97B6F8BF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④ 구축비용 · 금액 비공개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0C45F-CC6F-486B-8725-149F0568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8F483-C224-4C74-A19C-DC10BF37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669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확인한 핵심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D5200-DB59-437B-8973-C77B544F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669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C7DFB-4475-4387-AD47-A6EFD6A7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E6CA1-B513-42D7-BD15-35D66219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96ED6-645D-4389-B9FE-B9174E76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맞춤형 웹서비스 직접 개발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88296-0DA7-484C-A73F-11BD1969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유지보수 책임이 내부로 확대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C212C-FFA7-44D7-9EDC-FC89D5B1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19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CC4DB-0D31-45A7-8A0E-8C41E1F3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다른 쇼핑몰 솔루션 전환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D1523-93E8-4ECA-9444-87C4853C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운영팀이 새 솔루션을 다시 학습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7BD65-EBFF-445C-A3F9-2EB2D046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28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6CEB5-2EF9-450B-BD4C-57DA2D79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858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F40270-3941-4726-8E1D-E08DEA31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기존 커머스 솔루션 + 정책 맞춤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F91DEA-468C-4B75-BEE0-26A8C5BE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576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기존 인프라와 운영 방식을 유지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40DAE-D3FD-4AC5-9383-57D49F67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38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채택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E71879-2B22-447E-923E-18D45F8C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범위에서 제외한 기능과 이유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305F86-F3A2-4A29-AB63-CFEEBBC7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7943E9-E770-40AC-8BE2-470D7436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2F7D46-8271-47AF-8BB1-15ECED00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5EACF1-00D6-49B4-A104-2A74C33A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PG 결제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549772-013F-45C8-B24D-F9D8786F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마진 대비 수수료 부담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166BEC-B9B5-42B5-A572-4968B97D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A21FDE-5586-403D-8EEB-0D49E4F4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517947-DFE0-4682-8439-BE0BE805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3F688F-968C-4FD5-AE47-BE96CF3A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견적서 신규 개발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B55C01-62DD-488B-9902-46A4F011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기본 거래명세서로 대체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D17213-F3AA-4C8A-A142-6D5DA779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1D6F6F-04A5-4864-9468-70990E74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64CD2C-8D34-42DE-BD0B-ED60AD3A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17BC79-82ED-4FBF-AF47-3815515C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포인트 완전 자동화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281EE1-2C67-4F42-890F-F97023AA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계약 상태 변경 시 지급 번복 위험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E6CEC2-75A5-4872-B454-AECFCFDE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439469-7A2B-43FB-A2B7-F2FE3A9D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대안과 범위 결정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4E418F-05FB-42F6-B944-0177C2C5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17603741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61A610-650C-40A4-A4E5-FF42862D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 완료 통보 뒤에도 마이페이지 진입이 되지 않았습니다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3F1A7-328D-4B17-A3B8-1E2DE4B1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E71B2-01A0-473B-9945-D6C465DA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8CD37-B17C-41A0-9D23-4E289480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완료의 기준을 개발사 회신에서 운영 서버 직접 확인으로 바꾼 사례입니다.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95DFF-28AB-41FE-AA95-58298039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0E08-7F21-44DC-B5B3-D6D83DA2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B1D9B-5DCA-467D-B8F8-33CAE6C3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9E13A-5E28-4DF5-AFBD-5A014F4A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288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현상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E23A4-E2F5-4811-AD91-E8972980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907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마이페이지 ‘정보 수정’ 진입 실패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AD32E-066F-4B6B-9613-09058589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8835A-37F8-4B51-BE12-E5A44BA7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6797F-750A-4C37-99BA-EDAFDC1C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06280-8177-4EF3-B352-C0DAF783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F0C04-F8F2-4443-B87D-874F5F2F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 미반영과 기존 차단 로직 잔존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78773-31DB-438B-85B9-D6E7D50A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058F5-5F6E-451F-AD40-0636EC04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70C33-BA92-4F2B-8D75-68591595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C8D54-18CE-4F5B-BEA8-44C406F8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분리 점검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823AC-D54C-4E6C-BC10-BBCAA944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433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배포 여부와 차단 조건을 각각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30BC7-6CE2-4B7C-98D9-315A5636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D0F4E-3C27-4911-A863-7C93DA4C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03D05-A982-4475-910B-1B0DC2B6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55A2EC-5363-4286-86DA-D528919B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81D16-65E8-45B8-A6F6-9CF7E172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196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서버에서 기대 결과를 직접 확인한 경우만 완료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08F53-2EA6-49C5-B2AA-D9E46784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797C2-1B51-4B1F-86A3-8F48AB75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192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사례가 발생한 실제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13B27-4786-4FED-9BAE-72C2EAEF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0275"/>
            <a:ext cx="2476500" cy="29337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6c65d37a043db"/>
          <a:stretch xmlns:a="http://schemas.openxmlformats.org/drawingml/2006/main"/>
        </p:blipFill>
        <p:spPr>
          <a:xfrm xmlns:a="http://schemas.openxmlformats.org/drawingml/2006/main">
            <a:off x="7354917" y="2238375"/>
            <a:ext cx="1482665" cy="28575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DEA9A6-F60C-4E06-96F1-1C933055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1581150" cy="285750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5D9D2A-B158-4FBE-B356-386CEDE3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항목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65BB46-EEA9-46EF-97D6-6CEA1C08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876550"/>
            <a:ext cx="12192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정보 수정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메뉴 노출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진입 가능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배포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차단 조건 잔존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8AD40B-9E36-477A-8D7E-006973A4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86375"/>
            <a:ext cx="3581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2026-08-28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4E1D09-EFC5-4914-8B35-C3C67B13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645F7E-CA36-4B9F-A08E-874C1342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운영 서버 QA 사례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A6FE05-1EF1-405F-803C-C5A2A8D9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1263611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D2983-F288-4187-A68C-CB67C303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4개 계정 유형의 상품·결제 정책을 한 표로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DE53F-8D58-483D-8B1F-0CE29745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8511F-0946-4BBD-BE98-532A7ECF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E7EDC-1845-401E-B87A-9199C7D3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등급과 카테고리 조합으로 결제 방식을 정하고, 결제 방식이 다른 혼합 주문을 차단했습니다.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1B9B4-4465-4D3F-BC7A-6F7D1F7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753350" cy="3105150"/>
          </a:xfrm>
          <a:prstGeom xmlns:a="http://schemas.openxmlformats.org/drawingml/2006/main" prst="roundRect">
            <a:avLst>
              <a:gd name="adj" fmla="val 18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ef31806be4139"/>
          <a:stretch xmlns:a="http://schemas.openxmlformats.org/drawingml/2006/main"/>
        </p:blipFill>
        <p:spPr>
          <a:xfrm xmlns:a="http://schemas.openxmlformats.org/drawingml/2006/main">
            <a:off x="647700" y="1807425"/>
            <a:ext cx="7677150" cy="25763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5F694-E85F-4DB0-8455-1352C9E8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95825"/>
            <a:ext cx="554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업무 문서 발췌 · 원문 ‘선불입금/후불입금’은 현행 ‘분유(선불/후불)’로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3C6C8-1CB1-4CC7-8AD6-0151EBFE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876550" cy="30289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4A572-CFD6-445C-9047-95CD799C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38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결정한 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AE66A-9F46-4E34-8DE3-357E1B5D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물품계약(후불)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분유(후불)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86F80-804A-4963-9B11-1546D931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DC218-CB04-458A-825F-F5623BFD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81425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관리자가 등급 × 카테고리 표에서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결제 방식을 설정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B2218-8B15-4635-889F-8F709D85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10858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5AF2D-DBDC-4DAF-BC12-B4D2B478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24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혼합 주문 차단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08A01-7F45-4139-B5A4-A9375FDE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48275"/>
            <a:ext cx="842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선불 상품과 후불 상품을 한 주문에 담는 경우 양방향으로 차단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D2C892-6B59-4038-A3B9-0630E735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1F256-6C87-4309-8FF7-32A82CC1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계정·결제 정책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D4CA7-300A-465E-AEE6-BB546520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20778313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DA489-8D18-4A75-A10B-CCAD7A8D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핵심 흐름 가동 후 오출고와 CS 문의 변화를 관찰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8E3F6-B995-4054-8A76-5FF71553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20C5B-920E-4E3A-BEF3-3111D715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97414-84B1-49A0-8949-E60A5C1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초기 결과와 측정하지 못한 항목을 함께 표기했습니다.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CDB4D-8663-4A31-8714-1A456947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4D247-0DBF-4EA2-AC32-42E6A562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1FF65-D480-4518-A90B-60E1160E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월평균 2~3건  →  0건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5D290-442C-4BC3-917C-0AC94405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평균과 2026-07-16 이후 약 1개월 전체 측정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A19CE-CFC2-4D85-81C8-FCE1E471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C1CA9-C3F9-4CD2-B64D-B230ADDD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CS 문의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4346F-C03A-42D6-9380-5070B1C5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  →  19건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07FC4-127D-4695-A635-820A4737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환산치와 2026-07~2026-08 배포 구간 2주 집계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6639F-5083-4FB1-9780-37FB5357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90675"/>
            <a:ext cx="6838950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C4C85-9515-45C5-AAEF-6B82CEF5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28800"/>
            <a:ext cx="634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상태를 확인한 실제 화면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AA191-2CA2-4DA4-B39D-4D4617E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64198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1d62939f24e9a"/>
          <a:stretch xmlns:a="http://schemas.openxmlformats.org/drawingml/2006/main"/>
        </p:blipFill>
        <p:spPr>
          <a:xfrm xmlns:a="http://schemas.openxmlformats.org/drawingml/2006/main">
            <a:off x="4914900" y="2269448"/>
            <a:ext cx="6343650" cy="1299928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4B801-A9D9-4FB2-922B-6336D267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6712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주문 현황은 운영 화면 구조 확인용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AE13E-31BE-447A-96AA-CBFEF079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86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확인한 변화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5B4E4-74F2-4D27-AA2B-155AC086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상태를 직접 확인할 수 있는 흐름과 운영 안내가 가동되었습니다.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C41CE-3186-4E34-A978-016E2A54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52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관찰 범위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7E894-BB30-4213-BB4F-97EC19E8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05325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초기 운영 약 1개월. 입금 대조 시간과 장기 지속 효과는 미측정입니다.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7710A-4E1F-431B-A1AB-71B83030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58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A6096-C476-493D-921C-6E9215EA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483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결과 해석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75345-658F-4608-88A6-9ECB0A54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81650"/>
            <a:ext cx="899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초기 운영 결과는 오출고와 CS 문의로 확인했습니다. 입금 대조 시간과 장기 지속 효과는 후속 측정 항목입니다.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0076F-EEAA-43A0-A920-0617F7AD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7FD2D4-067C-4CFB-A677-E7BCCE6E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결과와 측정 경계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3C33A0-AF66-43C0-B076-CC2FFB4E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056971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박종혁</dc:creator>
  <lastModifiedBy>박종혁</lastModifiedBy>
  <dc:title>박종혁 PM 포트폴리오 v4.1</dc:title>
  <dcterms:created xsi:type="dcterms:W3CDTF">2026-09-16T23:36:21.8660000Z</dcterms:created>
  <dcterms:modified xsi:type="dcterms:W3CDTF">2026-09-16T23:36:21.8660000Z</dcterms:modified>
</coreProperties>
</file>