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7dcb1178824dcb" /><Relationship Type="http://schemas.openxmlformats.org/officeDocument/2006/relationships/extended-properties" Target="/docProps/app.xml" Id="R0a2c7f1972f24278" /><Relationship Type="http://schemas.openxmlformats.org/officeDocument/2006/relationships/officeDocument" Target="/ppt/presentation.xml" Id="R5944ebd2fca548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1589d4d000404b"/>
  </p:sldMasterIdLst>
  <p:notesMasterIdLst>
    <p:notesMasterId xmlns:r="http://schemas.openxmlformats.org/officeDocument/2006/relationships" r:id="Rda0f13b392724989"/>
  </p:notesMasterIdLst>
  <p:sldIdLst>
    <p:sldId xmlns:r="http://schemas.openxmlformats.org/officeDocument/2006/relationships" id="256" r:id="Rb51175ebdc7a469d"/>
    <p:sldId xmlns:r="http://schemas.openxmlformats.org/officeDocument/2006/relationships" id="257" r:id="Re5b490de2841494b"/>
    <p:sldId xmlns:r="http://schemas.openxmlformats.org/officeDocument/2006/relationships" id="258" r:id="R529e52a6e57644c9"/>
    <p:sldId xmlns:r="http://schemas.openxmlformats.org/officeDocument/2006/relationships" id="259" r:id="Re1242bfdb89e4816"/>
    <p:sldId xmlns:r="http://schemas.openxmlformats.org/officeDocument/2006/relationships" id="260" r:id="R2cd70ffcdeab4c8d"/>
    <p:sldId xmlns:r="http://schemas.openxmlformats.org/officeDocument/2006/relationships" id="261" r:id="R4bf3215d4da0431b"/>
    <p:sldId xmlns:r="http://schemas.openxmlformats.org/officeDocument/2006/relationships" id="262" r:id="Rccafe74bc3084fda"/>
    <p:sldId xmlns:r="http://schemas.openxmlformats.org/officeDocument/2006/relationships" id="263" r:id="Rc6ab0b7ec5ee4267"/>
    <p:sldId xmlns:r="http://schemas.openxmlformats.org/officeDocument/2006/relationships" id="264" r:id="R70668b3603724922"/>
    <p:sldId xmlns:r="http://schemas.openxmlformats.org/officeDocument/2006/relationships" id="265" r:id="Re8074d2c109541ce"/>
    <p:sldId xmlns:r="http://schemas.openxmlformats.org/officeDocument/2006/relationships" id="266" r:id="R5a68dc45c7794489"/>
    <p:sldId xmlns:r="http://schemas.openxmlformats.org/officeDocument/2006/relationships" id="267" r:id="Rf8cac45cd01a4a0d"/>
    <p:sldId xmlns:r="http://schemas.openxmlformats.org/officeDocument/2006/relationships" id="268" r:id="Rea9378d703db46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99ad50a86475b" /><Relationship Type="http://schemas.openxmlformats.org/officeDocument/2006/relationships/slideMaster" Target="/ppt/slideMasters/slideMaster1.xml" Id="Ree1589d4d000404b" /><Relationship Type="http://schemas.openxmlformats.org/officeDocument/2006/relationships/notesMaster" Target="/ppt/notesMasters/notesMaster1.xml" Id="Rda0f13b392724989" /><Relationship Type="http://schemas.openxmlformats.org/officeDocument/2006/relationships/presProps" Target="/ppt/presProps.xml" Id="Rcaf37d42ece6456e" /><Relationship Type="http://schemas.openxmlformats.org/officeDocument/2006/relationships/tableStyles" Target="/ppt/tableStyles.xml" Id="Rfa6f8105ee294340" /><Relationship Type="http://schemas.openxmlformats.org/officeDocument/2006/relationships/slide" Target="/ppt/slides/slide1.xml" Id="Rb51175ebdc7a469d" /><Relationship Type="http://schemas.openxmlformats.org/officeDocument/2006/relationships/slide" Target="/ppt/slides/slide2.xml" Id="Re5b490de2841494b" /><Relationship Type="http://schemas.openxmlformats.org/officeDocument/2006/relationships/slide" Target="/ppt/slides/slide3.xml" Id="R529e52a6e57644c9" /><Relationship Type="http://schemas.openxmlformats.org/officeDocument/2006/relationships/slide" Target="/ppt/slides/slide4.xml" Id="Re1242bfdb89e4816" /><Relationship Type="http://schemas.openxmlformats.org/officeDocument/2006/relationships/slide" Target="/ppt/slides/slide5.xml" Id="R2cd70ffcdeab4c8d" /><Relationship Type="http://schemas.openxmlformats.org/officeDocument/2006/relationships/slide" Target="/ppt/slides/slide6.xml" Id="R4bf3215d4da0431b" /><Relationship Type="http://schemas.openxmlformats.org/officeDocument/2006/relationships/slide" Target="/ppt/slides/slide7.xml" Id="Rccafe74bc3084fda" /><Relationship Type="http://schemas.openxmlformats.org/officeDocument/2006/relationships/slide" Target="/ppt/slides/slide8.xml" Id="Rc6ab0b7ec5ee4267" /><Relationship Type="http://schemas.openxmlformats.org/officeDocument/2006/relationships/slide" Target="/ppt/slides/slide9.xml" Id="R70668b3603724922" /><Relationship Type="http://schemas.openxmlformats.org/officeDocument/2006/relationships/slide" Target="/ppt/slides/slide10.xml" Id="Re8074d2c109541ce" /><Relationship Type="http://schemas.openxmlformats.org/officeDocument/2006/relationships/slide" Target="/ppt/slides/slide11.xml" Id="R5a68dc45c7794489" /><Relationship Type="http://schemas.openxmlformats.org/officeDocument/2006/relationships/slide" Target="/ppt/slides/slide12.xml" Id="Rf8cac45cd01a4a0d" /><Relationship Type="http://schemas.openxmlformats.org/officeDocument/2006/relationships/slide" Target="/ppt/slides/slide13.xml" Id="Rea9378d703db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a6a59c37bc48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db9e340c6d4485" /><Relationship Type="http://schemas.openxmlformats.org/officeDocument/2006/relationships/notesMaster" Target="/ppt/notesMasters/notesMaster1.xml" Id="Rf82450bf499449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5906174c154588" /><Relationship Type="http://schemas.openxmlformats.org/officeDocument/2006/relationships/notesMaster" Target="/ppt/notesMasters/notesMaster1.xml" Id="R0ae3b1429b274f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c0c1e903374d86" /><Relationship Type="http://schemas.openxmlformats.org/officeDocument/2006/relationships/notesMaster" Target="/ppt/notesMasters/notesMaster1.xml" Id="R203e77a0d8cd43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44cf1b076942f1" /><Relationship Type="http://schemas.openxmlformats.org/officeDocument/2006/relationships/notesMaster" Target="/ppt/notesMasters/notesMaster1.xml" Id="R5b453231fc2f4c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4ae1c273654b84" /><Relationship Type="http://schemas.openxmlformats.org/officeDocument/2006/relationships/notesMaster" Target="/ppt/notesMasters/notesMaster1.xml" Id="Rbcae7e15236f43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f7bcf4e6d24fe0" /><Relationship Type="http://schemas.openxmlformats.org/officeDocument/2006/relationships/notesMaster" Target="/ppt/notesMasters/notesMaster1.xml" Id="R1160f1ab4a9d4c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43ce618e1f47b5" /><Relationship Type="http://schemas.openxmlformats.org/officeDocument/2006/relationships/notesMaster" Target="/ppt/notesMasters/notesMaster1.xml" Id="R99df27b6ed544a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02f00a80104a7a" /><Relationship Type="http://schemas.openxmlformats.org/officeDocument/2006/relationships/notesMaster" Target="/ppt/notesMasters/notesMaster1.xml" Id="R2ccdd7dc8e7d4d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3d1fd7896d452d" /><Relationship Type="http://schemas.openxmlformats.org/officeDocument/2006/relationships/notesMaster" Target="/ppt/notesMasters/notesMaster1.xml" Id="Rcf025ef30a194a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0b761aa90445ce" /><Relationship Type="http://schemas.openxmlformats.org/officeDocument/2006/relationships/notesMaster" Target="/ppt/notesMasters/notesMaster1.xml" Id="Rd86cdadf91654d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1d8793561c4682" /><Relationship Type="http://schemas.openxmlformats.org/officeDocument/2006/relationships/notesMaster" Target="/ppt/notesMasters/notesMaster1.xml" Id="R526edb0d0e934a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0434504ef14584" /><Relationship Type="http://schemas.openxmlformats.org/officeDocument/2006/relationships/notesMaster" Target="/ppt/notesMasters/notesMaster1.xml" Id="R5501303c032149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6f6f91935644bc" /><Relationship Type="http://schemas.openxmlformats.org/officeDocument/2006/relationships/notesMaster" Target="/ppt/notesMasters/notesMaster1.xml" Id="Raed07c3244ae47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f92d43b1a48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779f14ab14261" /><Relationship Type="http://schemas.openxmlformats.org/officeDocument/2006/relationships/slideLayout" Target="/ppt/slideLayouts/slideLayout1.xml" Id="Rdf91c631399c4a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91c631399c4a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9ecc247514b4d" /><Relationship Type="http://schemas.openxmlformats.org/officeDocument/2006/relationships/image" Target="/ppt/media/image.png" Id="R5358b43a75f2479f" /><Relationship Type="http://schemas.openxmlformats.org/officeDocument/2006/relationships/notesSlide" Target="/ppt/notesSlides/notesSlide1.xml" Id="R435c4e2106f040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5fbf82d5643ca" /><Relationship Type="http://schemas.openxmlformats.org/officeDocument/2006/relationships/notesSlide" Target="/ppt/notesSlides/notesSlide2.xml" Id="R58a620bfa4994f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c51687a69475c" /><Relationship Type="http://schemas.openxmlformats.org/officeDocument/2006/relationships/notesSlide" Target="/ppt/notesSlides/notesSlide3.xml" Id="Rfd332f2f0f2845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79589ce304b99" /><Relationship Type="http://schemas.openxmlformats.org/officeDocument/2006/relationships/image" Target="/ppt/media/image2.png" Id="Rb9c71c8304bf4563" /><Relationship Type="http://schemas.openxmlformats.org/officeDocument/2006/relationships/notesSlide" Target="/ppt/notesSlides/notesSlide4.xml" Id="R58d261520f204b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1f5fc10e4612" /><Relationship Type="http://schemas.openxmlformats.org/officeDocument/2006/relationships/image" Target="/ppt/media/image3.png" Id="Rd0e5d77ced5149dc" /><Relationship Type="http://schemas.openxmlformats.org/officeDocument/2006/relationships/notesSlide" Target="/ppt/notesSlides/notesSlide5.xml" Id="R08664a09044e46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12df929404c6b" /><Relationship Type="http://schemas.openxmlformats.org/officeDocument/2006/relationships/notesSlide" Target="/ppt/notesSlides/notesSlide6.xml" Id="R12e03e433b994f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2b4618b5d4378" /><Relationship Type="http://schemas.openxmlformats.org/officeDocument/2006/relationships/notesSlide" Target="/ppt/notesSlides/notesSlide7.xml" Id="R4df6f1ca7c6248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9bd8502d74869" /><Relationship Type="http://schemas.openxmlformats.org/officeDocument/2006/relationships/image" Target="/ppt/media/image4.png" Id="R69a924ad18e04b5e" /><Relationship Type="http://schemas.openxmlformats.org/officeDocument/2006/relationships/notesSlide" Target="/ppt/notesSlides/notesSlide8.xml" Id="Rdeed447184bf4d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6ff54d4354d13" /><Relationship Type="http://schemas.openxmlformats.org/officeDocument/2006/relationships/image" Target="/ppt/media/image5.png" Id="Re6c89cd059c641b8" /><Relationship Type="http://schemas.openxmlformats.org/officeDocument/2006/relationships/notesSlide" Target="/ppt/notesSlides/notesSlide9.xml" Id="R99fb21547b5143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2fa51f7014413" /><Relationship Type="http://schemas.openxmlformats.org/officeDocument/2006/relationships/notesSlide" Target="/ppt/notesSlides/notesSlide10.xml" Id="Rae77dfc8ce2b44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10ff6e14049ff" /><Relationship Type="http://schemas.openxmlformats.org/officeDocument/2006/relationships/image" Target="/ppt/media/image6.png" Id="Ra7065c183c5749a0" /><Relationship Type="http://schemas.openxmlformats.org/officeDocument/2006/relationships/notesSlide" Target="/ppt/notesSlides/notesSlide11.xml" Id="R7966a3719a3d46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5b5dea12544ae" /><Relationship Type="http://schemas.openxmlformats.org/officeDocument/2006/relationships/image" Target="/ppt/media/image7.png" Id="Ra054bd84609e4c72" /><Relationship Type="http://schemas.openxmlformats.org/officeDocument/2006/relationships/notesSlide" Target="/ppt/notesSlides/notesSlide12.xml" Id="Rbda1d1c9346a45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a4cb10c134381" /><Relationship Type="http://schemas.openxmlformats.org/officeDocument/2006/relationships/image" Target="/ppt/media/image8.png" Id="R697f21503b1746f6" /><Relationship Type="http://schemas.openxmlformats.org/officeDocument/2006/relationships/notesSlide" Target="/ppt/notesSlides/notesSlide13.xml" Id="R2af8aad3a8434d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FB54F-D360-422E-A250-7D8A67FF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2A801-0268-4062-8B91-0321B2EE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CA301-9414-4FE0-BEA3-704BF4AD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정책으로 만들고</a:t>
            </a:r>
          </a:p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5E051-DB5F-4740-B514-91E753B4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통관 연동에서는 분할 출고 단위와 오류 재제출 기준을,</a:t>
            </a:r>
          </a:p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몰에서는 계정·결제 정책과 운영 완료 기준을 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18EA0-7D9D-44D7-BC7F-3B45C5E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F8E75-8800-490B-A433-8DB1FE3C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FF288-2DF9-40B8-A20A-B4ECC738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A3E7F-BF8B-4A77-BCB0-75BD29AA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3820C-883B-420E-BF23-493008FC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분할 출고 기준 · 오류 재제출 · 운영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3531A-5A4E-4050-9522-0EEDB1B3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D3F86-1791-4DB8-A843-ED274E1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9F11E-DE5C-45FF-BF22-5E0A170A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8AB9B-08C8-4CAF-98EF-90CF4F93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F56EE-4016-4C81-A10A-9DF1ADD6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계정·결제 정책 · 운영 서버 검증 ·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ACEBC-3154-467A-A3A2-997DD5AA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8b43a75f2479f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4BFDA-78FB-42B9-9E97-FD436BE7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38F60-E1AD-4B4C-89E9-C5AD2659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76608-AF29-41D9-B413-70E5AFB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6BEA6-7CBE-4763-91CC-2A7A59BE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CA244-E910-446E-B1C5-F5BBA22F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26477-9764-438E-A51D-EA28C48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05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1052768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BF44D-2D40-4C1E-BE6F-A44AA98E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B40D-8755-442E-AE8A-C9395A30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B9B20-648D-465A-9EE3-9B61BCA7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57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5C9BD-B293-4A57-9271-51B8D6E1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분산된 주문·인증·출고·통관 데이터를 국내 DB 중심으로 연결하고,</a:t>
            </a:r>
          </a:p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오류 수정과 재제출 기준을 운영에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24128-9734-4536-B8CA-152FAF54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57300"/>
            <a:ext cx="3619500" cy="385762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FC1F1-4947-4775-A4B2-0EAA7C4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2474D-7995-49F1-AF0F-ED3D84FE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B4038-46A6-4AA8-8519-CBDD4F55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연동 구조와 요구사항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C9C21-44AC-4532-BAEA-EC1EAE5D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3CB59-EC70-4770-BB02-8E785A07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8D10E-98B8-41DF-B188-D9BA6EBD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D7BB7-0D38-4CD6-A4EE-B663920D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3FA4B-8ED1-4117-9EA4-F3562E13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534F8-EC6E-4C52-B008-B9F2B7F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B8912-CFD9-47C7-8475-E7AF62F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579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두 인증 경로, 오류 수정·재제출 정책, 협력사 API 조율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994A3-5030-47D0-9B30-AAA6795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82119-3153-4A25-A6E8-4F78AA25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579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연동 구조도 · 필드 매핑표 · 오류 재제출 기준 · 운영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3B1BF-16A6-4F07-84A9-0D721876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509D-291D-41DA-9C11-79E9EDCB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01 · 관세청 통관 연동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38D31-3ABB-4587-A0FE-301F0381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385567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DCB386-53A1-4DF5-95B9-6437DD96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3BBC2-D270-49E4-89FF-741419BE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분산된 주문 데이터와 책임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1258C-CACD-4681-828D-3301F806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95C90-A8FE-4C40-89CE-F9297278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3AF19-51A5-41BB-BFBA-CC7C8813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자사몰과 외부 채널의 주문 정보를 ERP/WMS와 통관 시스템에 연결해야 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0DB72-5F11-449D-8393-FABCE985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ED4BB-BFFC-472B-A830-80E0DC08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1건이 여러 포장과 HBL로 나뉘고,</a:t>
            </a:r>
          </a:p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주문·인증·상품·출고 정보는 서로 다른 시스템에 있었습니다.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ADD1B-5B11-4DF0-9004-F535594C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7CD24-58DD-43F1-9177-321A55DF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BA15B-2534-4808-A504-60A3500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주문·수하인·개인통관 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D720D-80BE-4DBD-B048-E3BAD7C3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01E84-B330-411C-801C-BE5711E2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0712C-5F76-4F5C-A9DC-243A98FE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포장·HBL·상품·출고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0B7B7-8E4D-449A-A10D-4BAF7EF8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217E8-D682-4306-915B-F6C51F4B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BA555-B3A6-4B2A-B650-7C03C4D0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제출·검증·접수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82291-E9A0-4926-9A07-1F49451E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71625"/>
            <a:ext cx="59245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75348-3940-4A18-92E2-D24D9DCC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28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같은 주문을 서로 다른 단위로 다루고 있었습니다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5653A-1646-4DDD-AC79-46CCA5FF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7A5AB-5043-495C-8BD2-089794BD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204A3-DAFB-4891-BF41-79B118AA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ADB9B-6493-4CC0-97CE-EB401DF0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431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 / HBL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56C25-8BE9-4C8C-A44F-4B39F457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A · HWB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9913ED-F02A-4F40-B88E-01432EA5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3BFB7-0C13-417F-975B-C5F3710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B2060-71D5-4583-A6BC-865EBB3A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B / HBL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B451A-3145-413D-89DA-DEF57ECF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B · HWB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489E4-9265-4CC6-9E14-BD79948C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4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쟁점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93856D-3655-4FFD-9982-5EABB6B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기준으로 묶으면 분할 포장과 재제출 범위가 흐려졌습니다.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B05DAF-16B7-4399-A096-05E1359F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58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13D9F5-80F7-4B1F-B9AA-DDABA4C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결정해야 할 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AEA56A-8D83-4071-B3B2-4CE4AD54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14975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제출·오류 수정·재전송을 어떤 단위로 묶을지 하나의 기준으로 고정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AE80D1-1D3C-4D4C-BA6B-89360454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356078-4406-4128-A0A6-3B498302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문제 정의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AB69C8-B69A-4112-B827-536ADF9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1635049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03D76-38ED-4495-ABCC-B633AD9F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463C8-1E42-4439-914C-DB0E4AD7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 출고 단위를 포장 1건으로 통일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55C33-28F2-4CB5-9498-7E5620ED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9EBE2-0D0C-4F25-9BFB-F79FABFD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85610-C401-43AE-8441-C3C2715F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주문번호·포장·신고·운송 식별 단위가 어긋나는 문제를 하나의 운영 규칙으로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4E26C-1093-4EA9-BFA0-76205F21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58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95D52-6A50-4831-891D-4E4BFA03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9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02B57-9192-4090-AE18-9C68B883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HBL = USD 150 이하 포장 1건 = TRA001 1건 = HWB 1건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0B7AD-D688-4FCC-BCC0-925B05F1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1F3B5-F3CF-42E6-BD14-E240074F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추적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19868-808E-4588-B240-C29C0ED5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원주문번호는 고객 주문 추적에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8CBC2-6140-4A3A-A3FB-A075F947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4B0EC-FC91-409D-87EF-CD52588D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7D11B-EAAD-4F14-A757-D56FFE16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포장 단위로 거래정보와 HWB를 제출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5410D-CBAE-46A4-AFCA-42C49BFC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3BEEB-2EFA-45F1-B385-D1D86CA6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397DB-6CE0-4266-BCD3-C5D96D85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orderNo를 복합키로 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E7F1A-FE6A-459E-A79C-2A1EC537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6680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71c8304bf4563"/>
          <a:stretch xmlns:a="http://schemas.openxmlformats.org/drawingml/2006/main"/>
        </p:blipFill>
        <p:spPr>
          <a:xfrm xmlns:a="http://schemas.openxmlformats.org/drawingml/2006/main">
            <a:off x="781050" y="3851275"/>
            <a:ext cx="10591800" cy="17653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74922-8584-49D1-AF14-D39A9DFD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43600"/>
            <a:ext cx="441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업체명은 역할명으로 치환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3BF45-1331-4181-8D09-D5B462A1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F1EC9-5AD1-4FFA-8F68-478C5CD2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분할 출고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4AF90-8706-4055-A230-7B45FA07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2121536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FC3BD4-EFEB-4B15-924C-E77512A5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C492C-28F4-4AB2-B123-5485A891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국내 DB를 기준점으로 데이터와 실행 책임을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6AF65-67B6-43A6-8EB3-8ADB5CC0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B3496-9828-48DA-A26F-94FA938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D34F4-D3F3-4736-890A-0410308B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판매 채널, ERP/WMS, 통관 시스템이 맡을 데이터와 실행 책임을 구분했습니다.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4A983-65F2-4B00-A4BB-00BF9E39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ECEBE-BACD-40B8-8586-B224F4A1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F0685-C333-40A7-A3C2-1BADA8F3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주문·수하인·인증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C00D6-212C-42B8-B07A-95FD1032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35BD3-CE6F-4A08-B93E-D18273FA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F01A7-9558-49EF-8373-FE3FFECB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EE006-7D43-4955-AA97-8DFBF717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정규화·분기·상태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D9FF8-5954-4A9A-BF1C-199A3E7E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94819-BDF8-4609-A1AA-798FD01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369CE-0A65-431B-BB45-C80DB668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680E8-C2A1-47AA-866B-41DA8A39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8B8B8-F799-4B9B-9810-140307E4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B55FC-2F59-46ED-A987-D4E9BB5C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0BC1D-D7A9-4F67-B6E9-21B91063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10ABD-2575-410D-8D89-72645755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병합·검증·접수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BFD72C-7BE4-47D6-ABF3-4CB48998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오류 복구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2B3A4-91EB-446D-B473-804AE6D0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7EB0E-D4A9-4F93-AFD4-1C9EFDB7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반려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6E8FF-3A26-4F84-A773-F36633DA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178A5-149D-4C51-B7F4-95340670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75A42D-45E4-4712-B4EA-4BF884F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원천 시스템 수정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85226-8E55-47DD-8EB6-AC48B959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E534CB-B8DA-4AA4-9697-45C3BDC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788289-D4E8-4E12-9279-FDF88273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동일 키 재전송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FBA919-A70F-4878-9670-55046F0D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206D3E-961F-4F53-AF87-4A97E874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AD03FB-CDD1-4A1D-A313-90AE2874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접수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CB2A08-EA13-466C-AE54-19EB2D7C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06680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5d77ced5149dc"/>
          <a:stretch xmlns:a="http://schemas.openxmlformats.org/drawingml/2006/main"/>
        </p:blipFill>
        <p:spPr>
          <a:xfrm xmlns:a="http://schemas.openxmlformats.org/drawingml/2006/main">
            <a:off x="781050" y="4328491"/>
            <a:ext cx="10591800" cy="1496667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2B674B-77DA-489D-9B6C-8BB08AA1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00750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재전송과 최종검증 완료 기준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A16E20-A8E2-456C-A412-797B0C92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DB69E2-51EF-47B0-83A2-945CC394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역할과 복구 경계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DFE144-1992-4A58-8CA8-1A4007C3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1930272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BD99A8-EC84-4792-AF55-A91198D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49FFF-6B93-41DB-8752-54D3A93D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접수·의도 오류·수정 재제출을 함께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F892A-089F-4032-BA1C-52D6BA04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69718-258F-439B-B94C-53859123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01589-0814-4DB4-914E-F5328EFF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정상 경로만 확인하지 않고 오류 반환과 복구 경로까지 운영 환경에서 확인했습니다.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75C98-A48B-45E0-B3F1-6FF2E75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B6238-017A-44EB-A387-73DC469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F7BBB-D175-4CC5-B047-DD70919E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0A3B8-ED28-46AC-B0F3-6861FFC5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76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547A1-3240-4C0C-A44B-CA2D94A6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764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갖춘 거래정보 제출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2182F-6B78-4174-BFF0-92C71B9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145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370A7-EF97-440A-B8C4-C35D41DE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764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 결과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C105E-FD07-4165-A980-2F7FD6C2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05D28-C8EE-4EFD-892E-1C18ED88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A130A-13CF-417F-959D-49B778A6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A96CC-1387-4D77-ACBB-5A05E3B0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81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09D1D-F98E-4AB1-9DD0-F6B1DEB9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의도적으로 누락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DD322-7129-4FFB-B5F7-48B8A75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194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EF56A-64B1-467A-B740-59DD0DFF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예상한 오류 응답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205A6-696C-4604-A8F1-C9123490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C9451-EEDC-4A46-827A-E6EBA876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262C5-303B-4259-8E23-A5BE5E30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4B0CD-59FE-4E26-9C32-9F0D545E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5429A-0465-42B3-84DC-299F8940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원천값 수정 후 다시 제출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1523C-99A5-45F4-941E-5910D6E2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F1838-F669-4327-858C-66897394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접수로 전환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F829F-6667-49F1-8A61-9B2027A3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23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98170-AB20-420B-A862-2B94CF0B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운영 환경 테스트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BF6F9C-6109-4AC9-A488-88B8DBF1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30건 검증 · 목적 30/30 통과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7D4537-0DCC-4469-904E-97E1D655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70A640-E3B6-4301-8A8A-DEED6AF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86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0BFC42-E6F6-4F9A-B2F9-0DF12E42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81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세 유형별 개별 건수는 미확인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D98B1-A0EB-46A6-A8AF-A9096DE9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EFB7D5-D570-405B-B7AF-204E2C4A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운영 QA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2340EA-94CA-41D9-BE0A-9BC5902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1875092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259153-C6AE-457E-BC93-8DB841E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06C56-4DF0-46F1-ACB5-267359E2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검증 후 상용 운영을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0E5B6-D6EE-4DF4-A585-AF685AD2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C5C17-3D31-4578-9613-D399B1C0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C194D-D3B7-4752-A776-E2BF38F6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2026-08-28부터 2026-09-15까지의 운영 집계와 측정 경계를 함께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4F710-C351-4B1E-AACB-01DBFBF7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DF012-B694-4337-A3C4-138DD770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30건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1ECF7-CE86-48E0-BC53-0B5DD61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 검증 · 목적 30/30 통과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CA175-C28D-454C-B431-9BC52ED4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E953B-8700-46E4-ADD9-FDC3D9C9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9DA3F-2C36-45B1-9118-CDE86516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일평균 발생 주문 규모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8964A-A17F-4F2C-BB35-1DEAB991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F651C-D7EE-4E81-B8C6-754E5AF5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230 / 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7D04C-6929-4564-9D06-0E28097C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 / 기타 주문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6BF67-BB51-46D1-B50A-45800B5D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80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F710B-AE1A-4F6F-9875-7FAC871F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192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전체 완료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A0A2F-5222-40A7-8B58-9BE874A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집계 대상 주문 통관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8ADD7-7844-4CEF-8627-0A842B9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85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62DC6-100B-4096-9FF8-DABC054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0BB24-6BC7-4EE0-8345-3762DF2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연동과 기존 방식을 병행한 상태에서도 집계 대상 주문의 통관 완료를 확인했습니다.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CB517-AE6D-4DA4-8DB0-E943F334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81425"/>
            <a:ext cx="890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환경에서 30건을 검증했고, 설정한 테스트 목적은 30/30 통과했습니다. 자동 처리율·신규 경로 비중·처리 시간은 별도 계측하지 않았습니다.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424F3-0395-459D-A6FF-E12C1241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85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95F8B-CA47-419D-8E5D-ED00B904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A6870-1ADE-4590-B260-B3E8D699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3B324-8666-4431-A735-8295DBB6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BE8CC-6AE5-40DA-83C7-435807E1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26407-7139-4784-93C2-BB8D70D2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00CFA-52DC-4278-A46A-BC2BDAE3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434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확인한 결과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B025D8-D83C-4B9F-8AD9-9D37EFFE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4010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일평균 약 300건 · 자사몰 230건 · 기타 70건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4E2738-E04E-4B26-A108-F23EB201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2026-08-28~2026-09-15 집계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F1263-6AD5-4A77-9AB6-7AB60B1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9FF55A-5C47-4D1C-B255-CE50E6A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결과와 한계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C3C00A-D865-4464-91AD-9F0D19D4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6879267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84268-D5FB-4B3B-BB0A-881BF36A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F66AB-CB5E-4DB5-9603-54A5330A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50A9F-2702-481E-B85E-E24C72BB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D6203-76C4-4F66-A7B5-E69FC5C1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00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4개 계정 유형과 혼합 주문 차단 기준을 설계하고,</a:t>
            </a:r>
          </a:p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운영 서버에서 직접 확인한 항목만 완료로 처리했습니다.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B1688-B354-4FAF-84E0-12EC6457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5857875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33F2D-609E-429F-97F0-9D2C9B8D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497A1-C703-4C6C-A50F-C8583148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고객사·공급사의 주문, 납기, 출고, 정산 조율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90FC8-0D65-4FC9-B4A7-711FD816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74B15-DE5C-48A5-B882-6CC0709A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2026-06 기획 · 2026-07-16 핵심 흐름 운영 · 2026-08-31 최종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6E1A1-8169-4C86-B882-0C309CCC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97C18-5E72-4D6C-96FD-AAAEBC5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정책표 · 결제 규칙 · QA 결과 · 운영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E7A53-0084-4BC7-967C-BCA1746B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46482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924ad18e04b5e"/>
          <a:stretch xmlns:a="http://schemas.openxmlformats.org/drawingml/2006/main"/>
        </p:blipFill>
        <p:spPr>
          <a:xfrm xmlns:a="http://schemas.openxmlformats.org/drawingml/2006/main">
            <a:off x="6896100" y="1680246"/>
            <a:ext cx="4572000" cy="121150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4E59D-E309-460B-A44B-D9F8EADC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실운영 홈 화면 발췌 · 2026-08-28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FD7E6-B5DE-4BA7-8281-1FAA95A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45720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CAAF9-BD4E-4A55-A866-60C24620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43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화면에 반영한 운영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F35CE-B202-4BC0-B8F5-427C623D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거래명세서 다운로드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당일 출고 마감 안내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배송 상태 확인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입금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C218A-36A9-4444-BA25-EE143C5C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29F0B-04BE-4448-BA05-0167036A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02 · 산후조리원 B2B 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90E75-063B-4155-9EC4-77EA55D6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900557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052287-8911-42B1-AAA8-7381B1C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97E86-29F0-4F79-B7B7-C5298623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시작 전 반복된 문제와 설계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27C7D-094A-446E-A9B0-E90A34EC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9FB5A-6EC6-440F-AC84-D2637542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33597-3D03-4746-926D-426FE643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오출고·문의·입금 대조 문제를 실제 운영 화면과 정책에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29678-B4B7-4122-9025-FA302F81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C8083-EEC5-4B6B-94E6-A585DBED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 2~3건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80B8D-E9BD-41C2-AA56-8D7FADB4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 오출고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C78CB-76CC-4D33-A33A-EE1E9B4C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FC2EC-28DD-4586-9A89-9C6BDF00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E5718-27B1-41B3-8E58-E6596ECB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 CS 문의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562F4-CC67-4108-BB3E-60FA13B8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B99AB-91F8-417B-994F-A7AB1D58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E9290-EF73-44BE-A760-704573B6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매일 입금 대조 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E8BF0-B9F3-4CB0-914D-C7B25820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81150"/>
            <a:ext cx="8105775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89cd059c641b8"/>
          <a:stretch xmlns:a="http://schemas.openxmlformats.org/drawingml/2006/main"/>
        </p:blipFill>
        <p:spPr>
          <a:xfrm xmlns:a="http://schemas.openxmlformats.org/drawingml/2006/main">
            <a:off x="3476625" y="1622195"/>
            <a:ext cx="8029575" cy="212771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EEA7F-F2C1-4817-A1D6-29C3381A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홈 화면 발췌 · 가격 영역 제외 · 2026-08-28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0021D-7FC8-459F-8799-1E3B1A53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EAB12-B83C-4A47-BDE8-802694F5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거래명세서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D375D-A754-41DC-B000-8D745FD9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후 직접 다운로드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E3CA5-E641-4B60-9D91-180F2B98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90D16-583F-4EDB-A119-E55F4E9A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출고 마감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26A43-6E5A-460F-9D76-14A328C1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당일 10시 기준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3F9F2-DDD0-43FE-A2CC-E8AEF3D6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F3A40-525F-45DA-A298-FACFE388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배송 상태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0904E-1BD8-462A-BF96-F500854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송장번호와 진행 상태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9871E-D9DF-4543-952F-6F80FA2F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A3CBD-5C5B-4BEF-A767-8692E12D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입금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EBD24B-74FE-4A65-9F16-E0AA960F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입금자명과 금액 대조 안내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227F56-4A69-4740-9B7F-DCA0EF9E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입금 대조 시간의 개선 후 수치는 미측정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D24F8-5F26-49E9-824E-D80FD4CF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C592C8-E83B-41DC-9721-6B75D39C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문제와 화면 반영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5F939E-A30D-4DF8-85AD-7BD935B7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927908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36A83A-CA71-4D38-AA31-6A998976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F2111-8275-4488-AB29-B228F8AC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플랫폼에 계정·결제 정책을 추가하는 방식을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0E7BF-107F-4D86-85C3-EF49AB63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5E70A-6576-4ED7-AADD-60407281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BD7E7-A3DB-4140-BC43-201A9AD6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 러닝커브, 기존 인프라 일치, 유지보수 책임범위, 구축비용 순서로 판단했습니다.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741D9-DA08-4811-A8C1-509741AA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E21C3-7632-48CD-93D1-CE1DFC01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6AC8A-8BBA-4EBC-B5FD-96CB02A5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① 운영팀 러닝커브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4AE2F-BF8F-4143-B8DD-520F0F88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918AE-F919-4227-AFCE-7372CA81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② 기존 인프라 일치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C39A8-E25A-447D-B8D5-53A9A1F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1911B-75C2-4487-81C6-E305DC86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③ 유지보수 책임범위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F1252-14A1-4DBB-B2D9-0075923C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D8BAB-1A06-4700-B9AC-E3926965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④ 구축비용 · 금액 비공개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0AD10-D02D-4845-8576-BDF65CA6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F863B-5338-447F-8683-265EF1B3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669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핵심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5E6E6-FB53-4F95-8198-75953A2C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669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C617F-55F2-4D4D-909D-50F807EC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2EA3B-48AD-4E1F-8489-697EE5AA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D2A83-9C8A-405F-9ADF-18C47343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맞춤형 웹서비스 직접 개발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B4DB9-3CA0-4928-9DCC-0DB86325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유지보수 책임이 내부로 확대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46DD2-5FC2-464F-B735-D1C7DCAD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19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14DF3-C6A0-4175-A712-CBBC4CDD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다른 쇼핑몰 솔루션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D2AE8-A9F4-498C-8C82-67E951CE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운영팀이 새 솔루션을 다시 학습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86D2A-16FB-4A87-9DD3-31F1732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28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08D39-7158-406A-A3ED-9B6B2294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58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7F2F9-5A98-4341-B085-FBFE340E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기존 커머스 솔루션 + 정책 맞춤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AD3D1E-8769-40AF-AC07-587578DD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기존 인프라와 운영 방식을 유지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1A04A-E793-4006-9C50-18DF8AA5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38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CFD68-8A38-45B2-9F6A-4C5458DA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기능과 이유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B107B2-0D2A-4462-854B-0379B0C7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3319A-3A3F-48BD-A85C-7ACB8482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8C79F0-C170-4A58-983D-E023EE72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5F317B-1F2D-4080-83D2-FBEBF786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DA389-E19F-4AF9-930E-68645113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마진 대비 수수료 부담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5FA9F1-BF44-4A40-B8FD-75FA04ED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7281B3-78A1-4B37-A6C1-2619962D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103C18-9D72-48AD-B70F-B1B03C1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C014F7-E7A1-440B-BE2C-1EF82599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D0BE56-F5BF-46B8-A568-2EB8DE1E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기본 거래명세서로 대체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098151-0402-4333-8B76-6BEBF832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7421B8-B994-4FD4-8266-E932B251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4250EA-6652-4810-8D44-7F3CB5F5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5FA7FD-843B-4173-80AF-7B98067B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AE4A29-A65D-4EAE-A55E-1551A6DC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계약 상태 변경 시 지급 번복 위험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9837F2-EBC3-40C0-9A7C-A2D6A406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FA7A1B-0939-4567-B5CA-763106B0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대안과 범위 결정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4D86B6-CBA4-4412-9D4A-8BB8A978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21195921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BFC832-A408-4C4A-992C-B0BB1BB5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92C85-29D8-45C6-96D6-11BE3BD5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 뒤에도 마이페이지 진입이 되지 않았습니다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525C-635F-4221-8D1A-B2FE15F8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6DF67-6F98-407A-A6A1-90671B4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875A6-0FBD-43B2-B822-10F31BB5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완료의 기준을 개발사 회신에서 운영 서버 직접 확인으로 바꾼 사례입니다.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AD970-E012-498E-B8EF-08CF05A0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B2E17-DA79-4495-A584-3BF21751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F16CD-46EE-4688-AEA7-A816FF23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96250-3CC5-4D87-9058-A337DCD4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현상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7E316-2E4E-4762-90BD-020DE4D2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‘정보 수정’ 진입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C96B7-30AE-45ED-A05F-7A2117F7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6285E-AB72-48E5-AB06-8C9E2BCD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443D1-7802-4CF6-9271-622656B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ACDFD-B688-4BF5-AE30-B955C7D8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9A721-9021-4C88-90B6-CA0741C9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 미반영과 기존 차단 로직 잔존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0A68D-25B3-4913-B8E0-DB62DD7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0A538-B4D8-4763-9537-F32EE295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720CF-6157-4677-8297-A27D482A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0C038-08E1-4DB5-B79F-B2C22CBB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분리 점검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7979B-1E41-4C85-A217-437A4A92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433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 여부와 차단 조건을 각각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4D5F6-D047-4650-8749-84B89FB7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A533F-E294-4052-9F9F-8041BECD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E84A6-FCF3-4EC1-8AF9-5607742C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896B9-3183-483D-9131-60377F39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635C9-486B-4845-9595-ECFF13C5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196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서버에서 기대 결과를 직접 확인한 경우만 완료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29A3C8-310E-4F33-A3DE-7E5A4393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EC5F4-2939-4B89-8B3E-1B7C2F46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사례가 발생한 실제 화면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D2E9A-BD4D-49F5-9968-206DAC8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2476500" cy="29337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65c183c5749a0"/>
          <a:stretch xmlns:a="http://schemas.openxmlformats.org/drawingml/2006/main"/>
        </p:blipFill>
        <p:spPr>
          <a:xfrm xmlns:a="http://schemas.openxmlformats.org/drawingml/2006/main">
            <a:off x="7354917" y="2238375"/>
            <a:ext cx="1482665" cy="2857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0C830D-6990-4722-80FA-7F87AD03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1581150" cy="28575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3AFEC8-BC9C-461B-ADC6-8C777256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항목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94947-14FB-4C5B-AE04-F08CC948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12192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정보 수정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메뉴 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진입 가능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배포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차단 조건 잔존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89924B-B445-4269-AA8F-3D4A4704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86375"/>
            <a:ext cx="3581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2026-08-28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B0F418-993E-40FC-8FD4-0167CEA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10FEAC-AB56-4834-89BC-CE7CEB02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운영 서버 QA 사례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44B479-255C-4595-80AF-B550E82C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7616094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0E38E-183D-4AA2-8454-A650A6A8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ADB05-D6B6-41CF-A61C-144B7B2B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유형의 상품·결제 정책을 한 표로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96B6A-DE37-4609-B67B-0B8919B0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5FB50-17DE-4E02-AC58-B9A5B79B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B108C-2D1B-48DD-B6AD-3D311FBF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등급과 카테고리 조합으로 결제 방식을 정하고, 결제 방식이 다른 혼합 주문을 차단했습니다.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AA0AA-3B68-415E-8F6E-77965C87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75335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4bd84609e4c72"/>
          <a:stretch xmlns:a="http://schemas.openxmlformats.org/drawingml/2006/main"/>
        </p:blipFill>
        <p:spPr>
          <a:xfrm xmlns:a="http://schemas.openxmlformats.org/drawingml/2006/main">
            <a:off x="647700" y="1807425"/>
            <a:ext cx="7677150" cy="257639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94D13-8327-4225-8ECE-17683221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95825"/>
            <a:ext cx="554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업무 문서 발췌 · 원문 ‘선불입금/후불입금’은 현행 ‘분유(선불/후불)’로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DFE05-078F-47D6-AF8F-AFE183F9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0289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85EB4-14CA-4EFD-B7D7-7B2446D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결정한 정책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EDF08-EFC5-43AA-877C-8AB3B567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물품계약(후불)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분유(후불)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25707-9BC8-44A9-99E6-FC465A48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97D6E-62D2-49FD-91B9-0EBAE5C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8142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관리자가 등급 × 카테고리 표에서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결제 방식을 설정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2AFEE-59E7-46CA-9719-A0C43957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85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32DF1-8C35-4D24-9FE5-FE48C3EC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혼합 주문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4F62A-7BAC-4575-8F7E-AE44C9C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선불 상품과 후불 상품을 한 주문에 담는 경우 양방향으로 차단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3B882-0684-4503-AC95-D8CE991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E2B8D-F4BD-4DBC-AAEE-BC1867E5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계정·결제 정책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F1C36-65FA-4250-9F70-B0EF7D38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2271725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82117-C034-4375-8BE7-2B180864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417D7-EB0F-4304-B715-E5E01D67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핵심 흐름 가동 후 오출고와 CS 문의 변화를 관찰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97D33-3CAE-43EF-888E-82D3FF0B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8036F-AE5E-459E-B8E2-6186C0AF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29FED-97A1-47CF-9449-5DCC27D6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초기 결과와 측정하지 못한 항목을 함께 표기했습니다.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DBB80-01DE-4590-A808-BFD3EF9F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F6195-8D5C-4A76-A487-C062E69D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DE19F-2CBB-464E-BA02-BED8F452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월평균 2~3건  →  0건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E98FB-D2F0-466A-A2F6-7DFD1C09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평균과 2026-07-16 이후 약 1개월 전체 측정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9CBC0-DCE0-4F3C-BCD6-D5ED7F95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90B8A-152D-4079-8D66-8240D4D0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CS 문의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3BBA1-3577-4F96-813F-A851260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  →  19건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BE063-981E-46C9-87E5-7B3E897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환산치와 2026-07~2026-08 배포 구간 2주 집계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A3E69-4C85-4201-9312-B4B004B0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90675"/>
            <a:ext cx="683895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1934E-C552-4288-B08F-3CB7CD20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28800"/>
            <a:ext cx="634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상태를 확인한 실제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BDBAC-2B37-4815-9AA5-EDEA2757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64198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f21503b1746f6"/>
          <a:stretch xmlns:a="http://schemas.openxmlformats.org/drawingml/2006/main"/>
        </p:blipFill>
        <p:spPr>
          <a:xfrm xmlns:a="http://schemas.openxmlformats.org/drawingml/2006/main">
            <a:off x="4914900" y="2269448"/>
            <a:ext cx="6343650" cy="1299928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0BFE9-5B71-4567-A6E7-267A955F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주문 현황은 운영 화면 구조 확인용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D79A9-0E06-43A9-B139-58EF75FC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86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2F2FF-5AC3-49AA-A0C5-89731C8F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상태를 직접 확인할 수 있는 흐름과 운영 안내가 가동되었습니다.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3B816-813D-4C38-AA9E-F7522153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관찰 범위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F43B8-664C-4CCA-9E9C-FADA4684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0532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초기 운영 약 1개월. 입금 대조 시간과 장기 지속 효과는 미측정입니다.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4EEF5-B52C-4E12-8865-3C6CA920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E2A44-6EDB-4C63-A483-A1CEA05A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48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06EF3-5384-47AB-98F0-AB5DA0F8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8165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초기 운영 결과는 오출고와 CS 문의로 확인했습니다. 입금 대조 시간과 장기 지속 효과는 후속 측정 항목입니다.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44D68-9EBC-40B8-8B88-5DE2D38D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BC4E7-4C57-456F-A22D-F8392FD4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결과와 측정 경계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3E8F5-E447-4CB7-A1C1-CBA808AF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981323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박종혁</lastModifiedBy>
  <dc:title>박종혁 PM 포트폴리오 v4.1</dc:title>
  <dcterms:created xsi:type="dcterms:W3CDTF">2026-09-16T23:27:24.1170000Z</dcterms:created>
  <dcterms:modified xsi:type="dcterms:W3CDTF">2026-09-16T23:27:24.1170000Z</dcterms:modified>
</coreProperties>
</file>