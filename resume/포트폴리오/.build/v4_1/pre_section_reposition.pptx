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0d9fbbcfe488f" /><Relationship Type="http://schemas.openxmlformats.org/officeDocument/2006/relationships/extended-properties" Target="/docProps/app.xml" Id="R47c482faf8784c9c" /><Relationship Type="http://schemas.openxmlformats.org/officeDocument/2006/relationships/officeDocument" Target="/ppt/presentation.xml" Id="R82680ab37a11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e336e307849dd"/>
  </p:sldMasterIdLst>
  <p:notesMasterIdLst>
    <p:notesMasterId xmlns:r="http://schemas.openxmlformats.org/officeDocument/2006/relationships" r:id="Rfe10cf1b8bc140a5"/>
  </p:notesMasterIdLst>
  <p:sldIdLst>
    <p:sldId xmlns:r="http://schemas.openxmlformats.org/officeDocument/2006/relationships" id="256" r:id="R470bfcfe9c5d4fd3"/>
    <p:sldId xmlns:r="http://schemas.openxmlformats.org/officeDocument/2006/relationships" id="257" r:id="Rbebe3d18f1ae44e2"/>
    <p:sldId xmlns:r="http://schemas.openxmlformats.org/officeDocument/2006/relationships" id="258" r:id="R3e49c8b1693b4abe"/>
    <p:sldId xmlns:r="http://schemas.openxmlformats.org/officeDocument/2006/relationships" id="259" r:id="Rbfe59d7611414172"/>
    <p:sldId xmlns:r="http://schemas.openxmlformats.org/officeDocument/2006/relationships" id="260" r:id="R4005fb4cbb1c4716"/>
    <p:sldId xmlns:r="http://schemas.openxmlformats.org/officeDocument/2006/relationships" id="261" r:id="Ra5110612833a4b47"/>
    <p:sldId xmlns:r="http://schemas.openxmlformats.org/officeDocument/2006/relationships" id="262" r:id="R135d8ca262ef4758"/>
    <p:sldId xmlns:r="http://schemas.openxmlformats.org/officeDocument/2006/relationships" id="263" r:id="R54710bd508fa4c3d"/>
    <p:sldId xmlns:r="http://schemas.openxmlformats.org/officeDocument/2006/relationships" id="264" r:id="Rf699d67dd89e4dd1"/>
    <p:sldId xmlns:r="http://schemas.openxmlformats.org/officeDocument/2006/relationships" id="265" r:id="R62cf7df5ded74038"/>
    <p:sldId xmlns:r="http://schemas.openxmlformats.org/officeDocument/2006/relationships" id="266" r:id="Re6d5cfddeefe42c9"/>
    <p:sldId xmlns:r="http://schemas.openxmlformats.org/officeDocument/2006/relationships" id="267" r:id="Re4ce9a9a1a244e28"/>
    <p:sldId xmlns:r="http://schemas.openxmlformats.org/officeDocument/2006/relationships" id="268" r:id="Rc532f6a55b294c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7bdc42aba54645" /><Relationship Type="http://schemas.openxmlformats.org/officeDocument/2006/relationships/slideMaster" Target="/ppt/slideMasters/slideMaster1.xml" Id="Rb3ce336e307849dd" /><Relationship Type="http://schemas.openxmlformats.org/officeDocument/2006/relationships/notesMaster" Target="/ppt/notesMasters/notesMaster1.xml" Id="Rfe10cf1b8bc140a5" /><Relationship Type="http://schemas.openxmlformats.org/officeDocument/2006/relationships/presProps" Target="/ppt/presProps.xml" Id="Rb47d469e3ee74f83" /><Relationship Type="http://schemas.openxmlformats.org/officeDocument/2006/relationships/tableStyles" Target="/ppt/tableStyles.xml" Id="Rc3a2d6d5b1fb4c1d" /><Relationship Type="http://schemas.openxmlformats.org/officeDocument/2006/relationships/slide" Target="/ppt/slides/slide1.xml" Id="R470bfcfe9c5d4fd3" /><Relationship Type="http://schemas.openxmlformats.org/officeDocument/2006/relationships/slide" Target="/ppt/slides/slide2.xml" Id="Rbebe3d18f1ae44e2" /><Relationship Type="http://schemas.openxmlformats.org/officeDocument/2006/relationships/slide" Target="/ppt/slides/slide3.xml" Id="R3e49c8b1693b4abe" /><Relationship Type="http://schemas.openxmlformats.org/officeDocument/2006/relationships/slide" Target="/ppt/slides/slide4.xml" Id="Rbfe59d7611414172" /><Relationship Type="http://schemas.openxmlformats.org/officeDocument/2006/relationships/slide" Target="/ppt/slides/slide5.xml" Id="R4005fb4cbb1c4716" /><Relationship Type="http://schemas.openxmlformats.org/officeDocument/2006/relationships/slide" Target="/ppt/slides/slide6.xml" Id="Ra5110612833a4b47" /><Relationship Type="http://schemas.openxmlformats.org/officeDocument/2006/relationships/slide" Target="/ppt/slides/slide7.xml" Id="R135d8ca262ef4758" /><Relationship Type="http://schemas.openxmlformats.org/officeDocument/2006/relationships/slide" Target="/ppt/slides/slide8.xml" Id="R54710bd508fa4c3d" /><Relationship Type="http://schemas.openxmlformats.org/officeDocument/2006/relationships/slide" Target="/ppt/slides/slide9.xml" Id="Rf699d67dd89e4dd1" /><Relationship Type="http://schemas.openxmlformats.org/officeDocument/2006/relationships/slide" Target="/ppt/slides/slide10.xml" Id="R62cf7df5ded74038" /><Relationship Type="http://schemas.openxmlformats.org/officeDocument/2006/relationships/slide" Target="/ppt/slides/slide11.xml" Id="Re6d5cfddeefe42c9" /><Relationship Type="http://schemas.openxmlformats.org/officeDocument/2006/relationships/slide" Target="/ppt/slides/slide12.xml" Id="Re4ce9a9a1a244e28" /><Relationship Type="http://schemas.openxmlformats.org/officeDocument/2006/relationships/slide" Target="/ppt/slides/slide13.xml" Id="Rc532f6a55b294c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84f3ddfa0d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2ad6c3f7a64845" /><Relationship Type="http://schemas.openxmlformats.org/officeDocument/2006/relationships/notesMaster" Target="/ppt/notesMasters/notesMaster1.xml" Id="R4f917fb64e7b42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4ebc4ea558463b" /><Relationship Type="http://schemas.openxmlformats.org/officeDocument/2006/relationships/notesMaster" Target="/ppt/notesMasters/notesMaster1.xml" Id="R27b734f54cf742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9013d2ddd5493f" /><Relationship Type="http://schemas.openxmlformats.org/officeDocument/2006/relationships/notesMaster" Target="/ppt/notesMasters/notesMaster1.xml" Id="R583865f31e0947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004ef8ba684819" /><Relationship Type="http://schemas.openxmlformats.org/officeDocument/2006/relationships/notesMaster" Target="/ppt/notesMasters/notesMaster1.xml" Id="R51fc8d68bbb34f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5557e624d2442e" /><Relationship Type="http://schemas.openxmlformats.org/officeDocument/2006/relationships/notesMaster" Target="/ppt/notesMasters/notesMaster1.xml" Id="R5251ba8a27fe48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2818347edb4783" /><Relationship Type="http://schemas.openxmlformats.org/officeDocument/2006/relationships/notesMaster" Target="/ppt/notesMasters/notesMaster1.xml" Id="Rea2f8adb2d0f4c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0a4116da6d4cf1" /><Relationship Type="http://schemas.openxmlformats.org/officeDocument/2006/relationships/notesMaster" Target="/ppt/notesMasters/notesMaster1.xml" Id="Rf4ed1339d8ec4c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eb845774d748f4" /><Relationship Type="http://schemas.openxmlformats.org/officeDocument/2006/relationships/notesMaster" Target="/ppt/notesMasters/notesMaster1.xml" Id="R462ff3122fbe41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c4722aaa4745fd" /><Relationship Type="http://schemas.openxmlformats.org/officeDocument/2006/relationships/notesMaster" Target="/ppt/notesMasters/notesMaster1.xml" Id="Rdd3c667469d743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82b6de8949451c" /><Relationship Type="http://schemas.openxmlformats.org/officeDocument/2006/relationships/notesMaster" Target="/ppt/notesMasters/notesMaster1.xml" Id="R0482a6d88fd64e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3427739c1e4451" /><Relationship Type="http://schemas.openxmlformats.org/officeDocument/2006/relationships/notesMaster" Target="/ppt/notesMasters/notesMaster1.xml" Id="Rec7534923eca4f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77bb177a994b6b" /><Relationship Type="http://schemas.openxmlformats.org/officeDocument/2006/relationships/notesMaster" Target="/ppt/notesMasters/notesMaster1.xml" Id="R6739d07a58eb44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0c4a82dd254f72" /><Relationship Type="http://schemas.openxmlformats.org/officeDocument/2006/relationships/notesMaster" Target="/ppt/notesMasters/notesMaster1.xml" Id="R39928293f3cd43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5a247dbe543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76b1122704ca3" /><Relationship Type="http://schemas.openxmlformats.org/officeDocument/2006/relationships/slideLayout" Target="/ppt/slideLayouts/slideLayout1.xml" Id="R7c2faf90057445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2faf90057445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d2f19c77c4e72" /><Relationship Type="http://schemas.openxmlformats.org/officeDocument/2006/relationships/image" Target="/ppt/media/image.png" Id="Rf5873d8f4cb7403e" /><Relationship Type="http://schemas.openxmlformats.org/officeDocument/2006/relationships/notesSlide" Target="/ppt/notesSlides/notesSlide1.xml" Id="Rad4bd61a2f3b4b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fafd4a03a4a02" /><Relationship Type="http://schemas.openxmlformats.org/officeDocument/2006/relationships/notesSlide" Target="/ppt/notesSlides/notesSlide2.xml" Id="R77d10939a6e345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1a65f546447d6" /><Relationship Type="http://schemas.openxmlformats.org/officeDocument/2006/relationships/notesSlide" Target="/ppt/notesSlides/notesSlide3.xml" Id="R9e03bf7ee16b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8ea3f770d4e24" /><Relationship Type="http://schemas.openxmlformats.org/officeDocument/2006/relationships/image" Target="/ppt/media/image2.png" Id="R1c86069ffb444bf7" /><Relationship Type="http://schemas.openxmlformats.org/officeDocument/2006/relationships/notesSlide" Target="/ppt/notesSlides/notesSlide4.xml" Id="Rf0d24ae662c74f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01dc9160d43cb" /><Relationship Type="http://schemas.openxmlformats.org/officeDocument/2006/relationships/image" Target="/ppt/media/image3.png" Id="R9093c881e12f4719" /><Relationship Type="http://schemas.openxmlformats.org/officeDocument/2006/relationships/notesSlide" Target="/ppt/notesSlides/notesSlide5.xml" Id="Ra73e67809d044b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66a5c1ed24c89" /><Relationship Type="http://schemas.openxmlformats.org/officeDocument/2006/relationships/notesSlide" Target="/ppt/notesSlides/notesSlide6.xml" Id="Rc4ebb4e7010645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4950da85e4732" /><Relationship Type="http://schemas.openxmlformats.org/officeDocument/2006/relationships/notesSlide" Target="/ppt/notesSlides/notesSlide7.xml" Id="R7676504e86f547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af84ad4334fac" /><Relationship Type="http://schemas.openxmlformats.org/officeDocument/2006/relationships/image" Target="/ppt/media/image4.png" Id="R287a441807394cb5" /><Relationship Type="http://schemas.openxmlformats.org/officeDocument/2006/relationships/notesSlide" Target="/ppt/notesSlides/notesSlide8.xml" Id="Rbd1b4efd00b444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09764eb9b466b" /><Relationship Type="http://schemas.openxmlformats.org/officeDocument/2006/relationships/image" Target="/ppt/media/image5.png" Id="R05c72964d4914a18" /><Relationship Type="http://schemas.openxmlformats.org/officeDocument/2006/relationships/notesSlide" Target="/ppt/notesSlides/notesSlide9.xml" Id="R02a3ecd75b114a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033338a4748fe" /><Relationship Type="http://schemas.openxmlformats.org/officeDocument/2006/relationships/notesSlide" Target="/ppt/notesSlides/notesSlide10.xml" Id="Rbfcff56a07aa45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13c1d78354455" /><Relationship Type="http://schemas.openxmlformats.org/officeDocument/2006/relationships/image" Target="/ppt/media/image6.png" Id="R15a4da40a57746a0" /><Relationship Type="http://schemas.openxmlformats.org/officeDocument/2006/relationships/notesSlide" Target="/ppt/notesSlides/notesSlide11.xml" Id="Rd278fe04975e4a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85c7d6d92470a" /><Relationship Type="http://schemas.openxmlformats.org/officeDocument/2006/relationships/image" Target="/ppt/media/image7.png" Id="R98e344785815497c" /><Relationship Type="http://schemas.openxmlformats.org/officeDocument/2006/relationships/notesSlide" Target="/ppt/notesSlides/notesSlide12.xml" Id="Rf4b516df0bd841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410dcd929439e" /><Relationship Type="http://schemas.openxmlformats.org/officeDocument/2006/relationships/image" Target="/ppt/media/image8.png" Id="R61f82b601b67461b" /><Relationship Type="http://schemas.openxmlformats.org/officeDocument/2006/relationships/notesSlide" Target="/ppt/notesSlides/notesSlide13.xml" Id="R3279c0e4f5ff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D23C0-91EE-4FC2-8186-CEA04770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9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18DFA-7B94-41F0-A757-42FAEB91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PM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7FB7E-8E4D-470A-8E50-B78850BA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95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요구를 정책으로 만들고</a:t>
            </a:r>
          </a:p>
          <a:p xmlns:a="http://schemas.openxmlformats.org/drawingml/2006/main">
            <a:pPr algn="l">
              <a:def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검증까지 연결한 두 프로젝트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535CA-8425-49E8-B68F-4AD2F4BB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통관 연동에서는 분할 출고 단위와 오류 재제출 기준을,</a:t>
            </a:r>
          </a:p>
          <a:p xmlns:a="http://schemas.openxmlformats.org/drawingml/2006/main">
            <a:pPr algn="l">
              <a:def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몰에서는 계정·결제 정책과 운영 완료 기준을 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66F6D-4F79-4ED4-B9E9-5D544865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0DD07-E6F2-4803-9F02-A7628883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2DFCC-1168-42D2-8C31-D430C29A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49D51-AC64-432D-B6B9-BC499A93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관세청 통관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A0DBD-7D5C-4485-B341-F266D885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분할 출고 기준 · 오류 재제출 · 운영 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0B315-3E56-4A3B-A109-2ACE2071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3333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8379E-40E5-407D-92B5-8E6D3C3A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0025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D505C9-CF09-4EC4-A59E-4E997F7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481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BC93B-6D10-4E6E-8A53-C53AF2E4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0075"/>
            <a:ext cx="278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산후조리원 B2B 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595CB-0AAB-4E9C-92A9-AF53CA89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계정·결제 정책 · 운영 서버 검증 ·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FF4A2-503B-48F7-83DD-687DB10D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0"/>
            <a:ext cx="4143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73d8f4cb7403e"/>
          <a:srcRect xmlns:a="http://schemas.openxmlformats.org/drawingml/2006/main" l="0" t="14894" r="0" b="1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63075" y="876300"/>
            <a:ext cx="1466850" cy="1466850"/>
          </a:xfrm>
          <a:prstGeom xmlns:a="http://schemas.openxmlformats.org/drawingml/2006/main" prst="ellipse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F15DC-0DCB-46D8-842E-F313DB9F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095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박종혁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E8CC40-80EF-4F01-A7A8-4CC94F1B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8135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프로젝트 운영 · SCM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E6AB01-1C96-4276-9F1B-E1D50B09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62375"/>
            <a:ext cx="309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C6BB4-D5B9-44E8-B32C-6D2703E8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905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요구사항 구조화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이해관계자 조율</a:t>
            </a:r>
          </a:p>
          <a:p xmlns:a="http://schemas.openxmlformats.org/drawingml/2006/main">
            <a:pPr algn="ctr">
              <a:def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완료 기준과 운영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D1336-AE86-4E84-BBBD-ED0894E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019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parkjonghyeok2000@gmail.com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4DA8B-1781-4DEA-B1F8-5E2742ED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05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2026-09</a:t>
            </a:r>
          </a:p>
        </p:txBody>
      </p:sp>
    </p:spTree>
    <p:extLst>
      <p:ext uri="{BB962C8B-B14F-4D97-AF65-F5344CB8AC3E}">
        <p14:creationId xmlns:p14="http://schemas.microsoft.com/office/powerpoint/2010/main" val="9526766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4F9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A16EC-0995-4CDE-A718-93464A99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01.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98736-5875-4649-A0CB-416D4DD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5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1D230-ABF8-41E2-AE47-50229582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657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관세청 전자상거래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연동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E3B10-CFC1-4E67-AD32-6E3F51A1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670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분산된 주문·인증·출고·통관 데이터를 국내 DB 중심으로 연결하고,</a:t>
            </a:r>
          </a:p>
          <a:p xmlns:a="http://schemas.openxmlformats.org/drawingml/2006/main">
            <a:pPr algn="l">
              <a:def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오류 수정과 재제출 기준을 운영에 반영했습니다.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4C81B-E81F-459B-BE7E-66444B8A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619500" cy="3857625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6437F"/>
          </a:solidFill>
          <a:ln xmlns:a="http://schemas.openxmlformats.org/drawingml/2006/main" w="0">
            <a:solidFill>
              <a:srgbClr val="1643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2CFCC-684E-4740-A372-0CF34642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확정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E82CD-D4A0-408F-97BF-4B7C5F05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DEA99-4B5D-4158-B3DB-A766EFA3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7645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연동 구조와 요구사항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385C4-75C1-414B-BB24-A17E84F4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33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3B635-4D1E-4C79-87EB-ED9381B6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3367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8437EE-214A-456B-935A-3DBF9D7F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290D9-4CB5-43F3-958E-BF8DC33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90900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3EDF7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716E6-CCB4-4758-9FBD-2B1F1E77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0FFA1-3969-440C-8676-95BF3CD0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79C8C-7617-4508-8ED7-4C3107C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579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 중심 연동 구조, 두 인증 경로, 오류 수정·재제출 정책, 협력사 API 조율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3FB44-CCCC-4BFA-840C-659F6CC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40A26-59F6-49F7-9328-99BD921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57850"/>
            <a:ext cx="579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연동 구조도 · 필드 매핑표 · 오류 재제출 기준 · 운영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47549-5C55-48C2-A887-BF76BFAD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1AF0ED-CB5C-430D-B484-6837088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01 · 관세청 통관 연동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2A120-584A-4AD1-B656-84C833A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232132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B1DB24-BD56-4452-864A-E74FD091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639AE-A21A-4508-84E9-5F4A0C6D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분산된 주문 데이터와 책임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A8BAE-77BF-4B2A-923D-EEFF4A5C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31C6E-1D2F-46AB-8976-0BBC4819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6E60-4A54-4D37-B59B-8E935294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자사몰과 외부 채널의 주문 정보를 ERP/WMS와 통관 시스템에 연결해야 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06ADD-83C8-444D-8861-CA6EEBC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7005A-014A-46A4-8E60-73ED374B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14525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1건이 여러 포장과 HBL로 나뉘고,</a:t>
            </a:r>
          </a:p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주문·인증·상품·출고 정보는 서로 다른 시스템에 있었습니다.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B982D-382E-47BA-87A1-F653E22E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6EAE9-8601-443A-AEFB-77AAADA8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E4A163-1A6A-4B98-ABC5-CC4EAB5C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주문·수하인·개인통관 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58AEA-CD1E-4B05-8698-0128EECD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7C37F-A978-45AE-AD46-F22CA932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2E595-8D0D-4847-AFB5-1B5C9D6C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포장·HBL·상품·출고 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862E7-9C4F-4C8C-BEE7-FDA388F1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4572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DAD1D-1B87-41B8-8B47-700E0991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9F3F8-8C79-4398-9FD7-5489C00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거래정보 제출·검증·접수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A8343-745E-4D01-ABCC-3EA042E0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571625"/>
            <a:ext cx="5924550" cy="3619500"/>
          </a:xfrm>
          <a:prstGeom xmlns:a="http://schemas.openxmlformats.org/drawingml/2006/main" prst="roundRect">
            <a:avLst>
              <a:gd name="adj" fmla="val 368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7F5D3-B280-4507-B16F-0D3736F3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828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같은 주문을 서로 다른 단위로 다루고 있었습니다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BC7386-B1D2-4E47-88C8-241A4ECE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 1건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C0720B-5518-4F6F-B80D-833BC256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90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61F95-5C62-4E9F-B683-1E0FD0AB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4315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9D9DE-50E2-4B53-8A52-A5E6FA3A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431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A / HBL 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E9FA2-B147-4D83-942A-D1456F1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A · HWB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91DF4-F72C-479A-90F6-1E4999D3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CE547-A752-44B7-80E1-40AC02CB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381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BDDEF0-0C17-4451-A7F5-E19D155C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포장 B / HBL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1A25B-0957-461A-8D78-7DE88F64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TRA001 B · HWB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C7FB8-F678-449A-8E69-78237AC9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48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쟁점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7F0B15-BE51-494A-9620-02177C67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62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기준으로 묶으면 분할 포장과 재제출 범위가 흐려졌습니다.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05336-8741-4572-A7CF-914A0D64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58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D7846A-1992-4015-9092-FF1BFAB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결정해야 할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E9970C-4BCE-48DD-94AF-A4AE5F69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14975"/>
            <a:ext cx="861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통관 제출·오류 수정·재전송을 어떤 단위로 묶을지 하나의 기준으로 고정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991C27-4C16-45C7-9D56-A20DD7B1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BAA11-4DF2-46A5-AB5A-80B596B7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문제 정의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72AA56-7363-4881-B5D7-CEA029C5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636051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C73EF9-39A7-4F8E-A5D1-3AC482F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36130-11F4-44B4-80B9-DC40B5E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분할 출고 단위를 포장 1건으로 통일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F2C96-2FE0-432A-B79A-01AA2BA4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A8120-5ACE-417E-BE89-337003F9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33324-3717-44EB-9EDD-93422833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주문번호·포장·신고·운송 식별 단위가 어긋나는 문제를 하나의 운영 규칙으로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C54B0-47FE-4DC4-AB71-9EC09A1E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585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1938F-FCB3-43A2-8729-4F793652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09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79522-9C37-4ACA-AC6F-7DFCC299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947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HBL = USD 150 이하 포장 1건 = TRA001 1건 = HWB 1건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80249-44B4-46B0-9380-B7017E5F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B2506-2B67-427A-A0F3-F5FDA843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추적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2423A-B6F3-417F-8DE8-0E4473D4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원주문번호는 고객 주문 추적에 유지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6937E-B2A5-43DD-9B09-113E23B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A9B5B-3BAF-4F8A-A26A-54B2189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제출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7565D-5891-452C-B2E2-1D5134B0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포장 단위로 거래정보와 HWB를 제출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8297E3-1284-4A86-B61F-C637F082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81275"/>
            <a:ext cx="3476625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BB6E7-BE20-4135-BDC8-22C57FD2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병합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F76AF-0D58-4C79-99A8-BCFB3E3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33675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hwbNo와 orderNo를 복합키로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ED60F-C97B-499B-B0AC-E1E84353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06680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6069ffb444bf7"/>
          <a:stretch xmlns:a="http://schemas.openxmlformats.org/drawingml/2006/main"/>
        </p:blipFill>
        <p:spPr>
          <a:xfrm xmlns:a="http://schemas.openxmlformats.org/drawingml/2006/main">
            <a:off x="781050" y="3851275"/>
            <a:ext cx="10591800" cy="1765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A17A7-4C1C-4290-9053-6E951A61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43600"/>
            <a:ext cx="4419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업체명은 역할명으로 치환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6BAD4-C051-4D6E-B77D-61D307C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37D7E-037F-4152-8A2F-5B9EA78C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분할 출고 기준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D487A-AE8B-4C65-8924-A3EE276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1685269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79A98A-D59A-4B1E-BA8B-D965A156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6CD86-FDBB-4B45-99F2-7FE9789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국내 DB를 기준점으로 데이터와 실행 책임을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B33F7-E518-414B-813E-7C61DC75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F0A8A-48F4-47B4-A032-4AFCA68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C0448-D27C-4F4B-B8D2-5E9B8261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판매 채널, ERP/WMS, 통관 시스템이 맡을 데이터와 실행 책임을 구분했습니다.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37150-F6BE-4AC4-8860-E025110B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959E6-CF85-4EE7-B917-2DD1DB43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판매 채널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6DF28-B475-4D21-B663-447C9EB7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주문·수하인·인증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9F727-C06D-460E-9C6E-F2832D60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ED91B-B386-435D-B807-6A6B4E9C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81DBA-1786-4970-BAAA-85F87409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국내 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27B2D-35B9-45BD-80B0-BEA064AA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E7EFF8"/>
                </a:solidFill>
                <a:latin typeface="Malgun Gothic"/>
                <a:ea typeface="Malgun Gothic"/>
                <a:cs typeface="Malgun Gothic"/>
              </a:rPr>
              <a:t>정규화·분기·상태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939EE-33A4-450B-AC59-36667216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D9D037-687E-497E-B41C-4C8C9DD5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268C9-59BC-41F1-A2CA-D4C963BE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ERP/WMS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808FD-D246-4467-AAC4-1FAEAFD9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포장·HBL·상품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3CDAA-C92E-499E-B24E-A85EB925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52625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8DAFA1-FAF2-4DF3-87E7-240D3AB1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28775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0D2AE-A99F-44C8-B009-7340829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1927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통관 시스템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12753-6674-4223-AE94-1EC9618F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00275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병합·검증·접수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4F23D-4F5C-4B1D-B3FB-63E5EAC2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오류 복구 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FF728C-AF84-4444-B99B-99D16C3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4174E-E43B-4654-BB92-9590D432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반려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03B342-60BF-4D75-B85D-3CBF2616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C3CFC3-3404-4778-95B3-5664A99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8DA3E-2ED0-40D0-B6C0-C527CAF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원천 시스템 수정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D48D63-30D4-489A-8BD7-93C0B5DB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A790B9-375C-4282-BA09-A3DEDE55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9FC57C-BDE2-4C68-A32A-C56C2AF7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동일 키 재전송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9FA24C-A7DC-4863-8C58-BBE7F09B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8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7C79CA-B4CA-46E1-9C2F-818B240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286125"/>
            <a:ext cx="2333625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9525">
            <a:solidFill>
              <a:srgbClr val="1B4F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6D2308-E516-4838-907E-54CC203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6710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접수 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3917BA-C5D7-4764-8DCA-5280ADA5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106680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93c881e12f4719"/>
          <a:stretch xmlns:a="http://schemas.openxmlformats.org/drawingml/2006/main"/>
        </p:blipFill>
        <p:spPr>
          <a:xfrm xmlns:a="http://schemas.openxmlformats.org/drawingml/2006/main">
            <a:off x="781050" y="4328491"/>
            <a:ext cx="10591800" cy="1496667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060C5-DBEE-46F0-9BF7-7FBC5D0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00750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실제 업무 문서 발췌 · 재전송과 최종검증 완료 기준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655E6B-FF4C-4DED-BE6C-0D454DA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A242FC-CB1E-4E8D-A986-27931A34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역할과 복구 경계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56B3DB-B60D-42EB-9ADC-9F117B2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1421051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426D39-4603-4C9C-8C72-0197EEA3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26268-87BD-4DE8-A2F0-EB69B267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접수·의도 오류·수정 재제출을 함께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E4EB6-4EE1-4752-BB41-CF15B911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C4B25-3B6F-4922-9B5B-3AEF8E54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B91A-4DAD-4F6D-8BA2-66247355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정상 경로만 확인하지 않고 오류 반환과 복구 경로까지 운영 환경에서 확인했습니다.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9B4EB-8E62-4381-867A-987265FE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383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1912A-C378-4110-9890-42B23BE0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03962-7E4F-4CE1-A51D-86308F4A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11374-7B2E-4FFA-B89A-268F6249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764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정상 접수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1A9AE-07A3-4689-B395-76B62F42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764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갖춘 거래정보 제출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32D7F-1094-453C-A9B9-2C3CF4E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145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286CE-E90B-4337-BD81-407DB0F3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764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 결과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D9D6E-16D2-470D-81A1-70E9678C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C2207-F4BA-4029-A286-591B03A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5B84E-1DBE-465C-B577-A3C5437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34F48-9A7D-4A65-AB4C-742CD64A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813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의도 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37C2D-DE49-41FF-B5E9-B653BDE2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813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필수값을 의도적으로 누락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245AE-5409-41A3-A2EE-CC1C75E8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76D998-2FE4-42B1-9233-BCF717AE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예상한 오류 응답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1EA0B-3763-4EB7-A4F5-3800C8C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0EA0A-B3A1-4B4A-BC9F-1D2AC7A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6222F-0F04-49A0-828F-0D166DEC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BABB0-7C4E-4830-8C35-0A19B63A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86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수정 재제출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4E5D5F-4993-4825-A9EA-15362803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35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원천값 수정 후 다시 제출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9A8A91-AAF9-416E-BD59-88144430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2432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0C7AE-95E8-4DEE-8CE2-8B5108A3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정상 접수로 전환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B8AFF1-EFFB-4934-99FA-A5D3FFC0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4F9C"/>
          </a:solidFill>
          <a:ln xmlns:a="http://schemas.openxmlformats.org/drawingml/2006/main" w="0">
            <a:solidFill>
              <a:srgbClr val="1B4F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2AD6F-247B-44A0-B5A6-1E6101B6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054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CE8F5"/>
                </a:solidFill>
                <a:latin typeface="Malgun Gothic"/>
                <a:ea typeface="Malgun Gothic"/>
                <a:cs typeface="Malgun Gothic"/>
              </a:rPr>
              <a:t>운영 환경 테스트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5313D-15FD-4A33-A932-B0C0FA96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48275"/>
            <a:ext cx="4629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30건 검증 · 목적 30/30 통과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47CE4D-5588-46A0-9834-F3204AF2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4099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5EC663-CD4C-4D7E-B054-721F03D8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863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954B88-3784-4207-87E9-C9DA7F25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816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세 유형별 개별 건수는 미확인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3815DF-AFAD-4D9E-B7B8-3E06AFCF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08F00-F617-49EA-9D8C-B2E0B952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운영 QA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DC5B1B-836B-4C84-9B99-6168A6F4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343160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C38FD7-7FBC-443F-B4CB-3E65E786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D2A5A-2B8F-46A3-A5EB-C92D9307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환경 30건 검증 후 상용 운영을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B8908-C23C-410E-A6E4-433B352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CUSTOMS 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ED504-E327-45B1-A323-BD1E679A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F5B9D-4284-45BB-99D4-3E29FBA8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2026-08-28부터 2026-09-15까지의 운영 집계와 측정 경계를 함께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0FC629-BEEE-4B52-B142-E7665D38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C1981-4BD1-4BB4-93CD-02FA58C3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30건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7323C-5F1F-4AA7-96E6-15BE2D5C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 검증 · 목적 30/30 통과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812A3-0A4A-4197-93BF-0D482EA2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16CBB-1430-40D1-8155-8B36C0F5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약 300건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A77B4-C538-425C-A632-7377CD7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일평균 발생 주문 규모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5966F-2462-496D-A1F7-E6B1F36C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24574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2014-AE43-4273-8BA2-32507641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19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230 / 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FC595-2C45-48CD-8EF8-76D939DF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86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자사몰 / 기타 주문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71F2B-E6CF-495B-93AD-B7898DB2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8003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55B06-3F65-4C8A-814A-5DD7968F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192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전체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40D4E-0139-47B8-98BC-7CECFA1C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86000"/>
            <a:ext cx="2533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집계 대상 주문 통관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5F9157-FA72-4BD7-953E-28343090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85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34276-217F-40E4-AEE9-6B8E136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051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94631B-000D-4CEE-B7CF-64416EA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57550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신규 연동과 기존 방식을 병행한 상태에서도 집계 대상 주문의 통관 완료를 확인했습니다.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61DF1-94FA-46C0-A94F-3FC3B93E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81425"/>
            <a:ext cx="890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환경에서 30건을 검증했고, 설정한 테스트 목적은 30/30 통과했습니다. 자동 처리율·신규 경로 비중·처리 시간은 별도 계측하지 않았습니다.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B36BB-2BBA-40CD-BC1B-4306E456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8585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B9C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C71AA9-188A-469B-B9CF-DA9FFB00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2026-08-28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2A76C-57AB-4EAD-BAB5-620B6A8C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상용 운영 시작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4EF48A-844B-4BFD-AC21-DEA72F05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24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5EF3CD-AAD1-4DD8-A841-DFC339E1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815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6437F"/>
                </a:solidFill>
                <a:latin typeface="Malgun Gothic"/>
                <a:ea typeface="Malgun Gothic"/>
                <a:cs typeface="Malgun Gothic"/>
              </a:rPr>
              <a:t>2026-09-15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78A36E-1A76-44F2-A54E-18B52FA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314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집계 기준일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C53876-7667-4FB9-91D9-7E8B1FE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9434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B4F9C"/>
                </a:solidFill>
                <a:latin typeface="Malgun Gothic"/>
                <a:ea typeface="Malgun Gothic"/>
                <a:cs typeface="Malgun Gothic"/>
              </a:rPr>
              <a:t>확인한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92117D-0751-4CA7-A2F2-89359EA8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일평균 약 300건 · 자사몰 230건 · 기타 70건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B5919-54FA-411A-8F79-15442DE1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010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2026-08-28~2026-09-15 집계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F9588-3069-41A6-8567-1D6F28E5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2C43C-93C3-4E24-8853-B06F8A4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관세청 프로젝트 · 결과와 한계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0EA65F-0AA7-480A-800A-DF294F1B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16441922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6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9322C9-AD6E-4FBD-9E74-744035BC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 02.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EAE52-06B2-4878-BDA7-71572A30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01 /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78370-EB11-49E0-A3CF-5A160D2B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5905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산후조리원 전용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B2B 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D3826-3F6A-46EC-B0AE-8D462774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600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4개 계정 유형과 혼합 주문 차단 기준을 설계하고,</a:t>
            </a:r>
          </a:p>
          <a:p xmlns:a="http://schemas.openxmlformats.org/drawingml/2006/main">
            <a:pPr algn="l">
              <a:def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운영 서버에서 직접 확인한 항목만 완료로 처리했습니다.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12B14-5879-4094-A76B-58996249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48075"/>
            <a:ext cx="5857875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5EA0-C092-43AE-8401-DD2CCD3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담당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E8332-E0BF-4BD9-9B36-F156808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4533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고객사·공급사의 주문, 납기, 출고, 정산 조율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821CE-A411-4E9B-87E6-8A89B1E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19F7E-0D32-43C5-853F-564EE3FE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2026-06 기획 · 2026-07-16 핵심 흐름 운영 · 2026-08-31 최종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EDED9-390E-4941-969B-522EB4CA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08968-9000-4821-89C5-24795303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3395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정책표 · 결제 규칙 · QA 결과 · 운영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E1EE3-5719-4748-81D7-19DACFC4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64820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a441807394cb5"/>
          <a:stretch xmlns:a="http://schemas.openxmlformats.org/drawingml/2006/main"/>
        </p:blipFill>
        <p:spPr>
          <a:xfrm xmlns:a="http://schemas.openxmlformats.org/drawingml/2006/main">
            <a:off x="6896100" y="1680246"/>
            <a:ext cx="4572000" cy="121150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902B08-F780-4EB9-B942-5664F23B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619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E3F1E9"/>
                </a:solidFill>
                <a:latin typeface="Malgun Gothic"/>
                <a:ea typeface="Malgun Gothic"/>
                <a:cs typeface="Malgun Gothic"/>
              </a:rPr>
              <a:t>실운영 홈 화면 발췌 · 2026-08-28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6B4E4-3A6F-4F06-8A46-EEE6FA5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5720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7563A"/>
          </a:solidFill>
          <a:ln xmlns:a="http://schemas.openxmlformats.org/drawingml/2006/main" w="0">
            <a:solidFill>
              <a:srgbClr val="175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A3E77-C84E-4FA6-B75E-CA36602F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433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화면에 반영한 운영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0B0CA-0A89-45A4-9960-5CE2A218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거래명세서 다운로드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당일 출고 마감 안내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배송 상태 확인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정확한 입금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88B13-6D7F-4BE9-A129-6460332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3F33D-8BE1-48E7-A19B-7A6D554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Project 02 · 산후조리원 B2B 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9BD97D-9C04-4A34-BAF0-008B5F3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9830864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7E9D02-B84E-4432-B88F-E049D0E2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69DCC-5F00-41C9-A30B-D940AFB3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시작 전 반복된 문제와 설계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487B9-B1CF-4443-8943-93E2B31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02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D2092-CCD3-4EC4-B5C2-A99153E3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2CEE1-8D00-4360-A711-D2BE4C5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오출고·문의·입금 대조 문제를 실제 운영 화면과 정책에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477F0-0444-4840-92D0-E8866CC3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F1D1-1770-4295-AF8A-33DA3AFE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 2~3건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530A9-62CB-4994-8EFB-F983C57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 오출고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52B77-29CE-4F92-A83F-7336F4F8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89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FB74D-743C-4281-B415-71E89684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FC17B-1814-47B0-8A17-DC2846FD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 CS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DB0E0-F719-4EAF-8149-A220C6E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4003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C1EFC-F866-4ED3-B77E-ABFE3B4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15~30분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25E77-62F7-4610-8EE2-9D243342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매일 입금 대조 시간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F378A-D69E-4B8F-9EEF-AA6A029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581150"/>
            <a:ext cx="8105775" cy="2209800"/>
          </a:xfrm>
          <a:prstGeom xmlns:a="http://schemas.openxmlformats.org/drawingml/2006/main" prst="roundRect">
            <a:avLst>
              <a:gd name="adj" fmla="val 2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72964d4914a18"/>
          <a:stretch xmlns:a="http://schemas.openxmlformats.org/drawingml/2006/main"/>
        </p:blipFill>
        <p:spPr>
          <a:xfrm xmlns:a="http://schemas.openxmlformats.org/drawingml/2006/main">
            <a:off x="3476625" y="1622195"/>
            <a:ext cx="8029575" cy="212771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2AC36-731B-4082-86F2-2A863CAE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3857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홈 화면 발췌 · 가격 영역 제외 · 2026-08-28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8B2BB-BDBE-4A15-9D82-3B9B730F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B834C-C56A-47D1-A7C0-96CF60B1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거래명세서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FDDCB-F12D-4EC7-A94D-177F9F01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후 직접 다운로드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D9920-CDD8-40B3-A71A-25A81C2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E2708-E2BB-454C-9221-E8FD87F5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출고 마감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E1411-FA4A-4090-A5F5-1F501B12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481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당일 10시 기준 안내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D745B6-DD3E-4138-8972-EBBB37BF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1C36D-96C9-4677-A1B1-77471D21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배송 상태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7440F-4416-4C10-934E-C251ED8A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송장번호와 진행 상태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72034-A3EC-41A8-8644-FA10332B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14925"/>
            <a:ext cx="38576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32E81-45B2-4E7E-B475-ECBA8A78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입금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B3D610-3B84-44F7-BFC9-4CAD7E49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28637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입금자명과 금액 대조 안내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7F355-E3E8-4179-A200-A729401F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입금 대조 시간의 개선 후 수치는 미측정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EF342-FA27-4AA5-8FF3-DE8E5D47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06ED68-4C2F-48E2-BF6F-D2BE66A7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문제와 화면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146F3D-959B-4B17-BB9D-3C26D343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394076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098C4B-6743-49AD-95B3-4FBD6FD8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16A3B-0935-432A-9F50-3DD41F7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기존 플랫폼에 계정·결제 정책을 추가하는 방식을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7466C-9C47-4D19-82CD-82E40F22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03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2E056-D2DD-494B-97C4-B1F95298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FFD77-8224-4FCE-90BD-60A8283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 러닝커브, 기존 인프라 일치, 유지보수 책임범위, 구축비용 순서로 판단했습니다.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73F62-27F9-419E-9A57-A565A0C6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4667A-8B9D-43EC-8583-C3046796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A796F-9A41-417D-A800-5FF4D29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① 운영팀 러닝커브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7F88B-25C2-40E8-9AA8-E8BA015E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ECE95-74CD-45FA-82F8-CADFDD4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② 기존 인프라 일치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12609-91B4-44B7-BC50-2D3C73CB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53884F-E826-4927-A2DB-54D56755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③ 유지보수 책임범위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48739-F67A-4622-9971-141E847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466850"/>
            <a:ext cx="2266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66641-AB2D-4F67-8A56-A6942851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④ 구축비용 · 금액 비공개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E2479-CC18-48FF-8D37-E082CCF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대안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0B632-41A6-4EE4-AC08-19A5B7E1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6692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확인한 핵심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63895-C070-453A-A8E6-8F03A49E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669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2B7152-9C1E-453E-A6BC-7A657C15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CDD01-071B-4E0E-AB0C-B44B692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6"/>
          </a:solidFill>
          <a:ln xmlns:a="http://schemas.openxmlformats.org/drawingml/2006/main" w="0">
            <a:solidFill>
              <a:srgbClr val="F4F4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519C55-8BFE-41B0-A9EE-9D3F26D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맞춤형 웹서비스 직접 개발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69A92-FA01-4BBE-B733-7983499E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384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유지보수 책임이 내부로 확대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C0A78-E5BB-4A26-A7E1-2307C296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19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C9D99-B030-4835-AAD6-B7BC880D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다른 쇼핑몰 솔루션 전환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7570F-0F45-41AA-9DDA-2D3906D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운영팀이 새 솔루션을 다시 학습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00B92-96F8-4729-99B3-4C88689B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28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제외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AB80E4-AD64-4D79-9751-DA93F2FF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58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36DE0B-6651-4642-8615-D9F5B70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기존 커머스 솔루션 + 정책 맞춤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5CA09-5F6A-47F9-9FB3-104CA69A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5762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기존 인프라와 운영 방식을 유지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AF300-4FEE-4036-9AE3-75D6F712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385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채택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D39293-BAF6-42C8-A45C-50DB8BC8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범위에서 제외한 기능과 이유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0F28F0-7B2F-44C0-B4DA-557FDD5A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10D0E6-82CE-4AA8-8E2F-C55638E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A35D9C-3A25-4048-A5B2-3836A15D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59970A-0241-4E9D-8C81-F4799C2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PG 결제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0172B4-46E0-49E1-8B80-A0E218E8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B2B 마진 대비 수수료 부담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63D70F-069B-4851-A1CA-FA8BEE1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3A2839-6124-478D-9C91-18183BB6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C7F11-785F-4877-B4DE-EA8FF78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BF0CFC-8BEA-4A53-B30B-DD75FDD4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견적서 신규 개발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58AAC0-4549-484F-BFC8-7D0CF78B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기본 거래명세서로 대체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8C0E02-6442-43FD-8295-5443A27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8225"/>
            <a:ext cx="3476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71251F-63A5-4543-9F05-D9E75262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72050"/>
            <a:ext cx="342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B3C44D-F518-4F9A-B12C-61AF7C1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8C7D33-34A9-491B-98C5-EDD2E17E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752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포인트 완전 자동화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C6E88B-F4ED-4E4A-91C5-FC49672E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133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계약 상태 변경 시 지급 번복 위험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A177C6-B327-4FF7-BF2B-6E642809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3809F2-9056-4330-8FCD-4D5DD03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대안과 범위 결정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DF390B-CC07-4069-9073-73EA31B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1092934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4A3289-0F7F-408D-8267-3258EE8B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03C88-9DB9-41F5-BAB1-D9DA6233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개발 완료 통보 뒤에도 마이페이지 진입이 되지 않았습니다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7B397-8C50-478B-B186-CE1FA3CD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04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E6DEA-87A3-4F31-8149-960AB5A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D92C4-BE70-4908-AC9C-4FF32F83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완료의 기준을 개발사 회신에서 운영 서버 직접 확인으로 바꾼 사례입니다.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129D0D-CBEE-4297-9697-C9ABEC71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B2BE1-8099-4F42-895E-ADB6FA2A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554D5-A2FE-4468-9A3B-D33E8AB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09B7B-C093-4002-993E-8E73CC9F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현상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24345-BBE6-4518-BC54-494E3C1C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마이페이지 ‘정보 수정’ 진입 실패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83C51-E7EF-415F-95CF-EB70D98C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0DE25-2992-4FC6-80BC-423F00E8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EDC09-D35E-4DEC-9650-6F2C6C37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E5E7E-FEDE-4664-BB16-D2F6BF90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22235-2CFD-457A-A5D5-2FF9EC7A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6670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 미반영과 기존 차단 로직 잔존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287C5-FC8E-4163-BD50-6F87158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0F90B-85D1-4425-91ED-4CF277A9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F2F77-AD70-4331-82E8-F5EF04F1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435755-C772-401F-958D-BC9575F9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분리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4B9A33-6919-4834-B50A-E7BE2CD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43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배포 여부와 차단 조건을 각각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76F77A-030C-47C4-9C86-DCEFB785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C23C6A-F850-4157-B3AC-92182DC1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457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86FA6-4CEF-4B9B-9AAE-76CFF739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9EBBB-6EBA-4CF3-8994-27E21216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9B100C-64DF-49A5-9728-520E82E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196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운영 서버에서 기대 결과를 직접 확인한 경우만 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89815B-9EDE-4C18-BB6A-5C356B6E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314950" cy="4267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D5DA2-720A-443C-91D3-A7424D69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19275"/>
            <a:ext cx="481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사례가 발생한 실제 화면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C50B5-C475-4FF9-A1E0-8562905A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0275"/>
            <a:ext cx="2476500" cy="29337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4da40a57746a0"/>
          <a:stretch xmlns:a="http://schemas.openxmlformats.org/drawingml/2006/main"/>
        </p:blipFill>
        <p:spPr>
          <a:xfrm xmlns:a="http://schemas.openxmlformats.org/drawingml/2006/main">
            <a:off x="7354917" y="2238375"/>
            <a:ext cx="1482665" cy="28575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322A56-4CAF-48E1-98F6-2A40269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38375"/>
            <a:ext cx="1581150" cy="285750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885C2-7C7D-4DC5-9CC3-6B3889B6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 항목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DCFF27-8BF5-4BD6-87C1-4D87422B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876550"/>
            <a:ext cx="1219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정보 수정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메뉴 노출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진입 가능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배포 여부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차단 조건 잔존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71906F-21E1-4BF4-B5F6-2D0A852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86375"/>
            <a:ext cx="3581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2026-08-28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78BF0-DCD8-42A6-B726-D0A5A771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A01266-1C15-4A72-84CA-42CC064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운영 서버 QA 사례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7E2A96-6FB3-46AA-B5D8-2F4625B7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1229623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5D570F-D5B6-4DA2-B056-D29DD25D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CF220-B434-4AF3-8289-6E35D82B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4개 계정 유형의 상품·결제 정책을 한 표로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DF411-2554-4F1B-9647-15BAAA2F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05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66DE-DB7E-4976-8E8F-511B56EB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8E3C-C107-49A9-81DE-2809CA2F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등급과 카테고리 조합으로 결제 방식을 정하고, 결제 방식이 다른 혼합 주문을 차단했습니다.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1DA39-A74D-4DC1-99F7-856043B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775335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344785815497c"/>
          <a:stretch xmlns:a="http://schemas.openxmlformats.org/drawingml/2006/main"/>
        </p:blipFill>
        <p:spPr>
          <a:xfrm xmlns:a="http://schemas.openxmlformats.org/drawingml/2006/main">
            <a:off x="647700" y="1807425"/>
            <a:ext cx="7677150" cy="257639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AC9829-6BCD-41DF-9565-3E35534C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95825"/>
            <a:ext cx="554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업무 문서 발췌 · 원문 ‘선불입금/후불입금’은 현행 ‘분유(선불/후불)’로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13C23-4C7D-4A59-A0C4-A693ECB4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028950"/>
          </a:xfrm>
          <a:prstGeom xmlns:a="http://schemas.openxmlformats.org/drawingml/2006/main" prst="roundRect">
            <a:avLst>
              <a:gd name="adj" fmla="val 4636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BAD4A-AB8F-40BF-8CE1-CB4370BC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38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결정한 정책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CDE4C-2646-4729-8B42-7C65760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860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물품계약(후불)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분유(선불)</a:t>
            </a:r>
          </a:p>
          <a:p xmlns:a="http://schemas.openxmlformats.org/drawingml/2006/main">
            <a:pPr algn="ctr">
              <a:def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분유(후불)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47CB4-0D3A-4ABB-A622-21D0C6CB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62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6774D-3B0F-406E-BE8D-3A240515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81425"/>
            <a:ext cx="2381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관리자가 등급 × 카테고리 표에서</a:t>
            </a:r>
          </a:p>
          <a:p xmlns:a="http://schemas.openxmlformats.org/drawingml/2006/main">
            <a:pPr algn="ctr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결제 방식을 설정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827CD-4801-4532-A8CD-599040A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858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79C62-0DC4-48CF-8105-829DF966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혼합 주문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89DB2-D259-425E-99BE-16D6C29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48275"/>
            <a:ext cx="842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선불 상품과 후불 상품을 한 주문에 담는 경우 양방향으로 차단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08145-9DD5-4960-A24C-8684BB5B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07D19-BC4B-4CDE-8B68-FD483C10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계정·결제 정책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18FAF-D6E0-4571-B124-24A8EF0C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3787879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88148-DAC8-4AEC-8E02-E98252F0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C10EC-F8C4-4F77-8441-3BD55261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52425"/>
            <a:ext cx="840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핵심 흐름 가동 후 오출고와 CS 문의 변화를 관찰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F2373-B4DA-400C-8681-691B46BF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9100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B2B 06 /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9A7A4-DC54-4275-B671-3528650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F92EA-F839-465C-8C03-E9760F6E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44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운영 초기 결과와 측정하지 못한 항목을 함께 표기했습니다.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7F950-2CC3-41F9-8626-4A4930D3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3FAF6"/>
          </a:solidFill>
          <a:ln xmlns:a="http://schemas.openxmlformats.org/drawingml/2006/main" w="9525">
            <a:solidFill>
              <a:srgbClr val="BFDC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5C208-092A-49CA-96D9-61FC5F93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오출고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0971B-A51B-423B-B54C-138A6DBE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193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월평균 2~3건  →  0건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FB759-8421-4ED7-B6FB-B1E463F7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직전 6개월 평균과 2026-07-16 이후 약 1개월 전체 측정 비교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7DF0B-E3B4-4311-9654-7B09A68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667125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BEAD0-0FE1-437F-9AA3-D8F83270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CS 문의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F661E-D97A-4DB6-8F1F-B94D35E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171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E6B45"/>
                </a:solidFill>
                <a:latin typeface="Malgun Gothic"/>
                <a:ea typeface="Malgun Gothic"/>
                <a:cs typeface="Malgun Gothic"/>
              </a:rPr>
              <a:t>32건  →  19건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86087-D62C-43A1-81C4-A5DA14E4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3171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2026-01~2026-06의 2주 환산치와 2026-07~2026-08 배포 구간 2주 집계 비교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73916-6BA1-451D-81A9-471731AD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90675"/>
            <a:ext cx="6838950" cy="3562350"/>
          </a:xfrm>
          <a:prstGeom xmlns:a="http://schemas.openxmlformats.org/drawingml/2006/main" prst="roundRect">
            <a:avLst>
              <a:gd name="adj" fmla="val 3743"/>
            </a:avLst>
          </a:prstGeom>
          <a:solidFill xmlns:a="http://schemas.openxmlformats.org/drawingml/2006/main">
            <a:srgbClr val="F4F4F6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0E6CE-1DD5-4150-AED3-C5136691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28800"/>
            <a:ext cx="634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운영 상태를 확인한 실제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BA3F4-05F4-4CBF-BE82-2E35612D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28850"/>
            <a:ext cx="64198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82b601b67461b"/>
          <a:stretch xmlns:a="http://schemas.openxmlformats.org/drawingml/2006/main"/>
        </p:blipFill>
        <p:spPr>
          <a:xfrm xmlns:a="http://schemas.openxmlformats.org/drawingml/2006/main">
            <a:off x="4914900" y="2269448"/>
            <a:ext cx="6343650" cy="1299928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6E496-C45D-494A-97D8-0BF28162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4648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17563A"/>
                </a:solidFill>
                <a:latin typeface="Malgun Gothic"/>
                <a:ea typeface="Malgun Gothic"/>
                <a:cs typeface="Malgun Gothic"/>
              </a:rPr>
              <a:t>실운영 마이페이지 발췌 · 주문 현황은 운영 화면 구조 확인용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14678B-E1C6-4BD1-BF8B-440334E4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확인한 변화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F3C54-C055-43DF-8B7A-D4FEB532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91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주문 상태를 직접 확인할 수 있는 흐름과 운영 안내가 가동되었습니다.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61993-516A-41A0-A1D0-F176E03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52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A1A1A"/>
                </a:solidFill>
                <a:latin typeface="Malgun Gothic"/>
                <a:ea typeface="Malgun Gothic"/>
                <a:cs typeface="Malgun Gothic"/>
              </a:rPr>
              <a:t>관찰 범위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EFFE9-A3BE-45A6-89C7-65196C71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05325"/>
            <a:ext cx="491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7676C"/>
                </a:solidFill>
                <a:latin typeface="Malgun Gothic"/>
                <a:ea typeface="Malgun Gothic"/>
                <a:cs typeface="Malgun Gothic"/>
              </a:rPr>
              <a:t>초기 운영 약 1개월. 입금 대조 시간과 장기 지속 효과는 미측정입니다.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89976-87E4-4B02-B948-46163CE6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5850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E6B45"/>
          </a:solidFill>
          <a:ln xmlns:a="http://schemas.openxmlformats.org/drawingml/2006/main" w="0">
            <a:solidFill>
              <a:srgbClr val="1E6B4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4BF83-6AA8-45F4-B60B-4CC5D9A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483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D9EFE2"/>
                </a:solidFill>
                <a:latin typeface="Malgun Gothic"/>
                <a:ea typeface="Malgun Gothic"/>
                <a:cs typeface="Malgun Gothic"/>
              </a:rPr>
              <a:t>결과 해석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814B80-A2DC-4827-9EBF-416C193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81650"/>
            <a:ext cx="899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초기 운영 결과는 오출고와 CS 문의로 확인했습니다. 입금 대조 시간과 장기 지속 효과는 후속 측정 항목입니다.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8D35D-06A1-4673-82F0-95EEA50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6D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5AC40E-A4B5-40B8-9123-0A2A11A9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919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산후조리원 B2B 몰 · 결과와 측정 경계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751BD-D5FF-4647-9BD0-9B00B73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15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defRPr>
            </a:pPr>
            <a:r>
              <a:rPr sz="675" b="0">
                <a:solidFill>
                  <a:srgbClr val="96969C"/>
                </a:solidFill>
                <a:latin typeface="Malgun Gothic"/>
                <a:ea typeface="Malgun Gothic"/>
                <a:cs typeface="Malgun Gothic"/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635203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박종혁</dc:creator>
  <lastModifiedBy>박종혁</lastModifiedBy>
  <dc:title>박종혁 PM 포트폴리오 v4.1</dc:title>
  <dcterms:created xsi:type="dcterms:W3CDTF">2026-09-16T23:32:23.6200000Z</dcterms:created>
  <dcterms:modified xsi:type="dcterms:W3CDTF">2026-09-16T23:32:23.6200000Z</dcterms:modified>
</coreProperties>
</file>