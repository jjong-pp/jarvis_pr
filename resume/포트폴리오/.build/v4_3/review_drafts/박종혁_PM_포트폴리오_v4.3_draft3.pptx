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611dae75cb346e7" /><Relationship Type="http://schemas.openxmlformats.org/officeDocument/2006/relationships/extended-properties" Target="/docProps/app.xml" Id="R5abdcdd779914fad" /><Relationship Type="http://schemas.openxmlformats.org/officeDocument/2006/relationships/officeDocument" Target="/ppt/presentation.xml" Id="R37f1b19bfa4a42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7c25f0be8c84d1c"/>
  </p:sldMasterIdLst>
  <p:notesMasterIdLst>
    <p:notesMasterId xmlns:r="http://schemas.openxmlformats.org/officeDocument/2006/relationships" r:id="R3ff1eba5b4524e08"/>
  </p:notesMasterIdLst>
  <p:sldIdLst>
    <p:sldId xmlns:r="http://schemas.openxmlformats.org/officeDocument/2006/relationships" id="256" r:id="R9805240d6410438c"/>
    <p:sldId xmlns:r="http://schemas.openxmlformats.org/officeDocument/2006/relationships" id="257" r:id="R876cd35538ce4ca2"/>
    <p:sldId xmlns:r="http://schemas.openxmlformats.org/officeDocument/2006/relationships" id="258" r:id="R32845686be8c4780"/>
    <p:sldId xmlns:r="http://schemas.openxmlformats.org/officeDocument/2006/relationships" id="259" r:id="R4cdedc80d7bf4f73"/>
    <p:sldId xmlns:r="http://schemas.openxmlformats.org/officeDocument/2006/relationships" id="260" r:id="R26159ea8e0754068"/>
    <p:sldId xmlns:r="http://schemas.openxmlformats.org/officeDocument/2006/relationships" id="261" r:id="R7a41d9d6d67c481d"/>
    <p:sldId xmlns:r="http://schemas.openxmlformats.org/officeDocument/2006/relationships" id="262" r:id="R995aa63ec46f4118"/>
    <p:sldId xmlns:r="http://schemas.openxmlformats.org/officeDocument/2006/relationships" id="263" r:id="R1e19a1e82f274a6c"/>
    <p:sldId xmlns:r="http://schemas.openxmlformats.org/officeDocument/2006/relationships" id="264" r:id="R4ce85efc3e3042e7"/>
    <p:sldId xmlns:r="http://schemas.openxmlformats.org/officeDocument/2006/relationships" id="265" r:id="Ra1c7a2d03bba4b3f"/>
    <p:sldId xmlns:r="http://schemas.openxmlformats.org/officeDocument/2006/relationships" id="266" r:id="R3f17fa8b6e1c4688"/>
    <p:sldId xmlns:r="http://schemas.openxmlformats.org/officeDocument/2006/relationships" id="267" r:id="Rf4f4cec8114c4895"/>
    <p:sldId xmlns:r="http://schemas.openxmlformats.org/officeDocument/2006/relationships" id="268" r:id="R3e2eaa262ebf48f9"/>
    <p:sldId xmlns:r="http://schemas.openxmlformats.org/officeDocument/2006/relationships" id="269" r:id="R73640d19338c4b7a"/>
    <p:sldId xmlns:r="http://schemas.openxmlformats.org/officeDocument/2006/relationships" id="270" r:id="Rf6b423f6ecbb4a6c"/>
    <p:sldId xmlns:r="http://schemas.openxmlformats.org/officeDocument/2006/relationships" id="271" r:id="Ra30ebea889654bd3"/>
    <p:sldId xmlns:r="http://schemas.openxmlformats.org/officeDocument/2006/relationships" id="272" r:id="R99c21dc0b1d04005"/>
    <p:sldId xmlns:r="http://schemas.openxmlformats.org/officeDocument/2006/relationships" id="273" r:id="Rb7e580fec48c4c68"/>
    <p:sldId xmlns:r="http://schemas.openxmlformats.org/officeDocument/2006/relationships" id="274" r:id="Rf5c39fb05ff0485a"/>
    <p:sldId xmlns:r="http://schemas.openxmlformats.org/officeDocument/2006/relationships" id="275" r:id="R8187bd893fda43e0"/>
    <p:sldId xmlns:r="http://schemas.openxmlformats.org/officeDocument/2006/relationships" id="276" r:id="R04138c8c2c224ac3"/>
    <p:sldId xmlns:r="http://schemas.openxmlformats.org/officeDocument/2006/relationships" id="277" r:id="R9627af6f448f49e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db0eda4cd4545b9" /><Relationship Type="http://schemas.openxmlformats.org/officeDocument/2006/relationships/slideMaster" Target="/ppt/slideMasters/slideMaster1.xml" Id="R67c25f0be8c84d1c" /><Relationship Type="http://schemas.openxmlformats.org/officeDocument/2006/relationships/notesMaster" Target="/ppt/notesMasters/notesMaster1.xml" Id="R3ff1eba5b4524e08" /><Relationship Type="http://schemas.openxmlformats.org/officeDocument/2006/relationships/presProps" Target="/ppt/presProps.xml" Id="Ra1ec6bba411447c5" /><Relationship Type="http://schemas.openxmlformats.org/officeDocument/2006/relationships/tableStyles" Target="/ppt/tableStyles.xml" Id="R543a65ea114344b1" /><Relationship Type="http://schemas.openxmlformats.org/officeDocument/2006/relationships/slide" Target="/ppt/slides/slide1.xml" Id="R9805240d6410438c" /><Relationship Type="http://schemas.openxmlformats.org/officeDocument/2006/relationships/slide" Target="/ppt/slides/slide2.xml" Id="R876cd35538ce4ca2" /><Relationship Type="http://schemas.openxmlformats.org/officeDocument/2006/relationships/slide" Target="/ppt/slides/slide3.xml" Id="R32845686be8c4780" /><Relationship Type="http://schemas.openxmlformats.org/officeDocument/2006/relationships/slide" Target="/ppt/slides/slide4.xml" Id="R4cdedc80d7bf4f73" /><Relationship Type="http://schemas.openxmlformats.org/officeDocument/2006/relationships/slide" Target="/ppt/slides/slide5.xml" Id="R26159ea8e0754068" /><Relationship Type="http://schemas.openxmlformats.org/officeDocument/2006/relationships/slide" Target="/ppt/slides/slide6.xml" Id="R7a41d9d6d67c481d" /><Relationship Type="http://schemas.openxmlformats.org/officeDocument/2006/relationships/slide" Target="/ppt/slides/slide7.xml" Id="R995aa63ec46f4118" /><Relationship Type="http://schemas.openxmlformats.org/officeDocument/2006/relationships/slide" Target="/ppt/slides/slide8.xml" Id="R1e19a1e82f274a6c" /><Relationship Type="http://schemas.openxmlformats.org/officeDocument/2006/relationships/slide" Target="/ppt/slides/slide9.xml" Id="R4ce85efc3e3042e7" /><Relationship Type="http://schemas.openxmlformats.org/officeDocument/2006/relationships/slide" Target="/ppt/slides/slide10.xml" Id="Ra1c7a2d03bba4b3f" /><Relationship Type="http://schemas.openxmlformats.org/officeDocument/2006/relationships/slide" Target="/ppt/slides/slide11.xml" Id="R3f17fa8b6e1c4688" /><Relationship Type="http://schemas.openxmlformats.org/officeDocument/2006/relationships/slide" Target="/ppt/slides/slide12.xml" Id="Rf4f4cec8114c4895" /><Relationship Type="http://schemas.openxmlformats.org/officeDocument/2006/relationships/slide" Target="/ppt/slides/slide13.xml" Id="R3e2eaa262ebf48f9" /><Relationship Type="http://schemas.openxmlformats.org/officeDocument/2006/relationships/slide" Target="/ppt/slides/slide14.xml" Id="R73640d19338c4b7a" /><Relationship Type="http://schemas.openxmlformats.org/officeDocument/2006/relationships/slide" Target="/ppt/slides/slide15.xml" Id="Rf6b423f6ecbb4a6c" /><Relationship Type="http://schemas.openxmlformats.org/officeDocument/2006/relationships/slide" Target="/ppt/slides/slide16.xml" Id="Ra30ebea889654bd3" /><Relationship Type="http://schemas.openxmlformats.org/officeDocument/2006/relationships/slide" Target="/ppt/slides/slide17.xml" Id="R99c21dc0b1d04005" /><Relationship Type="http://schemas.openxmlformats.org/officeDocument/2006/relationships/slide" Target="/ppt/slides/slide18.xml" Id="Rb7e580fec48c4c68" /><Relationship Type="http://schemas.openxmlformats.org/officeDocument/2006/relationships/slide" Target="/ppt/slides/slide19.xml" Id="Rf5c39fb05ff0485a" /><Relationship Type="http://schemas.openxmlformats.org/officeDocument/2006/relationships/slide" Target="/ppt/slides/slide20.xml" Id="R8187bd893fda43e0" /><Relationship Type="http://schemas.openxmlformats.org/officeDocument/2006/relationships/slide" Target="/ppt/slides/slide21.xml" Id="R04138c8c2c224ac3" /><Relationship Type="http://schemas.openxmlformats.org/officeDocument/2006/relationships/slide" Target="/ppt/slides/slide22.xml" Id="R9627af6f448f49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b43e5b8f8f462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d9023bc7164a0f" /><Relationship Type="http://schemas.openxmlformats.org/officeDocument/2006/relationships/notesMaster" Target="/ppt/notesMasters/notesMaster1.xml" Id="Re55aef53cc4a4c1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ee0d7a21c684446" /><Relationship Type="http://schemas.openxmlformats.org/officeDocument/2006/relationships/notesMaster" Target="/ppt/notesMasters/notesMaster1.xml" Id="Rac29f72c877749f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b5bb6cbefbe4d43" /><Relationship Type="http://schemas.openxmlformats.org/officeDocument/2006/relationships/notesMaster" Target="/ppt/notesMasters/notesMaster1.xml" Id="R33f05a5343764fc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bf604294b0e4f57" /><Relationship Type="http://schemas.openxmlformats.org/officeDocument/2006/relationships/notesMaster" Target="/ppt/notesMasters/notesMaster1.xml" Id="R1ca06337cd8c4d9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c53e83e68cb4ab5" /><Relationship Type="http://schemas.openxmlformats.org/officeDocument/2006/relationships/notesMaster" Target="/ppt/notesMasters/notesMaster1.xml" Id="R25bae27645bc459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7c910aa36334a67" /><Relationship Type="http://schemas.openxmlformats.org/officeDocument/2006/relationships/notesMaster" Target="/ppt/notesMasters/notesMaster1.xml" Id="R2e824c27353d453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25664e788054703" /><Relationship Type="http://schemas.openxmlformats.org/officeDocument/2006/relationships/notesMaster" Target="/ppt/notesMasters/notesMaster1.xml" Id="R54225e1261a440b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12feb467f3a4b8c" /><Relationship Type="http://schemas.openxmlformats.org/officeDocument/2006/relationships/notesMaster" Target="/ppt/notesMasters/notesMaster1.xml" Id="R19b43286b77b442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3c9f9b8555344d1" /><Relationship Type="http://schemas.openxmlformats.org/officeDocument/2006/relationships/notesMaster" Target="/ppt/notesMasters/notesMaster1.xml" Id="R4b22e96b4b7b413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4e5d3e3052e47c6" /><Relationship Type="http://schemas.openxmlformats.org/officeDocument/2006/relationships/notesMaster" Target="/ppt/notesMasters/notesMaster1.xml" Id="R0e2da41f16394b7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72767fee2b147d2" /><Relationship Type="http://schemas.openxmlformats.org/officeDocument/2006/relationships/notesMaster" Target="/ppt/notesMasters/notesMaster1.xml" Id="R1e46cbf0d39a476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107b4468da44bde" /><Relationship Type="http://schemas.openxmlformats.org/officeDocument/2006/relationships/notesMaster" Target="/ppt/notesMasters/notesMaster1.xml" Id="R2a201d7c549d4e6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f3151cec9064f8e" /><Relationship Type="http://schemas.openxmlformats.org/officeDocument/2006/relationships/notesMaster" Target="/ppt/notesMasters/notesMaster1.xml" Id="Rd8ebf1b2581c43e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105454ac0ff40b7" /><Relationship Type="http://schemas.openxmlformats.org/officeDocument/2006/relationships/notesMaster" Target="/ppt/notesMasters/notesMaster1.xml" Id="R3b192ef1fcc84b9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df2fd20d6164823" /><Relationship Type="http://schemas.openxmlformats.org/officeDocument/2006/relationships/notesMaster" Target="/ppt/notesMasters/notesMaster1.xml" Id="R35ee61f59b6b4a2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1a664013cd7477e" /><Relationship Type="http://schemas.openxmlformats.org/officeDocument/2006/relationships/notesMaster" Target="/ppt/notesMasters/notesMaster1.xml" Id="Rfcbf64104bde438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b7f8119072945c3" /><Relationship Type="http://schemas.openxmlformats.org/officeDocument/2006/relationships/notesMaster" Target="/ppt/notesMasters/notesMaster1.xml" Id="R6db232e6fae7405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7d7622612c149b6" /><Relationship Type="http://schemas.openxmlformats.org/officeDocument/2006/relationships/notesMaster" Target="/ppt/notesMasters/notesMaster1.xml" Id="R451d4675ccc0465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60f7e516c7c4494" /><Relationship Type="http://schemas.openxmlformats.org/officeDocument/2006/relationships/notesMaster" Target="/ppt/notesMasters/notesMaster1.xml" Id="Rd56f45441668471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36f43117507430f" /><Relationship Type="http://schemas.openxmlformats.org/officeDocument/2006/relationships/notesMaster" Target="/ppt/notesMasters/notesMaster1.xml" Id="R3a187c9427044ae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79aa34ade104a44" /><Relationship Type="http://schemas.openxmlformats.org/officeDocument/2006/relationships/notesMaster" Target="/ppt/notesMasters/notesMaster1.xml" Id="Rb370b5dd5d094b2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ba93660ec10487c" /><Relationship Type="http://schemas.openxmlformats.org/officeDocument/2006/relationships/notesMaster" Target="/ppt/notesMasters/notesMaster1.xml" Id="Ra5f201a6ae574bb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C-002·003·010a·025·039·077~087·126.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C-021·022·025·031·039.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C-020~028·101·126. 운영 시작과 전체 자동화 완료는 구분.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C-025·028·101·126. planning_v7.html 4·8·9절. 원본은 내부 문서로 도표를 일반화해 재구성.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C-025·028·126. 기준 디자인 원본 5장 대안 비교·책임 분담. 각 개발사의 실제 구현을 본인의 단독 개발로 표현하지 않음.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C-025·028·101·128. planning_v7.html 4·8·9절. 재구성 흐름도.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C-029. planning_v7.html 8절 공통 식별자. orderNo는 원주문번호, erpPackageOrderNo는 ERP 포장번호, 병합키는 hwbNo+orderNo. 시뮬레이션은 실제 주문·운영 로그가 아님.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C-127. 리스크·질의대장 2026-08-26 협의 이력(572·622행). 실제 당시 의사결정 사례이며 현재 모든 채널에 적용되는 일괄 정책으로 확대하지 않음.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C-128. planning_v7.html 9절 상태와 재시도. merged는 통관 완료가 아니며 pending은 대기와 검증 실패를 조회로 구분. 구현 완료 상태는 주장하지 않음.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C-027. 2026-08-28 사용자 직접 확인: 운영 환경 30건 검증, 테스트 목적 30/30 통과. 유형별 건수와 오류코드는 원본 로그가 없어 기재하지 않음.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C-100·101·102·103. 2026-09-15 사용자 확인 운영 집계. 후속 통관정보 보완 웹서비스는 기획 중이며 배포나 효과 검증 완료가 아님.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C-030~039·076. 사업 규모와 확정 일정. 계약 항목 전체 완료와 핵심 서비스 가동을 구분.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C-030·035·040·042·043. 기준 디자인 원본 10장 업무 흐름. 초기 오출고 전체 측정 범위와 문의 환산 기준은 결과 장에 명시.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C-035·036·130. 대안 비교와 범위 제외 근거. 공급사 직접 입력·입금자동매칭은 구현 증빙 수준이 달라 핵심 성과에서 제외.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C-033·129. 산후조리원몰_과업내역_처리결과.html 과업1, 228~250행. 수치가 포함된 계정·상품 데이터는 캡처에서 제외.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C-047·048·131·132. 실제 운영 홈·마이페이지 캡처. 업무 흐름은 현재 정책 기반 재구성. 공급사별 권한·송장입력은 증거 부족으로 제외.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C-034. 산후조리원몰_과업내역_처리결과.html 322~327행. 실제 주문을 재현한 로그가 아닌 정책 설명 시뮬레이션.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C-036·130. 산후조리원몰_과업내역_처리결과.html 452~477행. 자동 실행 대신 담당자 확인 후 실행 결정과 안전장치 근거.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C-038·046. 산후조리원몰_과업내역_처리결과.html 329~344행. 수용 기준은 실제 문제·요구사항을 바탕으로 재구성.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C-131. 산후조리원몰_과업내역_처리결과.html 695~721행. 2026-08-13 운영 반영 및 고객 화면 확인 명시. 개발사 구현과 본인 요구·운영 검수 역할을 구분.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C-031·040·042·043·044. 정산시간 C-041은 비교 월 미확인으로 제외. 입금자동매칭 완료·서비스 밖 문의 개선을 주장하지 않음.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경력 사실 원장 C-025·027·029·034·038·040·042·126~131.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26bac5ab30495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2e2e2abf3d4064" /><Relationship Type="http://schemas.openxmlformats.org/officeDocument/2006/relationships/slideLayout" Target="/ppt/slideLayouts/slideLayout1.xml" Id="R75f8cefb4ea2438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f8cefb4ea2438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b1aebcbdc54118" /><Relationship Type="http://schemas.openxmlformats.org/officeDocument/2006/relationships/image" Target="/ppt/media/image.png" Id="R25076d4f3918444c" /><Relationship Type="http://schemas.openxmlformats.org/officeDocument/2006/relationships/notesSlide" Target="/ppt/notesSlides/notesSlide1.xml" Id="R781a03989d8347b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14f7f637c345b3" /><Relationship Type="http://schemas.openxmlformats.org/officeDocument/2006/relationships/notesSlide" Target="/ppt/notesSlides/notesSlide2.xml" Id="R9269dfec897d4a9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76ecef04174a79" /><Relationship Type="http://schemas.openxmlformats.org/officeDocument/2006/relationships/notesSlide" Target="/ppt/notesSlides/notesSlide3.xml" Id="Rc56c9a5a9fb14d5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873bd411314f9c" /><Relationship Type="http://schemas.openxmlformats.org/officeDocument/2006/relationships/notesSlide" Target="/ppt/notesSlides/notesSlide4.xml" Id="R1bfae7f9605b40e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fe449dc9314cb0" /><Relationship Type="http://schemas.openxmlformats.org/officeDocument/2006/relationships/notesSlide" Target="/ppt/notesSlides/notesSlide5.xml" Id="R4dcecd8ef52c44b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c883166ebc4e8f" /><Relationship Type="http://schemas.openxmlformats.org/officeDocument/2006/relationships/notesSlide" Target="/ppt/notesSlides/notesSlide6.xml" Id="R560c36228a0a445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3d1e42979247d0" /><Relationship Type="http://schemas.openxmlformats.org/officeDocument/2006/relationships/notesSlide" Target="/ppt/notesSlides/notesSlide7.xml" Id="Re044074bc12a45a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6e8259ea0d470f" /><Relationship Type="http://schemas.openxmlformats.org/officeDocument/2006/relationships/notesSlide" Target="/ppt/notesSlides/notesSlide8.xml" Id="R15a1b411812149c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7b5fc568ae4b00" /><Relationship Type="http://schemas.openxmlformats.org/officeDocument/2006/relationships/notesSlide" Target="/ppt/notesSlides/notesSlide9.xml" Id="R4e708106681d447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9e9544b7d1469c" /><Relationship Type="http://schemas.openxmlformats.org/officeDocument/2006/relationships/notesSlide" Target="/ppt/notesSlides/notesSlide10.xml" Id="R36b3e8eb52db4f6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f2a7abcdcf4c04" /><Relationship Type="http://schemas.openxmlformats.org/officeDocument/2006/relationships/notesSlide" Target="/ppt/notesSlides/notesSlide11.xml" Id="R1f96d91b607f486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049c3dc36247fb" /><Relationship Type="http://schemas.openxmlformats.org/officeDocument/2006/relationships/notesSlide" Target="/ppt/notesSlides/notesSlide12.xml" Id="R19051dca5c22424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16819b1b8f4ba1" /><Relationship Type="http://schemas.openxmlformats.org/officeDocument/2006/relationships/notesSlide" Target="/ppt/notesSlides/notesSlide13.xml" Id="R19b7a711c0d442c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7c0e5bc99143c7" /><Relationship Type="http://schemas.openxmlformats.org/officeDocument/2006/relationships/notesSlide" Target="/ppt/notesSlides/notesSlide14.xml" Id="R2cb9faaea01d4b7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ca1fadc3c849a5" /><Relationship Type="http://schemas.openxmlformats.org/officeDocument/2006/relationships/image" Target="/ppt/media/image2.png" Id="R0ba0203c24044858" /><Relationship Type="http://schemas.openxmlformats.org/officeDocument/2006/relationships/notesSlide" Target="/ppt/notesSlides/notesSlide15.xml" Id="R0fef9ad9868c429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c3d73f28f24d94" /><Relationship Type="http://schemas.openxmlformats.org/officeDocument/2006/relationships/image" Target="/ppt/media/image3.png" Id="R73f11a3dd8ee42f2" /><Relationship Type="http://schemas.openxmlformats.org/officeDocument/2006/relationships/image" Target="/ppt/media/image4.png" Id="R7381682bd25f4e9e" /><Relationship Type="http://schemas.openxmlformats.org/officeDocument/2006/relationships/notesSlide" Target="/ppt/notesSlides/notesSlide16.xml" Id="R75378edc4aec440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8ca12fa7454460" /><Relationship Type="http://schemas.openxmlformats.org/officeDocument/2006/relationships/image" Target="/ppt/media/image5.png" Id="R1c6650d6a75049be" /><Relationship Type="http://schemas.openxmlformats.org/officeDocument/2006/relationships/notesSlide" Target="/ppt/notesSlides/notesSlide17.xml" Id="R8b77cbeceedb427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1f1a8f9aff4cd6" /><Relationship Type="http://schemas.openxmlformats.org/officeDocument/2006/relationships/notesSlide" Target="/ppt/notesSlides/notesSlide18.xml" Id="R2e3e4a8f883a497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a95a183f3d44cf" /><Relationship Type="http://schemas.openxmlformats.org/officeDocument/2006/relationships/image" Target="/ppt/media/image6.png" Id="Rc7f6dee59e934264" /><Relationship Type="http://schemas.openxmlformats.org/officeDocument/2006/relationships/image" Target="/ppt/media/image7.png" Id="R37692fde59854846" /><Relationship Type="http://schemas.openxmlformats.org/officeDocument/2006/relationships/notesSlide" Target="/ppt/notesSlides/notesSlide19.xml" Id="Rd0a4352c528a406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21a4b99d854f63" /><Relationship Type="http://schemas.openxmlformats.org/officeDocument/2006/relationships/image" Target="/ppt/media/image8.png" Id="Rd40c2b584ee746d9" /><Relationship Type="http://schemas.openxmlformats.org/officeDocument/2006/relationships/image" Target="/ppt/media/image9.png" Id="R91d74b4f42714afa" /><Relationship Type="http://schemas.openxmlformats.org/officeDocument/2006/relationships/image" Target="/ppt/media/image10.png" Id="R4f3690d866fb48fd" /><Relationship Type="http://schemas.openxmlformats.org/officeDocument/2006/relationships/notesSlide" Target="/ppt/notesSlides/notesSlide20.xml" Id="Rba8b90f03452423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7a659e552040e6" /><Relationship Type="http://schemas.openxmlformats.org/officeDocument/2006/relationships/notesSlide" Target="/ppt/notesSlides/notesSlide21.xml" Id="R2f88d3ffec91408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36ebbd225a43f6" /><Relationship Type="http://schemas.openxmlformats.org/officeDocument/2006/relationships/notesSlide" Target="/ppt/notesSlides/notesSlide22.xml" Id="R8cb86f29d1b7446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377B83D-4816-499C-BB29-F25C87612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0"/>
            <a:ext cx="4457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6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E385AF6-99CF-4D01-AD64-1A75E2840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68580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13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13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현장에서 겪은 운영 문제를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913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13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정책과 데이터 구조로 바꿔 실제로 돌아가게 만듭니다.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8E57B5F-9329-414B-9BFF-CF6A4A9DD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8389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아이베 SCM팀에서 수입·물류 실무를 하며 반복되는 오류와 병목을 직접 겪었습니다.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관세청 연동에서는 주문과 통관 데이터를 연결하는 기준을,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B2B 전용몰에서는 계약별 주문·결제 정책과 운영 검수 기준을 정했습니다.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개발사와 현업이 같은 결과를 확인할 수 있도록 문서와 검증 흐름을 만들었습니다.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A040177-58D2-44B8-B97B-A8C1133CF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76575"/>
            <a:ext cx="666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박종혁  /  PM 포트폴리오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ACB7DD33-8834-46D3-B335-CC9737944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75" b="1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강점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C75F6EF-6A1F-40B8-B4D2-2840131B0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3F2966EA-312C-4B11-A145-324042A20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현장 구조화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5F5068D2-23C8-42D6-ABDC-98F825AF5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2076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반복 문의와 운영 예외를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정책과 요구사항으로 정리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1D8278F3-B55A-4A27-A631-22762C870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2076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863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B2B · 계정별 주문 기준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73A84D2C-EE63-4FAF-8EC2-F86DE157A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9814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F8100264-4DA0-4864-B2BD-1265FE0CB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29577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이해관계자 조율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168446B3-3F9E-4971-8108-6D120B2B1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686300"/>
            <a:ext cx="2076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원천 데이터와 처리 책임을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개발사별로 구체화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42810A0D-E03F-4CDA-B110-8E714E57E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248275"/>
            <a:ext cx="2076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863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관세청 · 주문과 포장 분리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F66AC4B9-8CA7-4035-B81A-05BD794FB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9814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B246F096-39FF-41DF-90FE-A794A3ED8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29577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운영 검증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A748B20A-D96D-424A-B06B-CFDFE027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686300"/>
            <a:ext cx="2076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배포 후 고객 화면과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오류 복구까지 확인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2313A78F-FE08-4B88-8F88-848E67A2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248275"/>
            <a:ext cx="2076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863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공통 · 기대 결과로 검수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22D74C-132F-415E-98B7-C5558C15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3286125" cy="6477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88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01   관세청 통관 연동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088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다자간 데이터 계약과 오류 복구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E70266-A9CD-4D63-82DF-EC3146AF4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5743575"/>
            <a:ext cx="3286125" cy="6477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88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02   산후조리원 전용 B2B 몰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088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계정 정책과 고객·운영 흐름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076d4f3918444c"/>
          <a:stretch xmlns:a="http://schemas.openxmlformats.org/drawingml/2006/main"/>
        </p:blipFill>
        <p:spPr>
          <a:xfrm xmlns:a="http://schemas.openxmlformats.org/drawingml/2006/main">
            <a:off x="8126852" y="828675"/>
            <a:ext cx="1491372" cy="2124075"/>
          </a:xfrm>
          <a:prstGeom xmlns:a="http://schemas.openxmlformats.org/drawingml/2006/main" prst="rect">
            <a:avLst/>
          </a:prstGeom>
        </p:spPr>
      </p:pic>
      <p:sp>
        <p:nvSpPr>
          <p:cNvPr id="21" name="text-19">
            <a:extLst xmlns:a="http://schemas.openxmlformats.org/drawingml/2006/main">
              <a:ext uri="{FF2B5EF4-FFF2-40B4-BE49-F238E27FC236}">
                <a16:creationId xmlns:a16="http://schemas.microsoft.com/office/drawing/2014/main" id="{7AA570A6-9275-41F7-84F3-87F7FD103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923925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경력</a:t>
            </a:r>
          </a:p>
        </p:txBody>
      </p:sp>
      <p:sp>
        <p:nvSpPr>
          <p:cNvPr id="22" name="text-20">
            <a:extLst xmlns:a="http://schemas.openxmlformats.org/drawingml/2006/main">
              <a:ext uri="{FF2B5EF4-FFF2-40B4-BE49-F238E27FC236}">
                <a16:creationId xmlns:a16="http://schemas.microsoft.com/office/drawing/2014/main" id="{FF027FC7-746E-464B-BAD6-71C8420B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20015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아이베 SCM팀</a:t>
            </a:r>
          </a:p>
        </p:txBody>
      </p:sp>
      <p:sp>
        <p:nvSpPr>
          <p:cNvPr id="23" name="text-21">
            <a:extLst xmlns:a="http://schemas.openxmlformats.org/drawingml/2006/main">
              <a:ext uri="{FF2B5EF4-FFF2-40B4-BE49-F238E27FC236}">
                <a16:creationId xmlns:a16="http://schemas.microsoft.com/office/drawing/2014/main" id="{FEA51E4C-7CBB-4A89-A5A5-5492B01DE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466850"/>
            <a:ext cx="1581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2025-09-08 ~ 재직 중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SCM 실무·프로젝트 PM</a:t>
            </a:r>
          </a:p>
        </p:txBody>
      </p:sp>
      <p:sp>
        <p:nvSpPr>
          <p:cNvPr id="24" name="text-22">
            <a:extLst xmlns:a="http://schemas.openxmlformats.org/drawingml/2006/main">
              <a:ext uri="{FF2B5EF4-FFF2-40B4-BE49-F238E27FC236}">
                <a16:creationId xmlns:a16="http://schemas.microsoft.com/office/drawing/2014/main" id="{7467FB0F-4F4F-442D-9659-D7BED63D5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05025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학력</a:t>
            </a:r>
          </a:p>
        </p:txBody>
      </p:sp>
      <p:sp>
        <p:nvSpPr>
          <p:cNvPr id="25" name="text-23">
            <a:extLst xmlns:a="http://schemas.openxmlformats.org/drawingml/2006/main">
              <a:ext uri="{FF2B5EF4-FFF2-40B4-BE49-F238E27FC236}">
                <a16:creationId xmlns:a16="http://schemas.microsoft.com/office/drawing/2014/main" id="{109CB09F-07AE-4B89-BAF0-928AE27D7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381250"/>
            <a:ext cx="1581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고려사이버대학교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AI·데이터과학부 재학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2025-02 편입</a:t>
            </a:r>
          </a:p>
        </p:txBody>
      </p:sp>
      <p:sp>
        <p:nvSpPr>
          <p:cNvPr id="26" name="text-24">
            <a:extLst xmlns:a="http://schemas.openxmlformats.org/drawingml/2006/main">
              <a:ext uri="{FF2B5EF4-FFF2-40B4-BE49-F238E27FC236}">
                <a16:creationId xmlns:a16="http://schemas.microsoft.com/office/drawing/2014/main" id="{F439D522-F717-4843-93DA-AF3A46D4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105150"/>
            <a:ext cx="158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부천대 컴퓨터소프트웨어과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2019-03 ~ 2024-02 졸업</a:t>
            </a:r>
          </a:p>
        </p:txBody>
      </p:sp>
      <p:sp>
        <p:nvSpPr>
          <p:cNvPr id="27" name="text-25">
            <a:extLst xmlns:a="http://schemas.openxmlformats.org/drawingml/2006/main">
              <a:ext uri="{FF2B5EF4-FFF2-40B4-BE49-F238E27FC236}">
                <a16:creationId xmlns:a16="http://schemas.microsoft.com/office/drawing/2014/main" id="{BF594E00-DC78-4F51-B77A-5E7A94B01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48100"/>
            <a:ext cx="3181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SKILL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62128F-DF82-4D17-9B55-C36B6DE22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257675"/>
            <a:ext cx="628650" cy="2286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9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기획</a:t>
            </a:r>
          </a:p>
        </p:txBody>
      </p:sp>
      <p:sp>
        <p:nvSpPr>
          <p:cNvPr id="29" name="text-27">
            <a:extLst xmlns:a="http://schemas.openxmlformats.org/drawingml/2006/main">
              <a:ext uri="{FF2B5EF4-FFF2-40B4-BE49-F238E27FC236}">
                <a16:creationId xmlns:a16="http://schemas.microsoft.com/office/drawing/2014/main" id="{4279B3B8-256A-4548-BE21-421A15180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619625"/>
            <a:ext cx="3286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요구사항 정의, 정책 설계, 데이터 흐름, QA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2E0FD8F-2B82-43EA-A1D0-21B80483B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133975"/>
            <a:ext cx="628650" cy="2286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9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기술</a:t>
            </a:r>
          </a:p>
        </p:txBody>
      </p:sp>
      <p:sp>
        <p:nvSpPr>
          <p:cNvPr id="31" name="text-29">
            <a:extLst xmlns:a="http://schemas.openxmlformats.org/drawingml/2006/main">
              <a:ext uri="{FF2B5EF4-FFF2-40B4-BE49-F238E27FC236}">
                <a16:creationId xmlns:a16="http://schemas.microsoft.com/office/drawing/2014/main" id="{61838FF5-E130-46DF-B18F-C10494674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495925"/>
            <a:ext cx="3286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Python, SQL, REST API, Git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E521E7-A840-4EF2-9255-0571F54FC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943600"/>
            <a:ext cx="628650" cy="2286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9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운영</a:t>
            </a:r>
          </a:p>
        </p:txBody>
      </p:sp>
      <p:sp>
        <p:nvSpPr>
          <p:cNvPr id="33" name="text-31">
            <a:extLst xmlns:a="http://schemas.openxmlformats.org/drawingml/2006/main">
              <a:ext uri="{FF2B5EF4-FFF2-40B4-BE49-F238E27FC236}">
                <a16:creationId xmlns:a16="http://schemas.microsoft.com/office/drawing/2014/main" id="{C778E466-94CC-40BE-9719-611A2679F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6296025"/>
            <a:ext cx="3286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개발사 조율, 운영 피드백, 지표와 검수 기준</a:t>
            </a:r>
          </a:p>
        </p:txBody>
      </p:sp>
    </p:spTree>
    <p:extLst>
      <p:ext uri="{BB962C8B-B14F-4D97-AF65-F5344CB8AC3E}">
        <p14:creationId xmlns:p14="http://schemas.microsoft.com/office/powerpoint/2010/main" val="21214875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-0">
            <a:extLst xmlns:a="http://schemas.openxmlformats.org/drawingml/2006/main">
              <a:ext uri="{FF2B5EF4-FFF2-40B4-BE49-F238E27FC236}">
                <a16:creationId xmlns:a16="http://schemas.microsoft.com/office/drawing/2014/main" id="{F666DD19-08F1-4661-B84C-875A81334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02 / 22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B0E61D2-22F4-47C0-8E78-29219BF3C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Portfolio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8B361B7-574E-4202-A1DD-10AEC69E1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81325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4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Project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98AE246-CAC7-4354-8751-07A34EED4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57350"/>
            <a:ext cx="8667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300" b="1">
                <a:solidFill>
                  <a:srgbClr val="E9E9EE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E9E9EE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CC7006-7BA9-415D-BCA2-643EB6E38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7240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549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2F3385-DC3D-4114-9D43-A5E24DB79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1924050"/>
            <a:ext cx="9525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D9E0"/>
            </a:solidFill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29A713F9-6C62-409F-BEE5-878CB1944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628775"/>
            <a:ext cx="404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규제 대응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F3987E04-0C89-4A53-A2F8-0FAC335E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933575"/>
            <a:ext cx="542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관세청 통관 연동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9C6B983B-C970-49D4-B9BF-EE7A05E00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438400"/>
            <a:ext cx="55435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p 03–11   주문·포장·통관 데이터를 연결하는 기준과 오류 복구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80B42546-2709-4488-A461-533B5F47D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952750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2026-02 시작 / 2026-08-28 운영 전환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9EDD9141-1628-4E4A-A164-88323AE8E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276600"/>
            <a:ext cx="552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13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데이터 계약 · 의사결정 · 운영 검증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5F547CF3-024D-4F40-85A9-F10B6589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86200"/>
            <a:ext cx="8667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300" b="1">
                <a:solidFill>
                  <a:srgbClr val="E9E9EE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E9E9EE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35254A-50CA-4C5D-8633-71C6C8E35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9528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6D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F1AA95-82FC-4B4A-A52B-1BE930B0C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4152900"/>
            <a:ext cx="9525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D9E0"/>
            </a:solidFill>
          </a:ln>
        </p:spPr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E39AF6F2-778F-41D2-8A2E-47BE12BDF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857625"/>
            <a:ext cx="404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운영 디지털화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B0A4482E-C35F-495F-93D6-A7B4F95E2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162425"/>
            <a:ext cx="542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산후조리원 전용 B2B 몰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34D09569-0B88-4CA9-BA91-33A198D4E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667250"/>
            <a:ext cx="55435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p 12–21   계정별 정책과 주문 예외를 시스템의 규칙으로 전환</a:t>
            </a:r>
          </a:p>
        </p:txBody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544928AA-65EF-419D-A4C2-1B60F2602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181600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2026-06 기획 / 2026-07-16 핵심 흐름 가동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57C3786D-5809-4C2D-9F61-B23C2B778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505450"/>
            <a:ext cx="552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13" b="0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문제 정의 · 범위 결정 · 운영 개선</a:t>
            </a:r>
          </a:p>
        </p:txBody>
      </p:sp>
    </p:spTree>
    <p:extLst>
      <p:ext uri="{BB962C8B-B14F-4D97-AF65-F5344CB8AC3E}">
        <p14:creationId xmlns:p14="http://schemas.microsoft.com/office/powerpoint/2010/main" val="11613865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21549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text-0">
            <a:extLst xmlns:a="http://schemas.openxmlformats.org/drawingml/2006/main">
              <a:ext uri="{FF2B5EF4-FFF2-40B4-BE49-F238E27FC236}">
                <a16:creationId xmlns:a16="http://schemas.microsoft.com/office/drawing/2014/main" id="{1ACEAC2A-8183-494A-AFDF-157E36C4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88" b="0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03 / 22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1FD76CE-5C11-4D1A-8D4E-C98C5FD95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Project 01.  규제 대응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E4B357-86EA-4A64-900B-46FA42A2D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85825" cy="876300"/>
          </a:xfrm>
          <a:prstGeom xmlns:a="http://schemas.openxmlformats.org/drawingml/2006/main" prst="roundRect">
            <a:avLst>
              <a:gd name="adj" fmla="val 54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8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KCS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905E76A-956E-4299-B7B0-396E20E3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676400"/>
            <a:ext cx="57245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관세청 통관 연동과 운영 전환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C1CE00CA-BD2C-450B-A0E0-36CDC5C7F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143125"/>
            <a:ext cx="56864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여러 시스템에 나뉜 주문과 물류 데이터를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같은 기준으로 확인할 수 있도록 연결했습니다.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D3ACAFCB-2232-4B0F-A5FD-C74B15C41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0289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1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문제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41054A8E-C930-4A50-AE32-DCF2B2373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314700"/>
            <a:ext cx="5753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시스템마다 다른 주문 단위와 완료 기준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42395D74-6E2E-485E-9655-EE869C1FC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78142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1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대상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ECBF2855-3D90-4A0E-844D-44F8E481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67175"/>
            <a:ext cx="5753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해외직구 고객과 주문·출고·통관 운영팀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5D8487AE-B212-4208-84F0-301E88516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339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1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목표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5EADC2AA-45AB-4A36-B205-60AA6FBF1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19650"/>
            <a:ext cx="5753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누락을 발견하고 오류를 수정·재제출할 수 있는 흐름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51DE86-B690-4A2F-AE15-A3BD1EFDD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00200"/>
            <a:ext cx="3848100" cy="3038475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19457E"/>
          </a:solidFill>
          <a:ln xmlns:a="http://schemas.openxmlformats.org/drawingml/2006/main" w="0">
            <a:noFill/>
          </a:ln>
        </p:spPr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7F231AE5-6BF5-4693-8261-9A93F1FAE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38325"/>
            <a:ext cx="32670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데이터를 나눠 가진 주체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B38DCB-B6F8-4867-BDD2-10C80B9A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90750"/>
            <a:ext cx="3238500" cy="466725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21549B"/>
          </a:solidFill>
          <a:ln xmlns:a="http://schemas.openxmlformats.org/drawingml/2006/main" w="0">
            <a:noFill/>
          </a:ln>
        </p:spPr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BC562CD3-463B-42F0-964B-926D14928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76475"/>
            <a:ext cx="2838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자사몰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ADAA1B92-B67E-4293-8E76-315B6A306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95550"/>
            <a:ext cx="2838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863" b="0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0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주문·결제·고객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15F4B8-EFD4-4C5C-BB12-83446A3C4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62250"/>
            <a:ext cx="3238500" cy="466725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21549B"/>
          </a:solidFill>
          <a:ln xmlns:a="http://schemas.openxmlformats.org/drawingml/2006/main" w="0">
            <a:noFill/>
          </a:ln>
        </p:spPr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7E807401-3552-459D-BE40-C3B26079E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47975"/>
            <a:ext cx="2838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본인확인기관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41734CF7-BD12-4C3C-AAA4-2101AD4DC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67050"/>
            <a:ext cx="2838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863" b="0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0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개인통관고유부호 검증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861C0E-64FD-41A7-B229-CC61E9256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33750"/>
            <a:ext cx="3238500" cy="466725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21549B"/>
          </a:solidFill>
          <a:ln xmlns:a="http://schemas.openxmlformats.org/drawingml/2006/main" w="0">
            <a:noFill/>
          </a:ln>
        </p:spPr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755D6FD4-71D1-43B5-9D61-DDD715C1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19475"/>
            <a:ext cx="2838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ERP·WMS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14181076-0FEB-46C3-9118-15740FB7A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38550"/>
            <a:ext cx="2838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863" b="0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0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상품·포장·운송장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CEAE43-C22E-4DA0-AF91-C141F9462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05250"/>
            <a:ext cx="3238500" cy="466725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21549B"/>
          </a:solidFill>
          <a:ln xmlns:a="http://schemas.openxmlformats.org/drawingml/2006/main" w="0">
            <a:noFill/>
          </a:ln>
        </p:spPr>
      </p:sp>
      <p:sp>
        <p:nvSpPr>
          <p:cNvPr id="24" name="text-23">
            <a:extLst xmlns:a="http://schemas.openxmlformats.org/drawingml/2006/main">
              <a:ext uri="{FF2B5EF4-FFF2-40B4-BE49-F238E27FC236}">
                <a16:creationId xmlns:a16="http://schemas.microsoft.com/office/drawing/2014/main" id="{B5498CE0-B300-42A8-8BE3-1D5CD479A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90975"/>
            <a:ext cx="2838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통관대행사</a:t>
            </a:r>
          </a:p>
        </p:txBody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44E50974-482F-4E84-B48B-53300A2C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10050"/>
            <a:ext cx="2838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863" b="0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0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데이터 병합·수입신고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C5727F-89BC-4AEC-AE73-0F8ADD88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A4C7EE"/>
            </a:solidFill>
          </a:ln>
        </p:spPr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A9870EAB-55D0-4289-BBFD-339A09FD4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1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기간</a:t>
            </a:r>
          </a:p>
        </p:txBody>
      </p:sp>
      <p:sp>
        <p:nvSpPr>
          <p:cNvPr id="28" name="text-27">
            <a:extLst xmlns:a="http://schemas.openxmlformats.org/drawingml/2006/main">
              <a:ext uri="{FF2B5EF4-FFF2-40B4-BE49-F238E27FC236}">
                <a16:creationId xmlns:a16="http://schemas.microsoft.com/office/drawing/2014/main" id="{274666E9-0238-42AF-A1BC-7D904155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5391150"/>
            <a:ext cx="10077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2026-02 기획 시작 / 2026-08-28 운영 전환 / 이후 운영 보완</a:t>
            </a:r>
          </a:p>
        </p:txBody>
      </p:sp>
      <p:sp>
        <p:nvSpPr>
          <p:cNvPr id="29" name="text-28">
            <a:extLst xmlns:a="http://schemas.openxmlformats.org/drawingml/2006/main">
              <a:ext uri="{FF2B5EF4-FFF2-40B4-BE49-F238E27FC236}">
                <a16:creationId xmlns:a16="http://schemas.microsoft.com/office/drawing/2014/main" id="{7EC75701-553A-4027-877B-484FDFDB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1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역할</a:t>
            </a:r>
          </a:p>
        </p:txBody>
      </p:sp>
      <p:sp>
        <p:nvSpPr>
          <p:cNvPr id="30" name="text-29">
            <a:extLst xmlns:a="http://schemas.openxmlformats.org/drawingml/2006/main">
              <a:ext uri="{FF2B5EF4-FFF2-40B4-BE49-F238E27FC236}">
                <a16:creationId xmlns:a16="http://schemas.microsoft.com/office/drawing/2014/main" id="{B9C04406-49D5-4F71-B1CB-304DE87B1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5667375"/>
            <a:ext cx="10077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프로젝트 PM: 정책·데이터 계약 정의, API 요건 조율, 오류 복구와 운영 검증</a:t>
            </a:r>
          </a:p>
        </p:txBody>
      </p:sp>
      <p:sp>
        <p:nvSpPr>
          <p:cNvPr id="31" name="text-30">
            <a:extLst xmlns:a="http://schemas.openxmlformats.org/drawingml/2006/main">
              <a:ext uri="{FF2B5EF4-FFF2-40B4-BE49-F238E27FC236}">
                <a16:creationId xmlns:a16="http://schemas.microsoft.com/office/drawing/2014/main" id="{F7C8176D-7204-42BB-B5E0-D11F096C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1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협업</a:t>
            </a:r>
          </a:p>
        </p:txBody>
      </p:sp>
      <p:sp>
        <p:nvSpPr>
          <p:cNvPr id="32" name="text-31">
            <a:extLst xmlns:a="http://schemas.openxmlformats.org/drawingml/2006/main">
              <a:ext uri="{FF2B5EF4-FFF2-40B4-BE49-F238E27FC236}">
                <a16:creationId xmlns:a16="http://schemas.microsoft.com/office/drawing/2014/main" id="{E01B4250-0454-4240-8BB6-E41E4F17A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5943600"/>
            <a:ext cx="10077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자사몰 개발사, ERP 개발사, 물류 개발사, 통관대행사, 본인확인기관</a:t>
            </a:r>
          </a:p>
        </p:txBody>
      </p:sp>
      <p:sp>
        <p:nvSpPr>
          <p:cNvPr id="33" name="text-32">
            <a:extLst xmlns:a="http://schemas.openxmlformats.org/drawingml/2006/main">
              <a:ext uri="{FF2B5EF4-FFF2-40B4-BE49-F238E27FC236}">
                <a16:creationId xmlns:a16="http://schemas.microsoft.com/office/drawing/2014/main" id="{9D6181D7-6BB1-4AB8-9FE9-7216F842B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1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산출물</a:t>
            </a:r>
          </a:p>
        </p:txBody>
      </p:sp>
      <p:sp>
        <p:nvSpPr>
          <p:cNvPr id="34" name="text-33">
            <a:extLst xmlns:a="http://schemas.openxmlformats.org/drawingml/2006/main">
              <a:ext uri="{FF2B5EF4-FFF2-40B4-BE49-F238E27FC236}">
                <a16:creationId xmlns:a16="http://schemas.microsoft.com/office/drawing/2014/main" id="{819377DC-39D2-42ED-8890-DCACFDE92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6219825"/>
            <a:ext cx="10077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통합 기획서, 필드 매핑, 리스크·질의대장, 정책 결정 이력, QA 시나리오</a:t>
            </a:r>
          </a:p>
        </p:txBody>
      </p:sp>
      <p:sp>
        <p:nvSpPr>
          <p:cNvPr id="35" name="text-34">
            <a:extLst xmlns:a="http://schemas.openxmlformats.org/drawingml/2006/main">
              <a:ext uri="{FF2B5EF4-FFF2-40B4-BE49-F238E27FC236}">
                <a16:creationId xmlns:a16="http://schemas.microsoft.com/office/drawing/2014/main" id="{DF416C61-9A26-4B53-ADD0-FABF3531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1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범위</a:t>
            </a:r>
          </a:p>
        </p:txBody>
      </p:sp>
      <p:sp>
        <p:nvSpPr>
          <p:cNvPr id="36" name="text-35">
            <a:extLst xmlns:a="http://schemas.openxmlformats.org/drawingml/2006/main">
              <a:ext uri="{FF2B5EF4-FFF2-40B4-BE49-F238E27FC236}">
                <a16:creationId xmlns:a16="http://schemas.microsoft.com/office/drawing/2014/main" id="{D48BAC3B-47CB-46D7-9D19-38563F732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6496050"/>
            <a:ext cx="10077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기획·조율·검증 담당 / 각 시스템 구현은 해당 개발사 담당</a:t>
            </a:r>
          </a:p>
        </p:txBody>
      </p:sp>
    </p:spTree>
    <p:extLst>
      <p:ext uri="{BB962C8B-B14F-4D97-AF65-F5344CB8AC3E}">
        <p14:creationId xmlns:p14="http://schemas.microsoft.com/office/powerpoint/2010/main" val="13344626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ext-0">
            <a:extLst xmlns:a="http://schemas.openxmlformats.org/drawingml/2006/main">
              <a:ext uri="{FF2B5EF4-FFF2-40B4-BE49-F238E27FC236}">
                <a16:creationId xmlns:a16="http://schemas.microsoft.com/office/drawing/2014/main" id="{204CC6CF-B9BA-4BFD-BB6B-159D74C7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04 / 22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4C56B36-30CD-4FCC-9373-07A44D8A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390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F2D0258-13CB-4CBB-B2C1-759E14110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배경과 문제 정의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F87B733-2DEF-4081-84D5-535D54512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주문 한 건이 통관·출고로 이어지는 과정에서 데이터와 책임이 갈라져 있었습니다.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AF6F7CE-77EF-4B44-B0F5-3D577111F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528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데이터는 각 시스템에, 판단은 담당자에게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4FCBBF-1344-4E70-AF77-1A4FCBE5A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5257800" cy="466725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3AA5F625-8D54-4BDD-93CB-9DF9355CC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0275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자사몰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0774BEB8-61FC-4E0B-9F46-84254754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200275"/>
            <a:ext cx="3190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주문·결제·고객 정보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A2FFC4-7325-4672-AF93-461D011B3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76525"/>
            <a:ext cx="5257800" cy="466725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EB5F117C-9566-43F9-BA79-959834B74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9875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본인확인기관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269B0C82-1F20-4B0B-9674-359AF3860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809875"/>
            <a:ext cx="3190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개인통관고유부호 검증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904224-0C48-4560-8716-54B9651FB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5257800" cy="466725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05D3F85C-6AC8-42F6-A1CC-C6D61409E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ERP·WMS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FDA3D525-EB05-43A4-8489-509480374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419475"/>
            <a:ext cx="3190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상품·포장·운송장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14A9D8-42B0-4AB2-B94E-2DDE948C1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5257800" cy="466725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85B22746-2826-4397-8CB3-98E4D694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29075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통관대행사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6724F56B-E088-48CA-866C-54DE2D3AD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029075"/>
            <a:ext cx="3190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병합·수입신고·통관 상태</a:t>
            </a:r>
          </a:p>
        </p:txBody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85FE4C97-6534-475D-ABC3-10C7FD98E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76400"/>
            <a:ext cx="525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수기 전송만으로 남는 운영 공백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5384830D-0E1B-4A29-B547-402E259C8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5265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0305CE18-0CF7-4EB6-9960-4EE316828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152650"/>
            <a:ext cx="4743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주문번호와 포장번호가 달라 같은 주문을 대조하기 어려움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C59723BA-77AD-4723-8BF5-4F5EE543E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24175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19191DDA-EC7D-4ADC-949A-CA1631EEC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24175"/>
            <a:ext cx="4743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접수 응답과 통관 완료를 같은 상태로 오인할 수 있음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4F62E4F0-C1CA-476B-9162-97C9BAC9C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9570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4" name="text-23">
            <a:extLst xmlns:a="http://schemas.openxmlformats.org/drawingml/2006/main">
              <a:ext uri="{FF2B5EF4-FFF2-40B4-BE49-F238E27FC236}">
                <a16:creationId xmlns:a16="http://schemas.microsoft.com/office/drawing/2014/main" id="{343B41ED-8F06-42A2-A22E-7F9E01610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95700"/>
            <a:ext cx="4743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오류가 났을 때 수정할 원천과 재처리 담당이 불명확함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ED59F9-7838-4091-9437-8675E17DF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10972800" cy="1076325"/>
          </a:xfrm>
          <a:prstGeom xmlns:a="http://schemas.openxmlformats.org/drawingml/2006/main" prst="roundRect">
            <a:avLst>
              <a:gd name="adj" fmla="val 5310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0">
            <a:noFill/>
          </a:ln>
        </p:spPr>
      </p:sp>
      <p:sp>
        <p:nvSpPr>
          <p:cNvPr id="26" name="text-25">
            <a:extLst xmlns:a="http://schemas.openxmlformats.org/drawingml/2006/main">
              <a:ext uri="{FF2B5EF4-FFF2-40B4-BE49-F238E27FC236}">
                <a16:creationId xmlns:a16="http://schemas.microsoft.com/office/drawing/2014/main" id="{A3DC3805-9AD4-4FB4-A4A1-A58C185C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53025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문제 정의</a:t>
            </a:r>
          </a:p>
        </p:txBody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FC62ACCE-50D8-414C-8190-71314C134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62550"/>
            <a:ext cx="9144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누가 어떤 데이터를 책임지고,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어느 상태를 근거로 다음 작업을 진행할 것인가</a:t>
            </a:r>
          </a:p>
        </p:txBody>
      </p:sp>
      <p:sp>
        <p:nvSpPr>
          <p:cNvPr id="28" name="text-27">
            <a:extLst xmlns:a="http://schemas.openxmlformats.org/drawingml/2006/main">
              <a:ext uri="{FF2B5EF4-FFF2-40B4-BE49-F238E27FC236}">
                <a16:creationId xmlns:a16="http://schemas.microsoft.com/office/drawing/2014/main" id="{F6914832-2768-42F4-9677-C8D2AD340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관세청 통관 연동 기획서의 데이터 책임·운영 기준을 재구성</a:t>
            </a:r>
          </a:p>
        </p:txBody>
      </p:sp>
    </p:spTree>
    <p:extLst>
      <p:ext uri="{BB962C8B-B14F-4D97-AF65-F5344CB8AC3E}">
        <p14:creationId xmlns:p14="http://schemas.microsoft.com/office/powerpoint/2010/main" val="10192518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0">
            <a:extLst xmlns:a="http://schemas.openxmlformats.org/drawingml/2006/main">
              <a:ext uri="{FF2B5EF4-FFF2-40B4-BE49-F238E27FC236}">
                <a16:creationId xmlns:a16="http://schemas.microsoft.com/office/drawing/2014/main" id="{6C58B44B-0F67-4ED5-A87D-3F2DD5BE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05 / 22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B5D334D-6DB5-4102-AABA-0D16160FE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390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3DFEB1F-AFE5-4B99-9777-013E78889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대안 비교와 책임 분담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CA0F640-875E-4319-9767-FDDD0D47C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신고 판단과 상태 관리의 통제점을 국내 자사몰 DB에 두었습니다.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09600" y="1752600"/>
          <a:ext xmlns:a="http://schemas.openxmlformats.org/drawingml/2006/main" cx="10972800" cy="2200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76450"/>
                <a:gridCol w="2667000"/>
                <a:gridCol w="4667250"/>
                <a:gridCol w="1562100"/>
              </a:tblGrid>
              <a:tr h="342900"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활용할 수 있는 점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제약과 판단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선택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해외 ERP 중심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상품·포장 원천과 가까움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국내 인증정보 처리와 제출 상태 통제가 어려움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제외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수기 제출 유지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장애 시 즉시 대응 가능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상태 이력·재처리·채널 확장의 운영 부담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비상 대응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국내 DB 중심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9F1FC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제출 상태를 관리하고 원천별 책임 분리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9F1FC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회사 간 데이터 계약과 인터페이스 조율 필요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9F1FC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채택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9F1FC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49839B-827F-4C4A-8787-50A571DEA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0972800" cy="381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판단 기준  ① 개인정보 최소화    ② 제출 상태 통제    ③ 원천별 책임    ④ 개발 난이도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EB424340-431E-4234-AC5A-5A67E5718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결정 이후의 책임 경계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096627-69C4-4D4E-ABA8-25AEDDB20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53025"/>
            <a:ext cx="2628900" cy="4191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자사몰 개발사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E5012F00-54F8-47AA-9858-D8B69FDD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734050"/>
            <a:ext cx="2533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주문·인증·제출 상태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A52902-6DE7-4D11-91BF-C8672020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153025"/>
            <a:ext cx="2628900" cy="4191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ERP·물류 개발사</a:t>
            </a:r>
          </a:p>
        </p:txBody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CC5F6BB3-82AF-4ED2-BD5E-A3C239E3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5734050"/>
            <a:ext cx="2533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상품·포장·운송장 원천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70F5FD-32A5-41C7-BCAD-4EF1192D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153025"/>
            <a:ext cx="2628900" cy="4191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통관대행사</a:t>
            </a:r>
          </a:p>
        </p:txBody>
      </p:sp>
      <p:sp>
        <p:nvSpPr>
          <p:cNvPr id="13" name="text-11">
            <a:extLst xmlns:a="http://schemas.openxmlformats.org/drawingml/2006/main">
              <a:ext uri="{FF2B5EF4-FFF2-40B4-BE49-F238E27FC236}">
                <a16:creationId xmlns:a16="http://schemas.microsoft.com/office/drawing/2014/main" id="{63CB0E00-7C89-4918-8EF1-C0A89C68A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5734050"/>
            <a:ext cx="2533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데이터 병합·신고 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46B681-B50E-45E2-ADF4-9EE1B28A2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153025"/>
            <a:ext cx="2628900" cy="4191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21549B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본인 역할</a:t>
            </a:r>
          </a:p>
        </p:txBody>
      </p:sp>
      <p:sp>
        <p:nvSpPr>
          <p:cNvPr id="15" name="text-13">
            <a:extLst xmlns:a="http://schemas.openxmlformats.org/drawingml/2006/main">
              <a:ext uri="{FF2B5EF4-FFF2-40B4-BE49-F238E27FC236}">
                <a16:creationId xmlns:a16="http://schemas.microsoft.com/office/drawing/2014/main" id="{49D91297-A824-4EAF-B1A6-1C75D95B4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5734050"/>
            <a:ext cx="2533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필드·흐름·검수 기준 조율</a:t>
            </a:r>
          </a:p>
        </p:txBody>
      </p:sp>
    </p:spTree>
    <p:extLst>
      <p:ext uri="{BB962C8B-B14F-4D97-AF65-F5344CB8AC3E}">
        <p14:creationId xmlns:p14="http://schemas.microsoft.com/office/powerpoint/2010/main" val="17723820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text-0">
            <a:extLst xmlns:a="http://schemas.openxmlformats.org/drawingml/2006/main">
              <a:ext uri="{FF2B5EF4-FFF2-40B4-BE49-F238E27FC236}">
                <a16:creationId xmlns:a16="http://schemas.microsoft.com/office/drawing/2014/main" id="{9D4EE8EE-715D-483C-9273-67E3CED18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06 / 22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454014E-9561-44CC-B4BD-10FAAAF45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390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69F78D5-E57C-49F0-BAB7-0C787E73B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주문부터 통관까지의 업무 흐름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62C890F-3824-46CE-B76E-63B0499F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단계별 입력·처리 주체·완료 근거를 맞추고, 미완료 상태의 다음 단계 진입을 구분했습니다.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17CC40-8F30-48A2-A7CB-96142CECF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181100" cy="3048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88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단계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47E6E5-C4F9-435F-A7B4-8D6F66279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743075"/>
            <a:ext cx="2305050" cy="3048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1A1A1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자사몰·국내 DB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717FF2-80A0-4F05-BF4E-D60D4FEB7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43075"/>
            <a:ext cx="2305050" cy="3048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1A1A1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본인확인기관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042356-1646-4FCD-B361-F04EA83F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743075"/>
            <a:ext cx="2305050" cy="3048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1A1A1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ERP·WMS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D2544D-3335-4CDE-A70F-824C203E0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743075"/>
            <a:ext cx="2419350" cy="3048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1A1A1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통관 시스템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E54411-E028-435B-BB33-EF4EC7E42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118110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주문·검증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50EA19-2AA0-46C1-A6D4-05FB60A71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171700"/>
            <a:ext cx="23050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주문·실수하인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BA70AC-5BA2-478A-AE1D-BE4ADEB4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71700"/>
            <a:ext cx="23050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통관정보 검증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970973-FC63-424D-9BDB-C581DBEB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171700"/>
            <a:ext cx="23050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B42D02-8785-412A-BDA4-1EBD77F00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171700"/>
            <a:ext cx="24193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267327-D1BA-485F-96D4-6037CBB7B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18110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포장 준비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33DFA9-E023-4245-A82E-71AB1C0AC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847975"/>
            <a:ext cx="23050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원주문번호 유지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10C0CF-05B2-4E92-A098-A0559196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47975"/>
            <a:ext cx="23050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753CCA-96AA-4B17-A850-5BFECDAF6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47975"/>
            <a:ext cx="23050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포장·운송장 확정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2F0067-56FB-4CE4-8AA4-83BB584DF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47975"/>
            <a:ext cx="24193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64F268-2917-45CA-928E-1852D2B5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18110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정보 제출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C91CA0-6C45-4BD4-8247-AEF9FBEBD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524250"/>
            <a:ext cx="23050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거래정보·인증정보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484520-4CDD-479B-9A93-AA610D5AA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24250"/>
            <a:ext cx="23050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1C4E8E-8C89-4262-9FEF-C949E3FC1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524250"/>
            <a:ext cx="23050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물류 스냅샷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5F9898-2A6E-4819-AC12-62C161EE4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524250"/>
            <a:ext cx="24193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접수 상태 확인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54BEA3-99B5-45FE-AA17-F57FD74FD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00525"/>
            <a:ext cx="118110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병합·대사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014288-BB97-4541-BFF0-63CB4F05D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00525"/>
            <a:ext cx="23050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주문별 제출 이력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BFE130-93D4-416B-93C6-3E9872637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00525"/>
            <a:ext cx="23050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—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DA287A-5239-4C8A-B024-1ACB9C33B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200525"/>
            <a:ext cx="23050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누락 포장 재확인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E998E6-79DB-480B-ADEE-B7B7BDA88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200525"/>
            <a:ext cx="24193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병합·통관 결과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D3BB3F-2018-4899-9DD6-1252025C2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18110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오류 복구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3A2FD8-C034-4E23-93AC-BABD674F9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876800"/>
            <a:ext cx="23050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오류 원천 분류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FF640A-F862-4A86-8F86-806703EF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876800"/>
            <a:ext cx="23050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인증정보 보완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B88A60-154D-4A69-AD58-EF6C939F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876800"/>
            <a:ext cx="23050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상품·포장정보 보완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7C52B5-6653-4225-BA8C-B730E800C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876800"/>
            <a:ext cx="24193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결과 조회·재처리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CBD2D5C-BA5C-4224-BB3C-91B091788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1097280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21549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같은 주문번호·포장번호와 완료 근거를 공유해, 담당자 간 인계 기준을 문서로 고정했습니다.</a:t>
            </a:r>
          </a:p>
        </p:txBody>
      </p:sp>
      <p:sp>
        <p:nvSpPr>
          <p:cNvPr id="36" name="text-35">
            <a:extLst xmlns:a="http://schemas.openxmlformats.org/drawingml/2006/main">
              <a:ext uri="{FF2B5EF4-FFF2-40B4-BE49-F238E27FC236}">
                <a16:creationId xmlns:a16="http://schemas.microsoft.com/office/drawing/2014/main" id="{51867582-9660-4046-8FE1-48169E13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현재 정책 구조를 요약한 흐름도 · 개별 분기의 구현 완료나 자동화율을 나타내지 않음</a:t>
            </a:r>
          </a:p>
        </p:txBody>
      </p:sp>
    </p:spTree>
    <p:extLst>
      <p:ext uri="{BB962C8B-B14F-4D97-AF65-F5344CB8AC3E}">
        <p14:creationId xmlns:p14="http://schemas.microsoft.com/office/powerpoint/2010/main" val="5499005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ext-0">
            <a:extLst xmlns:a="http://schemas.openxmlformats.org/drawingml/2006/main">
              <a:ext uri="{FF2B5EF4-FFF2-40B4-BE49-F238E27FC236}">
                <a16:creationId xmlns:a16="http://schemas.microsoft.com/office/drawing/2014/main" id="{29FF4690-6B4B-4155-AE8A-BB1FFE00D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07 / 22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D939C13-187B-42AA-907E-8E0080D7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390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AC60FF1-B87C-426A-B683-BD647052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주문번호와 포장번호를 분리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9B80810-BD88-41FD-B549-FF59F2F74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주문 추적 기준을 유지하면서 분할 출고와 합배송을 설명할 수 있도록 관계를 정의했습니다.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1BDF231-7B81-4729-A033-8EDF6FA96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5229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분할 출고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B7250219-8418-4432-A691-285B389A3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04975"/>
            <a:ext cx="521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합배송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DA4B57-DB71-4037-BCB9-084C9522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5257800" cy="2686050"/>
          </a:xfrm>
          <a:prstGeom xmlns:a="http://schemas.openxmlformats.org/drawingml/2006/main" prst="roundRect">
            <a:avLst>
              <a:gd name="adj" fmla="val 2482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2E3A1D-0ECE-49CB-B171-1150D9CF0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05025"/>
            <a:ext cx="5295900" cy="2686050"/>
          </a:xfrm>
          <a:prstGeom xmlns:a="http://schemas.openxmlformats.org/drawingml/2006/main" prst="roundRect">
            <a:avLst>
              <a:gd name="adj" fmla="val 2482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9EFD21-7BD4-44E1-B16E-136E4BA0D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914650"/>
            <a:ext cx="1628775" cy="51435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원주문 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43377B-0020-43E3-BA95-002B0722B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352675"/>
            <a:ext cx="2219325" cy="78105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포장 A-1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운송장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0A7BDF-7F55-4657-A118-76720D4D1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324225"/>
            <a:ext cx="2219325" cy="78105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포장 A-2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운송장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E12CAC-F37C-4834-907F-C0373D45B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71825"/>
            <a:ext cx="3810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21549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ED356C-E962-44FA-B769-B73AC051F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43200"/>
            <a:ext cx="0" cy="97155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21549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351329-57D4-4157-A91B-EFED8E898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43200"/>
            <a:ext cx="28575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21549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AC190C-A650-4CB4-ABB1-C10AFE778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14750"/>
            <a:ext cx="28575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21549B"/>
            </a:solidFill>
          </a:ln>
        </p:spPr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F0E2EE6B-5E2F-45B3-B42D-8B213DC76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60985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9EE54483-A936-4E0E-B372-4BB498516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5814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61FAFD7F-C87E-4AA3-9582-2F50D70EF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286250"/>
            <a:ext cx="46386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163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외부에 보내는 원주문번호는 A로 유지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11168F-3E69-48E2-9D8F-A649E02E3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438400"/>
            <a:ext cx="1962150" cy="581025"/>
          </a:xfrm>
          <a:prstGeom xmlns:a="http://schemas.openxmlformats.org/drawingml/2006/main" prst="roundRect">
            <a:avLst>
              <a:gd name="adj" fmla="val 81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원주문 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E7FBE1-D3CD-4BD1-9B71-7090FE28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333750"/>
            <a:ext cx="1962150" cy="581025"/>
          </a:xfrm>
          <a:prstGeom xmlns:a="http://schemas.openxmlformats.org/drawingml/2006/main" prst="roundRect">
            <a:avLst>
              <a:gd name="adj" fmla="val 81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원주문 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78BB56-888D-472B-8D2E-DA36C84D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733675"/>
            <a:ext cx="314325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21549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65534D-EFDA-42D0-B87C-630BA7EA1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629025"/>
            <a:ext cx="314325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21549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D98A2C-E19F-4031-B10C-FAFF555BA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33675"/>
            <a:ext cx="0" cy="89535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21549B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9D3B41-D155-48D4-BF20-2DCD12F97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238500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21549B"/>
            </a:solidFill>
          </a:ln>
        </p:spPr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F1D58240-88FE-49C4-90E1-11106C311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10515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4C00B1-568A-45B9-AE5D-B2BA26A5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667000"/>
            <a:ext cx="1981200" cy="1152525"/>
          </a:xfrm>
          <a:prstGeom xmlns:a="http://schemas.openxmlformats.org/drawingml/2006/main" prst="roundRect">
            <a:avLst>
              <a:gd name="adj" fmla="val 41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운송장 3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주문별 거래정보 2건</a:t>
            </a:r>
          </a:p>
        </p:txBody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AAFA7BA8-7DEF-463B-ACDD-6EA686338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95775"/>
            <a:ext cx="4667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163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운송장 하나에 묶여도 거래정보는 주문별 유지</a:t>
            </a:r>
          </a:p>
        </p:txBody>
      </p:sp>
      <p:graphicFrame>
        <p:nvGraphicFramePr>
          <p:cNvPr id="57" name=""/>
          <p:cNvGraphicFramePr/>
          <p:nvPr/>
        </p:nvGraphicFramePr>
        <p:xfrm>
          <a:off xmlns:a="http://schemas.openxmlformats.org/drawingml/2006/main" x="609600" y="4981575"/>
          <a:ext xmlns:a="http://schemas.openxmlformats.org/drawingml/2006/main" cx="10972800" cy="1295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95550"/>
                <a:gridCol w="8477250"/>
              </a:tblGrid>
              <a:tr h="295275"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13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보존할 기준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13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설계 의미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13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원주문번호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13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판매 채널의 원주문번호를 전 구간에서 유지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13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포장번호·운송장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13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물류 처리 단위를 별도 보존하고 원주문과 연결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13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병합키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13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운송장 + 원주문번호가 양쪽 데이터에서 일치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text-27">
            <a:extLst xmlns:a="http://schemas.openxmlformats.org/drawingml/2006/main">
              <a:ext uri="{FF2B5EF4-FFF2-40B4-BE49-F238E27FC236}">
                <a16:creationId xmlns:a16="http://schemas.microsoft.com/office/drawing/2014/main" id="{884655C2-FAC9-42D2-B9BC-1831C6A95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정책 기반 재구성 · A/B/C와 운송장 번호는 가상 예시</a:t>
            </a:r>
          </a:p>
        </p:txBody>
      </p:sp>
    </p:spTree>
    <p:extLst>
      <p:ext uri="{BB962C8B-B14F-4D97-AF65-F5344CB8AC3E}">
        <p14:creationId xmlns:p14="http://schemas.microsoft.com/office/powerpoint/2010/main" val="1387795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0">
            <a:extLst xmlns:a="http://schemas.openxmlformats.org/drawingml/2006/main">
              <a:ext uri="{FF2B5EF4-FFF2-40B4-BE49-F238E27FC236}">
                <a16:creationId xmlns:a16="http://schemas.microsoft.com/office/drawing/2014/main" id="{4E656EDC-C457-4D44-BF51-1443FCE39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08 / 22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07E4099-660D-42DE-AB3E-04F0A022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390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5FF0B39-46B5-48DC-A432-B5237C3A2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혼재 주문의 선출고 요청을 조정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4AE4920-2211-439E-BD39-1FE1ECD35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2026-08-26 협의 사례: 국내 상품과 해외직구 상품이 섞인 주문의 처리 단위를 맞췄습니다.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FC0EB1-10D3-4D36-8BF4-058297E50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524250" cy="390525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처음 요청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76B827-1F4A-4578-9211-F1ED9B229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352425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2E798E72-7402-48E2-A972-50FF46171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66975"/>
            <a:ext cx="31051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국내 상품은 통관과 무관하므로 먼저 출고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29858335-7C57-4E8C-A675-573CF5A4B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14625"/>
            <a:ext cx="161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D16961-3E7A-4E55-9949-C02F1EEBD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733550"/>
            <a:ext cx="3524250" cy="390525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확인한 제약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5F1549-2EF3-40D2-B404-ACE8DFB70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57425"/>
            <a:ext cx="352425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FC059942-EFE3-4542-8E4C-0F0A37566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66975"/>
            <a:ext cx="31051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ERP는 원주문 단위로 삭제·재생성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부분 재처리 시 내수 주문의 중복 위험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DD10AA34-1908-4A63-866D-2A6EF2BF4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14625"/>
            <a:ext cx="161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843421-BD67-4F08-8C84-734D40837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33550"/>
            <a:ext cx="3524250" cy="390525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21549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최종 결정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C4E4BD-73C9-4FB8-B4AC-08B1CAFBF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57425"/>
            <a:ext cx="352425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0">
            <a:noFill/>
          </a:ln>
        </p:spPr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6C49A0A9-1A08-45D3-B54A-700697DB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66975"/>
            <a:ext cx="31051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내수 선출고 요청을 철회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해외직구 신고가 확정될 때까지 함께 보류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3A523A2E-7C76-4422-8769-294D80FF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대안의 이익과 감수할 영향</a:t>
            </a:r>
          </a:p>
        </p:txBody>
      </p:sp>
      <p:graphicFrame>
        <p:nvGraphicFramePr>
          <p:cNvPr id="35" name=""/>
          <p:cNvGraphicFramePr/>
          <p:nvPr/>
        </p:nvGraphicFramePr>
        <p:xfrm>
          <a:off xmlns:a="http://schemas.openxmlformats.org/drawingml/2006/main" x="609600" y="4276725"/>
          <a:ext xmlns:a="http://schemas.openxmlformats.org/drawingml/2006/main" cx="10972800" cy="1571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47925"/>
                <a:gridCol w="3333750"/>
                <a:gridCol w="5191125"/>
              </a:tblGrid>
              <a:tr h="352425"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얻는 것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위험·수용한 영향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내수 먼저 출고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국내 상품의 배송 지연 최소화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부분 삭제·재생성이 어려워 중복 처리 위험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혼재 주문 함께 보류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9F1FC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원주문 단위의 처리 일관성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9F1FC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국내 상품도 신고 확정까지 동반 지연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9F1FC"/>
                    </a:solidFill>
                  </a:tcPr>
                </a:tc>
              </a:tr>
            </a:tbl>
          </a:graphicData>
        </a:graphic>
      </p:graphicFrame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727A9C-7B34-451B-A179-7E479D7B7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21549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배송 속도와 중복 위험을 비교하고, 시스템 제약을 운영 기준으로 합의했습니다.</a:t>
            </a:r>
          </a:p>
        </p:txBody>
      </p:sp>
    </p:spTree>
    <p:extLst>
      <p:ext uri="{BB962C8B-B14F-4D97-AF65-F5344CB8AC3E}">
        <p14:creationId xmlns:p14="http://schemas.microsoft.com/office/powerpoint/2010/main" val="7472248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ext-0">
            <a:extLst xmlns:a="http://schemas.openxmlformats.org/drawingml/2006/main">
              <a:ext uri="{FF2B5EF4-FFF2-40B4-BE49-F238E27FC236}">
                <a16:creationId xmlns:a16="http://schemas.microsoft.com/office/drawing/2014/main" id="{375800C5-70A6-47F6-B6ED-C98C2685F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09 / 22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F6D8F26-64DB-4640-9580-A32D07EEA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390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E5B9225-DD8E-46BE-BB7F-2EE68F2DB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접수 이후의 상태와 오류 복구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66732E5-70EB-4537-9CE6-4092B80DC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접수, 상대 데이터 대기, 병합, 통관 결과를 서로 다른 근거로 판단하도록 설계했습니다.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308467E-5C0D-4159-AFDC-EFFBA7BE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89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같은 주문이 두 시스템에서 도착하는 상황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EC0980-0BB6-4E6B-8EE7-405A27942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2628900" cy="371475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1A1A1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  접수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E80556-500C-454D-9B79-22281B41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2628900" cy="5334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물류 데이터 도착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69D188C1-0E04-41B4-ADA3-B77814201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05175"/>
            <a:ext cx="2324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HTTP 202 응답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접수 사실만 확인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39BE826A-9BE9-4D39-BF71-2BDE6481B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752725"/>
            <a:ext cx="180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D0704E-62B9-4B60-9CFB-6E6453EE1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24075"/>
            <a:ext cx="2628900" cy="371475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1A1A1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  대기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3A438B-1EBD-46FE-B0D6-5C50BFF3E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609850"/>
            <a:ext cx="2628900" cy="5334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짝이 되는 정보 미도착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2ADC8652-E223-4B45-AC72-AE8A3296D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305175"/>
            <a:ext cx="2324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상태 조회로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대기와 검증 실패 구분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D9F97034-C044-49D5-912C-0A3375F2C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752725"/>
            <a:ext cx="180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C83463-5545-48CF-B8F0-2ABAADAF0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24075"/>
            <a:ext cx="2628900" cy="371475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1A1A1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  병합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198BBE-A792-4805-8816-D4B3DA7C3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09850"/>
            <a:ext cx="2628900" cy="5334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주문·운송장 기준 일치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4C861F49-681D-4112-A1DC-AA99C9C21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05175"/>
            <a:ext cx="2324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병합 결과를 확인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통관 완료와 구분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AB0A1567-37FA-43AF-A929-1BE77B11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752725"/>
            <a:ext cx="180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694F20-E50F-44DE-B491-24B00BC50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24075"/>
            <a:ext cx="2628900" cy="371475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21549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04  결과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52DD01-133E-47F0-BEA1-9E5C3139E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09850"/>
            <a:ext cx="2628900" cy="5334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신고·통관 상태 조회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08ED1AA0-871D-4F92-BD66-D0C146520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305175"/>
            <a:ext cx="2324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최종 결과를 근거로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후속 운영 판단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222FDA-1661-43C2-B4F6-E88E6C4D6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D9E0"/>
            </a:solidFill>
          </a:ln>
        </p:spPr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2B6671F7-8B01-46DF-8B4B-3F3C6906D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오류가 확인되면 원천과 재처리 기준을 먼저 구분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413BEF-38DD-4F3C-A546-8854ED23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29175"/>
            <a:ext cx="3524250" cy="3429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원천 확인</a:t>
            </a:r>
          </a:p>
        </p:txBody>
      </p:sp>
      <p:sp>
        <p:nvSpPr>
          <p:cNvPr id="24" name="text-23">
            <a:extLst xmlns:a="http://schemas.openxmlformats.org/drawingml/2006/main">
              <a:ext uri="{FF2B5EF4-FFF2-40B4-BE49-F238E27FC236}">
                <a16:creationId xmlns:a16="http://schemas.microsoft.com/office/drawing/2014/main" id="{60EC9633-34AA-46D4-BF1C-E10BB883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14950"/>
            <a:ext cx="32575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고객·인증 / 상품·포장 / 제출 필드를 구분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6D7FFC-1CB5-4150-9CE4-C7C56D4CB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829175"/>
            <a:ext cx="3524250" cy="3429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보완과 재처리</a:t>
            </a:r>
          </a:p>
        </p:txBody>
      </p:sp>
      <p:sp>
        <p:nvSpPr>
          <p:cNvPr id="26" name="text-25">
            <a:extLst xmlns:a="http://schemas.openxmlformats.org/drawingml/2006/main">
              <a:ext uri="{FF2B5EF4-FFF2-40B4-BE49-F238E27FC236}">
                <a16:creationId xmlns:a16="http://schemas.microsoft.com/office/drawing/2014/main" id="{A07F3999-39D8-47D9-904E-1CC37B734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314950"/>
            <a:ext cx="32575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제공자별 식별자와 공식 처리 규칙 적용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594B17-E1F2-43E5-9D23-34EF69BC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829175"/>
            <a:ext cx="3524250" cy="3429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다시 확인</a:t>
            </a:r>
          </a:p>
        </p:txBody>
      </p:sp>
      <p:sp>
        <p:nvSpPr>
          <p:cNvPr id="28" name="text-27">
            <a:extLst xmlns:a="http://schemas.openxmlformats.org/drawingml/2006/main">
              <a:ext uri="{FF2B5EF4-FFF2-40B4-BE49-F238E27FC236}">
                <a16:creationId xmlns:a16="http://schemas.microsoft.com/office/drawing/2014/main" id="{AC24361B-340E-427B-934B-B501250B2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314950"/>
            <a:ext cx="32575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응답 원문·제출 이력·최종 상태를 대사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13F0B7-D838-4549-B53F-AFC4D395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21549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필드 매핑표는 값의 계약, 상태 정의는 다음 작업을 시작할 조건이 됐습니다.</a:t>
            </a:r>
          </a:p>
        </p:txBody>
      </p:sp>
      <p:sp>
        <p:nvSpPr>
          <p:cNvPr id="30" name="text-29">
            <a:extLst xmlns:a="http://schemas.openxmlformats.org/drawingml/2006/main">
              <a:ext uri="{FF2B5EF4-FFF2-40B4-BE49-F238E27FC236}">
                <a16:creationId xmlns:a16="http://schemas.microsoft.com/office/drawing/2014/main" id="{9C37B5CF-8786-4BF8-BC58-AA72430B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정책 기반 시뮬레이션 · 실제 운영 로그를 재현한 화면이 아님</a:t>
            </a:r>
          </a:p>
        </p:txBody>
      </p:sp>
    </p:spTree>
    <p:extLst>
      <p:ext uri="{BB962C8B-B14F-4D97-AF65-F5344CB8AC3E}">
        <p14:creationId xmlns:p14="http://schemas.microsoft.com/office/powerpoint/2010/main" val="6733619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-0">
            <a:extLst xmlns:a="http://schemas.openxmlformats.org/drawingml/2006/main">
              <a:ext uri="{FF2B5EF4-FFF2-40B4-BE49-F238E27FC236}">
                <a16:creationId xmlns:a16="http://schemas.microsoft.com/office/drawing/2014/main" id="{A8A1786A-9848-42C9-A05F-16B519CD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10 / 22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05DF1FC-EE3A-477A-A33F-64C27DF9E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390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3155DC2-B927-4FBB-9927-AC08DB56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정상 경로와 오류 복구 검증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B0E27F9-9C2F-4C39-AD00-BFB3B800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운영 환경에서 정상 접수, 의도 오류 반환, 수정 후 재제출을 함께 확인했습니다.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E95ADD4-341A-4B5E-AB96-BCBC3280A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6772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운영 환경에서 확인한 세 가지 목적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2FFF6A-1345-48DC-AFA1-9CF26D9A7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6981825" cy="800100"/>
          </a:xfrm>
          <a:prstGeom xmlns:a="http://schemas.openxmlformats.org/drawingml/2006/main" prst="roundRect">
            <a:avLst>
              <a:gd name="adj" fmla="val 59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058476-A1D8-4882-AE7D-62702640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324100"/>
            <a:ext cx="466725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21549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23555057-2ADC-45C2-88D3-7517467E8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257425"/>
            <a:ext cx="5638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정상 접수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0D2F5DFC-4A74-422C-B744-5DEF60FF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09850"/>
            <a:ext cx="5638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정상 데이터를 제출하고 접수 결과를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1316B3-3D02-4358-B149-0D3A1B574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6981825" cy="800100"/>
          </a:xfrm>
          <a:prstGeom xmlns:a="http://schemas.openxmlformats.org/drawingml/2006/main" prst="roundRect">
            <a:avLst>
              <a:gd name="adj" fmla="val 59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04CC9E-D52D-4F8A-974A-9CD4450B1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305175"/>
            <a:ext cx="466725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21549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1C50550A-C28B-4CB5-B1B8-C5EA7FF3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38500"/>
            <a:ext cx="5638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의도 오류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15B00782-C6C4-49C2-8E6D-F252E1B4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90925"/>
            <a:ext cx="5638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오류가 있는 입력에 예상한 오류 응답이 오는지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17275B-B10D-4BC2-A15D-CA3D4877B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6981825" cy="800100"/>
          </a:xfrm>
          <a:prstGeom xmlns:a="http://schemas.openxmlformats.org/drawingml/2006/main" prst="roundRect">
            <a:avLst>
              <a:gd name="adj" fmla="val 59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9F660B-925E-482B-AFF0-1CDCDCD05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286250"/>
            <a:ext cx="466725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21549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6A7BAE15-C317-4253-AA76-FC886516C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19575"/>
            <a:ext cx="5638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수정 재제출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B018C9E2-C6D8-4423-88F1-366278460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72000"/>
            <a:ext cx="5638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원천 데이터를 보완한 뒤 정상 접수로 전환되는지 확인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477B79-8B0C-413A-A5DC-BBFD1A05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114550"/>
            <a:ext cx="3609975" cy="2762250"/>
          </a:xfrm>
          <a:prstGeom xmlns:a="http://schemas.openxmlformats.org/drawingml/2006/main" prst="roundRect">
            <a:avLst>
              <a:gd name="adj" fmla="val 2414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0">
            <a:noFill/>
          </a:ln>
        </p:spPr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E610A2A4-4906-4976-82CC-36F523EDE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381250"/>
            <a:ext cx="32289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4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4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30건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D86B5066-204A-46C2-B8EE-B3E01E7B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295650"/>
            <a:ext cx="3228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테스트 목적 30/30 통과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92F6C2D0-3660-4FD0-AA4E-8368CA054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3905250"/>
            <a:ext cx="31527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정상 접수와 오류 반환·수정 복구를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함께 포함한 검증 결과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2ACD9EEF-9C7B-42F8-B02E-B2E58C34D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검증의 범위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0FBB0EC7-A463-41E7-ABF1-5A94453AC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6299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정상 접수·오류 반환·수정 복구를 포함한 30건의 검증입니다.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운영 전체의 자동 처리율과는 별개이며, 시나리오별 개별 건수는 미확인입니다.</a:t>
            </a:r>
          </a:p>
        </p:txBody>
      </p:sp>
    </p:spTree>
    <p:extLst>
      <p:ext uri="{BB962C8B-B14F-4D97-AF65-F5344CB8AC3E}">
        <p14:creationId xmlns:p14="http://schemas.microsoft.com/office/powerpoint/2010/main" val="7982643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ext-0">
            <a:extLst xmlns:a="http://schemas.openxmlformats.org/drawingml/2006/main">
              <a:ext uri="{FF2B5EF4-FFF2-40B4-BE49-F238E27FC236}">
                <a16:creationId xmlns:a16="http://schemas.microsoft.com/office/drawing/2014/main" id="{F4ACF48B-4600-4B78-8CCE-A21D01AFF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11 / 22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C66254E-EFD5-46F0-9743-F95ED785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390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997600D-1BB4-45F9-A751-38A6A23A5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운영 결과와 후속 과제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72C2508-52F5-451B-84D5-14C09556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신규 연동과 기존 방식을 병행해 집계 대상 주문의 통관 완료를 확인했습니다.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132BA8B-58A1-45ED-A8FB-A23CF9ED1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95475"/>
            <a:ext cx="3676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일평균 약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4AC508AD-D865-4A49-9C4A-C1DD464E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14575"/>
            <a:ext cx="4629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4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4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300건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FE274876-4C95-418B-B3FC-D01AA2ADA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49434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자사몰 약 230건 / 기타 약 70건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4EE91CC8-511B-4D58-A9E4-355D80107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50387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집계기간 2026-08-28 ~ 2026-09-15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집계 대상 주문 전체 통관 완료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D8DB95-71BB-4AF3-A7DA-51F304A7A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819275"/>
            <a:ext cx="5400675" cy="2905125"/>
          </a:xfrm>
          <a:prstGeom xmlns:a="http://schemas.openxmlformats.org/drawingml/2006/main" prst="roundRect">
            <a:avLst>
              <a:gd name="adj" fmla="val 2295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0">
            <a:noFill/>
          </a:ln>
        </p:spPr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8DA45DCD-3B93-4857-B198-31E6BBBA8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489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결과를 해석한 범위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69742D54-BAFF-4428-A22E-A37D926C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86025"/>
            <a:ext cx="4857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신규 신고 경로와 기존 방식이 함께 쓰인 운영 결과입니다.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자동 처리율·신규 경로 비중·처리 시간은 별도 계측하지 않았습니다.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1888CA-1926-4ED8-AC3D-581FDEA9E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505200"/>
            <a:ext cx="485775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D9E0"/>
            </a:solidFill>
          </a:ln>
        </p:spPr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CF718CA5-4A48-4F01-A217-1F5C1F904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00475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운영에서 남은 수기 보완을 다음 개선 과제로 연결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0E5FB69C-9A1C-4079-BE17-5BB0FD599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8448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후속 기획: 고객 통관정보 보완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D41FCE-467E-4B1D-A499-9D023EC1A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105400"/>
            <a:ext cx="177165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9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기획 중 · 미배포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DEFC71-7F45-4B17-AEB7-46B388A17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2628900" cy="70485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F1CF5ED1-6C33-40A7-A356-030AA6D2D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고객 연락</a:t>
            </a:r>
          </a:p>
        </p:txBody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D17137EF-E3CB-42CC-87D0-668D67152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6265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정보 보완 필요 안내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D23B49-07F3-4C84-9D94-09FB93445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581650"/>
            <a:ext cx="2628900" cy="70485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498BA6C8-4902-428E-BDBB-87061B798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69595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주문 확인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C5D1A4E3-FBE2-4F84-9041-F785308F0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96265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대상 주문과 고객 확인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86F7D0-DEC5-4F24-B747-925C615A7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581650"/>
            <a:ext cx="2628900" cy="70485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3846A0F9-55FC-469A-A8FD-132868B05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69595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정보 보완</a:t>
            </a:r>
          </a:p>
        </p:txBody>
      </p:sp>
      <p:sp>
        <p:nvSpPr>
          <p:cNvPr id="24" name="text-23">
            <a:extLst xmlns:a="http://schemas.openxmlformats.org/drawingml/2006/main">
              <a:ext uri="{FF2B5EF4-FFF2-40B4-BE49-F238E27FC236}">
                <a16:creationId xmlns:a16="http://schemas.microsoft.com/office/drawing/2014/main" id="{56E43192-0F39-4214-8AE2-F6F0EFF87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96265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누락된 통관정보 수집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71E802-C1A2-4B20-A2FE-A8FA122FD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581650"/>
            <a:ext cx="2628900" cy="70485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</p:sp>
      <p:sp>
        <p:nvSpPr>
          <p:cNvPr id="26" name="text-25">
            <a:extLst xmlns:a="http://schemas.openxmlformats.org/drawingml/2006/main">
              <a:ext uri="{FF2B5EF4-FFF2-40B4-BE49-F238E27FC236}">
                <a16:creationId xmlns:a16="http://schemas.microsoft.com/office/drawing/2014/main" id="{6E7450B2-39D7-4C8E-9C6D-1A08BED7A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69595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검증·재투입</a:t>
            </a:r>
          </a:p>
        </p:txBody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AF39001C-C650-4104-8C13-98B337071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96265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운영자가 검증 후 처리</a:t>
            </a:r>
          </a:p>
        </p:txBody>
      </p:sp>
    </p:spTree>
    <p:extLst>
      <p:ext uri="{BB962C8B-B14F-4D97-AF65-F5344CB8AC3E}">
        <p14:creationId xmlns:p14="http://schemas.microsoft.com/office/powerpoint/2010/main" val="76718643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206D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text-0">
            <a:extLst xmlns:a="http://schemas.openxmlformats.org/drawingml/2006/main">
              <a:ext uri="{FF2B5EF4-FFF2-40B4-BE49-F238E27FC236}">
                <a16:creationId xmlns:a16="http://schemas.microsoft.com/office/drawing/2014/main" id="{135272C6-546F-4086-8FB3-49A9E49E2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88" b="0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12 / 22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16BFBFB-5DCA-48BC-8D76-D859B8D4D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Project 02.  운영 디지털화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922D34-1F01-4332-90C0-317A0BFE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85825" cy="876300"/>
          </a:xfrm>
          <a:prstGeom xmlns:a="http://schemas.openxmlformats.org/drawingml/2006/main" prst="roundRect">
            <a:avLst>
              <a:gd name="adj" fmla="val 54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80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B2B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6F79228-8332-44C6-A9F9-74E9096D1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676400"/>
            <a:ext cx="57245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산후조리원 전용 B2B 몰 구축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6AF08485-82B2-4996-AB69-B777305C6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143125"/>
            <a:ext cx="56864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계약별 주문·결제·포인트 규칙을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운영자가 설정하고 확인하는 구조로 바꿨습니다.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D607A57C-023A-4CE4-9DBB-220F53B22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0289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1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문제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92988775-4149-4400-BF34-6965150F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314700"/>
            <a:ext cx="5753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계정별 상품·결제 조건을 사람이 매번 다시 판단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C52FF81-65BF-49C3-B76F-4B5215A3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78142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1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대상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6BD118BD-1F1E-425E-AC8D-79123831F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67175"/>
            <a:ext cx="5753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계약 조리원 담당자, 내부 운영팀, 공급사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8D1068FE-5CEE-487E-BA07-7F50AE9C9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339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1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목표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B4D110C9-8D94-4607-B940-C3C097B1B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19650"/>
            <a:ext cx="5753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오출고 예방과 주문 확인 부담 감소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61D63A-3A3A-4C52-BC11-1E9FCA0D1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00200"/>
            <a:ext cx="3848100" cy="3038475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19583C"/>
          </a:solidFill>
          <a:ln xmlns:a="http://schemas.openxmlformats.org/drawingml/2006/main" w="0">
            <a:noFill/>
          </a:ln>
        </p:spPr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A2C1E167-1D9F-4F22-940D-FD024F25F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38325"/>
            <a:ext cx="32670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운영 예외를 정책으로 정리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B860F5-532E-4EA7-8E7C-DFEB6C89D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90750"/>
            <a:ext cx="3238500" cy="466725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206D4A"/>
          </a:solidFill>
          <a:ln xmlns:a="http://schemas.openxmlformats.org/drawingml/2006/main" w="0">
            <a:noFill/>
          </a:ln>
        </p:spPr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AA27F14A-E939-4B7C-8040-D143EA834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76475"/>
            <a:ext cx="2838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회원 등급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E0D44D0C-4C99-4778-97FB-1C0613B9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95550"/>
            <a:ext cx="2838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863" b="0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0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상품·결제수단 분기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96ECBA-3B7D-40A6-A5D9-B552BD016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62250"/>
            <a:ext cx="3238500" cy="466725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206D4A"/>
          </a:solidFill>
          <a:ln xmlns:a="http://schemas.openxmlformats.org/drawingml/2006/main" w="0">
            <a:noFill/>
          </a:ln>
        </p:spPr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8E0A9E73-909A-45CE-A071-05E86DD6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47975"/>
            <a:ext cx="2838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혼합주문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42C7C4BE-034F-42EF-B9FF-58A25158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67050"/>
            <a:ext cx="2838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863" b="0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0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분유와 물품 분리 주문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56B997-69F0-4878-AFF1-14B65EFC3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33750"/>
            <a:ext cx="3238500" cy="466725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206D4A"/>
          </a:solidFill>
          <a:ln xmlns:a="http://schemas.openxmlformats.org/drawingml/2006/main" w="0">
            <a:noFill/>
          </a:ln>
        </p:spPr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B77A1B32-6451-441C-8C2D-14945C3A7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19475"/>
            <a:ext cx="2838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포인트 정리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465FEC8F-C878-442D-8E36-0DED96690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38550"/>
            <a:ext cx="2838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863" b="0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0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담당자 확인 후 실행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50A08E-A9B5-4C78-BA93-C2E2D9B1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05250"/>
            <a:ext cx="3238500" cy="466725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206D4A"/>
          </a:solidFill>
          <a:ln xmlns:a="http://schemas.openxmlformats.org/drawingml/2006/main" w="0">
            <a:noFill/>
          </a:ln>
        </p:spPr>
      </p:sp>
      <p:sp>
        <p:nvSpPr>
          <p:cNvPr id="24" name="text-23">
            <a:extLst xmlns:a="http://schemas.openxmlformats.org/drawingml/2006/main">
              <a:ext uri="{FF2B5EF4-FFF2-40B4-BE49-F238E27FC236}">
                <a16:creationId xmlns:a16="http://schemas.microsoft.com/office/drawing/2014/main" id="{9925D7DC-C538-4819-A382-DB4C816F8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90975"/>
            <a:ext cx="2838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운영 QA</a:t>
            </a:r>
          </a:p>
        </p:txBody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BB7D698E-AD31-497A-B22D-4B86C6DAB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10050"/>
            <a:ext cx="2838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863" b="0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0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고객 화면에서 기대 결과 확인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4B4F68-6204-4541-873C-69766157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A6D5BC"/>
            </a:solidFill>
          </a:ln>
        </p:spPr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76AAB0B9-8830-4B70-A067-76C585767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기간</a:t>
            </a:r>
          </a:p>
        </p:txBody>
      </p:sp>
      <p:sp>
        <p:nvSpPr>
          <p:cNvPr id="28" name="text-27">
            <a:extLst xmlns:a="http://schemas.openxmlformats.org/drawingml/2006/main">
              <a:ext uri="{FF2B5EF4-FFF2-40B4-BE49-F238E27FC236}">
                <a16:creationId xmlns:a16="http://schemas.microsoft.com/office/drawing/2014/main" id="{A8387F47-FF0E-48E0-8A67-1D65B59FC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5391150"/>
            <a:ext cx="10077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2026-06 기획 / 07-02 개발 착수 / 07-16 핵심 흐름 가동 / 08-31 최종 검수</a:t>
            </a:r>
          </a:p>
        </p:txBody>
      </p:sp>
      <p:sp>
        <p:nvSpPr>
          <p:cNvPr id="29" name="text-28">
            <a:extLst xmlns:a="http://schemas.openxmlformats.org/drawingml/2006/main">
              <a:ext uri="{FF2B5EF4-FFF2-40B4-BE49-F238E27FC236}">
                <a16:creationId xmlns:a16="http://schemas.microsoft.com/office/drawing/2014/main" id="{9854E3D4-7083-455C-A832-09315F78A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역할</a:t>
            </a:r>
          </a:p>
        </p:txBody>
      </p:sp>
      <p:sp>
        <p:nvSpPr>
          <p:cNvPr id="30" name="text-29">
            <a:extLst xmlns:a="http://schemas.openxmlformats.org/drawingml/2006/main">
              <a:ext uri="{FF2B5EF4-FFF2-40B4-BE49-F238E27FC236}">
                <a16:creationId xmlns:a16="http://schemas.microsoft.com/office/drawing/2014/main" id="{6FE521EA-DAF3-4852-A4D1-E9CF56108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5667375"/>
            <a:ext cx="10077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문제 정의, 정책·요구사항 작성, 외주 개발사 조율, 운영 QA</a:t>
            </a:r>
          </a:p>
        </p:txBody>
      </p:sp>
      <p:sp>
        <p:nvSpPr>
          <p:cNvPr id="31" name="text-30">
            <a:extLst xmlns:a="http://schemas.openxmlformats.org/drawingml/2006/main">
              <a:ext uri="{FF2B5EF4-FFF2-40B4-BE49-F238E27FC236}">
                <a16:creationId xmlns:a16="http://schemas.microsoft.com/office/drawing/2014/main" id="{141551AC-BCAD-4C9D-93D0-7BC75B491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협업</a:t>
            </a:r>
          </a:p>
        </p:txBody>
      </p:sp>
      <p:sp>
        <p:nvSpPr>
          <p:cNvPr id="32" name="text-31">
            <a:extLst xmlns:a="http://schemas.openxmlformats.org/drawingml/2006/main">
              <a:ext uri="{FF2B5EF4-FFF2-40B4-BE49-F238E27FC236}">
                <a16:creationId xmlns:a16="http://schemas.microsoft.com/office/drawing/2014/main" id="{06D13BAE-786B-4572-968E-F3DA26EF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5943600"/>
            <a:ext cx="10077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커머스 솔루션 개발사, 내부 운영팀, 영업매니저, 공급사</a:t>
            </a:r>
          </a:p>
        </p:txBody>
      </p:sp>
      <p:sp>
        <p:nvSpPr>
          <p:cNvPr id="33" name="text-32">
            <a:extLst xmlns:a="http://schemas.openxmlformats.org/drawingml/2006/main">
              <a:ext uri="{FF2B5EF4-FFF2-40B4-BE49-F238E27FC236}">
                <a16:creationId xmlns:a16="http://schemas.microsoft.com/office/drawing/2014/main" id="{17888CEF-D245-4B60-AD9F-B55ED0F79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산출물</a:t>
            </a:r>
          </a:p>
        </p:txBody>
      </p:sp>
      <p:sp>
        <p:nvSpPr>
          <p:cNvPr id="34" name="text-33">
            <a:extLst xmlns:a="http://schemas.openxmlformats.org/drawingml/2006/main">
              <a:ext uri="{FF2B5EF4-FFF2-40B4-BE49-F238E27FC236}">
                <a16:creationId xmlns:a16="http://schemas.microsoft.com/office/drawing/2014/main" id="{20B498D8-B7B5-4F63-88AC-85C6F314E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6219825"/>
            <a:ext cx="10077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요구사항 대장, 계정 정책표, 사용자 흐름, QA 시나리오, 운영 안내</a:t>
            </a:r>
          </a:p>
        </p:txBody>
      </p:sp>
      <p:sp>
        <p:nvSpPr>
          <p:cNvPr id="35" name="text-34">
            <a:extLst xmlns:a="http://schemas.openxmlformats.org/drawingml/2006/main">
              <a:ext uri="{FF2B5EF4-FFF2-40B4-BE49-F238E27FC236}">
                <a16:creationId xmlns:a16="http://schemas.microsoft.com/office/drawing/2014/main" id="{60526673-868B-4518-8468-01563CB40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규모</a:t>
            </a:r>
          </a:p>
        </p:txBody>
      </p:sp>
      <p:sp>
        <p:nvSpPr>
          <p:cNvPr id="36" name="text-35">
            <a:extLst xmlns:a="http://schemas.openxmlformats.org/drawingml/2006/main">
              <a:ext uri="{FF2B5EF4-FFF2-40B4-BE49-F238E27FC236}">
                <a16:creationId xmlns:a16="http://schemas.microsoft.com/office/drawing/2014/main" id="{817CC238-A33D-4022-966B-27F1D70CC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6496050"/>
            <a:ext cx="10077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계약 조리원 약 140개소 / 물품 지원 계약 약 77개소 / 공급사 5곳</a:t>
            </a:r>
          </a:p>
        </p:txBody>
      </p:sp>
    </p:spTree>
    <p:extLst>
      <p:ext uri="{BB962C8B-B14F-4D97-AF65-F5344CB8AC3E}">
        <p14:creationId xmlns:p14="http://schemas.microsoft.com/office/powerpoint/2010/main" val="60446876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text-0">
            <a:extLst xmlns:a="http://schemas.openxmlformats.org/drawingml/2006/main">
              <a:ext uri="{FF2B5EF4-FFF2-40B4-BE49-F238E27FC236}">
                <a16:creationId xmlns:a16="http://schemas.microsoft.com/office/drawing/2014/main" id="{FC3F35B8-ACDD-494F-9154-96F491183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13 / 22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2E088AF-E7AD-46C1-BFEC-FCB12C403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390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2FDF6DE-2E94-4DE4-999D-E04BB97C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배경과 AS-IS 업무 흐름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F433097-98D0-44BC-9AD6-3928605C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같은 주문을 여러 곳에 옮겨 적고, 계약 조건을 사람이 다시 확인하는 일이 반복됐습니다.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BC51BD-7BCA-43DA-BFF0-0AD47DD1E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724025" cy="70485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AFF0CA0-90AF-4BCC-8B1B-E1A84EB9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19275"/>
            <a:ext cx="1457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구글 폼 주문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7286394B-CB68-442D-94CE-5A5F7D5D1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85975"/>
            <a:ext cx="1457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조리원 담당자 작성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920C6791-4E44-4E59-8335-94B7B849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924050"/>
            <a:ext cx="123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B1D3D0-5557-4C4E-8A3F-B153C78A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1704975"/>
            <a:ext cx="1724025" cy="70485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48D0EC2D-7FD2-417A-A5FC-ADE8EFC3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1819275"/>
            <a:ext cx="1457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시트 취합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94057931-9C1E-46F2-8E6D-3C07C356F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085975"/>
            <a:ext cx="1457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운영팀 수기 정리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2F3EF056-74E0-46B6-AD62-E0D662571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924050"/>
            <a:ext cx="123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2BC237-520E-40B2-8FC1-9E6A82045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04975"/>
            <a:ext cx="1724025" cy="70485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FD45139D-B225-4F44-B090-78E3BAED2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19275"/>
            <a:ext cx="1457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입금 대조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D9E65B15-09B7-482A-8C1A-40136501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85975"/>
            <a:ext cx="1457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계좌와 주문 확인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E566E5EE-5BF6-4313-B40E-53BA6EECD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924050"/>
            <a:ext cx="123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70EA50-A08B-4A6B-A692-DDC91B3F5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704975"/>
            <a:ext cx="1724025" cy="70485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98C44529-66B7-4A2B-A9CA-06D9C30D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819275"/>
            <a:ext cx="1457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거래명세서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11042E17-D597-418B-A2D7-CD83F3684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085975"/>
            <a:ext cx="1457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건별 메일 발송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B720E6E1-5A39-459A-9172-31C7B2BA8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24050"/>
            <a:ext cx="123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F927A2-C079-48EF-8585-9FFEC2A5F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04975"/>
            <a:ext cx="1724025" cy="70485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6059F5A6-39E3-46C8-B5EE-1825D24A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19275"/>
            <a:ext cx="1457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ERP 등록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D4393E1D-C99A-4A55-8E1F-767AE3EA7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85975"/>
            <a:ext cx="1457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주문 재입력</a:t>
            </a:r>
          </a:p>
        </p:txBody>
      </p:sp>
      <p:sp>
        <p:nvSpPr>
          <p:cNvPr id="24" name="text-23">
            <a:extLst xmlns:a="http://schemas.openxmlformats.org/drawingml/2006/main">
              <a:ext uri="{FF2B5EF4-FFF2-40B4-BE49-F238E27FC236}">
                <a16:creationId xmlns:a16="http://schemas.microsoft.com/office/drawing/2014/main" id="{89CB5603-8E8C-47C0-B4E7-D09EC1901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924050"/>
            <a:ext cx="123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0382A1-282A-4881-9A92-3022F16D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1704975"/>
            <a:ext cx="1724025" cy="70485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</p:sp>
      <p:sp>
        <p:nvSpPr>
          <p:cNvPr id="26" name="text-25">
            <a:extLst xmlns:a="http://schemas.openxmlformats.org/drawingml/2006/main">
              <a:ext uri="{FF2B5EF4-FFF2-40B4-BE49-F238E27FC236}">
                <a16:creationId xmlns:a16="http://schemas.microsoft.com/office/drawing/2014/main" id="{7D162B4A-2525-4536-A341-5D3C6177B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1819275"/>
            <a:ext cx="1457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월말 정산</a:t>
            </a:r>
          </a:p>
        </p:txBody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A93AC516-2ED8-43BD-80A2-423ACD170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085975"/>
            <a:ext cx="1457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자료 대조</a:t>
            </a:r>
          </a:p>
        </p:txBody>
      </p:sp>
      <p:sp>
        <p:nvSpPr>
          <p:cNvPr id="28" name="text-27">
            <a:extLst xmlns:a="http://schemas.openxmlformats.org/drawingml/2006/main">
              <a:ext uri="{FF2B5EF4-FFF2-40B4-BE49-F238E27FC236}">
                <a16:creationId xmlns:a16="http://schemas.microsoft.com/office/drawing/2014/main" id="{0AB633C1-6B9E-4234-BECA-81A1D33B4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25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운영에서 확인한 부담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336CD2-934A-4441-B76B-6704CF48D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525780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0">
            <a:noFill/>
          </a:ln>
        </p:spPr>
      </p:sp>
      <p:sp>
        <p:nvSpPr>
          <p:cNvPr id="30" name="text-29">
            <a:extLst xmlns:a="http://schemas.openxmlformats.org/drawingml/2006/main">
              <a:ext uri="{FF2B5EF4-FFF2-40B4-BE49-F238E27FC236}">
                <a16:creationId xmlns:a16="http://schemas.microsoft.com/office/drawing/2014/main" id="{79B88DE9-E7A3-472B-9BAE-5DE075AD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19475"/>
            <a:ext cx="1685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88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매일 입금 대조</a:t>
            </a:r>
          </a:p>
        </p:txBody>
      </p:sp>
      <p:sp>
        <p:nvSpPr>
          <p:cNvPr id="31" name="text-30">
            <a:extLst xmlns:a="http://schemas.openxmlformats.org/drawingml/2006/main">
              <a:ext uri="{FF2B5EF4-FFF2-40B4-BE49-F238E27FC236}">
                <a16:creationId xmlns:a16="http://schemas.microsoft.com/office/drawing/2014/main" id="{8395A5D9-73E6-4CF1-8FA0-553411020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419475"/>
            <a:ext cx="13430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15~30분</a:t>
            </a:r>
          </a:p>
        </p:txBody>
      </p:sp>
      <p:sp>
        <p:nvSpPr>
          <p:cNvPr id="32" name="text-31">
            <a:extLst xmlns:a="http://schemas.openxmlformats.org/drawingml/2006/main">
              <a:ext uri="{FF2B5EF4-FFF2-40B4-BE49-F238E27FC236}">
                <a16:creationId xmlns:a16="http://schemas.microsoft.com/office/drawing/2014/main" id="{78B3163B-77BC-429E-BE50-7E28CF2F8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352800"/>
            <a:ext cx="1600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82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입금자명·금액을 주문과 확인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CDFEF1-C0D8-4FA2-9AFA-34032F02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525780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0">
            <a:noFill/>
          </a:ln>
        </p:spPr>
      </p:sp>
      <p:sp>
        <p:nvSpPr>
          <p:cNvPr id="34" name="text-33">
            <a:extLst xmlns:a="http://schemas.openxmlformats.org/drawingml/2006/main">
              <a:ext uri="{FF2B5EF4-FFF2-40B4-BE49-F238E27FC236}">
                <a16:creationId xmlns:a16="http://schemas.microsoft.com/office/drawing/2014/main" id="{646DB689-AA52-4CE5-A481-B309BD6A6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24325"/>
            <a:ext cx="1685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88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오출고</a:t>
            </a:r>
          </a:p>
        </p:txBody>
      </p:sp>
      <p:sp>
        <p:nvSpPr>
          <p:cNvPr id="35" name="text-34">
            <a:extLst xmlns:a="http://schemas.openxmlformats.org/drawingml/2006/main">
              <a:ext uri="{FF2B5EF4-FFF2-40B4-BE49-F238E27FC236}">
                <a16:creationId xmlns:a16="http://schemas.microsoft.com/office/drawing/2014/main" id="{9DA54A01-EFC5-41D0-85C7-22739733D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124325"/>
            <a:ext cx="13430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월 2~3건</a:t>
            </a:r>
          </a:p>
        </p:txBody>
      </p:sp>
      <p:sp>
        <p:nvSpPr>
          <p:cNvPr id="36" name="text-35">
            <a:extLst xmlns:a="http://schemas.openxmlformats.org/drawingml/2006/main">
              <a:ext uri="{FF2B5EF4-FFF2-40B4-BE49-F238E27FC236}">
                <a16:creationId xmlns:a16="http://schemas.microsoft.com/office/drawing/2014/main" id="{48E301BC-00A7-442E-8979-4B25A780B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057650"/>
            <a:ext cx="1600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82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직전 6개월 월평균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6B7887C-AE3D-41FC-9164-FE992C5DA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525780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0">
            <a:noFill/>
          </a:ln>
        </p:spPr>
      </p:sp>
      <p:sp>
        <p:nvSpPr>
          <p:cNvPr id="38" name="text-37">
            <a:extLst xmlns:a="http://schemas.openxmlformats.org/drawingml/2006/main">
              <a:ext uri="{FF2B5EF4-FFF2-40B4-BE49-F238E27FC236}">
                <a16:creationId xmlns:a16="http://schemas.microsoft.com/office/drawing/2014/main" id="{EA265695-64D8-410B-8761-1483B4A1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29175"/>
            <a:ext cx="1685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88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CS 문의</a:t>
            </a:r>
          </a:p>
        </p:txBody>
      </p:sp>
      <p:sp>
        <p:nvSpPr>
          <p:cNvPr id="39" name="text-38">
            <a:extLst xmlns:a="http://schemas.openxmlformats.org/drawingml/2006/main">
              <a:ext uri="{FF2B5EF4-FFF2-40B4-BE49-F238E27FC236}">
                <a16:creationId xmlns:a16="http://schemas.microsoft.com/office/drawing/2014/main" id="{3CEDF96F-8754-45EF-AFDE-52FDC8C1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829175"/>
            <a:ext cx="13430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2주 환산 32건</a:t>
            </a:r>
          </a:p>
        </p:txBody>
      </p:sp>
      <p:sp>
        <p:nvSpPr>
          <p:cNvPr id="40" name="text-39">
            <a:extLst xmlns:a="http://schemas.openxmlformats.org/drawingml/2006/main">
              <a:ext uri="{FF2B5EF4-FFF2-40B4-BE49-F238E27FC236}">
                <a16:creationId xmlns:a16="http://schemas.microsoft.com/office/drawing/2014/main" id="{F14A0BDE-58AC-4041-A813-265FC4F6E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762500"/>
            <a:ext cx="1600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82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2026-01~06 인입 이력 기준</a:t>
            </a:r>
          </a:p>
        </p:txBody>
      </p:sp>
      <p:sp>
        <p:nvSpPr>
          <p:cNvPr id="41" name="text-40">
            <a:extLst xmlns:a="http://schemas.openxmlformats.org/drawingml/2006/main">
              <a:ext uri="{FF2B5EF4-FFF2-40B4-BE49-F238E27FC236}">
                <a16:creationId xmlns:a16="http://schemas.microsoft.com/office/drawing/2014/main" id="{36AFD781-DF3E-48F9-93ED-653B312F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527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입금 대조는 도입 전 소요시간 / 오출고·문의는 운영팀 출고·CS 이력</a:t>
            </a:r>
          </a:p>
        </p:txBody>
      </p:sp>
      <p:sp>
        <p:nvSpPr>
          <p:cNvPr id="42" name="text-41">
            <a:extLst xmlns:a="http://schemas.openxmlformats.org/drawingml/2006/main">
              <a:ext uri="{FF2B5EF4-FFF2-40B4-BE49-F238E27FC236}">
                <a16:creationId xmlns:a16="http://schemas.microsoft.com/office/drawing/2014/main" id="{6B498DE5-8E35-415C-80CD-72467557E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857500"/>
            <a:ext cx="525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문제 정의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96CC850-4CE1-4372-AC63-E11D16F44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276600"/>
            <a:ext cx="5324475" cy="1009650"/>
          </a:xfrm>
          <a:prstGeom xmlns:a="http://schemas.openxmlformats.org/drawingml/2006/main" prst="roundRect">
            <a:avLst>
              <a:gd name="adj" fmla="val 6604"/>
            </a:avLst>
          </a:prstGeom>
          <a:solidFill xmlns:a="http://schemas.openxmlformats.org/drawingml/2006/main">
            <a:srgbClr val="E7F4ED"/>
          </a:solidFill>
          <a:ln xmlns:a="http://schemas.openxmlformats.org/drawingml/2006/main" w="0">
            <a:noFill/>
          </a:ln>
        </p:spPr>
      </p:sp>
      <p:sp>
        <p:nvSpPr>
          <p:cNvPr id="44" name="text-43">
            <a:extLst xmlns:a="http://schemas.openxmlformats.org/drawingml/2006/main">
              <a:ext uri="{FF2B5EF4-FFF2-40B4-BE49-F238E27FC236}">
                <a16:creationId xmlns:a16="http://schemas.microsoft.com/office/drawing/2014/main" id="{D5B28B52-9573-43DA-B820-29F363457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76625"/>
            <a:ext cx="4857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계약·결제·주문 상태를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사람의 기억으로 매번 판단하는 구조</a:t>
            </a:r>
          </a:p>
        </p:txBody>
      </p:sp>
      <p:sp>
        <p:nvSpPr>
          <p:cNvPr id="45" name="text-44">
            <a:extLst xmlns:a="http://schemas.openxmlformats.org/drawingml/2006/main">
              <a:ext uri="{FF2B5EF4-FFF2-40B4-BE49-F238E27FC236}">
                <a16:creationId xmlns:a16="http://schemas.microsoft.com/office/drawing/2014/main" id="{E42E7776-4E26-43FD-98C4-B614AE31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562475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46" name="text-45">
            <a:extLst xmlns:a="http://schemas.openxmlformats.org/drawingml/2006/main">
              <a:ext uri="{FF2B5EF4-FFF2-40B4-BE49-F238E27FC236}">
                <a16:creationId xmlns:a16="http://schemas.microsoft.com/office/drawing/2014/main" id="{851F9608-0D65-4941-9AF3-C9E832858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562475"/>
            <a:ext cx="4838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등급별 상품과 결제 조건이 화면·서버에서 일치해야 함</a:t>
            </a:r>
          </a:p>
        </p:txBody>
      </p:sp>
      <p:sp>
        <p:nvSpPr>
          <p:cNvPr id="47" name="text-46">
            <a:extLst xmlns:a="http://schemas.openxmlformats.org/drawingml/2006/main">
              <a:ext uri="{FF2B5EF4-FFF2-40B4-BE49-F238E27FC236}">
                <a16:creationId xmlns:a16="http://schemas.microsoft.com/office/drawing/2014/main" id="{6A7515F0-FB35-4784-A105-0AE9018A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305425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48" name="text-47">
            <a:extLst xmlns:a="http://schemas.openxmlformats.org/drawingml/2006/main">
              <a:ext uri="{FF2B5EF4-FFF2-40B4-BE49-F238E27FC236}">
                <a16:creationId xmlns:a16="http://schemas.microsoft.com/office/drawing/2014/main" id="{1963131F-82A7-415C-BC83-A334FC89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5305425"/>
            <a:ext cx="4838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잘못된 조합은 주문 전에 막고 고객이 다음 행동을 알 수 있어야 함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0752AA9-7BDF-4C2C-B312-B80B1D67B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97280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206D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우선 해결할 문제를 주문 오류 예방과 반복 확인 업무의 감소로 정했습니다.</a:t>
            </a:r>
          </a:p>
        </p:txBody>
      </p:sp>
    </p:spTree>
    <p:extLst>
      <p:ext uri="{BB962C8B-B14F-4D97-AF65-F5344CB8AC3E}">
        <p14:creationId xmlns:p14="http://schemas.microsoft.com/office/powerpoint/2010/main" val="37743750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0">
            <a:extLst xmlns:a="http://schemas.openxmlformats.org/drawingml/2006/main">
              <a:ext uri="{FF2B5EF4-FFF2-40B4-BE49-F238E27FC236}">
                <a16:creationId xmlns:a16="http://schemas.microsoft.com/office/drawing/2014/main" id="{30F3D409-4AEE-4FD9-8FD7-5A57FAC40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14 / 22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4D433FB-D192-40F8-A9FF-48C320DC1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390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9331270-53F3-4804-8845-4753B06B8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대안 비교와 오픈 범위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A3921D4-D18E-47B5-BB43-BC8D4114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운영팀이 익숙한 플랫폼 위에 계약별 정책을 추가하는 방식을 선택했습니다.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609600" y="1695450"/>
          <a:ext xmlns:a="http://schemas.openxmlformats.org/drawingml/2006/main" cx="10972800" cy="2228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2457450"/>
                <a:gridCol w="4686300"/>
                <a:gridCol w="1590675"/>
              </a:tblGrid>
              <a:tr h="342900"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장점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판단한 제약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결정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맞춤형 웹서비스 개발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요구사항을 자유롭게 구현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서버 운영과 유지보수 책임이 내부로 확대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제외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다른 쇼핑몰 솔루션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기본 기능을 빠르게 활용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운영팀이 새 환경을 학습하고 기존 인프라와 이원화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제외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기존 솔루션 + 정책 맞춤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기존 인프라와 운영 방식 유지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정책 예외를 구체화하고 별도 개발 범위를 관리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채택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32675A-2932-479D-92C2-8A7705D6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10972800" cy="371475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결정 기준  ① 운영팀 학습 부담    ② 기존 인프라    ③ 유지보수 책임    ④ 구축비용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638F9CD2-55D0-45F3-A7A1-F3573C462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4822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범위에서 뺀 기능과 이유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C6126E-8BC8-4135-B7D5-3ABB048D8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3524250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6E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9C650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9C650A"/>
                </a:solidFill>
                <a:latin typeface="Noto Sans KR"/>
                <a:ea typeface="Noto Sans KR"/>
                <a:cs typeface="Noto Sans KR"/>
              </a:rPr>
              <a:t>PG 결제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3FBB9B61-5C37-4D4E-B5ED-857EC6AF1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91200"/>
            <a:ext cx="3257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B2B 마진 대비 수수료 부담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EC0DE0-1B49-4698-B8E6-9E1417FC7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267325"/>
            <a:ext cx="3524250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6E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9C650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9C650A"/>
                </a:solidFill>
                <a:latin typeface="Noto Sans KR"/>
                <a:ea typeface="Noto Sans KR"/>
                <a:cs typeface="Noto Sans KR"/>
              </a:rPr>
              <a:t>견적서 신규 개발</a:t>
            </a:r>
          </a:p>
        </p:txBody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C5542473-A4DC-45FF-A8C8-5C818FF8C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791200"/>
            <a:ext cx="3257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기존 거래명세서로 대체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B288C3-6812-4A52-ADCB-7DAD8509B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267325"/>
            <a:ext cx="3524250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6E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9C650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9C650A"/>
                </a:solidFill>
                <a:latin typeface="Noto Sans KR"/>
                <a:ea typeface="Noto Sans KR"/>
                <a:cs typeface="Noto Sans KR"/>
              </a:rPr>
              <a:t>포인트 완전 자동화</a:t>
            </a:r>
          </a:p>
        </p:txBody>
      </p:sp>
      <p:sp>
        <p:nvSpPr>
          <p:cNvPr id="13" name="text-11">
            <a:extLst xmlns:a="http://schemas.openxmlformats.org/drawingml/2006/main">
              <a:ext uri="{FF2B5EF4-FFF2-40B4-BE49-F238E27FC236}">
                <a16:creationId xmlns:a16="http://schemas.microsoft.com/office/drawing/2014/main" id="{31FBD8B7-1238-4BAF-B87A-3B240B7B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791200"/>
            <a:ext cx="3257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계약 변경과 비가역 차감 위험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담당자 확인 후 실행</a:t>
            </a:r>
          </a:p>
        </p:txBody>
      </p:sp>
    </p:spTree>
    <p:extLst>
      <p:ext uri="{BB962C8B-B14F-4D97-AF65-F5344CB8AC3E}">
        <p14:creationId xmlns:p14="http://schemas.microsoft.com/office/powerpoint/2010/main" val="150471112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0">
            <a:extLst xmlns:a="http://schemas.openxmlformats.org/drawingml/2006/main">
              <a:ext uri="{FF2B5EF4-FFF2-40B4-BE49-F238E27FC236}">
                <a16:creationId xmlns:a16="http://schemas.microsoft.com/office/drawing/2014/main" id="{1821BD9D-A5C0-4D62-8630-3617D3ABD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15 / 22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89643F9-6FCD-4D24-B57C-6A7A7FD67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390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279F6A4-164D-4337-8F99-383A8EA1B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계정 정책을 설정표로 고정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0B74AD3-0239-4216-825B-9B0B2A14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회원 등급과 상품 카테고리를 조합해, 고객 화면과 서버가 같은 결제 규칙을 쓰도록 했습니다.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CE975F8E-2857-4ED5-B73E-2246AB99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6991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회원 등급 × 상품 카테고리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609600" y="2105025"/>
          <a:ext xmlns:a="http://schemas.openxmlformats.org/drawingml/2006/main" cx="7334250" cy="2057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47900"/>
                <a:gridCol w="1790700"/>
                <a:gridCol w="1628775"/>
                <a:gridCol w="1666875"/>
              </a:tblGrid>
              <a:tr h="342900"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회원 등급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분유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물품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미분류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물품계약(선불)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무통장 입금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포인트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무통장 입금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물품계약(후불)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후불(선출고)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포인트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무통장 입금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선불입금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무통장 입금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무통장 입금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무통장 입금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후불입금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후불(선출고)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후불(선출고)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무통장 입금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224428-134A-4B12-A527-9A1ED9F4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105025"/>
            <a:ext cx="2352675" cy="20574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E7F4ED"/>
          </a:solidFill>
          <a:ln xmlns:a="http://schemas.openxmlformats.org/drawingml/2006/main" w="0">
            <a:noFill/>
          </a:ln>
        </p:spPr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21ED4F17-A13C-4919-B2B1-A4EE9FB61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266950"/>
            <a:ext cx="19335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설계한 규칙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031F2C39-F214-4EFA-A94F-33664F894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705100"/>
            <a:ext cx="19431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새 등급·카테고리 설정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미분류 상품의 기본값 관리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서버에서 결제수단 재검증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F3686297-B14F-4528-80F3-304245568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운영자가 직접 수정하는 설정 화면 · 핵심 2개 등급 발췌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a0203c24044858"/>
          <a:stretch xmlns:a="http://schemas.openxmlformats.org/drawingml/2006/main"/>
        </p:blipFill>
        <p:spPr>
          <a:xfrm xmlns:a="http://schemas.openxmlformats.org/drawingml/2006/main">
            <a:off x="728412" y="4838700"/>
            <a:ext cx="10735176" cy="1638300"/>
          </a:xfrm>
          <a:prstGeom xmlns:a="http://schemas.openxmlformats.org/drawingml/2006/main" prst="rect">
            <a:avLst/>
          </a:prstGeom>
        </p:spPr>
      </p:pic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9DC70C3D-3EF8-4288-BCE2-187EFF26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개발사 처리결과 문서 캡처 · 실제 운영 화면 직접 캡처 아님 · 회원 수·상품 수 제거</a:t>
            </a:r>
          </a:p>
        </p:txBody>
      </p:sp>
    </p:spTree>
    <p:extLst>
      <p:ext uri="{BB962C8B-B14F-4D97-AF65-F5344CB8AC3E}">
        <p14:creationId xmlns:p14="http://schemas.microsoft.com/office/powerpoint/2010/main" val="208765475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0">
            <a:extLst xmlns:a="http://schemas.openxmlformats.org/drawingml/2006/main">
              <a:ext uri="{FF2B5EF4-FFF2-40B4-BE49-F238E27FC236}">
                <a16:creationId xmlns:a16="http://schemas.microsoft.com/office/drawing/2014/main" id="{9ADFE3BF-6B0C-49A0-9CCE-4821C6F1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16 / 22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250BF08-4E41-4661-B847-E21439EA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390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8CFE252-624D-46E1-A5CD-00BD252B7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사용자 여정과 운영의 연결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AE7CB82-7678-46FA-B898-D623C75E5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고객의 주문·확인 행동과 운영팀의 설정·검수 행동을 같은 흐름에 배치했습니다.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CF637A-E142-4BC1-90DD-F7A0E725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127635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E7F4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88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역할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955497-B813-4E2A-95A0-15DBB77F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724025"/>
            <a:ext cx="2276475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1A1A1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주문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3A8632-D185-4565-8A51-1FE8A8874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724025"/>
            <a:ext cx="2276475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1A1A1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결제·접수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C2FF97-5CCC-4709-A4AC-7FD9B773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724025"/>
            <a:ext cx="2276475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1A1A1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주문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A002E4-92C7-4EEB-AA7A-6177FF080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724025"/>
            <a:ext cx="2409825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1A1A1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출고 이후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55ECCF-4439-42EC-8CFA-15C3CC4F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276350" cy="771525"/>
          </a:xfrm>
          <a:prstGeom xmlns:a="http://schemas.openxmlformats.org/drawingml/2006/main" prst="roundRect">
            <a:avLst>
              <a:gd name="adj" fmla="val 6173"/>
            </a:avLst>
          </a:prstGeom>
          <a:solidFill xmlns:a="http://schemas.openxmlformats.org/drawingml/2006/main">
            <a:srgbClr val="E7F4ED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88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조리원 담당자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CA8995-91A6-41D6-B83A-CA2DB42E6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190750"/>
            <a:ext cx="2276475" cy="771525"/>
          </a:xfrm>
          <a:prstGeom xmlns:a="http://schemas.openxmlformats.org/drawingml/2006/main" prst="roundRect">
            <a:avLst>
              <a:gd name="adj" fmla="val 61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허용 상품 확인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분류별로 주문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73D775-3212-4A45-BE16-98410006A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190750"/>
            <a:ext cx="2276475" cy="771525"/>
          </a:xfrm>
          <a:prstGeom xmlns:a="http://schemas.openxmlformats.org/drawingml/2006/main" prst="roundRect">
            <a:avLst>
              <a:gd name="adj" fmla="val 61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계정 정책에 맞는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결제수단 선택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CBD446-45C3-4D39-B7E7-4F353800F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190750"/>
            <a:ext cx="2276475" cy="771525"/>
          </a:xfrm>
          <a:prstGeom xmlns:a="http://schemas.openxmlformats.org/drawingml/2006/main" prst="roundRect">
            <a:avLst>
              <a:gd name="adj" fmla="val 61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마이페이지에서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진행 상태 조회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518DE5-3811-497A-9EC1-473F2C593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190750"/>
            <a:ext cx="2409825" cy="771525"/>
          </a:xfrm>
          <a:prstGeom xmlns:a="http://schemas.openxmlformats.org/drawingml/2006/main" prst="roundRect">
            <a:avLst>
              <a:gd name="adj" fmla="val 61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거래명세서 출력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배송 요청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213EB1-749A-48B0-9C18-F1E3C145A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1276350" cy="771525"/>
          </a:xfrm>
          <a:prstGeom xmlns:a="http://schemas.openxmlformats.org/drawingml/2006/main" prst="roundRect">
            <a:avLst>
              <a:gd name="adj" fmla="val 6173"/>
            </a:avLst>
          </a:prstGeom>
          <a:solidFill xmlns:a="http://schemas.openxmlformats.org/drawingml/2006/main">
            <a:srgbClr val="E7F4ED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88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내부 운영팀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70C279-A5FD-4BD9-A6C4-A83B1E666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105150"/>
            <a:ext cx="2276475" cy="771525"/>
          </a:xfrm>
          <a:prstGeom xmlns:a="http://schemas.openxmlformats.org/drawingml/2006/main" prst="roundRect">
            <a:avLst>
              <a:gd name="adj" fmla="val 61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계약별 계정·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정책 값 설정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FEDDFA-98D7-4A3C-AAEA-7E2902AF0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105150"/>
            <a:ext cx="2276475" cy="771525"/>
          </a:xfrm>
          <a:prstGeom xmlns:a="http://schemas.openxmlformats.org/drawingml/2006/main" prst="roundRect">
            <a:avLst>
              <a:gd name="adj" fmla="val 61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입금·후불 상태를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구분해 확인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FC29A1-CF2D-4BDC-A3D9-74B976AB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105150"/>
            <a:ext cx="2276475" cy="771525"/>
          </a:xfrm>
          <a:prstGeom xmlns:a="http://schemas.openxmlformats.org/drawingml/2006/main" prst="roundRect">
            <a:avLst>
              <a:gd name="adj" fmla="val 61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운영 화면과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예외 주문 점검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D999DD-E16D-413F-990E-684EB87A2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105150"/>
            <a:ext cx="2409825" cy="771525"/>
          </a:xfrm>
          <a:prstGeom xmlns:a="http://schemas.openxmlformats.org/drawingml/2006/main" prst="roundRect">
            <a:avLst>
              <a:gd name="adj" fmla="val 61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포인트 정리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운영 피드백 반영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57017D98-EF42-45C5-A35C-231F61FFC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528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고객에게 보이는 운영 안내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f11a3dd8ee42f2"/>
          <a:stretch xmlns:a="http://schemas.openxmlformats.org/drawingml/2006/main"/>
        </p:blipFill>
        <p:spPr>
          <a:xfrm xmlns:a="http://schemas.openxmlformats.org/drawingml/2006/main">
            <a:off x="1045822" y="4848225"/>
            <a:ext cx="4385355" cy="1162050"/>
          </a:xfrm>
          <a:prstGeom xmlns:a="http://schemas.openxmlformats.org/drawingml/2006/main" prst="rect">
            <a:avLst/>
          </a:prstGeom>
        </p:spPr>
      </p:pic>
      <p:sp>
        <p:nvSpPr>
          <p:cNvPr id="22" name="text-20">
            <a:extLst xmlns:a="http://schemas.openxmlformats.org/drawingml/2006/main">
              <a:ext uri="{FF2B5EF4-FFF2-40B4-BE49-F238E27FC236}">
                <a16:creationId xmlns:a16="http://schemas.microsoft.com/office/drawing/2014/main" id="{A0CAE81E-4336-46CB-A2E8-559448A4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00550"/>
            <a:ext cx="529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고객이 직접 확인하는 주문 상태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81682bd25f4e9e"/>
          <a:stretch xmlns:a="http://schemas.openxmlformats.org/drawingml/2006/main"/>
        </p:blipFill>
        <p:spPr>
          <a:xfrm xmlns:a="http://schemas.openxmlformats.org/drawingml/2006/main">
            <a:off x="6286500" y="4891400"/>
            <a:ext cx="5295900" cy="1085225"/>
          </a:xfrm>
          <a:prstGeom xmlns:a="http://schemas.openxmlformats.org/drawingml/2006/main" prst="rect">
            <a:avLst/>
          </a:prstGeom>
        </p:spPr>
      </p:pic>
      <p:sp>
        <p:nvSpPr>
          <p:cNvPr id="24" name="text-21">
            <a:extLst xmlns:a="http://schemas.openxmlformats.org/drawingml/2006/main">
              <a:ext uri="{FF2B5EF4-FFF2-40B4-BE49-F238E27FC236}">
                <a16:creationId xmlns:a16="http://schemas.microsoft.com/office/drawing/2014/main" id="{4702F9C1-6467-4319-A8B8-8DCF2CFE2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실제 운영 화면 발췌 · 2026-08-28 · 고객정보·가격·주문번호·상태 건수 제거</a:t>
            </a:r>
          </a:p>
        </p:txBody>
      </p:sp>
    </p:spTree>
    <p:extLst>
      <p:ext uri="{BB962C8B-B14F-4D97-AF65-F5344CB8AC3E}">
        <p14:creationId xmlns:p14="http://schemas.microsoft.com/office/powerpoint/2010/main" val="9618978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0">
            <a:extLst xmlns:a="http://schemas.openxmlformats.org/drawingml/2006/main">
              <a:ext uri="{FF2B5EF4-FFF2-40B4-BE49-F238E27FC236}">
                <a16:creationId xmlns:a16="http://schemas.microsoft.com/office/drawing/2014/main" id="{399C9558-AD0A-422B-A4B6-5ABB51636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17 / 22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6157B31-F208-4FAB-AFC8-44139A84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390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4263BAB-7EB9-4969-9D4B-B49646774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결제방식이 같아도 혼합주문을 차단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EF62D44-9FD5-4F9E-B82A-9DFEB1E6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결제방식이 같은 경우에도 분유와 물품은 나눠 주문해야 한다는 운영 규칙을 반영했습니다.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532CCB-D592-46CA-9DFC-7540E97CC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5229225" cy="33337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7F4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가상 예시: 선불입금 회원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59F782-C2B8-4A7D-A769-0CE224B69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2409825" cy="752475"/>
          </a:xfrm>
          <a:prstGeom xmlns:a="http://schemas.openxmlformats.org/drawingml/2006/main" prst="roundRect">
            <a:avLst>
              <a:gd name="adj" fmla="val 63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분유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무통장 입금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B9E81DBA-599A-4E56-8A42-1419CBC8B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003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9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+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B8CE80-DC29-4ADB-86AD-10256DD4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28850"/>
            <a:ext cx="2314575" cy="752475"/>
          </a:xfrm>
          <a:prstGeom xmlns:a="http://schemas.openxmlformats.org/drawingml/2006/main" prst="roundRect">
            <a:avLst>
              <a:gd name="adj" fmla="val 63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물품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무통장 입금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609600" y="3390900"/>
          <a:ext xmlns:a="http://schemas.openxmlformats.org/drawingml/2006/main" cx="5838825" cy="1524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3743325"/>
              </a:tblGrid>
              <a:tr h="323850"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판단 기준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처리 결과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이전: 결제방식 비교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둘 다 무통장이므로 혼합주문 통과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보완: 카테고리 비교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분류가 다르면 차단하고 분리 주문 안내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</a:tr>
            </a:tbl>
          </a:graphicData>
        </a:graphic>
      </p:graphicFrame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C1130659-20AA-486F-8602-F28EB4623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145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고객에게 보여준 다음 행동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6650d6a75049be"/>
          <a:stretch xmlns:a="http://schemas.openxmlformats.org/drawingml/2006/main"/>
        </p:blipFill>
        <p:spPr>
          <a:xfrm xmlns:a="http://schemas.openxmlformats.org/drawingml/2006/main">
            <a:off x="7050626" y="2171700"/>
            <a:ext cx="3567622" cy="2324100"/>
          </a:xfrm>
          <a:prstGeom xmlns:a="http://schemas.openxmlformats.org/drawingml/2006/main" prst="rect">
            <a:avLst/>
          </a:prstGeom>
        </p:spPr>
      </p:pic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3FE6FAF3-2320-4CE2-BC2A-1803BD0A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772025"/>
            <a:ext cx="533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막힌 이유와 분류별 주문 방법을 함께 안내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BB6E79-D4F2-4695-9A9D-1B60F203F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97280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206D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정책의 기준을 결제수단에서 상품 분류로 옮겨, 같은 결제수단의 예외까지 막았습니다.</a:t>
            </a:r>
          </a:p>
        </p:txBody>
      </p:sp>
      <p:sp>
        <p:nvSpPr>
          <p:cNvPr id="14" name="text-11">
            <a:extLst xmlns:a="http://schemas.openxmlformats.org/drawingml/2006/main">
              <a:ext uri="{FF2B5EF4-FFF2-40B4-BE49-F238E27FC236}">
                <a16:creationId xmlns:a16="http://schemas.microsoft.com/office/drawing/2014/main" id="{E16EC3BD-B26F-4DD8-BF9C-174F82C9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좌측: 정책 기반 가상 예시 / 우측: 개발사 문서 캡처(분유·미지정 테스트 상품) · 실운영 직접 캡처 아님</a:t>
            </a:r>
          </a:p>
        </p:txBody>
      </p:sp>
    </p:spTree>
    <p:extLst>
      <p:ext uri="{BB962C8B-B14F-4D97-AF65-F5344CB8AC3E}">
        <p14:creationId xmlns:p14="http://schemas.microsoft.com/office/powerpoint/2010/main" val="136338024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ext-0">
            <a:extLst xmlns:a="http://schemas.openxmlformats.org/drawingml/2006/main">
              <a:ext uri="{FF2B5EF4-FFF2-40B4-BE49-F238E27FC236}">
                <a16:creationId xmlns:a16="http://schemas.microsoft.com/office/drawing/2014/main" id="{E41943F3-11CE-4592-99A2-9A9870417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18 / 22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4A8FF5A-BC8A-4741-862A-3B7EAD4F5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390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FB574A0-B8DD-4E5E-9512-6F349F898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포인트 정리의 실행 안전장치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6702B8E-19B2-4AA8-8F4F-178F40EE6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월 1회 발생하는 비가역 작업이어서, 대상과 차감 결과를 확인한 뒤 실행하도록 범위를 조정했습니다.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A3A12D-65F5-402E-B50F-5D6CA909B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2628900" cy="70485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5726AC16-31B5-4390-BD07-C591DDCD8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미리보기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BABE9BA1-CEB8-42BF-BE79-44C1DA4EF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현재·차감·잔여 확인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125C8200-7E7B-4815-B1F6-5481A1280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1943100"/>
            <a:ext cx="133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BFE45B-C851-4558-A5EE-373E50AE4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733550"/>
            <a:ext cx="2628900" cy="70485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2F56DC26-D4B8-4B8F-8651-1892C46C6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4785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대상 선택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9A1733A0-0EC4-41EC-A9E4-4807FCFBC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1455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처리할 회원 선택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116F6245-6849-451A-B4DC-B76344F44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1943100"/>
            <a:ext cx="133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BDDF6E-B353-43F4-8245-80D601D57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33550"/>
            <a:ext cx="2628900" cy="70485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34E09F60-0423-4EF6-982F-2452C9A2F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4785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최종 확인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8B5B76D3-B640-45FE-B5CB-88C41BB78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1455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대상과 합계를 재확인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8B84B502-E699-426F-93A6-0FE19536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943100"/>
            <a:ext cx="133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61D638-4005-4CBB-B994-B96D76164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33550"/>
            <a:ext cx="2628900" cy="70485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E0"/>
            </a:solidFill>
          </a:ln>
        </p:spPr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D4B8BDA7-0FC0-46D6-95A1-4E2C5555B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84785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실행·기록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57D25514-E478-4641-809C-B5002E27E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1455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현재 상태 재검증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9E569237-1049-4C8F-83BE-A8AE32A38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조회한 뒤 회원 상태가 바뀐다면</a:t>
            </a:r>
          </a:p>
        </p:txBody>
      </p:sp>
      <p:graphicFrame>
        <p:nvGraphicFramePr>
          <p:cNvPr id="46" name=""/>
          <p:cNvGraphicFramePr/>
          <p:nvPr/>
        </p:nvGraphicFramePr>
        <p:xfrm>
          <a:off xmlns:a="http://schemas.openxmlformats.org/drawingml/2006/main" x="609600" y="3333750"/>
          <a:ext xmlns:a="http://schemas.openxmlformats.org/drawingml/2006/main" cx="10972800" cy="2190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3048000"/>
                <a:gridCol w="3048000"/>
                <a:gridCol w="3352800"/>
              </a:tblGrid>
              <a:tr h="361950"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가상 대상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조회 후 상황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실행 시 처리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막으려는 문제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회원 A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상태 변동 없음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선택한 대상만 정리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대상 외 회원의 임의 차감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회원 B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포인트 사용 또는 등급 변경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변경 회원 자동 제외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오래된 화면 값으로 과다 차감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</a:tr>
              <a:tr h="609600"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같은 조건 재실행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운영자가 실행을 다시 누름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추가 차감하지 않음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중복 실행으로 반복 차감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353ECE-191F-4D8A-AA1D-91727C74B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48577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7F4ED"/>
          </a:solidFill>
          <a:ln xmlns:a="http://schemas.openxmlformats.org/drawingml/2006/main" w="0">
            <a:noFill/>
          </a:ln>
        </p:spPr>
      </p:sp>
      <p:sp>
        <p:nvSpPr>
          <p:cNvPr id="23" name="text-21">
            <a:extLst xmlns:a="http://schemas.openxmlformats.org/drawingml/2006/main">
              <a:ext uri="{FF2B5EF4-FFF2-40B4-BE49-F238E27FC236}">
                <a16:creationId xmlns:a16="http://schemas.microsoft.com/office/drawing/2014/main" id="{866CA4CB-7C31-4153-BD99-80DD1C680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91225"/>
            <a:ext cx="695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판단</a:t>
            </a:r>
          </a:p>
        </p:txBody>
      </p:sp>
      <p:sp>
        <p:nvSpPr>
          <p:cNvPr id="24" name="text-22">
            <a:extLst xmlns:a="http://schemas.openxmlformats.org/drawingml/2006/main">
              <a:ext uri="{FF2B5EF4-FFF2-40B4-BE49-F238E27FC236}">
                <a16:creationId xmlns:a16="http://schemas.microsoft.com/office/drawing/2014/main" id="{F9F8B470-FC57-4F6F-90B1-F1DFBAA4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981700"/>
            <a:ext cx="9753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63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정기 자동 실행의 추가 운영 부담과 잘못된 회수 위험을 비교해, 담당자 확인 방식으로 조정했습니다.</a:t>
            </a:r>
          </a:p>
        </p:txBody>
      </p:sp>
      <p:sp>
        <p:nvSpPr>
          <p:cNvPr id="25" name="text-23">
            <a:extLst xmlns:a="http://schemas.openxmlformats.org/drawingml/2006/main">
              <a:ext uri="{FF2B5EF4-FFF2-40B4-BE49-F238E27FC236}">
                <a16:creationId xmlns:a16="http://schemas.microsoft.com/office/drawing/2014/main" id="{51958BD3-667E-414B-9B34-EEE66A90C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정책 기반 시뮬레이션 · 회원 A/B는 가상 예시이며 포인트 금액·고객정보는 포함하지 않음</a:t>
            </a:r>
          </a:p>
        </p:txBody>
      </p:sp>
    </p:spTree>
    <p:extLst>
      <p:ext uri="{BB962C8B-B14F-4D97-AF65-F5344CB8AC3E}">
        <p14:creationId xmlns:p14="http://schemas.microsoft.com/office/powerpoint/2010/main" val="117158582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0">
            <a:extLst xmlns:a="http://schemas.openxmlformats.org/drawingml/2006/main">
              <a:ext uri="{FF2B5EF4-FFF2-40B4-BE49-F238E27FC236}">
                <a16:creationId xmlns:a16="http://schemas.microsoft.com/office/drawing/2014/main" id="{2FCEEA15-3028-4603-9C8C-56C18AB6F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19 / 22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328763B-3728-4999-99D3-96BA439C4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390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B3A3F57-CF9B-4F8D-9E8C-87F59F79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완료 통보를 운영 검수 기준으로 바꿈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F71A285-B0D2-4EE2-8A9D-916B6F9D7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정보 수정 화면에 들어갈 수 없었던 사례에서, 배포와 기능 동작을 따로 확인했습니다.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32A8C1-3911-4111-A0A4-F9FE8E5E5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123950" cy="581025"/>
          </a:xfrm>
          <a:prstGeom xmlns:a="http://schemas.openxmlformats.org/drawingml/2006/main" prst="roundRect">
            <a:avLst>
              <a:gd name="adj" fmla="val 8197"/>
            </a:avLst>
          </a:prstGeom>
          <a:solidFill xmlns:a="http://schemas.openxmlformats.org/drawingml/2006/main">
            <a:srgbClr val="E7F4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현상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0D5E492C-4ABC-45E4-A26C-FF2AC86B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1838325"/>
            <a:ext cx="4619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마이페이지의 정보 수정에 진입 불가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A7D9A0-FC7C-4798-B4E7-68E3AEBCF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123950" cy="581025"/>
          </a:xfrm>
          <a:prstGeom xmlns:a="http://schemas.openxmlformats.org/drawingml/2006/main" prst="roundRect">
            <a:avLst>
              <a:gd name="adj" fmla="val 8197"/>
            </a:avLst>
          </a:prstGeom>
          <a:solidFill xmlns:a="http://schemas.openxmlformats.org/drawingml/2006/main">
            <a:srgbClr val="E7F4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확인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13119D9D-260E-46C6-89C5-A0B3AD237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743200"/>
            <a:ext cx="4619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운영 서버 미반영과 이전 차단 로직 잔존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6D9345-FB5A-49FC-A0E8-4D5CD371C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52825"/>
            <a:ext cx="1123950" cy="581025"/>
          </a:xfrm>
          <a:prstGeom xmlns:a="http://schemas.openxmlformats.org/drawingml/2006/main" prst="roundRect">
            <a:avLst>
              <a:gd name="adj" fmla="val 8197"/>
            </a:avLst>
          </a:prstGeom>
          <a:solidFill xmlns:a="http://schemas.openxmlformats.org/drawingml/2006/main">
            <a:srgbClr val="206D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검수 기준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3F803DCF-2EBD-4402-9D0B-DCC6774C9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648075"/>
            <a:ext cx="4619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메뉴 노출·실제 진입·수정 가능한 항목을 확인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F661120B-D832-4094-B1B6-EE728A07A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704975"/>
            <a:ext cx="4486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정보 수정 메뉴의 추가 여부를 확인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f6dee59e934264"/>
          <a:stretch xmlns:a="http://schemas.openxmlformats.org/drawingml/2006/main"/>
        </p:blipFill>
        <p:spPr>
          <a:xfrm xmlns:a="http://schemas.openxmlformats.org/drawingml/2006/main">
            <a:off x="7096125" y="2397034"/>
            <a:ext cx="2171700" cy="1892481"/>
          </a:xfrm>
          <a:prstGeom xmlns:a="http://schemas.openxmlformats.org/drawingml/2006/main" prst="rect">
            <a:avLst/>
          </a:prstGeom>
        </p:spPr>
      </p:pic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692fde59854846"/>
          <a:stretch xmlns:a="http://schemas.openxmlformats.org/drawingml/2006/main"/>
        </p:blipFill>
        <p:spPr>
          <a:xfrm xmlns:a="http://schemas.openxmlformats.org/drawingml/2006/main">
            <a:off x="9420225" y="2397034"/>
            <a:ext cx="2171700" cy="1892481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C5E5E1-AF78-4802-ABDA-F438BCAB7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91050"/>
            <a:ext cx="1905000" cy="2667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900" b="1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확인 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3C89A5-A34F-4561-A9B0-4940E1E57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4591050"/>
            <a:ext cx="1905000" cy="2667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E7F4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90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반영 후</a:t>
            </a:r>
          </a:p>
        </p:txBody>
      </p:sp>
      <p:sp>
        <p:nvSpPr>
          <p:cNvPr id="16" name="text-13">
            <a:extLst xmlns:a="http://schemas.openxmlformats.org/drawingml/2006/main">
              <a:ext uri="{FF2B5EF4-FFF2-40B4-BE49-F238E27FC236}">
                <a16:creationId xmlns:a16="http://schemas.microsoft.com/office/drawing/2014/main" id="{0F6BBA78-C272-4AB2-8909-63FE65544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같은 기능을 다른 조건에서도 확인</a:t>
            </a:r>
          </a:p>
        </p:txBody>
      </p:sp>
      <p:graphicFrame>
        <p:nvGraphicFramePr>
          <p:cNvPr id="35" name=""/>
          <p:cNvGraphicFramePr/>
          <p:nvPr/>
        </p:nvGraphicFramePr>
        <p:xfrm>
          <a:off xmlns:a="http://schemas.openxmlformats.org/drawingml/2006/main" x="609600" y="5324475"/>
          <a:ext xmlns:a="http://schemas.openxmlformats.org/drawingml/2006/main" cx="10972800" cy="1143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790950"/>
                <a:gridCol w="4324350"/>
              </a:tblGrid>
              <a:tr h="304800"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50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조건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50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사용자 행동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50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기대 결과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50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운영 서버·실제 계정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50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정보 수정 메뉴 클릭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50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비밀번호 확인 후 화면 진입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50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고정 항목과 변경 가능 항목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50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아이디·주소 / 연락처 확인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50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고정값은 보호, 허용 항목만 수정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1E66C2AA-7A53-48E0-9B1E-DE29F1AB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개발사 처리결과 문서 캡처 · 실제 운영 화면 직접 캡처 아님 · 고객정보 영역 제외</a:t>
            </a:r>
          </a:p>
        </p:txBody>
      </p:sp>
    </p:spTree>
    <p:extLst>
      <p:ext uri="{BB962C8B-B14F-4D97-AF65-F5344CB8AC3E}">
        <p14:creationId xmlns:p14="http://schemas.microsoft.com/office/powerpoint/2010/main" val="168548348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0">
            <a:extLst xmlns:a="http://schemas.openxmlformats.org/drawingml/2006/main">
              <a:ext uri="{FF2B5EF4-FFF2-40B4-BE49-F238E27FC236}">
                <a16:creationId xmlns:a16="http://schemas.microsoft.com/office/drawing/2014/main" id="{9DDF0E81-6993-4BB9-BBB3-5DEECD392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20 / 22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9746C23-3D4D-49CE-9D8A-C82B708A7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390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5610EE2-1451-475F-8496-116E26674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운영 피드백으로 화면을 다시 조정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3F530B8-3CBD-4B9A-A3E2-DCD25A333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2026-08-13 운영 반영: 반복해서 하는 행동과 누락된 현장 요청을 화면에 반영했습니다.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009E499-BC56-4221-AF15-025F97C87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525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거래명세서를 주문내역에서 바로 출력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0c2b584ee746d9"/>
          <a:stretch xmlns:a="http://schemas.openxmlformats.org/drawingml/2006/main"/>
        </p:blipFill>
        <p:spPr>
          <a:xfrm xmlns:a="http://schemas.openxmlformats.org/drawingml/2006/main">
            <a:off x="907761" y="2190750"/>
            <a:ext cx="1765877" cy="1533525"/>
          </a:xfrm>
          <a:prstGeom xmlns:a="http://schemas.openxmlformats.org/drawingml/2006/main" prst="rect">
            <a:avLst/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d74b4f42714afa"/>
          <a:stretch xmlns:a="http://schemas.openxmlformats.org/drawingml/2006/main"/>
        </p:blipFill>
        <p:spPr>
          <a:xfrm xmlns:a="http://schemas.openxmlformats.org/drawingml/2006/main">
            <a:off x="3784311" y="2190750"/>
            <a:ext cx="1765877" cy="1533525"/>
          </a:xfrm>
          <a:prstGeom xmlns:a="http://schemas.openxmlformats.org/drawingml/2006/main" prst="rect">
            <a:avLst/>
          </a:prstGeom>
        </p:spPr>
      </p:pic>
      <p:sp>
        <p:nvSpPr>
          <p:cNvPr id="8" name="text-5">
            <a:extLst xmlns:a="http://schemas.openxmlformats.org/drawingml/2006/main">
              <a:ext uri="{FF2B5EF4-FFF2-40B4-BE49-F238E27FC236}">
                <a16:creationId xmlns:a16="http://schemas.microsoft.com/office/drawing/2014/main" id="{389C18D6-6A97-45F9-ADE8-ACBC07ADB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7717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9" name="text-6">
            <a:extLst xmlns:a="http://schemas.openxmlformats.org/drawingml/2006/main">
              <a:ext uri="{FF2B5EF4-FFF2-40B4-BE49-F238E27FC236}">
                <a16:creationId xmlns:a16="http://schemas.microsoft.com/office/drawing/2014/main" id="{061B1E5B-5EFD-4F81-B2A5-96D3A66C8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요청 전</a:t>
            </a:r>
          </a:p>
        </p:txBody>
      </p:sp>
      <p:sp>
        <p:nvSpPr>
          <p:cNvPr id="10" name="text-7">
            <a:extLst xmlns:a="http://schemas.openxmlformats.org/drawingml/2006/main">
              <a:ext uri="{FF2B5EF4-FFF2-40B4-BE49-F238E27FC236}">
                <a16:creationId xmlns:a16="http://schemas.microsoft.com/office/drawing/2014/main" id="{A68C5496-AC43-4228-8879-CEEC48968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838575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반영 후</a:t>
            </a:r>
          </a:p>
        </p:txBody>
      </p:sp>
      <p:sp>
        <p:nvSpPr>
          <p:cNvPr id="11" name="text-8">
            <a:extLst xmlns:a="http://schemas.openxmlformats.org/drawingml/2006/main">
              <a:ext uri="{FF2B5EF4-FFF2-40B4-BE49-F238E27FC236}">
                <a16:creationId xmlns:a16="http://schemas.microsoft.com/office/drawing/2014/main" id="{237A8377-06CD-4223-B611-BFD12E409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5257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주문당 버튼 1개, 취소·환불 주문은 제외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구매확정·리뷰 기능은 주문상세에 유지</a:t>
            </a:r>
          </a:p>
        </p:txBody>
      </p:sp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5A74F4A8-68F0-4FB6-B4AB-0E377DFB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14500"/>
            <a:ext cx="531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삭제했던 배송 메시지 입력칸 복원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3690d866fb48fd"/>
          <a:stretch xmlns:a="http://schemas.openxmlformats.org/drawingml/2006/main"/>
        </p:blipFill>
        <p:spPr>
          <a:xfrm xmlns:a="http://schemas.openxmlformats.org/drawingml/2006/main">
            <a:off x="6267450" y="2356982"/>
            <a:ext cx="5314950" cy="1324886"/>
          </a:xfrm>
          <a:prstGeom xmlns:a="http://schemas.openxmlformats.org/drawingml/2006/main" prst="rect">
            <a:avLst/>
          </a:prstGeom>
        </p:spPr>
      </p:pic>
      <p:sp>
        <p:nvSpPr>
          <p:cNvPr id="14" name="text-10">
            <a:extLst xmlns:a="http://schemas.openxmlformats.org/drawingml/2006/main">
              <a:ext uri="{FF2B5EF4-FFF2-40B4-BE49-F238E27FC236}">
                <a16:creationId xmlns:a16="http://schemas.microsoft.com/office/drawing/2014/main" id="{85E09AD7-BA85-4801-969A-936B45DE5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324350"/>
            <a:ext cx="53149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1차 QA에서 제거했던 입력칸을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배송 시 요청을 받는 용도로 다시 반영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D8F1B2-BD7C-439D-A480-68CF29EF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24475"/>
            <a:ext cx="10972800" cy="981075"/>
          </a:xfrm>
          <a:prstGeom xmlns:a="http://schemas.openxmlformats.org/drawingml/2006/main" prst="roundRect">
            <a:avLst>
              <a:gd name="adj" fmla="val 6796"/>
            </a:avLst>
          </a:prstGeom>
          <a:solidFill xmlns:a="http://schemas.openxmlformats.org/drawingml/2006/main">
            <a:srgbClr val="E7F4ED"/>
          </a:solidFill>
          <a:ln xmlns:a="http://schemas.openxmlformats.org/drawingml/2006/main" w="0">
            <a:noFill/>
          </a:ln>
        </p:spPr>
      </p:sp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1D2C12B1-B902-45A2-BB68-28504C1E1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05450"/>
            <a:ext cx="2133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운영에서 확인한 것</a:t>
            </a:r>
          </a:p>
        </p:txBody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04B4CEC9-ADD2-4536-B088-96177F973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495925"/>
            <a:ext cx="82200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화면을 단순하게 만드는 것만으로 업무가 끝나지 않았습니다.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4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자주 쓰는 행동은 앞에 두고, 실제로 필요한 입력은 다시 남겼습니다.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D8AB4CBA-9D72-4870-9ABD-17F3C7B39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개발사 처리결과 문서 캡처 · 실제 운영 화면 직접 캡처 아님 · 고객정보·주문·가격 영역 제외</a:t>
            </a:r>
          </a:p>
        </p:txBody>
      </p:sp>
    </p:spTree>
    <p:extLst>
      <p:ext uri="{BB962C8B-B14F-4D97-AF65-F5344CB8AC3E}">
        <p14:creationId xmlns:p14="http://schemas.microsoft.com/office/powerpoint/2010/main" val="162766681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ext-0">
            <a:extLst xmlns:a="http://schemas.openxmlformats.org/drawingml/2006/main">
              <a:ext uri="{FF2B5EF4-FFF2-40B4-BE49-F238E27FC236}">
                <a16:creationId xmlns:a16="http://schemas.microsoft.com/office/drawing/2014/main" id="{E4D75531-684D-43D9-A4EE-312E5F77F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85750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21 / 22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10EF2D0-7B02-4080-BA9C-A05815F8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390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09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59CE33B-C198-4A73-9B3A-416AD3762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초기 운영 결과와 측정 범위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8B2E3A3-B6AB-4EE6-94C9-16623FF6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출고·문의 지표의 초기 관찰과, 계약상 전체 개발요구의 검수를 구분했습니다.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AD4DEB9-51B7-423F-88BE-9D62B582B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25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오출고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7E4F74F6-84AC-42D0-BC37-289837A8F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3038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7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월평균 2~3건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210A3540-471E-4549-A544-6AB4FB65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114550"/>
            <a:ext cx="1828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390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390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F8512B-8C21-415C-987A-D20DB5E17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5257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D9E0"/>
            </a:solidFill>
          </a:ln>
        </p:spPr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2427E9D4-EEBD-4253-A076-A1A0F2C92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257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직전 6개월 월평균과 2026-07-16 전체 가동 후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약 1개월을 비교한 전체 측정 범위의 관찰값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1A5B8847-542C-4DF8-85B8-58B99A127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52600"/>
            <a:ext cx="525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CS 문의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1D3D37AF-3ACF-4113-9733-92940E36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81225"/>
            <a:ext cx="2657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7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2주 32건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C880C8BA-4927-4CDE-A253-395810D1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171700"/>
            <a:ext cx="24479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25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2주 19건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903254-5E95-4DCD-B27C-2B655D31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90850"/>
            <a:ext cx="5257800" cy="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D9D9E0"/>
            </a:solidFill>
          </a:ln>
        </p:spPr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AABC210A-6F17-4E24-BE7D-F75FB51D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19450"/>
            <a:ext cx="5257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2026-01~06 CS 인입의 2주 환산치와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2026-07~08 배포 구간 2주 집계를 비교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15EC6B-B4CC-424A-B91B-CE18E8813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71975"/>
            <a:ext cx="10972800" cy="1343025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0">
            <a:noFill/>
          </a:ln>
        </p:spPr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6EE7A40C-7816-4C0B-B893-CBDE786EB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52950"/>
            <a:ext cx="28479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운영과 검수의 경계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E5B7232A-2389-46F1-83F5-05664B5B0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543425"/>
            <a:ext cx="7867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63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핵심 흐름은 2026-07-16 가동 후 약 1개월 관찰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163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계약상 기본 개발요구 22건은 2026-08-31 최종검수까지 운영 QA 지속</a:t>
            </a:r>
          </a:p>
        </p:txBody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22ED99DF-C0BA-4050-AC3B-A76E502B1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05425"/>
            <a:ext cx="10506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2026-08-13 검수 기록: 배포·QA 필요 17건 / 부분·수정·구현변경 후 QA 각 1건 / 진행 중 계약 항목 2건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3DCC4D-C645-4A8E-9DE4-BEA16C2E3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206D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다음 측정은 입금 대조 시간과 오출고·CS 문의의 장기 추이입니다.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B4B85542-01E8-49C5-9737-5AD5EADA5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원천: 운영팀 출고·CS 이력과 사용자 확인 · 초기 관찰이며 장기 지속 효과와 단독 인과는 미검증</a:t>
            </a:r>
          </a:p>
        </p:txBody>
      </p:sp>
    </p:spTree>
    <p:extLst>
      <p:ext uri="{BB962C8B-B14F-4D97-AF65-F5344CB8AC3E}">
        <p14:creationId xmlns:p14="http://schemas.microsoft.com/office/powerpoint/2010/main" val="110289933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E5019C-6B13-438C-A163-376EA9395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0"/>
            <a:ext cx="389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6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EA2494C-C604-4175-A66C-73E87BDA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0580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현장의 문제를 구조로 바꾸고,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21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운영에서 확인하는 PM입니다.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43CD0DA-A72B-4172-8CC3-0A9D3CEE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09825"/>
            <a:ext cx="6638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두 프로젝트에서 만든 업무 방식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B02E205-7F34-49B1-8AF7-B9B7415C5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2775"/>
            <a:ext cx="3524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E609AE8-588F-41CA-8DE0-B3C515DEB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14675"/>
            <a:ext cx="67532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정책의 기준을 구체적인 예외까지 내려 씁니다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1A661A61-AEAF-4C47-A335-1E363AE6E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52825"/>
            <a:ext cx="67722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주문과 포장을 구분하고, 같은 결제수단의 혼합주문 예외를 확인했습니다.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96048B16-241C-48A6-80BB-373BAD38C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3524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02AEAFFB-08B3-4E08-A62B-65D714C22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43375"/>
            <a:ext cx="67532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시스템 제약과 운영 영향을 함께 판단합니다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8420665C-DE28-4719-8B89-D49C73DD9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81525"/>
            <a:ext cx="67722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혼재 주문의 내수 지연을 수용하고, 포인트 정리에 담당자 확인을 남겼습니다.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71735C70-D273-47F5-9816-BEC198ADF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0175"/>
            <a:ext cx="3524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CAAE9930-04A6-4A48-B414-6C232A24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72075"/>
            <a:ext cx="67532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완료는 실제 운영의 기대 결과로 판단합니다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6375D56A-7FD1-4068-8828-DC160534B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10225"/>
            <a:ext cx="67722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관세청 오류 수정·재제출과 B2B 고객 화면을 검증하고 초기 결과를 관찰했습니다.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F037FD1F-57A0-4CAD-B371-22C49B5F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19425"/>
            <a:ext cx="3371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32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박종혁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9A4A4D87-D8CD-4CDB-AA5E-2658F0903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638550"/>
            <a:ext cx="33623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PM PORTFOLIO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998C3D90-73E3-4D3C-9241-2161C7251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238625"/>
            <a:ext cx="3352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18919947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박종혁</dc:creator>
  <lastModifiedBy>Walnut Exporter</lastModifiedBy>
  <dc:title>박종혁 PM 포트폴리오 v4.3</dc:title>
  <dcterms:created xsi:type="dcterms:W3CDTF">2026-09-17T06:10:08.4900000Z</dcterms:created>
  <dcterms:modified xsi:type="dcterms:W3CDTF">2026-09-17T06:10:08.4900000Z</dcterms:modified>
</coreProperties>
</file>