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0abb9de58a4106" /><Relationship Type="http://schemas.openxmlformats.org/officeDocument/2006/relationships/extended-properties" Target="/docProps/app.xml" Id="R2b35ce6340d5463c" /><Relationship Type="http://schemas.openxmlformats.org/officeDocument/2006/relationships/officeDocument" Target="/ppt/presentation.xml" Id="R359a40c0c7d447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79967706654d95"/>
  </p:sldMasterIdLst>
  <p:notesMasterIdLst>
    <p:notesMasterId xmlns:r="http://schemas.openxmlformats.org/officeDocument/2006/relationships" r:id="R4a282b0e277040eb"/>
  </p:notesMasterIdLst>
  <p:sldIdLst>
    <p:sldId xmlns:r="http://schemas.openxmlformats.org/officeDocument/2006/relationships" id="256" r:id="R5bccf4a0660e4653"/>
    <p:sldId xmlns:r="http://schemas.openxmlformats.org/officeDocument/2006/relationships" id="257" r:id="R39eec77d5cc04d21"/>
    <p:sldId xmlns:r="http://schemas.openxmlformats.org/officeDocument/2006/relationships" id="258" r:id="R82fa94686f9445c8"/>
    <p:sldId xmlns:r="http://schemas.openxmlformats.org/officeDocument/2006/relationships" id="259" r:id="R4ebc46785a924616"/>
    <p:sldId xmlns:r="http://schemas.openxmlformats.org/officeDocument/2006/relationships" id="260" r:id="R3299f1bd190c4318"/>
    <p:sldId xmlns:r="http://schemas.openxmlformats.org/officeDocument/2006/relationships" id="261" r:id="R3eb785298a6f4c0a"/>
    <p:sldId xmlns:r="http://schemas.openxmlformats.org/officeDocument/2006/relationships" id="262" r:id="R0cdfe043643e4da8"/>
    <p:sldId xmlns:r="http://schemas.openxmlformats.org/officeDocument/2006/relationships" id="263" r:id="R3e9b4a9e60a14567"/>
    <p:sldId xmlns:r="http://schemas.openxmlformats.org/officeDocument/2006/relationships" id="264" r:id="R292b7fa382cb4b81"/>
    <p:sldId xmlns:r="http://schemas.openxmlformats.org/officeDocument/2006/relationships" id="265" r:id="R3464ae1bb4b44d6d"/>
    <p:sldId xmlns:r="http://schemas.openxmlformats.org/officeDocument/2006/relationships" id="266" r:id="R20f26f5a5c7e4b7b"/>
    <p:sldId xmlns:r="http://schemas.openxmlformats.org/officeDocument/2006/relationships" id="267" r:id="R3b2810ca21e643e2"/>
    <p:sldId xmlns:r="http://schemas.openxmlformats.org/officeDocument/2006/relationships" id="268" r:id="R99e3647006cb4573"/>
    <p:sldId xmlns:r="http://schemas.openxmlformats.org/officeDocument/2006/relationships" id="269" r:id="Ra4556a2c34ec4e9e"/>
    <p:sldId xmlns:r="http://schemas.openxmlformats.org/officeDocument/2006/relationships" id="270" r:id="R8d79d7b58d5b4294"/>
    <p:sldId xmlns:r="http://schemas.openxmlformats.org/officeDocument/2006/relationships" id="271" r:id="R0fbee86b6a964920"/>
    <p:sldId xmlns:r="http://schemas.openxmlformats.org/officeDocument/2006/relationships" id="272" r:id="R50a0770cd2034cda"/>
    <p:sldId xmlns:r="http://schemas.openxmlformats.org/officeDocument/2006/relationships" id="273" r:id="Re179c841a8dc4292"/>
    <p:sldId xmlns:r="http://schemas.openxmlformats.org/officeDocument/2006/relationships" id="274" r:id="R1a91ff38c8c141bc"/>
    <p:sldId xmlns:r="http://schemas.openxmlformats.org/officeDocument/2006/relationships" id="275" r:id="Rfbda5d5b1ef64645"/>
    <p:sldId xmlns:r="http://schemas.openxmlformats.org/officeDocument/2006/relationships" id="276" r:id="R6420605719ea4df1"/>
    <p:sldId xmlns:r="http://schemas.openxmlformats.org/officeDocument/2006/relationships" id="277" r:id="R5bd0d8f1a90841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679cb834e24423" /><Relationship Type="http://schemas.openxmlformats.org/officeDocument/2006/relationships/slideMaster" Target="/ppt/slideMasters/slideMaster1.xml" Id="Ra679967706654d95" /><Relationship Type="http://schemas.openxmlformats.org/officeDocument/2006/relationships/notesMaster" Target="/ppt/notesMasters/notesMaster1.xml" Id="R4a282b0e277040eb" /><Relationship Type="http://schemas.openxmlformats.org/officeDocument/2006/relationships/presProps" Target="/ppt/presProps.xml" Id="R3744e016d4a54a50" /><Relationship Type="http://schemas.openxmlformats.org/officeDocument/2006/relationships/tableStyles" Target="/ppt/tableStyles.xml" Id="R0c4a3e688fa74611" /><Relationship Type="http://schemas.openxmlformats.org/officeDocument/2006/relationships/slide" Target="/ppt/slides/slide1.xml" Id="R5bccf4a0660e4653" /><Relationship Type="http://schemas.openxmlformats.org/officeDocument/2006/relationships/slide" Target="/ppt/slides/slide2.xml" Id="R39eec77d5cc04d21" /><Relationship Type="http://schemas.openxmlformats.org/officeDocument/2006/relationships/slide" Target="/ppt/slides/slide3.xml" Id="R82fa94686f9445c8" /><Relationship Type="http://schemas.openxmlformats.org/officeDocument/2006/relationships/slide" Target="/ppt/slides/slide4.xml" Id="R4ebc46785a924616" /><Relationship Type="http://schemas.openxmlformats.org/officeDocument/2006/relationships/slide" Target="/ppt/slides/slide5.xml" Id="R3299f1bd190c4318" /><Relationship Type="http://schemas.openxmlformats.org/officeDocument/2006/relationships/slide" Target="/ppt/slides/slide6.xml" Id="R3eb785298a6f4c0a" /><Relationship Type="http://schemas.openxmlformats.org/officeDocument/2006/relationships/slide" Target="/ppt/slides/slide7.xml" Id="R0cdfe043643e4da8" /><Relationship Type="http://schemas.openxmlformats.org/officeDocument/2006/relationships/slide" Target="/ppt/slides/slide8.xml" Id="R3e9b4a9e60a14567" /><Relationship Type="http://schemas.openxmlformats.org/officeDocument/2006/relationships/slide" Target="/ppt/slides/slide9.xml" Id="R292b7fa382cb4b81" /><Relationship Type="http://schemas.openxmlformats.org/officeDocument/2006/relationships/slide" Target="/ppt/slides/slide10.xml" Id="R3464ae1bb4b44d6d" /><Relationship Type="http://schemas.openxmlformats.org/officeDocument/2006/relationships/slide" Target="/ppt/slides/slide11.xml" Id="R20f26f5a5c7e4b7b" /><Relationship Type="http://schemas.openxmlformats.org/officeDocument/2006/relationships/slide" Target="/ppt/slides/slide12.xml" Id="R3b2810ca21e643e2" /><Relationship Type="http://schemas.openxmlformats.org/officeDocument/2006/relationships/slide" Target="/ppt/slides/slide13.xml" Id="R99e3647006cb4573" /><Relationship Type="http://schemas.openxmlformats.org/officeDocument/2006/relationships/slide" Target="/ppt/slides/slide14.xml" Id="Ra4556a2c34ec4e9e" /><Relationship Type="http://schemas.openxmlformats.org/officeDocument/2006/relationships/slide" Target="/ppt/slides/slide15.xml" Id="R8d79d7b58d5b4294" /><Relationship Type="http://schemas.openxmlformats.org/officeDocument/2006/relationships/slide" Target="/ppt/slides/slide16.xml" Id="R0fbee86b6a964920" /><Relationship Type="http://schemas.openxmlformats.org/officeDocument/2006/relationships/slide" Target="/ppt/slides/slide17.xml" Id="R50a0770cd2034cda" /><Relationship Type="http://schemas.openxmlformats.org/officeDocument/2006/relationships/slide" Target="/ppt/slides/slide18.xml" Id="Re179c841a8dc4292" /><Relationship Type="http://schemas.openxmlformats.org/officeDocument/2006/relationships/slide" Target="/ppt/slides/slide19.xml" Id="R1a91ff38c8c141bc" /><Relationship Type="http://schemas.openxmlformats.org/officeDocument/2006/relationships/slide" Target="/ppt/slides/slide20.xml" Id="Rfbda5d5b1ef64645" /><Relationship Type="http://schemas.openxmlformats.org/officeDocument/2006/relationships/slide" Target="/ppt/slides/slide21.xml" Id="R6420605719ea4df1" /><Relationship Type="http://schemas.openxmlformats.org/officeDocument/2006/relationships/slide" Target="/ppt/slides/slide22.xml" Id="R5bd0d8f1a90841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51a069c54d44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ad3aa6728b4a59" /><Relationship Type="http://schemas.openxmlformats.org/officeDocument/2006/relationships/notesMaster" Target="/ppt/notesMasters/notesMaster1.xml" Id="Re57cde40cbce41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e82219d8724e1f" /><Relationship Type="http://schemas.openxmlformats.org/officeDocument/2006/relationships/notesMaster" Target="/ppt/notesMasters/notesMaster1.xml" Id="R29157a87dfec4c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a91ac03a9848a4" /><Relationship Type="http://schemas.openxmlformats.org/officeDocument/2006/relationships/notesMaster" Target="/ppt/notesMasters/notesMaster1.xml" Id="R32abd702af554a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2edbc82969451f" /><Relationship Type="http://schemas.openxmlformats.org/officeDocument/2006/relationships/notesMaster" Target="/ppt/notesMasters/notesMaster1.xml" Id="Rd0a5390b31e740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14248aec78457f" /><Relationship Type="http://schemas.openxmlformats.org/officeDocument/2006/relationships/notesMaster" Target="/ppt/notesMasters/notesMaster1.xml" Id="R3f78df42a81045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3e5138ef174b2e" /><Relationship Type="http://schemas.openxmlformats.org/officeDocument/2006/relationships/notesMaster" Target="/ppt/notesMasters/notesMaster1.xml" Id="R76c549ef74a54b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19f8f495d24df0" /><Relationship Type="http://schemas.openxmlformats.org/officeDocument/2006/relationships/notesMaster" Target="/ppt/notesMasters/notesMaster1.xml" Id="R34e17814becd44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d587d0d40042f6" /><Relationship Type="http://schemas.openxmlformats.org/officeDocument/2006/relationships/notesMaster" Target="/ppt/notesMasters/notesMaster1.xml" Id="R1f5ad920d43143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65baf097d147ef" /><Relationship Type="http://schemas.openxmlformats.org/officeDocument/2006/relationships/notesMaster" Target="/ppt/notesMasters/notesMaster1.xml" Id="R6978815ba17d40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b657d0e8014114" /><Relationship Type="http://schemas.openxmlformats.org/officeDocument/2006/relationships/notesMaster" Target="/ppt/notesMasters/notesMaster1.xml" Id="R6687a3b0e5f444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3234b93f8844d3" /><Relationship Type="http://schemas.openxmlformats.org/officeDocument/2006/relationships/notesMaster" Target="/ppt/notesMasters/notesMaster1.xml" Id="R907e15c5b1e140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e283abba794a34" /><Relationship Type="http://schemas.openxmlformats.org/officeDocument/2006/relationships/notesMaster" Target="/ppt/notesMasters/notesMaster1.xml" Id="Rc17533d93d8041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a7c73047fa4ebc" /><Relationship Type="http://schemas.openxmlformats.org/officeDocument/2006/relationships/notesMaster" Target="/ppt/notesMasters/notesMaster1.xml" Id="R12497e79b1c545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077fe69d044d0f" /><Relationship Type="http://schemas.openxmlformats.org/officeDocument/2006/relationships/notesMaster" Target="/ppt/notesMasters/notesMaster1.xml" Id="R0898825271f047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529fb948f24e3b" /><Relationship Type="http://schemas.openxmlformats.org/officeDocument/2006/relationships/notesMaster" Target="/ppt/notesMasters/notesMaster1.xml" Id="R6236a47d76f349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d4cee8c2dd4713" /><Relationship Type="http://schemas.openxmlformats.org/officeDocument/2006/relationships/notesMaster" Target="/ppt/notesMasters/notesMaster1.xml" Id="Rf1883ee6ad84466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f77ca9089a44045" /><Relationship Type="http://schemas.openxmlformats.org/officeDocument/2006/relationships/notesMaster" Target="/ppt/notesMasters/notesMaster1.xml" Id="R5c6ec526890747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8a3f76890f41ab" /><Relationship Type="http://schemas.openxmlformats.org/officeDocument/2006/relationships/notesMaster" Target="/ppt/notesMasters/notesMaster1.xml" Id="R09e6cb68ff354b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84c572d2fef469a" /><Relationship Type="http://schemas.openxmlformats.org/officeDocument/2006/relationships/notesMaster" Target="/ppt/notesMasters/notesMaster1.xml" Id="R4d412c76ebe9459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a26691d12684043" /><Relationship Type="http://schemas.openxmlformats.org/officeDocument/2006/relationships/notesMaster" Target="/ppt/notesMasters/notesMaster1.xml" Id="R6319ebc05171428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4c2e341f0404bed" /><Relationship Type="http://schemas.openxmlformats.org/officeDocument/2006/relationships/notesMaster" Target="/ppt/notesMasters/notesMaster1.xml" Id="R1718783ed4bb457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2fd1ef8427949c4" /><Relationship Type="http://schemas.openxmlformats.org/officeDocument/2006/relationships/notesMaster" Target="/ppt/notesMasters/notesMaster1.xml" Id="R3278a9d1fc4341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C-002·003·010a·025·039·077~087·126.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C-021·022·025·031·039.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C-020~028·101·126. 운영 시작과 전체 자동화 완료는 구분.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C-025·028·101·126. planning_v7.html 4·8·9절. 원본은 내부 문서로 도표를 일반화해 재구성.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C-025·028·126. 기준 디자인 원본 5장 대안 비교·책임 분담. 각 개발사의 실제 구현을 본인의 단독 개발로 표현하지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C-025·028·101·128. planning_v7.html 4·8·9절. 재구성 흐름도.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C-029. planning_v7.html 8절 공통 식별자. orderNo는 원주문번호, erpPackageOrderNo는 ERP 포장번호, 병합키는 hwbNo+orderNo. 시뮬레이션은 실제 주문·운영 로그가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C-127. 리스크·질의대장 2026-08-26 협의 이력(572·622행). 실제 당시 의사결정 사례이며 현재 모든 채널에 적용되는 일괄 정책으로 확대하지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C-128. planning_v7.html 9절 상태와 재시도. merged는 통관 완료가 아니며 pending은 대기와 검증 실패를 조회로 구분. 구현 완료 상태는 주장하지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C-027. 2026-08-28 사용자 직접 확인: 운영 환경 30건 검증, 테스트 목적 30/30 통과. 유형별 건수와 오류코드는 원본 로그가 없어 기재하지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C-100·101·102·103. 2026-09-15 사용자 확인 운영 집계. 후속 통관정보 보완 웹서비스는 기획 중이며 배포나 효과 검증 완료가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C-030~039·076. 사업 규모와 확정 일정. 계약 항목 전체 완료와 핵심 서비스 가동을 구분.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C-030·035·040·042·043. 기준 디자인 원본 10장 업무 흐름. 초기 오출고 전체 측정 범위와 문의 환산 기준은 결과 장에 명시.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C-035·036·130. 대안 비교와 범위 제외 근거. 공급사 직접 입력·입금자동매칭은 구현 증빙 수준이 달라 핵심 성과에서 제외.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C-033·129. 산후조리원몰_과업내역_처리결과.html 과업1, 228~250행. 수치가 포함된 계정·상품 데이터는 캡처에서 제외.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C-047·048·131·132. 실제 운영 홈·마이페이지 캡처. 업무 흐름은 현재 정책 기반 재구성. 공급사별 권한·송장입력은 증거 부족으로 제외.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C-034. 산후조리원몰_과업내역_처리결과.html 322~327행. 실제 주문을 재현한 로그가 아닌 정책 설명 시뮬레이션.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C-036·130. 산후조리원몰_과업내역_처리결과.html 452~477행. 자동 실행 대신 담당자 확인 후 실행 결정과 안전장치 근거.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C-038·046. 산후조리원몰_과업내역_처리결과.html 329~344행. 수용 기준은 실제 문제·요구사항을 바탕으로 재구성.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C-131. 산후조리원몰_과업내역_처리결과.html 695~721행. 2026-08-13 운영 반영 및 고객 화면 확인 명시. 개발사 구현과 본인 요구·운영 검수 역할을 구분.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C-031·040·042·043·044. 정산시간 C-041은 비교 월 미확인으로 제외. 입금자동매칭 완료·서비스 밖 문의 개선을 주장하지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C-025·027·029·034·038·040·042·126~131.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d1cfc25874f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88d26551204142" /><Relationship Type="http://schemas.openxmlformats.org/officeDocument/2006/relationships/slideLayout" Target="/ppt/slideLayouts/slideLayout1.xml" Id="R1b5442e15cbd4b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5442e15cbd4b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c87659bf14cf4" /><Relationship Type="http://schemas.openxmlformats.org/officeDocument/2006/relationships/image" Target="/ppt/media/image.png" Id="R99c7e800fe5e4b10" /><Relationship Type="http://schemas.openxmlformats.org/officeDocument/2006/relationships/notesSlide" Target="/ppt/notesSlides/notesSlide1.xml" Id="Rb6936848842e46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2d4ad362d4543" /><Relationship Type="http://schemas.openxmlformats.org/officeDocument/2006/relationships/notesSlide" Target="/ppt/notesSlides/notesSlide2.xml" Id="R68549f17216f43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1fd3d50a246b3" /><Relationship Type="http://schemas.openxmlformats.org/officeDocument/2006/relationships/notesSlide" Target="/ppt/notesSlides/notesSlide3.xml" Id="Rdad44c00894146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84f3d6a44491a" /><Relationship Type="http://schemas.openxmlformats.org/officeDocument/2006/relationships/notesSlide" Target="/ppt/notesSlides/notesSlide4.xml" Id="R6f008752108c45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61bec52824ab5" /><Relationship Type="http://schemas.openxmlformats.org/officeDocument/2006/relationships/notesSlide" Target="/ppt/notesSlides/notesSlide5.xml" Id="R14c9a6dc876047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9afb41a774011" /><Relationship Type="http://schemas.openxmlformats.org/officeDocument/2006/relationships/notesSlide" Target="/ppt/notesSlides/notesSlide6.xml" Id="R10d9a11e63304b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81287fb7d4ff8" /><Relationship Type="http://schemas.openxmlformats.org/officeDocument/2006/relationships/notesSlide" Target="/ppt/notesSlides/notesSlide7.xml" Id="R7a468fb4452342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62bb4b72046b5" /><Relationship Type="http://schemas.openxmlformats.org/officeDocument/2006/relationships/notesSlide" Target="/ppt/notesSlides/notesSlide8.xml" Id="Rdd830914687641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0fd68c1a84009" /><Relationship Type="http://schemas.openxmlformats.org/officeDocument/2006/relationships/notesSlide" Target="/ppt/notesSlides/notesSlide9.xml" Id="R57f78e91fdc44d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bd9eb1ed547f1" /><Relationship Type="http://schemas.openxmlformats.org/officeDocument/2006/relationships/notesSlide" Target="/ppt/notesSlides/notesSlide10.xml" Id="R03d524d2ab4a49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d21ac2f6f4e29" /><Relationship Type="http://schemas.openxmlformats.org/officeDocument/2006/relationships/notesSlide" Target="/ppt/notesSlides/notesSlide11.xml" Id="Ra02134a70a4c49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fa31442c64f2d" /><Relationship Type="http://schemas.openxmlformats.org/officeDocument/2006/relationships/notesSlide" Target="/ppt/notesSlides/notesSlide12.xml" Id="R733d49868cdf46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13c9627e54fa8" /><Relationship Type="http://schemas.openxmlformats.org/officeDocument/2006/relationships/notesSlide" Target="/ppt/notesSlides/notesSlide13.xml" Id="R2a60f9d55b894f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e7cc9972e4ecb" /><Relationship Type="http://schemas.openxmlformats.org/officeDocument/2006/relationships/notesSlide" Target="/ppt/notesSlides/notesSlide14.xml" Id="R53b00bf936fd4a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ca21fc60542da" /><Relationship Type="http://schemas.openxmlformats.org/officeDocument/2006/relationships/image" Target="/ppt/media/image2.png" Id="Rd10bc661b745416a" /><Relationship Type="http://schemas.openxmlformats.org/officeDocument/2006/relationships/notesSlide" Target="/ppt/notesSlides/notesSlide15.xml" Id="R89bb3c51617247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86730f4174cc2" /><Relationship Type="http://schemas.openxmlformats.org/officeDocument/2006/relationships/image" Target="/ppt/media/image3.png" Id="Rfd066f403f534a40" /><Relationship Type="http://schemas.openxmlformats.org/officeDocument/2006/relationships/image" Target="/ppt/media/image4.png" Id="R4f244e2ab1a64405" /><Relationship Type="http://schemas.openxmlformats.org/officeDocument/2006/relationships/notesSlide" Target="/ppt/notesSlides/notesSlide16.xml" Id="R8a9e818539564d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1c2e15a924451" /><Relationship Type="http://schemas.openxmlformats.org/officeDocument/2006/relationships/image" Target="/ppt/media/image5.png" Id="R393506a708d84046" /><Relationship Type="http://schemas.openxmlformats.org/officeDocument/2006/relationships/notesSlide" Target="/ppt/notesSlides/notesSlide17.xml" Id="R6782b1479fa847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9092795044b6b" /><Relationship Type="http://schemas.openxmlformats.org/officeDocument/2006/relationships/notesSlide" Target="/ppt/notesSlides/notesSlide18.xml" Id="Rfc077f02058e42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6d8df0da04238" /><Relationship Type="http://schemas.openxmlformats.org/officeDocument/2006/relationships/image" Target="/ppt/media/image6.png" Id="R7e81c8e90c9840b7" /><Relationship Type="http://schemas.openxmlformats.org/officeDocument/2006/relationships/image" Target="/ppt/media/image7.png" Id="Rab62cefcfe35439d" /><Relationship Type="http://schemas.openxmlformats.org/officeDocument/2006/relationships/notesSlide" Target="/ppt/notesSlides/notesSlide19.xml" Id="R4223934303754c0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a1c74ebf54d60" /><Relationship Type="http://schemas.openxmlformats.org/officeDocument/2006/relationships/image" Target="/ppt/media/image8.png" Id="R24f757b4c05e454a" /><Relationship Type="http://schemas.openxmlformats.org/officeDocument/2006/relationships/image" Target="/ppt/media/image9.png" Id="Raa8b608ff74340c3" /><Relationship Type="http://schemas.openxmlformats.org/officeDocument/2006/relationships/image" Target="/ppt/media/image10.png" Id="R78cabcb6179b473a" /><Relationship Type="http://schemas.openxmlformats.org/officeDocument/2006/relationships/notesSlide" Target="/ppt/notesSlides/notesSlide20.xml" Id="R32ee3c68e71d41a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94e3c564b41c8" /><Relationship Type="http://schemas.openxmlformats.org/officeDocument/2006/relationships/notesSlide" Target="/ppt/notesSlides/notesSlide21.xml" Id="Rd23674476c814d2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437cc1f0b4403" /><Relationship Type="http://schemas.openxmlformats.org/officeDocument/2006/relationships/notesSlide" Target="/ppt/notesSlides/notesSlide22.xml" Id="Rdd6571244ecf4d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85229E-9DA4-4F3E-959A-D667D665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445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B19A910-7CA3-46BB-A7E9-C51D83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685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현장에서 겪은 운영 문제를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정책과 데이터 구조로 바꿔 실제로 돌아가게 만듭니다.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9BE932F-ADDB-4F63-9970-FD2879D6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838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아이베 SCM팀에서 수입·물류 실무를 하며 반복되는 오류와 병목을 직접 겪었습니다.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관세청 연동에서는 주문과 통관 데이터를 연결하는 기준을,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전용몰에서는 계약별 주문·결제 정책과 운영 검수 기준을 정했습니다.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개발사와 현업이 같은 결과를 확인할 수 있도록 문서와 검증 흐름을 만들었습니다.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96FE1E3-614E-4009-9415-C341D398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76575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박종혁  /  PM 포트폴리오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0C0B7E3-92D7-4378-997C-D708A3F6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강점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E971116-8D58-4910-9B65-7C7A6FCB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8DE0A37-84FB-4050-B4F0-8887403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 구조화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3AC9B53-83E9-48DC-B7B3-7E6EE9E9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반복 문의와 운영 예외를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정책과 요구사항으로 정리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69E153A-CB58-4E4A-A258-551A04CF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B2B · 계정별 주문 기준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126FEE6-1B7D-4070-8A3B-51901682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F59DE98-F970-4D37-8E4B-581C23A7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95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이해관계자 조율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AEF6EBF-B92D-4465-8115-6BA5DACC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863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 데이터와 처리 책임을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개발사별로 구체화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9CBE2CCC-9288-420A-B3F9-0AF5DCE9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482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관세청 · 주문과 포장 분리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00608E0B-E6EA-4B11-A75D-7D8FFB4A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9B4E8D8E-17AE-43EE-8F92-D475CC61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95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검증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1AC9CE0F-FEDE-4357-9BBF-606208B8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배포 후 고객 화면과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오류 복구까지 확인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258CFAC0-3EB9-45E5-A9F1-5E578084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482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공통 · 기대 결과로 검수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8E824-2FEA-4C4D-9D6D-0E60576E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3286125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   관세청 통관 연동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다자간 데이터 계약과 오류 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9904C-5CEE-4302-94D9-F1C6E222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743575"/>
            <a:ext cx="3286125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   산후조리원 전용 B2B 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계정 정책과 고객·운영 흐름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7e800fe5e4b10"/>
          <a:stretch xmlns:a="http://schemas.openxmlformats.org/drawingml/2006/main"/>
        </p:blipFill>
        <p:spPr>
          <a:xfrm xmlns:a="http://schemas.openxmlformats.org/drawingml/2006/main">
            <a:off x="8126852" y="828675"/>
            <a:ext cx="1491372" cy="2124075"/>
          </a:xfrm>
          <a:prstGeom xmlns:a="http://schemas.openxmlformats.org/drawingml/2006/main" prst="rect">
            <a:avLst/>
          </a:prstGeom>
        </p:spPr>
      </p:pic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5F8AE107-7C8C-4FE8-88C9-224225DD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239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경력</a:t>
            </a:r>
          </a:p>
        </p:txBody>
      </p:sp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7925DA5D-8AA4-4E81-8FC3-25FF0115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001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아이베 SCM팀</a:t>
            </a:r>
          </a:p>
        </p:txBody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59E77DD4-D470-4144-84E1-4CF36365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66850"/>
            <a:ext cx="158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2025-09-08 ~ 재직 중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SCM 실무·프로젝트 PM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151AB6A5-BA3E-4946-8A82-33B88FEF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0502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학력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0C9DB129-DB8E-44F6-926E-A62B2C76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고려사이버대학교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AI·데이터과학부 재학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2025-02 편입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1C229E43-DEE1-4BD3-96BC-B5EF8E66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051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부천대 컴퓨터소프트웨어과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2019-03 ~ 2024-02 졸업</a:t>
            </a:r>
          </a:p>
        </p:txBody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87583084-BE63-40C2-A0FD-B1939AEC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4810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SKILL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18C862-99E2-4310-85BB-A3C8B3D6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57675"/>
            <a:ext cx="6286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기획</a:t>
            </a:r>
          </a:p>
        </p:txBody>
      </p:sp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097894CA-CD54-44AA-B949-F1297F5C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1962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요구사항 정의, 정책 설계, 데이터 흐름, QA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257FD3-2F6C-4B3C-B309-7CE7E973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133975"/>
            <a:ext cx="6286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기술</a:t>
            </a:r>
          </a:p>
        </p:txBody>
      </p:sp>
      <p:sp>
        <p:nvSpPr>
          <p:cNvPr id="31" name="text-29">
            <a:extLst xmlns:a="http://schemas.openxmlformats.org/drawingml/2006/main">
              <a:ext uri="{FF2B5EF4-FFF2-40B4-BE49-F238E27FC236}">
                <a16:creationId xmlns:a16="http://schemas.microsoft.com/office/drawing/2014/main" id="{D37C025C-8982-4706-989D-01FE6C1B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959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Python, SQL, REST API, Git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5B03F0-40C7-4C5E-AE45-2181B3A5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943600"/>
            <a:ext cx="6286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155A404D-AAE5-41F3-9EBB-604C17E0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6296025"/>
            <a:ext cx="3286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 조율, 운영 피드백, 지표와 검수 기준</a:t>
            </a:r>
          </a:p>
        </p:txBody>
      </p:sp>
    </p:spTree>
    <p:extLst>
      <p:ext uri="{BB962C8B-B14F-4D97-AF65-F5344CB8AC3E}">
        <p14:creationId xmlns:p14="http://schemas.microsoft.com/office/powerpoint/2010/main" val="1082348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">
            <a:extLst xmlns:a="http://schemas.openxmlformats.org/drawingml/2006/main">
              <a:ext uri="{FF2B5EF4-FFF2-40B4-BE49-F238E27FC236}">
                <a16:creationId xmlns:a16="http://schemas.microsoft.com/office/drawing/2014/main" id="{EA85C4F7-4B36-4E7B-B2E3-34D11948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02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028E8DE-E7DA-4121-AC3C-D3EDFE54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Portfolio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FFAC12E-1E57-4662-98FE-C12C9C6A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Project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016DEA1-FAB8-4AA7-9417-DAEBB5A9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8667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3FFEF-27E3-4F72-8495-80E9E07A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24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64845-268E-41F9-950C-D0BABB99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924050"/>
            <a:ext cx="952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E732883-A66F-478A-8E8E-F6948BCF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28775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규제 대응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154DF76-FE02-4422-AC46-D00CD235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335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관세청 통관 연동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F7D737D-DB2D-4B74-ACFB-3CC6BB98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38400"/>
            <a:ext cx="5543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03–11   주문·포장·통관 데이터를 연결하는 기준과 오류 복구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CE9F0EE-C24C-42EE-BC56-36D5C9BE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2026-02 시작 / 2026-08-28 운영 전환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EF49846-C3A6-4823-AD2F-B7AEECD3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766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 계약 · 의사결정 · 운영 검증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393F4836-43B5-4EDC-AAEF-A7E26A58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86200"/>
            <a:ext cx="8667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FF705-8C6C-432C-98D4-5F8A4DC8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52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6633D-0F03-4DE9-9C32-5C32310D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152900"/>
            <a:ext cx="952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D679558-A2E8-43C8-AD09-7917CC79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57625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 디지털화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96CCD131-B97E-4CAF-94D0-AE083E6A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624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산후조리원 전용 B2B 몰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434CB3EC-91A0-4837-A5F6-4FDDA385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67250"/>
            <a:ext cx="5543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12–21   계정별 정책과 주문 예외를 시스템의 규칙으로 전환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D20244CB-005B-42ED-B9A7-BD5709D5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2026-06 기획 / 2026-07-16 핵심 흐름 가동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FE7C4CD1-E796-4B01-A406-3D42056B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5054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 · 범위 결정 · 운영 개선</a:t>
            </a:r>
          </a:p>
        </p:txBody>
      </p:sp>
    </p:spTree>
    <p:extLst>
      <p:ext uri="{BB962C8B-B14F-4D97-AF65-F5344CB8AC3E}">
        <p14:creationId xmlns:p14="http://schemas.microsoft.com/office/powerpoint/2010/main" val="1744236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1549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0">
            <a:extLst xmlns:a="http://schemas.openxmlformats.org/drawingml/2006/main">
              <a:ext uri="{FF2B5EF4-FFF2-40B4-BE49-F238E27FC236}">
                <a16:creationId xmlns:a16="http://schemas.microsoft.com/office/drawing/2014/main" id="{E8E8336A-DBD5-4A51-BF7C-DEE90D0D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03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CAEDF08-CE7A-4131-8750-FAB2F705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01.  규제 대응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C7219-2CFE-423A-B39C-6282D39A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858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KCS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515B23A-4D8D-4FCC-A697-29AE4E0B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76400"/>
            <a:ext cx="5724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관세청 통관 연동과 운영 전환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CB15107-B9FA-42B3-A8A1-0E50B2CF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43125"/>
            <a:ext cx="56864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여러 시스템에 나뉜 주문과 물류 데이터를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같은 기준으로 확인할 수 있도록 연결했습니다.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4CF8A97-0FDC-4346-87EF-4F3FD68D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7AF0011-D7D7-49A7-BC73-5AE51524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시스템마다 다른 주문 단위와 완료 기준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4FB6C38-39EF-453A-9E76-EE740644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814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FB0F110-D0AD-43C2-BDE2-5DF41006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67175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해외직구 고객과 주문·출고·통관 운영팀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73F4DE3-B422-422C-AEAC-2E8BE4CB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54FA5F6-F4D1-4FF2-94C4-82462383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누락을 발견하고 오류를 수정·재제출할 수 있는 흐름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A5606-0FE3-446E-B9AD-9695E4F3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00200"/>
            <a:ext cx="3848100" cy="303847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9457E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E6F9871A-6709-41BB-8C41-62BBB6F7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38325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데이터를 나눠 가진 주체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A1AB2-4EC4-4974-B58C-071ED325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C6C3227C-21CB-4D27-B720-641F1963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3DAA8B55-298F-4345-9F9A-780A2FB5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주문·결제·고객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2468C-24A1-4DC5-A3FF-E715903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1EF21596-A8FB-4B63-ACA2-BF692B2E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479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86B03283-9D23-4251-8027-4B46C8CF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C9A9F8-930A-425F-949B-53BF2662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9F14FEAC-8071-4912-9F71-1DEEC94B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194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08A7450D-2718-4FC7-A0A9-197493BA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385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B8907-49C4-4291-8366-79F88789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CCF68B71-6170-4B18-BB6B-28785D4A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108C0445-C451-429D-9E7E-74882E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 병합·수입신고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84FBAC-5C72-42A8-BCD9-8BAAD860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4C7EE"/>
            </a:solidFill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1E211469-EA0C-4FB3-AE99-3CBDCD7D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770957A1-F03C-4364-B370-43BCD5DF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3911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2026-02 기획 시작 / 2026-08-28 운영 전환 / 이후 운영 보완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AEE7E71B-2DAC-418F-BC8F-C9353692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72602971-C7BA-4C62-87EA-B25DB8E8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66737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프로젝트 PM: 정책·데이터 계약 정의, API 요건 조율, 오류 복구와 운영 검증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6A239CEB-0FF5-436C-BCB1-85BC07B0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5585575E-BB82-4D69-B2B7-A80D3769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94360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 개발사, ERP 개발사, 물류 개발사, 통관대행사, 본인확인기관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5A810739-2681-477A-9405-47D1879C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산출물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7C1DE8B9-FE37-4FD5-A3AC-994AAB8A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21982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통합 기획서, 필드 매핑, 리스크·질의대장, 정책 결정 이력, QA 시나리오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B96733B2-EFDE-4B45-91BA-030A4398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범위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76A8811E-194E-45F0-BDB2-672014DA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4960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기획·조율·검증 담당 / 각 시스템 구현은 해당 개발사 담당</a:t>
            </a:r>
          </a:p>
        </p:txBody>
      </p:sp>
    </p:spTree>
    <p:extLst>
      <p:ext uri="{BB962C8B-B14F-4D97-AF65-F5344CB8AC3E}">
        <p14:creationId xmlns:p14="http://schemas.microsoft.com/office/powerpoint/2010/main" val="16478951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0">
            <a:extLst xmlns:a="http://schemas.openxmlformats.org/drawingml/2006/main">
              <a:ext uri="{FF2B5EF4-FFF2-40B4-BE49-F238E27FC236}">
                <a16:creationId xmlns:a16="http://schemas.microsoft.com/office/drawing/2014/main" id="{3BFA07E4-F4E7-4EA6-9CAD-39A4700D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04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C132A10-0BBF-445A-B4A9-2C1E9379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789BC5C-D8D0-4F93-9668-85882FBC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문제 정의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33733D7-7EAD-4ABB-9680-090E605F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한 건이 통관·출고로 이어지는 과정에서 데이터와 책임이 갈라져 있었습니다.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E589072-CBEE-4A0C-8E17-404F42BE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데이터는 각 시스템에, 판단은 담당자에게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94D94-EBC5-464F-9F67-1BF8ECA0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82DCD66-EE83-465A-BD7F-C0C98CFF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02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238421B-CB8E-4C4B-A47D-DE04C84F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02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주문·결제·고객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59AEA-A6FE-4F20-9E21-F627C77A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97B0ABE-D3AF-464D-A588-D6638D34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A0BE05D-65D4-4F7A-A0C5-EADFB915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098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F145D-EA5B-4015-A4BC-3F1DF5F3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822CCE37-6204-4D28-99DE-EB8B7E0D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440D848-153A-4C4C-8D42-8069A5F3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194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654CC-022B-4E40-8546-CE5A0F1D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6E869CC-F700-4497-B282-E007A92C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2450EC81-5796-495C-B76E-4303C217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290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병합·수입신고·통관 상태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7F4635FB-8936-480E-B33B-FC0AE788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764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수기 전송만으로 남는 운영 공백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55BEB9DA-1FF7-4506-A904-DEC24D25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C3135737-1D9C-4B0F-9C39-EDCD327A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주문번호와 포장번호가 달라 같은 주문을 대조하기 어려움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22C918AA-7FA7-462F-A8C2-031EB145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241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B425461E-DBC7-4C81-A0CE-5D9EA88E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24175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응답과 통관 완료를 같은 상태로 오인할 수 있음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02182473-F27A-49E7-B10F-ACF08F35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EC5C8DC4-538A-4FAE-9C4E-A79D5090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오류가 났을 때 수정할 원천과 재처리 담당이 불명확함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B31BEC-7DA5-4D84-A25A-FCC8894F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1076325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1C115370-D2F8-45A6-8E9A-6E94277E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D9C59F84-AAF7-4EF6-8187-974B272C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9144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누가 어떤 데이터를 책임지고,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어느 상태를 근거로 다음 작업을 진행할 것인가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2262844C-3F12-4A15-8CDF-F6EE7CB1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관세청 통관 연동 기획서의 데이터 책임·운영 기준을 재구성</a:t>
            </a:r>
          </a:p>
        </p:txBody>
      </p:sp>
    </p:spTree>
    <p:extLst>
      <p:ext uri="{BB962C8B-B14F-4D97-AF65-F5344CB8AC3E}">
        <p14:creationId xmlns:p14="http://schemas.microsoft.com/office/powerpoint/2010/main" val="254051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809B4A35-DF21-4803-9A52-E268C5A1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05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6BC874-B734-4F4D-BCA8-4C2155F5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E5D1E74-530F-4427-A3E4-E12B22A0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책임 분담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7CA632B-1632-49FA-B41E-74F75B82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신고 판단과 상태 관리의 통제점을 국내 자사몰 DB에 두었습니다.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2667000"/>
                <a:gridCol w="4667250"/>
                <a:gridCol w="1562100"/>
              </a:tblGrid>
              <a:tr h="3429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활용할 수 있는 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제약과 판단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해외 ERP 중심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상품·포장 원천과 가까움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인증정보 처리와 제출 상태 통제가 어려움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수기 제출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장애 시 즉시 대응 가능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이력·재처리·채널 확장의 운영 부담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비상 대응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DB 중심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제출 상태를 관리하고 원천별 책임 분리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회사 간 데이터 계약과 인터페이스 조율 필요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FF4C6-A481-424D-A81E-42D7FAAD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판단 기준  ① 개인정보 최소화    ② 제출 상태 통제    ③ 원천별 책임    ④ 개발 난이도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B6A1BCA-6C97-4AC6-BA0D-FA5D3FFA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결정 이후의 책임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8C2FB-7C4A-4EE0-9191-92AAA53B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26289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자사몰 개발사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C627B1D-1025-4088-A8C5-B33A8614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340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주문·인증·제출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D63F7-0BF5-47A2-8F1F-B0476690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53025"/>
            <a:ext cx="26289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ERP·물류 개발사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7B20D899-B87D-4706-B346-CD3EE7B8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7340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상품·포장·운송장 원천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14D24-DD2A-4AA2-8E39-9808FC7A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53025"/>
            <a:ext cx="26289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65E2BF7A-AD28-4DBE-B4A4-FA8A9BEB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7340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데이터 병합·신고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387C1-7553-4EEC-8237-9DC4DA44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53025"/>
            <a:ext cx="26289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 역할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215CA428-E658-4FA3-B999-BC3EF95C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7340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필드·흐름·검수 기준 조율</a:t>
            </a:r>
          </a:p>
        </p:txBody>
      </p:sp>
    </p:spTree>
    <p:extLst>
      <p:ext uri="{BB962C8B-B14F-4D97-AF65-F5344CB8AC3E}">
        <p14:creationId xmlns:p14="http://schemas.microsoft.com/office/powerpoint/2010/main" val="20887068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0">
            <a:extLst xmlns:a="http://schemas.openxmlformats.org/drawingml/2006/main">
              <a:ext uri="{FF2B5EF4-FFF2-40B4-BE49-F238E27FC236}">
                <a16:creationId xmlns:a16="http://schemas.microsoft.com/office/drawing/2014/main" id="{8DFA67A0-8A3C-4F23-963A-CA60626A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06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C75820D-E34C-4277-8FCD-66471115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56B8297-1390-40A7-8CA3-50A9651A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주문부터 통관까지의 업무 흐름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73C9821-6D6D-478A-BDCE-1533A8D5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단계별 입력·처리 주체·완료 근거를 맞추고, 미완료 상태의 다음 단계 진입을 구분했습니다.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971F2-8558-46FA-BC02-92C3D94E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811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단계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945E9-FAB0-4C04-861F-EC6D86E1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43075"/>
            <a:ext cx="2305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자사몰·국내 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448C7-7F34-45BD-9874-35E87CE7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43075"/>
            <a:ext cx="2305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E1AB0-4B47-4859-A8A1-EAB1A33D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43075"/>
            <a:ext cx="2305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4CD1E-F6BD-44D7-BF16-EC1A16EB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43075"/>
            <a:ext cx="24193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 시스템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268EF-EE6B-4AF1-A95F-EC07C88D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D5B38-841D-45F5-9C88-F1121C16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717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주문·실수하인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D1D37-5D0D-4055-9D43-C983445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통관정보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53B08-5123-40F6-8A2A-880F2A76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FED99-9A8F-4191-93FA-98C29B20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71700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F7C43-3114-41BD-83F9-3FAC48FC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DBC17-78A1-4963-AA44-DFEE4A38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4797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원주문번호 유지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D347F-5E0E-46D3-AD5C-05C8F469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4797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9C360-24D2-4D7A-A32A-8CF6E237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4797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포장·운송장 확정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EF674B-D71E-401F-BCDF-867247AF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47975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50E26-DAFC-4244-881A-743E2C19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정보 제출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E728D-E67A-494D-8547-4BEBEA5E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2425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거래정보·인증정보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768F3-6353-462D-876D-429C3E00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2425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2DABD8-FE0E-48D6-8635-699A7451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물류 스냅샷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9E22C5-2C57-4A3B-96E8-F7D9966D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24250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상태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AA86B3-1E17-46C6-9383-D8C9849F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병합·대사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6CD71-2AB8-4ED0-9B1C-0AAB28D3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0052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주문별 제출 이력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224C1A-9019-4717-8C0E-40DF5B2F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0052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79204B-6C75-4E91-8145-3EA678B9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0052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누락 포장 재확인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288D15-56BB-4D33-A93C-0E7A48FA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00525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병합·통관 결과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500740-B49E-4FCA-9C9D-580F3F98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 복구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1EAC44-F349-4CC7-B7DE-9610A63A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768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 원천 분류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94571E-B1C0-4634-877D-B6029CE7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768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인증정보 보완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CA9EDC-A607-4C71-BF71-FE913798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상품·포장정보 보완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0E0227-6E2F-4144-B67B-3EEDBC00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76800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결과 조회·재처리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4758B3-0D6A-4197-AC30-5A0F1F29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 주문번호·포장번호와 완료 근거를 공유해, 담당자 간 인계 기준을 문서로 고정했습니다.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29DA5C66-84D9-4BC5-A2E1-9809CACF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정책 구조를 요약한 흐름도 · 개별 분기의 구현 완료나 자동화율을 나타내지 않음</a:t>
            </a:r>
          </a:p>
        </p:txBody>
      </p:sp>
    </p:spTree>
    <p:extLst>
      <p:ext uri="{BB962C8B-B14F-4D97-AF65-F5344CB8AC3E}">
        <p14:creationId xmlns:p14="http://schemas.microsoft.com/office/powerpoint/2010/main" val="1278520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0">
            <a:extLst xmlns:a="http://schemas.openxmlformats.org/drawingml/2006/main">
              <a:ext uri="{FF2B5EF4-FFF2-40B4-BE49-F238E27FC236}">
                <a16:creationId xmlns:a16="http://schemas.microsoft.com/office/drawing/2014/main" id="{2AE0B040-552D-4436-BC5A-1D93E5AC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07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6956F03-80E9-45BF-9E0F-5823CCD1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F31A1AE-F00C-46DD-86C2-A02D51E7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주문번호와 포장번호를 분리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9680D79-8396-4ABF-8777-F87FCCBD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추적 기준을 유지하면서 분할 출고와 합배송을 설명할 수 있도록 관계를 정의했습니다.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DEB14E-59F9-47AF-9860-815CA8C9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522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분할 출고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5982108-F343-4338-BEDD-50C8EDAF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04975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합배송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A2A9E-0394-4F8A-8EE7-A215D40D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257800" cy="268605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86699-847D-410A-B75C-BBAA01AF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05025"/>
            <a:ext cx="5295900" cy="268605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A3AE1-B011-4052-B5F2-DEAD0BFF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19350"/>
            <a:ext cx="1628775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원주문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AE0FB-DFA4-4828-9807-A8FB71C0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52675"/>
            <a:ext cx="2219325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A-1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92117-30AE-41CC-BDA1-826DF7B6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2219325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A-2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D8737DB0-E7B3-4488-A1DD-1BBE74CE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47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3D9E4E3D-D7D6-4885-BD5C-5B2CB582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562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23F9E338-738C-4DD3-A09E-C0D5C1EB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86250"/>
            <a:ext cx="4638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외부에 보내는 원주문번호는 A로 유지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39523-1F58-4F11-8B86-B4052765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38400"/>
            <a:ext cx="19621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2D743-0F72-4A34-8769-53CF9ED4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33750"/>
            <a:ext cx="19621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C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840E2F60-F409-43AD-ACC8-5886A41D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19425"/>
            <a:ext cx="257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8D0E6-845F-493F-AF4E-606A9434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67000"/>
            <a:ext cx="1981200" cy="1152525"/>
          </a:xfrm>
          <a:prstGeom xmlns:a="http://schemas.openxmlformats.org/drawingml/2006/main" prst="roundRect">
            <a:avLst>
              <a:gd name="adj" fmla="val 4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3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주문별 거래정보 2건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2ADED9C8-F2C7-4CF2-ADE3-07245532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9577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하나에 묶여도 거래정보는 주문별 유지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609600" y="4981575"/>
          <a:ext xmlns:a="http://schemas.openxmlformats.org/drawingml/2006/main" cx="10972800" cy="1295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95550"/>
                <a:gridCol w="8477250"/>
              </a:tblGrid>
              <a:tr h="29527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보존할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의미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원주문번호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채널의 원주문번호를 전 구간에서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포장번호·운송장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물류 처리 단위를 별도 보존하고 원주문과 연결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병합키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운송장 + 원주문번호가 양쪽 데이터에서 일치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9608DE21-B257-4590-A498-83F0FE63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 기반 재구성 · A/B/C와 운송장 번호는 가상 예시</a:t>
            </a:r>
          </a:p>
        </p:txBody>
      </p:sp>
    </p:spTree>
    <p:extLst>
      <p:ext uri="{BB962C8B-B14F-4D97-AF65-F5344CB8AC3E}">
        <p14:creationId xmlns:p14="http://schemas.microsoft.com/office/powerpoint/2010/main" val="15942139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38BAF844-E95C-4988-8E99-92AE9D1E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08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3D0580-0065-463E-9C87-07C1B80A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2BEA45C-F79C-40EF-AED5-7C6F25F1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선출고 요청을 운영 정책으로 조정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B155B19-8B96-45D7-A039-AF5E780C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2026-08-26 협의 사례: 국내 상품과 해외직구 상품이 섞인 주문의 처리 단위를 맞췄습니다.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95986-0002-455A-BCE7-E82CE678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524250" cy="39052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처음 요청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23A19-4A36-4292-8F0C-466531EA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524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5808CF8-D86D-40CF-BCF1-8710CC60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3105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국내 상품은 통관과 무관하므로 먼저 출고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486E221-C410-4FDD-B883-8C0AF243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14625"/>
            <a:ext cx="161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36E7E-74BC-4B1E-BDB4-9EA4ED82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3524250" cy="39052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확인한 제약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82CC4-AD2B-4321-946D-FAC4EAB4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57425"/>
            <a:ext cx="3524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3CE6135-E02F-466D-92AE-9B7DC98E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66975"/>
            <a:ext cx="3105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ERP는 원주문 단위로 삭제·재생성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부분 재처리 시 내수 주문의 중복 위험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2EF4CF6-E455-44CB-8619-BD8B58D4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161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26753-2E47-48E4-9E54-4CC2C9CF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33550"/>
            <a:ext cx="3524250" cy="39052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결정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B4380-D69E-4C41-BD19-4B74E6C3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57425"/>
            <a:ext cx="3524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E97F2A89-08FB-4CAD-95B1-99F4FC6E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66975"/>
            <a:ext cx="3105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내수 선출고 요청을 철회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해외직구 신고가 확정될 때까지 함께 보류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A758628-72E4-490C-9A20-F806F656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대안의 이익과 감수할 영향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09600" y="4276725"/>
          <a:ext xmlns:a="http://schemas.openxmlformats.org/drawingml/2006/main" cx="1097280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47925"/>
                <a:gridCol w="3333750"/>
                <a:gridCol w="5191125"/>
              </a:tblGrid>
              <a:tr h="3524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얻는 것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위험·수용한 영향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내수 먼저 출고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상품의 배송 지연 최소화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부분 삭제·재생성이 어려워 중복 처리 위험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혼재 주문 함께 보류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 단위의 처리 일관성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상품도 신고 확정까지 동반 지연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33CDE-5E4B-4A39-9183-798FA4E4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배송 속도와 중복 위험을 비교하고, 시스템 제약을 운영 기준으로 합의했습니다.</a:t>
            </a:r>
          </a:p>
        </p:txBody>
      </p:sp>
    </p:spTree>
    <p:extLst>
      <p:ext uri="{BB962C8B-B14F-4D97-AF65-F5344CB8AC3E}">
        <p14:creationId xmlns:p14="http://schemas.microsoft.com/office/powerpoint/2010/main" val="2337317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0">
            <a:extLst xmlns:a="http://schemas.openxmlformats.org/drawingml/2006/main">
              <a:ext uri="{FF2B5EF4-FFF2-40B4-BE49-F238E27FC236}">
                <a16:creationId xmlns:a16="http://schemas.microsoft.com/office/drawing/2014/main" id="{0FA203B5-C10A-491D-A47C-1D0A720A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09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0B77218-6597-48AA-955A-27155381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3B70627-94E0-4801-AE64-F6BFA2C0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접수 이후의 상태와 오류 복구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8046E83-D1B5-4755-855E-AEF800D2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접수, 상대 데이터 대기, 병합, 통관 결과를 서로 다른 근거로 판단하도록 설계했습니다.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A997DB3-DFA4-4705-B13A-AD1BB630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같은 주문이 두 시스템에서 도착하는 상황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6D0E5-D7DD-4D32-91BF-9837822C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  접수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D5BBB-C967-44C1-8383-C25C3F8A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물류 데이터 도착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8031538-1229-4A47-AB92-38E92D74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HTTP 202 응답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사실만 확인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EBB0648-616C-41CF-B227-C9ECB9B5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52725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00608-3994-404B-B826-C9C63D95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  대기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D2B81-DA0E-4A8C-83DB-BF3917BE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짝이 되는 정보 미도착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CE33A53-AB59-47B6-9807-A288ADA8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상태 조회로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대기와 검증 실패 구분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6748007A-967D-4C1C-AA4C-676ACDFF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752725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66975-2349-4CA7-8804-ED1BC1BA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  병합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2548E-B0E8-4DD4-83B3-CE155FAC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주문·운송장 기준 일치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BC239BE4-48C4-406F-A2B7-3501A395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 결과를 확인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 완료와 구분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4D63E7D5-F995-46E5-BD17-1CD87420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52725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450F6-91B5-4168-8CEE-62B335B7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  결과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3BA14-9F06-410C-8D66-07159F8B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신고·통관 상태 조회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2C97BF65-3872-44CA-8747-5A49FCD7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최종 결과를 근거로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후속 운영 판단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CD4F6-B14E-40FE-A0BC-2F57F13F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24C65F85-596A-4836-AC71-1EC98947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오류가 확인되면 원천과 재처리 기준을 먼저 구분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F7A476-4590-4869-BC1B-05BFAEDF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3524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원천 확인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D4B1364F-6696-4223-BCB6-F262AE40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3257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고객·인증 / 상품·포장 / 제출 필드를 구분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E60DBC-3304-46C8-95F2-B8FDAD63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29175"/>
            <a:ext cx="3524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보완과 재처리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1BC25771-E390-4DD6-AA8F-86F1B8EB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14950"/>
            <a:ext cx="3257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제공자별 식별자와 공식 처리 규칙 적용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589B9E-45F7-41C0-9FB7-F548D47C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29175"/>
            <a:ext cx="3524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다시 확인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C2F98B82-B461-431D-B2D4-D4FABE68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14950"/>
            <a:ext cx="3257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응답 원문·제출 이력·최종 상태를 대사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041CAC-F0AA-46FC-955B-51132C9E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필드 매핑표는 값의 계약, 상태 정의는 다음 작업을 시작할 조건이 됐습니다.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7C152BE0-4320-4E48-ADBE-4337DB8F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 기반 시뮬레이션 · 실제 운영 로그를 재현한 화면이 아님</a:t>
            </a:r>
          </a:p>
        </p:txBody>
      </p:sp>
    </p:spTree>
    <p:extLst>
      <p:ext uri="{BB962C8B-B14F-4D97-AF65-F5344CB8AC3E}">
        <p14:creationId xmlns:p14="http://schemas.microsoft.com/office/powerpoint/2010/main" val="13681515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0">
            <a:extLst xmlns:a="http://schemas.openxmlformats.org/drawingml/2006/main">
              <a:ext uri="{FF2B5EF4-FFF2-40B4-BE49-F238E27FC236}">
                <a16:creationId xmlns:a16="http://schemas.microsoft.com/office/drawing/2014/main" id="{9BCB48E8-6021-4899-8160-9436E0BB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10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25D5373-3AE0-491B-B720-B8FACC9E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E7FB15-FC11-4F4E-9BE8-4C25E4F3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경로와 오류 복구 검증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F775965-2468-4B08-ABD3-10F8BA14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 환경에서 정상 접수, 의도 오류 반환, 수정 후 재제출을 함께 확인했습니다.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EBBE603-ED4E-4369-8412-42EE0CC4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77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환경에서 확인한 세 가지 목적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38E7D-E557-4517-85B0-66923899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981825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D30EC-94D1-4CC6-B703-231262B3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24100"/>
            <a:ext cx="4667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8766F5A-C8D6-4DC9-A221-3DB3597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57425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접수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1F192BD-2863-4772-90FA-C97CA670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9850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정상 데이터를 제출하고 접수 결과를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CE0F9-C27C-4BFB-8190-FC3C3FAF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6981825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03255-1F60-488E-AE06-EDF20386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05175"/>
            <a:ext cx="4667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59E4E21-E542-4D8B-8A34-D1651B07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38500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의도 오류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C5F909A-F30E-4BCD-B2CA-11212531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90925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오류가 있는 입력에 예상한 오류 응답이 오는지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36CC6-3BCC-4D9D-B658-F8CD1734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6981825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95D3D-7448-4999-80DE-0F6734BC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86250"/>
            <a:ext cx="4667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F018CF2B-CF12-443F-80D4-87826D2C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9575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수정 재제출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3CADCE10-8DF5-4336-AE24-C688B946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72000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 데이터를 보완한 뒤 정상 접수로 전환되는지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015EF-0DE3-4FBA-A0AE-B3B6D087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14550"/>
            <a:ext cx="3609975" cy="2762250"/>
          </a:xfrm>
          <a:prstGeom xmlns:a="http://schemas.openxmlformats.org/drawingml/2006/main" prst="roundRect">
            <a:avLst>
              <a:gd name="adj" fmla="val 241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BF0EE785-E7A0-4AC7-8FFF-416B3E94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381250"/>
            <a:ext cx="3228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4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30건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D9905496-09DB-48B3-BA3A-A032416F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3228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테스트 목적 30/30 통과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016B0156-686F-4028-B61B-89C995EA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905250"/>
            <a:ext cx="3152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정상 접수와 오류 반환·수정 복구를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함께 포함한 검증 결과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C429E585-4EBC-4432-9ED1-37C1D9A6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검증의 범위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70BBA05C-83D9-4C9B-BA66-1FBA3C6A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629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정상 접수·오류 반환·수정 복구를 포함한 30건의 검증입니다.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전체의 자동 처리율과는 별개이며, 시나리오별 개별 건수는 미확인입니다.</a:t>
            </a:r>
          </a:p>
        </p:txBody>
      </p:sp>
    </p:spTree>
    <p:extLst>
      <p:ext uri="{BB962C8B-B14F-4D97-AF65-F5344CB8AC3E}">
        <p14:creationId xmlns:p14="http://schemas.microsoft.com/office/powerpoint/2010/main" val="8275662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0">
            <a:extLst xmlns:a="http://schemas.openxmlformats.org/drawingml/2006/main">
              <a:ext uri="{FF2B5EF4-FFF2-40B4-BE49-F238E27FC236}">
                <a16:creationId xmlns:a16="http://schemas.microsoft.com/office/drawing/2014/main" id="{727D1E22-5D5B-498E-9FC2-B0D7112B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11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3D6C595-20CF-4A90-AB70-38A81DB0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63FE26F-1891-44C6-8785-39DBC5EF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결과와 후속 과제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C51A284-307A-405A-A15B-51496886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신규 연동과 기존 방식을 병행해 집계 대상 주문의 통관 완료를 확인했습니다.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F9C66D2-5FB1-4EBA-992B-60CEB077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3676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일평균 약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877BB72-2588-41D4-B4B8-7C0F590C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4629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300건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6F39F76-F98A-45BD-A0C9-08A2962E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943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 약 230건 / 기타 약 70건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62AE410-3340-4126-B4F9-BDA1E1D3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5038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집계기간 2026-08-28 ~ 2026-09-15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 대상 주문 전체 통관 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7A874-283B-4C60-AE4B-827C827E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19275"/>
            <a:ext cx="5400675" cy="2905125"/>
          </a:xfrm>
          <a:prstGeom xmlns:a="http://schemas.openxmlformats.org/drawingml/2006/main" prst="roundRect">
            <a:avLst>
              <a:gd name="adj" fmla="val 229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6C45B52-76B1-4DAB-A363-FFE8E19D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결과를 해석한 범위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02A5215-A6A4-467C-B9EA-ED13D444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4857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신규 신고 경로와 기존 방식이 함께 쓰인 운영 결과입니다.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자동 처리율·신규 경로 비중·처리 시간은 별도 계측하지 않았습니다.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97AC8-10F8-4A56-9C15-701A2C79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05200"/>
            <a:ext cx="485775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310C467E-AB45-4814-A575-7944F3F0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004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운영에서 남은 수기 보완을 다음 개선 과제로 연결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37223861-E8E8-44F5-B2A0-27EFAD10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8448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후속 기획: 고객 통관정보 보완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5132D-04E5-450D-8698-30A5660B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05400"/>
            <a:ext cx="17716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기획 중 · 미배포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B5F12-4B24-4327-9148-BE128B8F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B646D171-8B31-42A1-86BA-97B2430E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고객 연락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3FD07836-4556-4CD5-9BB9-260EFF81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정보 보완 필요 안내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7C7F66-D9A8-4DC3-8710-0E6F4642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816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63532A41-AA10-4578-A350-33467B79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95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 확인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8B0D9968-F5B6-4169-BDF5-A0EA5558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626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 주문과 고객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03549-53FB-4813-A3FF-23F032B2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816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42670FA8-23D9-4B06-A4F5-2FD2207D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95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정보 보완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0C3FFB9D-0FF6-4E31-BA6D-61EA970E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626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누락된 통관정보 수집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169BFE-F5E7-4500-A42A-C01ABC93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816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FB051AA1-9937-4563-9C13-0B65E212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695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검증·재투입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722BF115-D845-4D60-9F53-5BE03BB5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626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운영자가 검증 후 처리</a:t>
            </a:r>
          </a:p>
        </p:txBody>
      </p:sp>
    </p:spTree>
    <p:extLst>
      <p:ext uri="{BB962C8B-B14F-4D97-AF65-F5344CB8AC3E}">
        <p14:creationId xmlns:p14="http://schemas.microsoft.com/office/powerpoint/2010/main" val="8246224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06D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0">
            <a:extLst xmlns:a="http://schemas.openxmlformats.org/drawingml/2006/main">
              <a:ext uri="{FF2B5EF4-FFF2-40B4-BE49-F238E27FC236}">
                <a16:creationId xmlns:a16="http://schemas.microsoft.com/office/drawing/2014/main" id="{FF35B10D-8FA5-448F-BE75-39009927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12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24F4A4E-4E7F-4CF2-8F16-77EAAA0B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02.  운영 디지털화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57D8F-7988-43C9-8BA5-06F03BE9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858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B2B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AB27F11-D8C0-4936-A77C-14511079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76400"/>
            <a:ext cx="5724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산후조리원 전용 B2B 몰 구축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3DB21FB-2EA7-4857-9F57-B157D397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43125"/>
            <a:ext cx="56864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계약별 주문·결제·포인트 규칙을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운영자가 설정하고 확인하는 구조로 바꿨습니다.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75BA980-3549-47AC-A5D7-8EC96995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907EBBD-9D2E-4AD9-8464-58046CE1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계정별 상품·결제 조건을 사람이 매번 다시 판단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447B5E2-DDB3-4080-9E63-ABD1F175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814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AEE433C-7004-4654-A614-80CB2518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67175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담당자, 내부 운영팀, 공급사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86386D1-A175-4A4C-9D5C-C779046C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6D5193D-7529-4AD9-B2A7-679434AE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오출고 예방과 주문 확인 부담 감소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23B22-AD8E-48A9-8C08-5F74D5B5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00200"/>
            <a:ext cx="3848100" cy="303847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9583C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0D020F59-A15C-450C-A757-DEFDE2F4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38325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 예외를 정책으로 정리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E09EE-48F9-4D6B-B112-B6081DAB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CFEF5CA-F2BA-4336-9217-F4A2AFA1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회원 등급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D6C0C362-D703-4989-80A5-3CEE992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상품·결제수단 분기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E5940-D740-4633-9D54-7587FFAF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A8574477-0E25-4754-A303-AD742DEF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479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혼합주문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8DB7CAD3-B1B5-4D2C-BE9E-671049D7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분유와 물품 분리 주문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7BB78-932C-4435-9703-2E59BA87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07F97903-200A-4FB8-A647-7FC6DEC8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194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95B49669-5BDD-4528-AAD4-A82A8B63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385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14C4AF-A2D4-4F9F-93F2-81EF8480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01623A77-1C52-4497-8BE1-B57ECA60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 QA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B29E5810-F86B-47F3-829D-1FDB9E41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고객 화면에서 기대 결과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E33DC2-F8DB-4AAB-90C5-C8547E97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6D5BC"/>
            </a:solidFill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0E573FDB-D69C-404F-80F9-80FBD66D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B35ED1C5-2ACF-48EE-9F78-0DBF450D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3911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2026-06 기획 / 07-02 개발 착수 / 07-16 핵심 흐름 가동 / 08-31 최종 검수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1B34BDFC-ABDC-46CA-B259-7665D6E7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5F81C14F-4AD2-40E6-959B-21C8B922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66737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 정의, 정책·요구사항 작성, 외주 개발사 조율, 운영 QA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2F52556A-A9C8-450F-9AE6-46EAC727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4B885C3C-EAB2-4DC6-8939-67860CFC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94360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커머스 솔루션 개발사, 내부 운영팀, 영업매니저, 공급사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BB510B9C-4E82-41D6-8787-BAA9E72C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산출물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D4678219-A6BF-4EFF-BA44-2AB6B8C3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21982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요구사항 대장, 계정 정책표, 사용자 흐름, QA 시나리오, 운영 안내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B3F7C869-FA6E-40FE-B21C-67DD97AE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규모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E6FB5551-7B35-4B6A-9FFE-081BBF22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4960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약 140개소 / 물품 지원 계약 약 77개소 / 공급사 5곳</a:t>
            </a:r>
          </a:p>
        </p:txBody>
      </p:sp>
    </p:spTree>
    <p:extLst>
      <p:ext uri="{BB962C8B-B14F-4D97-AF65-F5344CB8AC3E}">
        <p14:creationId xmlns:p14="http://schemas.microsoft.com/office/powerpoint/2010/main" val="8106077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ext-0">
            <a:extLst xmlns:a="http://schemas.openxmlformats.org/drawingml/2006/main">
              <a:ext uri="{FF2B5EF4-FFF2-40B4-BE49-F238E27FC236}">
                <a16:creationId xmlns:a16="http://schemas.microsoft.com/office/drawing/2014/main" id="{DAD8B6A0-22CC-47B7-9DF3-16B18C36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13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478F0FC-425A-42EC-8AAB-6333807B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6569329-7C96-4984-A07D-F2DC193C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AS-IS 업무 흐름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94D3086-1877-4F16-8A9B-532D9E97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같은 주문을 여러 곳에 옮겨 적고, 계약 조건을 사람이 다시 확인하는 일이 반복됐습니다.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F7893-F6E7-4ECB-A29B-1FC38B9A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A7A1539-7476-4C49-810A-810FAF72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구글 폼 주문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F809D59-7FD1-4241-8DB9-093D72A9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조리원 담당자 작성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F6B08BF-7202-4A3F-8A10-CA34F08E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DD1C2-5C63-4833-BB8B-4409AA77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240372A-CB60-44C9-A4C4-AAB5E576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시트 취합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DDAA9D4-6085-414B-967F-E0F98D27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 수기 정리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AC368C86-2A4A-474E-B43A-C5FAF595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0D17C-8BBA-47A7-B281-B511F4A2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16A034CF-01FA-4BB7-B52F-EAC57C89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입금 대조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3880CA4E-ABFE-49B5-9423-4C4EE4A2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계좌와 주문 확인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14B3A314-6B01-42F4-9AC6-3807DC16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17B94-5719-4E2F-A65C-9A44517F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4AB52218-FE21-4A54-B333-660274F5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거래명세서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E1E9B705-C976-4AFE-AB91-88CE3E10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건별 메일 발송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219F3453-CDD9-476C-BD30-F183C2F7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1C0EF8-BDD1-4EC5-9C39-0C6F6275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1372145A-F395-49E5-86BF-D77FC23D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 등록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D78C0016-CF06-4136-A627-6A1AE4BC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재입력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F102B425-A33A-4626-9946-52585595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44B171-0E76-47CE-B163-08AEB55A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F993E3BC-2817-4DDF-8F79-3F5F252E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월말 정산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CA76167D-BE08-40A9-99A1-E10BFBA9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자료 대조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B721F25B-CCB8-4B31-8255-40500F60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부담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B99498-3E45-4552-ADD2-07E26484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2578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1DBF060A-45D4-46C7-9954-35032EA3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매일 입금 대조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9CD878C3-4815-4F89-A6E3-F2FE6F77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19475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15~30분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7FA80574-504C-403A-AEAD-3F82BED4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528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입금자명·금액을 주문과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237305-7418-451B-96F8-0314C563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2578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D2ED3981-D0ED-4210-B158-6436CEA1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F08F823C-0E7C-4BE0-A935-5649484B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24325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월 2~3건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FFA3D5A3-E323-4514-B0DD-2157324D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5765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직전 6개월 월평균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8BB967-F184-4AD9-BFCC-E7C6D2C4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2578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1E10C6A4-2F23-4B87-8BD0-B99DAAAC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6A256A89-066B-4AFB-9ADC-B884E057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29175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환산 32건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A2737E29-62A2-456C-A791-2655BE6D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625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2026-01~06 인입 이력 기준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2A0C5082-4A7E-4456-BD79-201AF477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 대조는 도입 전 소요시간 / 오출고·문의는 운영팀 출고·CS 이력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F06C6636-2945-4B30-82C1-5776094F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575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2BA726-CBAA-44C0-ABA0-061EF23A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76600"/>
            <a:ext cx="5324475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B3DED108-2E51-4FFE-BE5B-D299B193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76625"/>
            <a:ext cx="4857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계약·결제·주문 상태를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사람의 기억으로 매번 판단하는 구조</a:t>
            </a:r>
          </a:p>
        </p:txBody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8F325378-5F7F-40D4-AD86-B8B97B05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624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7F66F3FE-27AE-49F0-91DC-43CD9A9C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62475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등급별 상품과 결제 조건이 화면·서버에서 일치해야 함</a:t>
            </a:r>
          </a:p>
        </p:txBody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B9A19CD7-D92E-4B44-A04C-6272B61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054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58E149A9-A8EA-43A6-B510-521DE2AC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305425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잘못된 조합은 주문 전에 막고 고객이 다음 행동을 알 수 있어야 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357A64-D837-4C16-9C6E-07313AC2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우선 해결할 문제를 주문 오류 예방과 반복 확인 업무의 감소로 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1962457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42D253BE-7C65-4DD6-8EEC-DD097B5B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14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E925305-DE56-4309-9096-6E0978AE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DBD0BB5-B14B-4823-8BE1-E549E222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오픈 범위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87DBE8F-B7A3-4821-AD31-F7F42962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운영팀이 익숙한 플랫폼 위에 계약별 정책을 추가하는 방식을 선택했습니다.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2457450"/>
                <a:gridCol w="4686300"/>
                <a:gridCol w="1590675"/>
              </a:tblGrid>
              <a:tr h="3429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판단한 제약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맞춤형 웹서비스 개발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요구사항을 자유롭게 구현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운영과 유지보수 책임이 내부로 확대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쇼핑몰 솔루션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기능을 빠르게 활용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운영팀이 새 환경을 학습하고 기존 인프라와 이원화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솔루션 + 정책 맞춤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인프라와 운영 방식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정책 예외를 구체화하고 별도 개발 범위를 관리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94C96-32D2-4904-882D-9F98B84A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9728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결정 기준  ① 운영팀 학습 부담    ② 기존 인프라    ③ 유지보수 책임    ④ 구축비용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1E6466B-1D9F-4A2D-8DAB-05FE5200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범위에서 뺀 기능과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C694A-5A4D-4156-A787-40A2B55F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35242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PG 결제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9CCD824C-3431-4D97-A518-6AEB60B7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3257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마진 대비 수수료 부담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469EF-4E14-4954-971A-52ACEB5B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67325"/>
            <a:ext cx="35242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견적서 신규 개발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741E40D4-95DE-4CC0-8639-0126E036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91200"/>
            <a:ext cx="3257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거래명세서로 대체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443C3-FE26-4DD8-914A-0963D340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67325"/>
            <a:ext cx="35242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포인트 완전 자동화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2F50743B-BAE0-4BE8-A66B-D2C390EF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91200"/>
            <a:ext cx="3257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 변경과 비가역 차감 위험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</p:spTree>
    <p:extLst>
      <p:ext uri="{BB962C8B-B14F-4D97-AF65-F5344CB8AC3E}">
        <p14:creationId xmlns:p14="http://schemas.microsoft.com/office/powerpoint/2010/main" val="4318355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400D54D2-CBDB-401D-A196-D5869120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15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90036DE-2ABB-4F01-BC9A-85440739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E1CAB87-8A4A-41BB-87E7-DC42C0D4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계정 정책을 설정표로 고정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588443-0BFB-418E-A7A8-C249F7AC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회원 등급과 상품 카테고리를 조합해, 고객 화면과 서버가 같은 결제 규칙을 쓰도록 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FFBEFAA-84C2-4B3B-AFBA-2ACF04F8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99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회원 등급 × 상품 카테고리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733425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7900"/>
                <a:gridCol w="1790700"/>
                <a:gridCol w="1628775"/>
                <a:gridCol w="1666875"/>
              </a:tblGrid>
              <a:tr h="3429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등급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미분류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물품계약(선불)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물품계약(후불)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3F57D-F1D7-45FE-87AF-E3ED7633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05025"/>
            <a:ext cx="2352675" cy="20574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965B9CD-73F0-4883-901A-7C4C9F7A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266950"/>
            <a:ext cx="1933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설계한 규칙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2F0A4932-AA87-4F20-95AD-96FDDF0C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705100"/>
            <a:ext cx="19431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새 등급·카테고리 설정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미분류 상품의 기본값 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서버에서 결제수단 재검증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1D769F8-EF97-4E0E-A9AD-03C2932F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설정 화면의 실제 근거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bc661b745416a"/>
          <a:stretch xmlns:a="http://schemas.openxmlformats.org/drawingml/2006/main"/>
        </p:blipFill>
        <p:spPr>
          <a:xfrm xmlns:a="http://schemas.openxmlformats.org/drawingml/2006/main">
            <a:off x="803249" y="4810125"/>
            <a:ext cx="5422952" cy="158115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4E953E50-8733-4691-8B48-9CD8C16F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00625"/>
            <a:ext cx="4724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계약이 바뀔 때마다 코드를 수정하는 부담을 줄이고,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운영자가 정책 값을 설정·수정할 수 있게 설계했습니다.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646B8145-84A1-497F-B1F6-1A8E4CBE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문서의 기능 화면 발췌 · 등급 명칭은 현재 관리자 화면 기준</a:t>
            </a:r>
          </a:p>
        </p:txBody>
      </p:sp>
    </p:spTree>
    <p:extLst>
      <p:ext uri="{BB962C8B-B14F-4D97-AF65-F5344CB8AC3E}">
        <p14:creationId xmlns:p14="http://schemas.microsoft.com/office/powerpoint/2010/main" val="12170627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0">
            <a:extLst xmlns:a="http://schemas.openxmlformats.org/drawingml/2006/main">
              <a:ext uri="{FF2B5EF4-FFF2-40B4-BE49-F238E27FC236}">
                <a16:creationId xmlns:a16="http://schemas.microsoft.com/office/drawing/2014/main" id="{83459C08-F320-42C8-8E6B-3389335C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16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B0B9544-40EF-4515-A95E-13E9B2DF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2A175A2-03C4-4563-9609-FFB28CF1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사용자 여정과 운영의 연결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E752827-178C-48A7-856E-619F927A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고객의 주문·확인 행동과 운영팀의 설정·검수 행동을 같은 흐름에 배치했습니다.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C3611-52ED-4D06-8743-A608A08F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2763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9398E-82AE-461E-A111-B92BC3F8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24025"/>
            <a:ext cx="227647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C3D8F-28E5-4F33-8DCB-8A78F35A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24025"/>
            <a:ext cx="227647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결제·접수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6B8A5-0D5C-479B-9E9C-B7139F24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24025"/>
            <a:ext cx="227647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17077-3D41-447E-8081-BF99C095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724025"/>
            <a:ext cx="24098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출고 이후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3DC77-4BA2-47C4-8348-FD96AC1D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276350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조리원 담당자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B4289-6A93-4A91-BF00-8A28D7E9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907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허용 상품 확인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분류별로 주문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A3012-F459-4903-89FC-13A31098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907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계정 정책에 맞는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결제수단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811A5-8215-4050-AA48-29DAC105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907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마이페이지에서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진행 상태 조회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14D48-287F-448D-8BF9-E8D1C1A4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90750"/>
            <a:ext cx="240982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거래명세서 출력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배송 요청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318B6-14CD-42D2-BA13-7B381B25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276350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내부 운영팀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0B788-09BB-422F-84D2-C8794FFC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051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계약별 계정·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정책 값 설정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68408-5AD3-416B-9EBE-D222959E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1051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입금·후불 상태를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구분해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2928A-32B9-40C7-944C-981CAB8E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51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화면과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예외 주문 점검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7B4AD-9FB2-4D1E-979D-A3ED914C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05150"/>
            <a:ext cx="240982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피드백 반영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18A578F1-4B3D-4815-9243-A1B5B1CD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보이는 운영 안내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66f403f534a40"/>
          <a:stretch xmlns:a="http://schemas.openxmlformats.org/drawingml/2006/main"/>
        </p:blipFill>
        <p:spPr>
          <a:xfrm xmlns:a="http://schemas.openxmlformats.org/drawingml/2006/main">
            <a:off x="1045822" y="4848225"/>
            <a:ext cx="4385355" cy="1162050"/>
          </a:xfrm>
          <a:prstGeom xmlns:a="http://schemas.openxmlformats.org/drawingml/2006/main" prst="rect">
            <a:avLst/>
          </a:prstGeom>
        </p:spPr>
      </p:pic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080BBF5F-FE2B-40BD-8143-6A47BE86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529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고객이 직접 확인하는 주문 상태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44e2ab1a64405"/>
          <a:stretch xmlns:a="http://schemas.openxmlformats.org/drawingml/2006/main"/>
        </p:blipFill>
        <p:spPr>
          <a:xfrm xmlns:a="http://schemas.openxmlformats.org/drawingml/2006/main">
            <a:off x="6286500" y="4891400"/>
            <a:ext cx="5295900" cy="1085225"/>
          </a:xfrm>
          <a:prstGeom xmlns:a="http://schemas.openxmlformats.org/drawingml/2006/main" prst="rect">
            <a:avLst/>
          </a:prstGeom>
        </p:spPr>
      </p:pic>
      <p:sp>
        <p:nvSpPr>
          <p:cNvPr id="24" name="text-21">
            <a:extLst xmlns:a="http://schemas.openxmlformats.org/drawingml/2006/main">
              <a:ext uri="{FF2B5EF4-FFF2-40B4-BE49-F238E27FC236}">
                <a16:creationId xmlns:a16="http://schemas.microsoft.com/office/drawing/2014/main" id="{27640714-C653-4434-8B13-3439146B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실제 운영 화면 발췌 · 2026-08-28 · 고객정보·가격·주문번호·상태 건수 제거</a:t>
            </a:r>
          </a:p>
        </p:txBody>
      </p:sp>
    </p:spTree>
    <p:extLst>
      <p:ext uri="{BB962C8B-B14F-4D97-AF65-F5344CB8AC3E}">
        <p14:creationId xmlns:p14="http://schemas.microsoft.com/office/powerpoint/2010/main" val="8151115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D3880B8B-3BDE-4769-9BA4-DAA115FC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17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741653F-B669-4959-8FBA-C3E40EFB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DDB2B5-F844-4810-90EE-24289DF2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결제방식이 같아도 혼합주문을 차단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460BA18-7BED-43CF-A3F9-41A06816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결제방식이 같은 경우에도 분유와 물품은 나눠 주문해야 한다는 운영 규칙을 반영했습니다.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F7C46-0184-4B5D-8979-C67B7466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29225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가상 예시: 선불입금 회원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853E2-04FA-4706-9F17-9E4F13FB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409825" cy="752475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분유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35B6B8F-F5F6-4516-91EE-998DA857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03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5E193-0749-4368-A391-88CD0DED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2314575" cy="752475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물품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3390900"/>
          <a:ext xmlns:a="http://schemas.openxmlformats.org/drawingml/2006/main" cx="5838825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743325"/>
              </a:tblGrid>
              <a:tr h="3238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처리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이전: 결제방식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둘 다 무통장이므로 혼합주문 통과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보완: 카테고리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분류가 다르면 차단하고 분리 주문 안내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</a:tr>
            </a:tbl>
          </a:graphicData>
        </a:graphic>
      </p:graphicFrame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8F980196-54FD-4E12-8D17-A71A35AD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보여준 다음 행동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506a708d84046"/>
          <a:stretch xmlns:a="http://schemas.openxmlformats.org/drawingml/2006/main"/>
        </p:blipFill>
        <p:spPr>
          <a:xfrm xmlns:a="http://schemas.openxmlformats.org/drawingml/2006/main">
            <a:off x="7050626" y="2171700"/>
            <a:ext cx="3567622" cy="23241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224B1E17-D94B-4036-BB73-DE50338F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7202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막힌 이유와 분류별 주문 방법을 함께 안내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519F9-8FCC-4013-B437-021E3146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정책의 기준을 결제수단에서 상품 분류로 옮겨, 같은 결제수단의 예외까지 막았습니다.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5C724CD1-301B-47FE-AE47-BB592DEA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좌측은 정책 기반 가상 예시 / 우측은 다른 상품 분류의 혼합차단 기능 화면 발췌(분유·미지정 테스트 상품)</a:t>
            </a:r>
          </a:p>
        </p:txBody>
      </p:sp>
    </p:spTree>
    <p:extLst>
      <p:ext uri="{BB962C8B-B14F-4D97-AF65-F5344CB8AC3E}">
        <p14:creationId xmlns:p14="http://schemas.microsoft.com/office/powerpoint/2010/main" val="10755823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0">
            <a:extLst xmlns:a="http://schemas.openxmlformats.org/drawingml/2006/main">
              <a:ext uri="{FF2B5EF4-FFF2-40B4-BE49-F238E27FC236}">
                <a16:creationId xmlns:a16="http://schemas.microsoft.com/office/drawing/2014/main" id="{30300CDD-8FB8-4113-BD9C-92B5007D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18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39C364D-D574-4DA6-B8C4-65C8B7CC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61EF7A2-B593-491B-A04B-66438703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포인트 정리의 실행 안전장치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B934349-A326-4951-AD4B-A2307116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 1회 발생하는 비가역 작업이어서, 대상과 차감 결과를 확인한 뒤 실행하도록 범위를 조정했습니다.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B9CD8-3C32-43CE-855C-9C3BDD14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1BCC9A0-2176-4945-9C61-665B4C04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미리보기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CA53A87-412D-4AE3-9E52-576F9EA7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현재·차감·잔여 확인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CB1626C-F4AB-458A-9874-BC329A1A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431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CE5A9-ABAC-4139-9F51-60E7B5D5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34F1420-BE88-460D-98E1-C402EACD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대상 선택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73A2187-CB30-4142-9413-BF82EF28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처리할 회원 선택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B752BB0-0905-479B-822C-2FC00A83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9431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5A860-D4A3-4882-A2D6-DF5D4D22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5ED2E95-3570-4CAD-AA6D-DB22D2BF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최종 확인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23BF5F5C-2B2C-4E57-AFEC-8679669D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대상과 합계를 재확인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2E0C1AB3-C78C-4259-9A96-E8EC22A4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431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84206-FC2B-4366-9D80-F0513AE4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9863975C-794A-40C8-9CD3-A0742CE6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실행·기록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78E47C6E-BC9B-43E3-9D92-2E2E275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상태 재검증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B4DFB001-632F-44EB-8310-55BDBB74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조회한 뒤 회원 상태가 바뀐다면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609600" y="3333750"/>
          <a:ext xmlns:a="http://schemas.openxmlformats.org/drawingml/2006/main" cx="109728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048000"/>
                <a:gridCol w="3048000"/>
                <a:gridCol w="3352800"/>
              </a:tblGrid>
              <a:tr h="3619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가상 대상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 후 상황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 시 처리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막으려는 문제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A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변동 없음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선택한 대상만 정리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외 회원의 임의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B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 사용 또는 등급 변경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변경 회원 자동 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오래된 화면 값으로 과다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</a:tr>
              <a:tr h="6096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조건 재실행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운영자가 실행을 다시 누름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차감하지 않음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중복 실행으로 반복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B9AFD0-CF4F-4D68-809F-A39F5C73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85E2D75E-4B16-4475-9CA7-B248725F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91225"/>
            <a:ext cx="695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판단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0B2E4CA3-3732-4168-B86C-62C72223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81700"/>
            <a:ext cx="975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정기 자동 실행의 추가 운영 부담과 잘못된 회수 위험을 비교해, 담당자 확인 방식으로 조정했습니다.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F6682463-12A6-4417-9E3D-126BCA70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 기반 시뮬레이션 · 회원 A/B는 가상 예시이며 포인트 금액·고객정보는 포함하지 않음</a:t>
            </a:r>
          </a:p>
        </p:txBody>
      </p:sp>
    </p:spTree>
    <p:extLst>
      <p:ext uri="{BB962C8B-B14F-4D97-AF65-F5344CB8AC3E}">
        <p14:creationId xmlns:p14="http://schemas.microsoft.com/office/powerpoint/2010/main" val="1790498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FC4D1FAF-78A5-4951-A53A-764F09D5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19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ADE21FC-01DD-44A1-8FFC-E79950CC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9E76EC5-AAF1-480A-AB8C-77C1B5BB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완료 통보를 운영 검수 기준으로 바꿈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57FF003-1E0F-40E5-B429-960F0196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정보 수정 화면에 들어갈 수 없었던 사례에서, 배포와 기능 동작을 따로 확인했습니다.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0B9E5-4B26-40FE-AA15-4F421BA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239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현상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381C88A-B26F-44F2-9F89-D16655A7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838325"/>
            <a:ext cx="461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마이페이지의 정보 수정에 진입 불가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BADB9-06FF-4F34-AC04-1C3E0AA0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1239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C74B325-0ACC-4C26-AC47-500B8672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743200"/>
            <a:ext cx="461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서버 미반영과 이전 차단 로직 잔존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DC151-3352-42B3-AB7D-E4478A50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1239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검수 기준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32AF82-22DF-4CB1-8F39-21A68538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48075"/>
            <a:ext cx="461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메뉴 노출·실제 진입·수정 가능한 항목을 확인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D5FD669-EBA0-46F4-B821-4436E207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049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메뉴가 없던 화면과 반영 결과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1c8e90c9840b7"/>
          <a:stretch xmlns:a="http://schemas.openxmlformats.org/drawingml/2006/main"/>
        </p:blipFill>
        <p:spPr>
          <a:xfrm xmlns:a="http://schemas.openxmlformats.org/drawingml/2006/main">
            <a:off x="7609609" y="2162175"/>
            <a:ext cx="1163782" cy="228600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2cefcfe35439d"/>
          <a:stretch xmlns:a="http://schemas.openxmlformats.org/drawingml/2006/main"/>
        </p:blipFill>
        <p:spPr>
          <a:xfrm xmlns:a="http://schemas.openxmlformats.org/drawingml/2006/main">
            <a:off x="9924184" y="2162175"/>
            <a:ext cx="1163782" cy="2286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D80E30-F098-43B9-90D3-789D835D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19050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확인 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F6797A-4774-4EC3-B4AD-0140BE9D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591050"/>
            <a:ext cx="19050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6" name="text-13">
            <a:extLst xmlns:a="http://schemas.openxmlformats.org/drawingml/2006/main">
              <a:ext uri="{FF2B5EF4-FFF2-40B4-BE49-F238E27FC236}">
                <a16:creationId xmlns:a16="http://schemas.microsoft.com/office/drawing/2014/main" id="{019C3275-AAAE-4FE0-BADD-C6201EE9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같은 기능을 다른 조건에서도 확인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09600" y="5324475"/>
          <a:ext xmlns:a="http://schemas.openxmlformats.org/drawingml/2006/main" cx="1097280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790950"/>
                <a:gridCol w="4324350"/>
              </a:tblGrid>
              <a:tr h="3048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 행동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기대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 서버·실제 계정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 수정 메뉴 클릭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비밀번호 확인 후 화면 진입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 항목과 변경 가능 항목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아이디·주소 / 연락처 확인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고정값은 보호, 허용 항목만 수정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593F2074-69C6-4425-8447-9122B330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문서의 기능 화면 발췌 · 개발 반영 통보와 운영 검수를 구분</a:t>
            </a:r>
          </a:p>
        </p:txBody>
      </p:sp>
    </p:spTree>
    <p:extLst>
      <p:ext uri="{BB962C8B-B14F-4D97-AF65-F5344CB8AC3E}">
        <p14:creationId xmlns:p14="http://schemas.microsoft.com/office/powerpoint/2010/main" val="12906083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2C288302-2506-41B6-9BA7-FE87F75A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20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B9B8140-54C5-4BFE-8A5F-1B603BC0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9DC5C6-91DB-4FC2-8A9D-0B3F9A4F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피드백으로 화면을 다시 조정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528BC2B-D5B1-4DB3-831E-972E2ADE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운영 반영: 반복해서 하는 행동과 누락된 현장 요청을 화면에 반영했습니다.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D9A9B9B-4361-4D8E-AB1F-381179B6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거래명세서를 주문내역에서 바로 출력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757b4c05e454a"/>
          <a:stretch xmlns:a="http://schemas.openxmlformats.org/drawingml/2006/main"/>
        </p:blipFill>
        <p:spPr>
          <a:xfrm xmlns:a="http://schemas.openxmlformats.org/drawingml/2006/main">
            <a:off x="907761" y="2190750"/>
            <a:ext cx="1765877" cy="153352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b608ff74340c3"/>
          <a:stretch xmlns:a="http://schemas.openxmlformats.org/drawingml/2006/main"/>
        </p:blipFill>
        <p:spPr>
          <a:xfrm xmlns:a="http://schemas.openxmlformats.org/drawingml/2006/main">
            <a:off x="3784311" y="2190750"/>
            <a:ext cx="1765877" cy="1533525"/>
          </a:xfrm>
          <a:prstGeom xmlns:a="http://schemas.openxmlformats.org/drawingml/2006/main" prst="rect">
            <a:avLst/>
          </a:prstGeom>
        </p:spPr>
      </p:pic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740139D9-38AA-48BA-B727-1BA3AB20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717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6DD4EE45-E65B-4F0B-9EB4-CC0CF26E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요청 전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FA27514E-F9C1-428E-BA49-2B2E6D66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385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F7CB4027-993B-4C83-BE3C-14418922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257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주문당 버튼 1개, 취소·환불 주문은 제외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구매확정·리뷰 기능은 주문상세에 유지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584AD94E-A598-48CA-8AE6-7AB8C262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삭제했던 배송 메시지 입력칸 복원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abcb6179b473a"/>
          <a:stretch xmlns:a="http://schemas.openxmlformats.org/drawingml/2006/main"/>
        </p:blipFill>
        <p:spPr>
          <a:xfrm xmlns:a="http://schemas.openxmlformats.org/drawingml/2006/main">
            <a:off x="6267450" y="2356982"/>
            <a:ext cx="5314950" cy="1324886"/>
          </a:xfrm>
          <a:prstGeom xmlns:a="http://schemas.openxmlformats.org/drawingml/2006/main" prst="rect">
            <a:avLst/>
          </a:prstGeom>
        </p:spPr>
      </p:pic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4FD611FB-CB04-47F3-B90E-B27282CF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24350"/>
            <a:ext cx="5314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1차 QA에서 제거했던 입력칸을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배송 시 요청을 받는 용도로 다시 반영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C77DE-238C-4D79-9813-F5ED69E6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981075"/>
          </a:xfrm>
          <a:prstGeom xmlns:a="http://schemas.openxmlformats.org/drawingml/2006/main" prst="roundRect">
            <a:avLst>
              <a:gd name="adj" fmla="val 6796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</p:sp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B14C3E4E-3D9C-4AE2-9593-090B5F39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213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것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B4651AFE-298F-4A5B-8FE6-69113D9D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495925"/>
            <a:ext cx="8220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화면을 단순하게 만드는 것만으로 업무가 끝나지 않았습니다.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자주 쓰는 행동은 앞에 두고, 실제로 필요한 입력은 다시 남겼습니다.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4DC51198-B1AD-4E36-AEDE-1E25B598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문서의 변경 전·후 기능 화면 발췌 · 고객정보·주문·가격 영역 제외</a:t>
            </a:r>
          </a:p>
        </p:txBody>
      </p:sp>
    </p:spTree>
    <p:extLst>
      <p:ext uri="{BB962C8B-B14F-4D97-AF65-F5344CB8AC3E}">
        <p14:creationId xmlns:p14="http://schemas.microsoft.com/office/powerpoint/2010/main" val="6291394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0">
            <a:extLst xmlns:a="http://schemas.openxmlformats.org/drawingml/2006/main">
              <a:ext uri="{FF2B5EF4-FFF2-40B4-BE49-F238E27FC236}">
                <a16:creationId xmlns:a16="http://schemas.microsoft.com/office/drawing/2014/main" id="{0F267448-5CE1-4CAF-8185-6BD027EC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21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D28A31-5F74-44FC-A732-B3F22E78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3A30638-6E88-469A-B7EF-4D86B9F7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초기 운영 결과와 측정 범위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C6167F0-0A26-45BE-B98C-21DD283D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핵심 주문·입금·정산 흐름의 운영 결과와, 계약상 전체 개발요구의 검수를 구분했습니다.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945FEEB-CE0E-4F94-AC3F-36231041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309F8A1-6B2D-4D95-B5BD-6E2D14B6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3038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월평균 2~3건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0E68C25-0237-4BC4-B3F5-3148C673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14550"/>
            <a:ext cx="1828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7E2F6-4249-473D-9CC8-4623EF4B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257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FDC6B81-9D75-44BC-8373-686EF264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57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직전 6개월 월평균과 2026-07-16 전체 가동 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약 1개월을 비교한 전체 측정 범위의 관찰값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3A0D718-9B7D-4D22-A9D6-9BE45F6E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D79DA92-AB69-4207-8F4C-71E05EF0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81225"/>
            <a:ext cx="2657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2주 32건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B742FD1-31EE-4A09-9AD6-3886124B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7170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19건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282D2-A00D-48E8-8CA7-669A0EC1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5257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586C7AA9-B352-4D91-907E-0C08B29F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5257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2026-01~06 CS 인입의 2주 환산치와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2026-07~08 배포 구간 2주 집계를 비교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3FB97-F828-4D7D-A285-A24EAED3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972800" cy="1343025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A6A06E89-C3D5-4455-8BCD-8C16FA3D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5295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운영과 검수의 경계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41727EC6-D05C-4AD0-B676-F7D26E1E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43425"/>
            <a:ext cx="7867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핵심 흐름은 2026-07-16 가동 후 약 1개월 관찰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계약상 기본 개발요구 22건은 2026-08-31 최종검수까지 운영 QA 지속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24CE06F1-E7F9-4CE6-A787-6C973B02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05425"/>
            <a:ext cx="10506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검수 기록: 배포·QA 필요 17건 / 부분·수정·구현변경 후 QA 각 1건 / 진행 중 계약 항목 2건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B8F3B-DDFF-4C74-8BE8-FBE85B4E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측정은 입금 대조 시간과 오출고·CS 문의의 장기 추이입니다.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49D6323B-8D84-411F-A098-08241E06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원천: 운영팀 출고·CS 이력과 사용자 확인 · 초기 관찰이며 장기 지속 효과와 단독 인과는 미검증</a:t>
            </a:r>
          </a:p>
        </p:txBody>
      </p:sp>
    </p:spTree>
    <p:extLst>
      <p:ext uri="{BB962C8B-B14F-4D97-AF65-F5344CB8AC3E}">
        <p14:creationId xmlns:p14="http://schemas.microsoft.com/office/powerpoint/2010/main" val="6465061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9A0D2-A0A1-40FC-B373-E9F2CCFE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0"/>
            <a:ext cx="389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F4A81AC-CB6D-4DA5-BBD5-2B383162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0580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현장의 문제를 구조로 바꾸고,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운영에서 확인하는 PM입니다.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4423B39-9F0A-4507-B638-F5247427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6638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두 프로젝트에서 만든 업무 방식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2BE014B-F66C-48DD-B761-1D6CBA2A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35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38EB0AB-F67E-4C69-805D-49255FFC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14675"/>
            <a:ext cx="6753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정책의 기준을 구체적인 예외까지 내려 씁니다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E5709A9-84F5-476E-9475-41249707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52825"/>
            <a:ext cx="6772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주문과 포장을 구분하고, 같은 결제수단의 혼합주문 예외를 확인했습니다.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FA3F702-8F51-47D8-BBF7-8422E3FF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5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DF63AC7-C0D7-4ED9-B35F-8DCAF64D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43375"/>
            <a:ext cx="6753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시스템 제약과 운영 영향을 함께 판단합니다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A457D96-2336-4040-99A1-975C9A8A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81525"/>
            <a:ext cx="6772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혼재 주문의 내수 지연을 수용하고, 포인트 정리에 담당자 확인을 남겼습니다.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E605C61-16AC-4BF6-AB35-FF21C931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35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6C139F5-46FE-40D7-9C90-32BCE847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2075"/>
            <a:ext cx="6753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완료는 실제 운영의 기대 결과로 판단합니다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662696E-6007-4B51-8D09-E6F4F6F4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0225"/>
            <a:ext cx="6772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관세청 오류 수정·재제출과 B2B 고객 화면을 검증하고 초기 결과를 관찰했습니다.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219F712C-4048-410A-A36D-1C1857FB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19425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DDC759F5-DB31-4D38-A962-99209197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38550"/>
            <a:ext cx="3362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PM PORTFOLIO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6D4F8481-95EE-44B3-A3DB-EF868825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38625"/>
            <a:ext cx="335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046327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박종혁</dc:creator>
  <lastModifiedBy>Walnut Exporter</lastModifiedBy>
  <dc:title>박종혁 PM 포트폴리오 v4.3</dc:title>
  <dcterms:created xsi:type="dcterms:W3CDTF">2026-09-17T06:07:14.3840000Z</dcterms:created>
  <dcterms:modified xsi:type="dcterms:W3CDTF">2026-09-17T06:07:14.3840000Z</dcterms:modified>
</coreProperties>
</file>