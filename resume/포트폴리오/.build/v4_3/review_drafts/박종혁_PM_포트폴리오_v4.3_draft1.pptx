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252a6d95dd4f2e" /><Relationship Type="http://schemas.openxmlformats.org/officeDocument/2006/relationships/extended-properties" Target="/docProps/app.xml" Id="R4513a316b95d4cf3" /><Relationship Type="http://schemas.openxmlformats.org/officeDocument/2006/relationships/officeDocument" Target="/ppt/presentation.xml" Id="Rd10f244dcf5246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54429d981d4bcb"/>
  </p:sldMasterIdLst>
  <p:notesMasterIdLst>
    <p:notesMasterId xmlns:r="http://schemas.openxmlformats.org/officeDocument/2006/relationships" r:id="R7eab1452b0db4f4c"/>
  </p:notesMasterIdLst>
  <p:sldIdLst>
    <p:sldId xmlns:r="http://schemas.openxmlformats.org/officeDocument/2006/relationships" id="256" r:id="Rde900872ab204cc8"/>
    <p:sldId xmlns:r="http://schemas.openxmlformats.org/officeDocument/2006/relationships" id="257" r:id="Ra8906c1f83814f1d"/>
    <p:sldId xmlns:r="http://schemas.openxmlformats.org/officeDocument/2006/relationships" id="258" r:id="R2262378639564410"/>
    <p:sldId xmlns:r="http://schemas.openxmlformats.org/officeDocument/2006/relationships" id="259" r:id="Redd034acd0a34cbb"/>
    <p:sldId xmlns:r="http://schemas.openxmlformats.org/officeDocument/2006/relationships" id="260" r:id="R65b6cc0a6b414626"/>
    <p:sldId xmlns:r="http://schemas.openxmlformats.org/officeDocument/2006/relationships" id="261" r:id="R61cf047507644354"/>
    <p:sldId xmlns:r="http://schemas.openxmlformats.org/officeDocument/2006/relationships" id="262" r:id="R53bfcf75bc004341"/>
    <p:sldId xmlns:r="http://schemas.openxmlformats.org/officeDocument/2006/relationships" id="263" r:id="Rcb56f947ffd0454b"/>
    <p:sldId xmlns:r="http://schemas.openxmlformats.org/officeDocument/2006/relationships" id="264" r:id="Ree3f18cafc4f4039"/>
    <p:sldId xmlns:r="http://schemas.openxmlformats.org/officeDocument/2006/relationships" id="265" r:id="R68bbb13413f24c0b"/>
    <p:sldId xmlns:r="http://schemas.openxmlformats.org/officeDocument/2006/relationships" id="266" r:id="Rfe6046fe0aac46d4"/>
    <p:sldId xmlns:r="http://schemas.openxmlformats.org/officeDocument/2006/relationships" id="267" r:id="Rba0a5cf310a14627"/>
    <p:sldId xmlns:r="http://schemas.openxmlformats.org/officeDocument/2006/relationships" id="268" r:id="R559d7c349e9a4a65"/>
    <p:sldId xmlns:r="http://schemas.openxmlformats.org/officeDocument/2006/relationships" id="269" r:id="Ref5036bc514b4607"/>
    <p:sldId xmlns:r="http://schemas.openxmlformats.org/officeDocument/2006/relationships" id="270" r:id="Rbe9bba5c32f94546"/>
    <p:sldId xmlns:r="http://schemas.openxmlformats.org/officeDocument/2006/relationships" id="271" r:id="R6c951937f0b44dbf"/>
    <p:sldId xmlns:r="http://schemas.openxmlformats.org/officeDocument/2006/relationships" id="272" r:id="R300d9e15ab5941b3"/>
    <p:sldId xmlns:r="http://schemas.openxmlformats.org/officeDocument/2006/relationships" id="273" r:id="R9a81c901d61a41ac"/>
    <p:sldId xmlns:r="http://schemas.openxmlformats.org/officeDocument/2006/relationships" id="274" r:id="R126b61b287a443cc"/>
    <p:sldId xmlns:r="http://schemas.openxmlformats.org/officeDocument/2006/relationships" id="275" r:id="R14bdc10498d64213"/>
    <p:sldId xmlns:r="http://schemas.openxmlformats.org/officeDocument/2006/relationships" id="276" r:id="R9c0caa844d2d4822"/>
    <p:sldId xmlns:r="http://schemas.openxmlformats.org/officeDocument/2006/relationships" id="277" r:id="R946c7013ae0041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695d178bff40fd" /><Relationship Type="http://schemas.openxmlformats.org/officeDocument/2006/relationships/slideMaster" Target="/ppt/slideMasters/slideMaster1.xml" Id="R6c54429d981d4bcb" /><Relationship Type="http://schemas.openxmlformats.org/officeDocument/2006/relationships/notesMaster" Target="/ppt/notesMasters/notesMaster1.xml" Id="R7eab1452b0db4f4c" /><Relationship Type="http://schemas.openxmlformats.org/officeDocument/2006/relationships/presProps" Target="/ppt/presProps.xml" Id="R569848ae70ad4c20" /><Relationship Type="http://schemas.openxmlformats.org/officeDocument/2006/relationships/tableStyles" Target="/ppt/tableStyles.xml" Id="Rcffb1a5f651f4cf8" /><Relationship Type="http://schemas.openxmlformats.org/officeDocument/2006/relationships/slide" Target="/ppt/slides/slide1.xml" Id="Rde900872ab204cc8" /><Relationship Type="http://schemas.openxmlformats.org/officeDocument/2006/relationships/slide" Target="/ppt/slides/slide2.xml" Id="Ra8906c1f83814f1d" /><Relationship Type="http://schemas.openxmlformats.org/officeDocument/2006/relationships/slide" Target="/ppt/slides/slide3.xml" Id="R2262378639564410" /><Relationship Type="http://schemas.openxmlformats.org/officeDocument/2006/relationships/slide" Target="/ppt/slides/slide4.xml" Id="Redd034acd0a34cbb" /><Relationship Type="http://schemas.openxmlformats.org/officeDocument/2006/relationships/slide" Target="/ppt/slides/slide5.xml" Id="R65b6cc0a6b414626" /><Relationship Type="http://schemas.openxmlformats.org/officeDocument/2006/relationships/slide" Target="/ppt/slides/slide6.xml" Id="R61cf047507644354" /><Relationship Type="http://schemas.openxmlformats.org/officeDocument/2006/relationships/slide" Target="/ppt/slides/slide7.xml" Id="R53bfcf75bc004341" /><Relationship Type="http://schemas.openxmlformats.org/officeDocument/2006/relationships/slide" Target="/ppt/slides/slide8.xml" Id="Rcb56f947ffd0454b" /><Relationship Type="http://schemas.openxmlformats.org/officeDocument/2006/relationships/slide" Target="/ppt/slides/slide9.xml" Id="Ree3f18cafc4f4039" /><Relationship Type="http://schemas.openxmlformats.org/officeDocument/2006/relationships/slide" Target="/ppt/slides/slide10.xml" Id="R68bbb13413f24c0b" /><Relationship Type="http://schemas.openxmlformats.org/officeDocument/2006/relationships/slide" Target="/ppt/slides/slide11.xml" Id="Rfe6046fe0aac46d4" /><Relationship Type="http://schemas.openxmlformats.org/officeDocument/2006/relationships/slide" Target="/ppt/slides/slide12.xml" Id="Rba0a5cf310a14627" /><Relationship Type="http://schemas.openxmlformats.org/officeDocument/2006/relationships/slide" Target="/ppt/slides/slide13.xml" Id="R559d7c349e9a4a65" /><Relationship Type="http://schemas.openxmlformats.org/officeDocument/2006/relationships/slide" Target="/ppt/slides/slide14.xml" Id="Ref5036bc514b4607" /><Relationship Type="http://schemas.openxmlformats.org/officeDocument/2006/relationships/slide" Target="/ppt/slides/slide15.xml" Id="Rbe9bba5c32f94546" /><Relationship Type="http://schemas.openxmlformats.org/officeDocument/2006/relationships/slide" Target="/ppt/slides/slide16.xml" Id="R6c951937f0b44dbf" /><Relationship Type="http://schemas.openxmlformats.org/officeDocument/2006/relationships/slide" Target="/ppt/slides/slide17.xml" Id="R300d9e15ab5941b3" /><Relationship Type="http://schemas.openxmlformats.org/officeDocument/2006/relationships/slide" Target="/ppt/slides/slide18.xml" Id="R9a81c901d61a41ac" /><Relationship Type="http://schemas.openxmlformats.org/officeDocument/2006/relationships/slide" Target="/ppt/slides/slide19.xml" Id="R126b61b287a443cc" /><Relationship Type="http://schemas.openxmlformats.org/officeDocument/2006/relationships/slide" Target="/ppt/slides/slide20.xml" Id="R14bdc10498d64213" /><Relationship Type="http://schemas.openxmlformats.org/officeDocument/2006/relationships/slide" Target="/ppt/slides/slide21.xml" Id="R9c0caa844d2d4822" /><Relationship Type="http://schemas.openxmlformats.org/officeDocument/2006/relationships/slide" Target="/ppt/slides/slide22.xml" Id="R946c7013ae0041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1579d23d3e45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ad82542b354e17" /><Relationship Type="http://schemas.openxmlformats.org/officeDocument/2006/relationships/notesMaster" Target="/ppt/notesMasters/notesMaster1.xml" Id="R2634bb8256be4b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83127c8e5d4a46" /><Relationship Type="http://schemas.openxmlformats.org/officeDocument/2006/relationships/notesMaster" Target="/ppt/notesMasters/notesMaster1.xml" Id="R159079b971374e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9a2374a1364dc8" /><Relationship Type="http://schemas.openxmlformats.org/officeDocument/2006/relationships/notesMaster" Target="/ppt/notesMasters/notesMaster1.xml" Id="Rf6dc007f77b940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a25fb7c8f64869" /><Relationship Type="http://schemas.openxmlformats.org/officeDocument/2006/relationships/notesMaster" Target="/ppt/notesMasters/notesMaster1.xml" Id="R9e35afba6ca543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2bd3c461a04231" /><Relationship Type="http://schemas.openxmlformats.org/officeDocument/2006/relationships/notesMaster" Target="/ppt/notesMasters/notesMaster1.xml" Id="Rc8525f0d614645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b3550015e64b07" /><Relationship Type="http://schemas.openxmlformats.org/officeDocument/2006/relationships/notesMaster" Target="/ppt/notesMasters/notesMaster1.xml" Id="R8cf5e3a2d35746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f859384762432f" /><Relationship Type="http://schemas.openxmlformats.org/officeDocument/2006/relationships/notesMaster" Target="/ppt/notesMasters/notesMaster1.xml" Id="Rd3b3c2096f1e42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df58217b9c4d91" /><Relationship Type="http://schemas.openxmlformats.org/officeDocument/2006/relationships/notesMaster" Target="/ppt/notesMasters/notesMaster1.xml" Id="Ra5c4a7bcef884d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759dd7c5d64442" /><Relationship Type="http://schemas.openxmlformats.org/officeDocument/2006/relationships/notesMaster" Target="/ppt/notesMasters/notesMaster1.xml" Id="Rce87be5b3aaf4c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fee8421b984698" /><Relationship Type="http://schemas.openxmlformats.org/officeDocument/2006/relationships/notesMaster" Target="/ppt/notesMasters/notesMaster1.xml" Id="R08b2c42eceb144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c0ef168a9b416f" /><Relationship Type="http://schemas.openxmlformats.org/officeDocument/2006/relationships/notesMaster" Target="/ppt/notesMasters/notesMaster1.xml" Id="R0ac0c9b0d90a47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790ee8f65f4c27" /><Relationship Type="http://schemas.openxmlformats.org/officeDocument/2006/relationships/notesMaster" Target="/ppt/notesMasters/notesMaster1.xml" Id="Rab3d149c95944e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342773a31b4cc5" /><Relationship Type="http://schemas.openxmlformats.org/officeDocument/2006/relationships/notesMaster" Target="/ppt/notesMasters/notesMaster1.xml" Id="R2d748031e5714e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2d7882a55b4d00" /><Relationship Type="http://schemas.openxmlformats.org/officeDocument/2006/relationships/notesMaster" Target="/ppt/notesMasters/notesMaster1.xml" Id="R361efcd0e1914d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51e11171b34119" /><Relationship Type="http://schemas.openxmlformats.org/officeDocument/2006/relationships/notesMaster" Target="/ppt/notesMasters/notesMaster1.xml" Id="R85c30bd4b7694f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88d108811c4f59" /><Relationship Type="http://schemas.openxmlformats.org/officeDocument/2006/relationships/notesMaster" Target="/ppt/notesMasters/notesMaster1.xml" Id="R2b8e1748562045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903406cfc64e1f" /><Relationship Type="http://schemas.openxmlformats.org/officeDocument/2006/relationships/notesMaster" Target="/ppt/notesMasters/notesMaster1.xml" Id="R24cad9a134e845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3470cf07bc4db8" /><Relationship Type="http://schemas.openxmlformats.org/officeDocument/2006/relationships/notesMaster" Target="/ppt/notesMasters/notesMaster1.xml" Id="R83274edbceba4a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8b2a8fef824aee" /><Relationship Type="http://schemas.openxmlformats.org/officeDocument/2006/relationships/notesMaster" Target="/ppt/notesMasters/notesMaster1.xml" Id="R5adbcb92e34a40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588071da274d77" /><Relationship Type="http://schemas.openxmlformats.org/officeDocument/2006/relationships/notesMaster" Target="/ppt/notesMasters/notesMaster1.xml" Id="R844741ead6714a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eff469e6c484777" /><Relationship Type="http://schemas.openxmlformats.org/officeDocument/2006/relationships/notesMaster" Target="/ppt/notesMasters/notesMaster1.xml" Id="R2f4bddc0aad9459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201a720b554141" /><Relationship Type="http://schemas.openxmlformats.org/officeDocument/2006/relationships/notesMaster" Target="/ppt/notesMasters/notesMaster1.xml" Id="Rc8f0999833c24f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C-002·003·010a·025·039·077~087·126.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C-021·022·025·031·039.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C-020~028·101·126. 운영 시작과 전체 자동화 완료는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C-025·028·101·126. planning_v7.html 4·8·9절. 원본은 내부 문서로 도표를 일반화해 재구성.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C-025·028·126. 기준 디자인 원본 5장 대안 비교·책임 분담. 각 개발사의 실제 구현을 본인의 단독 개발로 표현하지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C-025·028·101·128. planning_v7.html 4·8·9절. 재구성 흐름도.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C-029. planning_v7.html 8절 공통 식별자. orderNo는 원주문번호, erpPackageOrderNo는 ERP 포장번호, 병합키는 hwbNo+orderNo. 시뮬레이션은 실제 주문·운영 로그가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C-127. 리스크·질의대장 2026-08-26 협의 이력(572·622행). 실제 당시 의사결정 사례이며 현재 모든 채널에 적용되는 일괄 정책으로 확대하지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C-128. planning_v7.html 9절 상태와 재시도. merged는 통관 완료가 아니며 pending은 대기와 검증 실패를 조회로 구분. 구현 완료 상태는 주장하지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C-027. 2026-08-28 사용자 직접 확인: 운영 환경 30건 검증, 테스트 목적 30/30 통과. 유형별 건수와 오류코드는 원본 로그가 없어 기재하지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C-100·101·102·103. 2026-09-15 사용자 확인 운영 집계. 후속 통관정보 보완 웹서비스는 기획 중이며 배포나 효과 검증 완료가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C-030~039·076. 사업 규모와 확정 일정. 계약 항목 전체 완료와 핵심 서비스 가동을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C-030·035·040·042·043. 기준 디자인 원본 10장 업무 흐름. 초기 오출고 전체 측정 범위와 문의 환산 기준은 결과 장에 명시.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C-035·036·130. 대안 비교와 범위 제외 근거. 공급사 직접 입력·입금자동매칭은 구현 증빙 수준이 달라 핵심 성과에서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C-033·129. 산후조리원몰_과업내역_처리결과.html 과업1, 228~250행. 수치가 포함된 계정·상품 데이터는 캡처에서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C-047·048·131·132. 실제 운영 홈·마이페이지 캡처. 업무 흐름은 현재 정책 기반 재구성. 공급사별 권한·송장입력은 증거 부족으로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C-034. 산후조리원몰_과업내역_처리결과.html 322~327행. 실제 주문을 재현한 로그가 아닌 정책 설명 시뮬레이션.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C-036·130. 산후조리원몰_과업내역_처리결과.html 452~477행. 자동 실행 대신 담당자 확인 후 실행 결정과 안전장치 근거.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C-038·046. 산후조리원몰_과업내역_처리결과.html 329~344행. 수용 기준은 실제 문제·요구사항을 바탕으로 재구성.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C-131. 산후조리원몰_과업내역_처리결과.html 695~721행. 2026-08-13 운영 반영 및 고객 화면 확인 명시. 개발사 구현과 본인 요구·운영 검수 역할을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C-031·040·042·043·044. 정산시간 C-041은 비교 월 미확인으로 제외. 입금자동매칭 완료·서비스 밖 문의 개선을 주장하지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C-025·027·029·034·038·040·042·126~131.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c8df18fed4f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6dd116d86c4755" /><Relationship Type="http://schemas.openxmlformats.org/officeDocument/2006/relationships/slideLayout" Target="/ppt/slideLayouts/slideLayout1.xml" Id="R60e45899b53f43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e45899b53f43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93f2e1a694728" /><Relationship Type="http://schemas.openxmlformats.org/officeDocument/2006/relationships/image" Target="/ppt/media/image.png" Id="Rd7aa35936c20441a" /><Relationship Type="http://schemas.openxmlformats.org/officeDocument/2006/relationships/notesSlide" Target="/ppt/notesSlides/notesSlide1.xml" Id="R170118fc41664e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fb536c8a2422b" /><Relationship Type="http://schemas.openxmlformats.org/officeDocument/2006/relationships/notesSlide" Target="/ppt/notesSlides/notesSlide2.xml" Id="R5f4e108bf2c24e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038e3114e4180" /><Relationship Type="http://schemas.openxmlformats.org/officeDocument/2006/relationships/notesSlide" Target="/ppt/notesSlides/notesSlide3.xml" Id="R8c09d86fd4a547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226488bd94e20" /><Relationship Type="http://schemas.openxmlformats.org/officeDocument/2006/relationships/notesSlide" Target="/ppt/notesSlides/notesSlide4.xml" Id="Ra52b6a8ac42e4b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a10583f82462c" /><Relationship Type="http://schemas.openxmlformats.org/officeDocument/2006/relationships/notesSlide" Target="/ppt/notesSlides/notesSlide5.xml" Id="R4c2b08b38a9c47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0cdbe16ab47c2" /><Relationship Type="http://schemas.openxmlformats.org/officeDocument/2006/relationships/notesSlide" Target="/ppt/notesSlides/notesSlide6.xml" Id="R5ecd69148dbd40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2cc8fde1147aa" /><Relationship Type="http://schemas.openxmlformats.org/officeDocument/2006/relationships/notesSlide" Target="/ppt/notesSlides/notesSlide7.xml" Id="R47d8d78a287e40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aef160f1f407f" /><Relationship Type="http://schemas.openxmlformats.org/officeDocument/2006/relationships/notesSlide" Target="/ppt/notesSlides/notesSlide8.xml" Id="R960bec12d2b844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1fea606d14f21" /><Relationship Type="http://schemas.openxmlformats.org/officeDocument/2006/relationships/notesSlide" Target="/ppt/notesSlides/notesSlide9.xml" Id="R5cca9a7d525a43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75fd9489a49fd" /><Relationship Type="http://schemas.openxmlformats.org/officeDocument/2006/relationships/notesSlide" Target="/ppt/notesSlides/notesSlide10.xml" Id="Rd9bc95bd719a40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b6eb6abe24a86" /><Relationship Type="http://schemas.openxmlformats.org/officeDocument/2006/relationships/notesSlide" Target="/ppt/notesSlides/notesSlide11.xml" Id="R175094461b8444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cb47aefe645cf" /><Relationship Type="http://schemas.openxmlformats.org/officeDocument/2006/relationships/notesSlide" Target="/ppt/notesSlides/notesSlide12.xml" Id="R2a3264c45cb143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40464deae4a67" /><Relationship Type="http://schemas.openxmlformats.org/officeDocument/2006/relationships/notesSlide" Target="/ppt/notesSlides/notesSlide13.xml" Id="R5ecee0b6575444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3af309f2a4cee" /><Relationship Type="http://schemas.openxmlformats.org/officeDocument/2006/relationships/notesSlide" Target="/ppt/notesSlides/notesSlide14.xml" Id="R220104799c8d41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f98add1cc4cd0" /><Relationship Type="http://schemas.openxmlformats.org/officeDocument/2006/relationships/image" Target="/ppt/media/image2.png" Id="R4c26b4ef66144adf" /><Relationship Type="http://schemas.openxmlformats.org/officeDocument/2006/relationships/notesSlide" Target="/ppt/notesSlides/notesSlide15.xml" Id="Rd70b6cdfc0eb43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3a0a594584d04" /><Relationship Type="http://schemas.openxmlformats.org/officeDocument/2006/relationships/image" Target="/ppt/media/image3.png" Id="R2c896c10c74447c5" /><Relationship Type="http://schemas.openxmlformats.org/officeDocument/2006/relationships/image" Target="/ppt/media/image4.png" Id="R3b4e9eec81544890" /><Relationship Type="http://schemas.openxmlformats.org/officeDocument/2006/relationships/notesSlide" Target="/ppt/notesSlides/notesSlide16.xml" Id="Re280057eb97644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160d4d38744f6" /><Relationship Type="http://schemas.openxmlformats.org/officeDocument/2006/relationships/image" Target="/ppt/media/image5.png" Id="R4991d334ac544636" /><Relationship Type="http://schemas.openxmlformats.org/officeDocument/2006/relationships/notesSlide" Target="/ppt/notesSlides/notesSlide17.xml" Id="Rd35f519fe4b04d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50ccf1bb64134" /><Relationship Type="http://schemas.openxmlformats.org/officeDocument/2006/relationships/notesSlide" Target="/ppt/notesSlides/notesSlide18.xml" Id="R88bd5d22ff1447f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799139b414bcd" /><Relationship Type="http://schemas.openxmlformats.org/officeDocument/2006/relationships/image" Target="/ppt/media/image6.png" Id="R146a271ba749430a" /><Relationship Type="http://schemas.openxmlformats.org/officeDocument/2006/relationships/image" Target="/ppt/media/image7.png" Id="Raf2abb547d674ff6" /><Relationship Type="http://schemas.openxmlformats.org/officeDocument/2006/relationships/notesSlide" Target="/ppt/notesSlides/notesSlide19.xml" Id="Rdf6a44e7fab74e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89cd2a97d4413" /><Relationship Type="http://schemas.openxmlformats.org/officeDocument/2006/relationships/image" Target="/ppt/media/image8.png" Id="R94d287b78e6841ce" /><Relationship Type="http://schemas.openxmlformats.org/officeDocument/2006/relationships/image" Target="/ppt/media/image9.png" Id="Rddaf036f81bc477c" /><Relationship Type="http://schemas.openxmlformats.org/officeDocument/2006/relationships/image" Target="/ppt/media/image10.png" Id="Rb9ca8e4a528648b2" /><Relationship Type="http://schemas.openxmlformats.org/officeDocument/2006/relationships/notesSlide" Target="/ppt/notesSlides/notesSlide20.xml" Id="Rd3ea1fdf3dba42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83f6a1c754d92" /><Relationship Type="http://schemas.openxmlformats.org/officeDocument/2006/relationships/notesSlide" Target="/ppt/notesSlides/notesSlide21.xml" Id="R06732e72b1744d0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4c49131e54040" /><Relationship Type="http://schemas.openxmlformats.org/officeDocument/2006/relationships/notesSlide" Target="/ppt/notesSlides/notesSlide22.xml" Id="R0ccafd7e77c047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A50582-5D92-4F35-BFE0-FEF1734D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88D1F9F-4898-46A1-AB4A-D21D33CE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685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현장에서 겪은 운영 문제를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정책과 데이터 구조로 바꿔 실제로 돌아가게 만듭니다.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ED30ECE-F171-4BCE-BB63-EBD917CA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838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아이베 SCM팀에서 수입·물류 실무를 하며 반복되는 오류와 병목을 직접 겪었습니다.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관세청 연동에서는 주문과 통관 데이터를 연결하는 기준을,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전용몰에서는 계약별 주문·결제 정책과 운영 검수 기준을 정했습니다.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개발사와 현업이 같은 결과를 확인할 수 있도록 문서와 검증 흐름을 만들었습니다.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C4EC7FB-8299-4828-A7FA-5743E601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박종혁  /  PM 포트폴리오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5871570-935B-4E5F-A4A8-FA6F48F7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강점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516207C-8CAF-4310-9886-A9B4143E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D5DCBF6-3E7A-4C78-8E5F-F8C23587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 구조화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DCC6D2-730A-4005-96C5-DA319934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반복 문의와 운영 예외를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정책과 요구사항으로 정리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C4F3A12-2B5B-4EC1-84EE-77789C1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B2B · 계정별 주문 기준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4F8163F-3E6A-438D-B3EB-2C0F4FE3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65681E1-4F5C-403E-96B7-7183F507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이해관계자 조율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DBA0327-C6E7-45AB-B2B0-CA2B3A6D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데이터와 처리 책임을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개발사별로 구체화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CEBAA06-F656-46D8-AAA4-13EC9ABF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관세청 · 주문과 포장 분리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EEF3DCC-0C12-4685-88BD-7A94FAFD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3074CAD-1313-41EB-B793-6A71255E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검증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413DA38-359E-4585-AEE9-634D6E2A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배포 후 고객 화면과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 복구까지 확인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81AF43D3-8FA3-4E6E-8A8E-6765AF07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공통 · 기대 결과로 검수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6BA7E-1522-4F1D-AAED-D6B8D586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3286125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   관세청 통관 연동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다자간 데이터 계약과 오류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ED242-76E4-4F7B-8B2D-006B58DA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743575"/>
            <a:ext cx="3286125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   산후조리원 전용 B2B 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계정 정책과 고객·운영 흐름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a35936c20441a"/>
          <a:stretch xmlns:a="http://schemas.openxmlformats.org/drawingml/2006/main"/>
        </p:blipFill>
        <p:spPr>
          <a:xfrm xmlns:a="http://schemas.openxmlformats.org/drawingml/2006/main">
            <a:off x="8126852" y="828675"/>
            <a:ext cx="1491372" cy="2124075"/>
          </a:xfrm>
          <a:prstGeom xmlns:a="http://schemas.openxmlformats.org/drawingml/2006/main" prst="rect">
            <a:avLst/>
          </a:prstGeom>
        </p:spPr>
      </p:pic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B2A302C1-5A56-4F75-AB4D-3791BECE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239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경력</a:t>
            </a:r>
          </a:p>
        </p:txBody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42D04A08-564C-4D64-9D18-9CA5A0AB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아이베 SCM팀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C58184EE-3B4C-48C6-9015-2BEF4D3B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6685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2025-09-08 ~ 재직 중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SCM 실무·프로젝트 PM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B77EBECE-E701-4EB8-9153-1D7E3457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0502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학력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A092193E-7A58-41D7-8DA2-52F89E40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고려사이버대학교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AI·데이터과학부 재학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2025-02 편입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311AF6D6-A4BE-4FC2-9E45-CEDEA04F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051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부천대 컴퓨터소프트웨어과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2019-03 ~ 2024-02 졸업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FC56E650-690F-410E-8509-AC88F010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4810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SKILL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C711E-6F92-4A48-BF5C-3D773B25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57675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</a:t>
            </a:r>
          </a:p>
        </p:txBody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E74C15D8-F574-4B14-B0FF-E4A5BB47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196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요구사항 정의, 정책 설계, 데이터 흐름, QA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21A097-F76F-488C-8173-220460A1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133975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33371704-7CD2-446E-9CE6-E85CC8E3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959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Python, SQL, REST API, Git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903F10-392B-4A2F-BA1C-F5847135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943600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DF989F66-9E5E-402A-B2A2-367CAF47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6296025"/>
            <a:ext cx="328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 조율, 운영 피드백, 지표와 검수 기준</a:t>
            </a:r>
          </a:p>
        </p:txBody>
      </p:sp>
    </p:spTree>
    <p:extLst>
      <p:ext uri="{BB962C8B-B14F-4D97-AF65-F5344CB8AC3E}">
        <p14:creationId xmlns:p14="http://schemas.microsoft.com/office/powerpoint/2010/main" val="2043750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7B027C8B-8C44-4F4B-BE52-74FEC173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02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612848-05EC-40BE-A38B-2D7D123C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0FE5FBF-86AA-4A2F-B4EE-559B36E4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1195C5D-8B96-431D-89CE-F1AA916C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866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E7D78-1EED-4DB5-8E22-13EE37F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24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3CF04-280C-4006-9BDD-8ED203C5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24050"/>
            <a:ext cx="95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76CD234-64E6-4E0D-A840-D56A8F6B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28775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규제 대응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8BADD2F-7D44-4CC2-91D9-31DE23FC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335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관세청 통관 연동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58A497B-C783-42D2-9EB6-E0686295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5543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03–11   주문·포장·통관 데이터를 연결하는 기준과 오류 복구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18FC639-A10C-4E46-871E-7830B8D4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2026-02 시작 / 2026-08-28 운영 전환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D3C16B6-CD79-45FB-8D40-C608EC32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계약 · 의사결정 · 운영 검증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1C01B26-027D-4E93-9D79-2FEE30D9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86200"/>
            <a:ext cx="866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8F7E3-91CB-4E6C-BCAD-8BA5B680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443A6-46CA-4DA8-847D-7BBB93FA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152900"/>
            <a:ext cx="95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0EB59089-CA50-4B48-9F93-0B863B5B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57625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디지털화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8A7364C-B4AD-4FC3-95EE-C8D1E562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624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산후조리원 전용 B2B 몰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259DDF9-7BC6-4CF2-BB71-870003C0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67250"/>
            <a:ext cx="5543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12–21   계정별 정책과 주문 예외를 시스템의 규칙으로 전환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35D326D-C10A-4DE2-B109-40429A52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2026-06 기획 / 2026-07-16 핵심 흐름 가동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B25D812-6B9A-4640-BE2F-82F988D0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5054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 · 범위 결정 · 운영 개선</a:t>
            </a:r>
          </a:p>
        </p:txBody>
      </p:sp>
    </p:spTree>
    <p:extLst>
      <p:ext uri="{BB962C8B-B14F-4D97-AF65-F5344CB8AC3E}">
        <p14:creationId xmlns:p14="http://schemas.microsoft.com/office/powerpoint/2010/main" val="947435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549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25900249-3E55-4DD2-BC17-A9C9E882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03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3CBA4C3-212C-4FAA-B63F-6D7B97AB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01.  규제 대응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24942-10AD-4296-9147-A5F6D18C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858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KCS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53F8629-5B69-4F6A-95BE-C0F003F7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관세청 통관 연동과 운영 전환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ABB394F-BFBB-4426-B555-03A239C9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43125"/>
            <a:ext cx="56864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여러 시스템에 나뉜 주문과 물류 데이터를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같은 기준으로 확인할 수 있도록 연결했습니다.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9BF224D-81D8-4213-ABDF-1DA850DE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8D228F8-B5B5-46CD-84E8-196723E8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시스템마다 다른 주문 단위와 완료 기준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C56C488-F5FC-45B8-AE7B-37583CBE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6454DB5-E3C0-4AB0-8908-2FD667A4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67175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해외직구 고객과 주문·출고·통관 운영팀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231B99B-4145-4939-9306-72D298AD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9DACF88-D945-4D35-B96D-B1BDE6F8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누락을 발견하고 오류를 수정·재제출할 수 있는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13811-E63F-4B9B-B0E0-96410CB7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3848100" cy="30384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9457E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2C6D1BF-4A7F-4D57-A114-FDFEE29B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데이터를 나눠 가진 주체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64870-B257-4830-B6FD-CD626600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01A4BEE-3389-42AD-AC33-24D5F847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90E998F-2082-44AD-9618-50436145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주문·결제·고객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99E97-F162-4640-AD48-880D269B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3A2CA6D-5CEE-43F8-AAB8-9BBCF0AA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47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CBE972AC-6348-4981-B12C-F2C68CDE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3646C-6FC2-4F7E-9311-D6C2B9BE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743B43E4-E0D5-40CE-934E-5B2BA611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19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E1E73BA6-8E45-4497-ABAF-B58C2AE7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BA98E-5E8F-4E90-94E2-D655B643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05E45665-4F79-4BA3-A55A-E3C3E0C1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8F82CF68-75B2-4CF9-8B5A-EC9940C5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 병합·수입신고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66CAA-1615-47A4-9FD8-7119DA56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4C7EE"/>
            </a:solidFill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65287F52-BA2B-4FA0-9540-BC8CD5D9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A6DB0786-5A97-48F7-867D-76F5CFA9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911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2026-02 기획 시작 / 2026-08-28 운영 전환 / 이후 운영 보완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7AA97F56-519A-4352-99F0-4B1D8107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C4998013-F35D-497D-8884-F77A3533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673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프로젝트 PM: 정책·데이터 계약 정의, API 요건 조율, 오류 복구와 운영 검증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2C1498A6-A721-4393-964B-AE82D2FB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1AD43298-789B-4DD1-BA26-3C1FA899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94360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 개발사, ERP 개발사, 물류 개발사, 통관대행사, 본인확인기관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47B6825C-3F04-4E24-89C8-33571CB0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66041ABE-6998-413B-ACC8-57D19927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21982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통합 기획서, 필드 매핑, 리스크·질의대장, 정책 결정 이력, QA 시나리오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039F19AB-D455-45BF-8642-EF2142F8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범위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DFEBD1D7-D887-4D82-A501-D4FDB6A4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4960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기획·조율·검증 담당 / 각 시스템 구현은 해당 개발사 담당</a:t>
            </a:r>
          </a:p>
        </p:txBody>
      </p:sp>
    </p:spTree>
    <p:extLst>
      <p:ext uri="{BB962C8B-B14F-4D97-AF65-F5344CB8AC3E}">
        <p14:creationId xmlns:p14="http://schemas.microsoft.com/office/powerpoint/2010/main" val="235542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0">
            <a:extLst xmlns:a="http://schemas.openxmlformats.org/drawingml/2006/main">
              <a:ext uri="{FF2B5EF4-FFF2-40B4-BE49-F238E27FC236}">
                <a16:creationId xmlns:a16="http://schemas.microsoft.com/office/drawing/2014/main" id="{6793A5A2-6993-40E7-B521-29448209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04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D66EA5E-00C1-4772-AE38-9E51E8F5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9A6C66-CC55-4D7D-B806-C20A061A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문제 정의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13C21FF-59D4-4C24-920B-4039C16D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한 건이 통관·출고로 이어지는 과정에서 데이터와 책임이 갈라져 있었습니다.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61D22D0-E2A8-42CF-BE07-84639CB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데이터는 각 시스템에, 판단은 담당자에게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4C7DE-AFA0-4255-8C67-1D22F749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018C548-13E5-4C40-8014-115943B8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32D02D6-213F-4222-B183-3D48E6B9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주문·결제·고객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9FD79-76D4-4919-9560-A4E29607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F435CD5-BE97-4BAC-9CF7-5FBAC1CA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76A2B33-CCC3-47E9-90C2-184E59C3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098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04E60-7A64-4250-89C8-F7A91CB6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1495436-849B-4E2B-B6F7-38ADE40F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6466616-F6AC-450A-8703-18F1B500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194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CCBAD-C28A-4BF8-8CA5-097B0015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2CC11CBA-2192-44BA-B867-56B2B603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2D174220-9E75-4430-8FF5-47BABEB2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290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병합·수입신고·통관 상태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9936822C-6F95-4592-84DF-3EF4D6A0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수기 전송만으로 남는 운영 공백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D11B6F8F-1D13-42DC-B7EF-C7B151FA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61BF7497-3629-4738-A138-F03040F0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주문번호와 포장번호가 달라 같은 주문을 대조하기 어려움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49BEF993-D96A-454B-B71B-B2286F43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241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390DDB2E-6139-4542-8E42-483292F9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24175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응답과 통관 완료를 같은 상태로 오인할 수 있음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9E8EE96-DA39-4156-997D-E53D5589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89E45032-6CA9-4B61-A5F4-0949E106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오류가 났을 때 수정할 원천과 재처리 담당이 불명확함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F77835-A1F8-44AA-8A78-BD76BB41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1076325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F6F41CDE-897B-4BDD-800A-8AF64897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FE3D86D-1298-4E67-94C0-E496283F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9144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누가 어떤 데이터를 책임지고,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어느 상태를 근거로 다음 작업을 진행할 것인가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94AEE654-FDF7-4755-A035-A3511DF2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관세청 통관 연동 기획서의 데이터 책임·운영 기준을 재구성</a:t>
            </a:r>
          </a:p>
        </p:txBody>
      </p:sp>
    </p:spTree>
    <p:extLst>
      <p:ext uri="{BB962C8B-B14F-4D97-AF65-F5344CB8AC3E}">
        <p14:creationId xmlns:p14="http://schemas.microsoft.com/office/powerpoint/2010/main" val="1697928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2FA35632-FD43-400A-9B89-7B12CD95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05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A499D4A-321C-4C83-9AF7-538D970C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9B59F02-CEDD-4406-8E7D-6E421E9A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책임 분담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D8C2D04-1D9A-4124-8FD3-133DA999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신고 판단과 상태 관리의 통제점을 국내 자사몰 DB에 두었습니다.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667000"/>
                <a:gridCol w="4667250"/>
                <a:gridCol w="1562100"/>
              </a:tblGrid>
              <a:tr h="3429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활용할 수 있는 점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제약과 판단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해외 ERP 중심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상품·포장 원천과 가까움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인증정보 처리와 제출 상태 통제가 어려움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수기 제출 유지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장애 시 즉시 대응 가능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이력·재처리·채널 확장의 운영 부담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비상 대응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DB 중심</a:t>
                      </a:r>
                    </a:p>
                  </a:txBody>
                  <a:tcPr marL="95250" marR="95250" marT="76200" marB="76200" anchor="ctr">
                    <a:solidFill>
                      <a:srgbClr val="E9F1FC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제출 상태를 관리하고 원천별 책임 분리</a:t>
                      </a:r>
                    </a:p>
                  </a:txBody>
                  <a:tcPr marL="95250" marR="95250" marT="76200" marB="76200" anchor="ctr">
                    <a:solidFill>
                      <a:srgbClr val="E9F1FC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회사 간 데이터 계약과 인터페이스 조율 필요</a:t>
                      </a:r>
                    </a:p>
                  </a:txBody>
                  <a:tcPr marL="95250" marR="95250" marT="76200" marB="76200" anchor="ctr">
                    <a:solidFill>
                      <a:srgbClr val="E9F1FC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76200" marB="76200" anchor="ctr">
                    <a:solidFill>
                      <a:srgbClr val="E9F1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9BDC3-6C4A-47E6-99C3-CC0D7D8B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판단 기준  ① 개인정보 최소화    ② 제출 상태 통제    ③ 원천별 책임    ④ 개발 난이도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8CEE748-47DA-4359-8301-714D0790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결정 이후의 책임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65419-28FC-4876-9976-9CC54576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자사몰 개발사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79A7379-4F58-4EC7-9288-EA0F6E6F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주문·인증·제출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17431-5CA2-44A8-A9B5-9BCBDB9A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ERP·물류 개발사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0A3C6A5B-48B1-4366-8D46-E7AA6688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상품·포장·운송장 원천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784CD-E0B3-4DF9-B5E6-A03C7C69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B39D487C-3832-4A49-A60E-B7925007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데이터 병합·신고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07906-B8D5-4382-A2C6-7D558BBC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083E1173-B0FE-41A0-80BC-470650E8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필드·흐름·검수 기준 조율</a:t>
            </a:r>
          </a:p>
        </p:txBody>
      </p:sp>
    </p:spTree>
    <p:extLst>
      <p:ext uri="{BB962C8B-B14F-4D97-AF65-F5344CB8AC3E}">
        <p14:creationId xmlns:p14="http://schemas.microsoft.com/office/powerpoint/2010/main" val="2110233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104917DD-5FCC-49F9-BE62-AE29C17F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06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1A4F983-4243-41BF-A8E4-FC1222A6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3AAC4A-2948-49EC-8F26-7721D9BC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주문부터 통관까지의 업무 흐름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2C3AE24-F58B-4EDC-A949-EFC68A8F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단계별 입력·처리 주체·완료 근거를 맞추고, 미완료 상태의 다음 단계 진입을 구분했습니다.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91DDB-ADDF-42B5-B50E-561F650C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811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단계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A9321-38A1-4EFE-A037-697DD3D5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자사몰·국내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53A5A-255C-49EA-A644-11CC232E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F26B6-0A86-4FA9-9240-141D62F9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A9DCF-3F22-42BF-BD19-7795002F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43075"/>
            <a:ext cx="24193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8272F-B9C9-4AC0-A27D-1FE6F5C1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6DC2D-5792-43D3-9CA3-F6D1408D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주문·실수하인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1F1BB-27BA-404E-9745-2EF602D4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통관정보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F221A-AF7F-4935-8ECC-A34B93BD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665F8-7D5F-4E0D-A5F6-2FA265D5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B4306-0B22-48FE-AB66-28810379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D26F4-C3FF-4899-8D2C-36F0BE05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원주문번호 유지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B5689-9A90-48FA-A385-D56CEB81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EFA1A-1593-4321-A43B-D7298AA7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포장·운송장 확정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C0577-2049-4E05-80A0-7207534C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47975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2A98D-D438-4451-9242-DEADC8A7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정보 제출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7C89B-F7F3-47E1-8202-EB9A35CA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거래정보·인증정보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B30977-9F48-4181-93C5-4A390B8D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A12590-B819-49C1-A6B6-C379FAE4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물류 스냅샷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699B3-7D56-4CB1-9ED8-60FC5132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상태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22381-841B-46C8-8CCE-7CEE2917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병합·대사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356B8-D1BC-4EF3-8DBA-7EF83710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주문별 제출 이력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B23F56-E70E-405B-A916-2E3A5032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65C7C-43A0-4386-A977-B0BC9E7F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누락 포장 재확인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A24D6E-E8A3-40B3-826E-DC5ED39D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00525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병합·통관 결과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5C5033-9C48-4A73-A6D3-20538A13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 복구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9B6908-14D7-4BC4-A806-F0C77376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 원천 분류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3DC3B-A13C-4A34-8090-6FC6EDA8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인증정보 보완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DAA206-36DC-434D-8D19-99A621FD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상품·포장정보 보완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5F2BCB-4CAE-4767-8F73-5F4932B5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7680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결과 조회·재처리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8029EB-FF2A-4988-8594-A1C4340B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 주문번호·포장번호와 완료 근거를 공유해, 담당자 간 인계 기준을 문서로 고정했습니다.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D771924B-104A-4DB3-B05B-64ECB8F5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정책 구조를 요약한 흐름도 · 개별 분기의 구현 완료나 자동화율을 나타내지 않음</a:t>
            </a:r>
          </a:p>
        </p:txBody>
      </p:sp>
    </p:spTree>
    <p:extLst>
      <p:ext uri="{BB962C8B-B14F-4D97-AF65-F5344CB8AC3E}">
        <p14:creationId xmlns:p14="http://schemas.microsoft.com/office/powerpoint/2010/main" val="11905868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0">
            <a:extLst xmlns:a="http://schemas.openxmlformats.org/drawingml/2006/main">
              <a:ext uri="{FF2B5EF4-FFF2-40B4-BE49-F238E27FC236}">
                <a16:creationId xmlns:a16="http://schemas.microsoft.com/office/drawing/2014/main" id="{632B3483-1735-49F6-B6F3-66F80C0B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07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940BA14-9AA0-43FF-9A3D-4F118DDB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A2844B1-86C3-4DB4-BADB-9CCB9420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주문번호와 포장번호를 분리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69E7A3-B173-46CC-83B9-D4187A17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추적 기준을 유지하면서 분할 출고와 합배송을 설명할 수 있도록 관계를 정의했습니다.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286923-0CE3-40FF-AB0E-F659BD1F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522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분할 출고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002E821-C4D6-4EA1-A9EE-F0265F87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04975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합배송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B794F-83A1-48E6-81F6-40E85863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57800" cy="26860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4BBD2-CC43-4936-957E-7E43A66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05025"/>
            <a:ext cx="5295900" cy="26860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F9C87-AFAF-4084-B379-0175B310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19350"/>
            <a:ext cx="1628775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원주문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FE601-90F9-4F72-8DB5-370639EA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52675"/>
            <a:ext cx="221932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A-1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41C06-E96B-4B84-9264-38738999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1932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A-2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1CC2D20-495E-4A63-B219-0E708B1F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47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3EFBA6D-05F9-4FA7-AA03-B8B3CF8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62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EE5C313-C338-4B99-85C0-6380ED2B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86250"/>
            <a:ext cx="4638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외부에 보내는 원주문번호는 A로 유지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967F2-2F42-4CD0-ACEC-D6DC8FBE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38400"/>
            <a:ext cx="19621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66A63-49A6-444A-914D-4DA94F8B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33750"/>
            <a:ext cx="19621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C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10524138-5FF4-4628-AE3F-56419F2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257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F282C-2DC0-4209-B1FA-D0CED220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67000"/>
            <a:ext cx="1981200" cy="1152525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3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주문별 거래정보 2건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3F2C5ED5-D15F-449B-97C8-39B37FA4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9577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하나에 묶여도 거래정보는 주문별 유지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609600" y="5076825"/>
          <a:ext xmlns:a="http://schemas.openxmlformats.org/drawingml/2006/main" cx="109728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5550"/>
                <a:gridCol w="8477250"/>
              </a:tblGrid>
              <a:tr h="29527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보존할 기준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의미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원주문번호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채널의 원주문번호를 전 구간에서 유지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포장번호·운송장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물류 처리 단위를 별도 보존하고 원주문과 연결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병합키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운송장 + 원주문번호가 양쪽 데이터에서 일치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DBF0FF6C-0C63-4A8F-9C49-BADC9A40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재구성 · A/B/C와 운송장 번호는 가상 예시</a:t>
            </a:r>
          </a:p>
        </p:txBody>
      </p:sp>
    </p:spTree>
    <p:extLst>
      <p:ext uri="{BB962C8B-B14F-4D97-AF65-F5344CB8AC3E}">
        <p14:creationId xmlns:p14="http://schemas.microsoft.com/office/powerpoint/2010/main" val="1395301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80E5776B-A539-440E-A38A-D6B1BF24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08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01335BA-809E-4548-9595-678815E7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90F73C-5BEB-4DE7-8924-98AA44AD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선출고 요청을 운영 정책으로 조정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24BF7DF-8182-46D9-A905-399F9B88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2026-08-26 협의 사례: 국내 상품과 해외직구 상품이 섞인 주문의 처리 단위를 맞췄습니다.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0CF32-B1EA-4AD3-99F4-3DB724DD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처음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9DF1A-A9F1-4BC4-85CC-8470C590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007B344-9103-4443-930A-CED47E8A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3105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국내 상품은 통관과 무관하므로 먼저 출고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D05126B-2437-419D-8C29-540A7C3A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161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121FD-A551-4097-8227-885BA6A6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확인한 제약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47DFE-9BB7-4329-91C5-66E349FE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A457FD4-DE73-4BE2-AB94-66EB01F8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3105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ERP는 원주문 단위로 삭제·재생성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부분 재처리 시 내수 주문의 중복 위험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FD5BC5C-A9FA-48F9-BE01-13603AE9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161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A1052-DA67-4AF1-8CD4-E8B13845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EB4B8-6F05-410B-A1F2-39A6B960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542C92C-F84D-470D-BB45-263DB0A7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66975"/>
            <a:ext cx="3105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내수 선출고 요청을 철회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해외직구 신고가 확정될 때까지 함께 보류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B4ADE07-7379-44E9-9AEF-E764C0E2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대안의 이익과 감수할 영향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09600" y="4276725"/>
          <a:ext xmlns:a="http://schemas.openxmlformats.org/drawingml/2006/main" cx="109728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3333750"/>
                <a:gridCol w="5191125"/>
              </a:tblGrid>
              <a:tr h="35242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것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위험·수용한 영향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내수 먼저 출고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상품의 배송 지연 최소화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부분 삭제·재생성이 어려워 중복 처리 위험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혼재 주문 함께 보류</a:t>
                      </a:r>
                    </a:p>
                  </a:txBody>
                  <a:tcPr marL="95250" marR="95250" marT="76200" marB="76200" anchor="ctr">
                    <a:solidFill>
                      <a:srgbClr val="E9F1FC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 단위의 처리 일관성</a:t>
                      </a:r>
                    </a:p>
                  </a:txBody>
                  <a:tcPr marL="95250" marR="95250" marT="76200" marB="76200" anchor="ctr">
                    <a:solidFill>
                      <a:srgbClr val="E9F1FC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상품도 신고 확정까지 동반 지연</a:t>
                      </a:r>
                    </a:p>
                  </a:txBody>
                  <a:tcPr marL="95250" marR="95250" marT="76200" marB="76200" anchor="ctr">
                    <a:solidFill>
                      <a:srgbClr val="E9F1FC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4E654-C08D-4929-AE90-83640C9E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배송 속도와 중복 위험을 비교하고, 시스템 제약을 운영 기준으로 합의했습니다.</a:t>
            </a:r>
          </a:p>
        </p:txBody>
      </p:sp>
    </p:spTree>
    <p:extLst>
      <p:ext uri="{BB962C8B-B14F-4D97-AF65-F5344CB8AC3E}">
        <p14:creationId xmlns:p14="http://schemas.microsoft.com/office/powerpoint/2010/main" val="1038461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0">
            <a:extLst xmlns:a="http://schemas.openxmlformats.org/drawingml/2006/main">
              <a:ext uri="{FF2B5EF4-FFF2-40B4-BE49-F238E27FC236}">
                <a16:creationId xmlns:a16="http://schemas.microsoft.com/office/drawing/2014/main" id="{9FAF480C-E260-460F-B0DD-9CA5D05D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09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CFD94A-87E4-4817-A8BC-6EEF82BB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16BC74-A990-48C5-974D-8C2CE6FC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접수 이후의 상태와 오류 복구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5DE7A5F-F9DB-4EB0-B325-2F78D2C1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접수, 상대 데이터 대기, 병합, 통관 결과를 서로 다른 근거로 판단하도록 설계했습니다.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241F032-7E72-45B9-9F5F-E48C8845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같은 주문이 두 시스템에서 도착하는 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AF8C9-8C17-40C3-92F4-415AA147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접수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3A36F-9FE3-44CE-9AFB-3967BB95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물류 데이터 도착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B8E88EF-30A1-4708-9D64-3E57D0AC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HTTP 202 응답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사실만 확인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4965EF3-9438-488D-815C-F31804D4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03E5A-AD19-4E27-8213-CABDC6EB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014F4-5E2D-4201-B412-A246C7F3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짝이 되는 정보 미도착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81AB3C9-1E1B-42F3-B314-E7D18F0E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상태 조회로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대기와 검증 실패 구분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52F171C-9E8B-4A05-9582-C649996C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026FC-4E9C-4FCA-9E95-E2FD2296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병합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F33E7-73F3-4FA2-8B11-53E480EE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주문·운송장 기준 일치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C95F1DE-9302-4898-A10C-0169C6EA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 결과를 확인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 완료와 구분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28B3A655-C580-4EAD-AECB-4E32681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4F13E-B2BF-4BB4-AC6F-03A1CAC0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C2F35-A42A-413E-8917-5ECBACAD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신고·통관 상태 조회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3B092CA6-AB32-4B77-BEB1-8C889D62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최종 결과를 근거로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후속 운영 판단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25862A-46A1-408A-AB24-F8CAFD63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6B9DAD77-8266-4018-AB81-3282BE9B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오류가 확인되면 원천과 재처리 기준을 먼저 구분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A8F939-EA6B-4777-9C61-5658D55D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원천 확인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F92ADD7C-7248-45ED-9C76-F1EB1149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고객·인증 / 상품·포장 / 제출 필드를 구분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462968-088F-4DA1-A775-2C8A2934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보완과 재처리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6066A067-6A60-43A1-936B-14BEB5FD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제공자별 식별자와 공식 처리 규칙 적용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89DE4D-9B65-4637-ACD1-2AB66C88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05FB1CFC-248E-4E4C-A773-93D607FA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응답 원문·제출 이력·최종 상태를 대사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85DFE-D420-46B2-AEDE-E64F013D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필드 매핑표는 값의 계약, 상태 정의는 다음 작업을 시작할 조건이 됐습니다.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60D23D63-6887-4075-BB3B-E81E6BE5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시뮬레이션 · 실제 운영 로그를 재현한 화면이 아님</a:t>
            </a:r>
          </a:p>
        </p:txBody>
      </p:sp>
    </p:spTree>
    <p:extLst>
      <p:ext uri="{BB962C8B-B14F-4D97-AF65-F5344CB8AC3E}">
        <p14:creationId xmlns:p14="http://schemas.microsoft.com/office/powerpoint/2010/main" val="6712010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91A9130F-C9E0-4551-B6E7-1790B83A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10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0714AF-BF37-4616-9089-B8873284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07ACE1F-D936-4057-9D68-D3029CA0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경로와 오류 복구 검증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6F8E5D-931E-4FF6-AC31-C174D21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 환경에서 정상 접수, 의도 오류 반환, 수정 후 재제출을 함께 확인했습니다.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487C7C4-92F5-443D-94E9-C9A6B466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77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환경에서 확인한 세 가지 목적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F5ACB-EF55-449E-B200-8FB4FD72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64303-B8E8-4342-BE92-5E53E934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24100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DE68B7-713F-4A06-97A5-12C16F18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5742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접수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273FC80-1338-4F41-9FF7-8E3C1BD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정상 데이터를 제출하고 접수 결과를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F3F0-CB50-4A98-9534-302D0C3F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08AA7-075C-4C63-810B-6781B685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05175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4732E46-CCAB-4CDB-B340-BE08E891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의도 오류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49DDF04-F6AD-473E-A571-15ADD699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9092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오류가 있는 입력에 예상한 오류 응답이 오는지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0CC15-5678-43B1-A742-F5546AC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04A8C-FE37-421C-B7DB-FFDF635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86250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FA4998E-9C8D-4658-97E0-FC98D5E5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수정 재제출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66544E6D-8F56-43F1-A853-7376AAF8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데이터를 보완한 뒤 정상 접수로 전환되는지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0B43A-836B-4401-B904-7FD3074A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14550"/>
            <a:ext cx="3609975" cy="2762250"/>
          </a:xfrm>
          <a:prstGeom xmlns:a="http://schemas.openxmlformats.org/drawingml/2006/main" prst="roundRect">
            <a:avLst>
              <a:gd name="adj" fmla="val 241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3BD19AD6-BC7C-40A3-9381-F50DDFAE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81250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30건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F0BA785E-766F-49D2-9586-CC3BEFE9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3228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테스트 목적 30/30 통과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620E5A6-FBDF-4A6C-AB51-4D51FB3D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05250"/>
            <a:ext cx="3152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접수와 오류 반환·수정 복구를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함께 포함한 검증 결과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AFD80CA-D687-4EF0-92CC-E1022319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검증의 경계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AFF4311C-67BB-4CBF-96D7-60670BE0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629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시나리오별 건수는 별도 집계하지 않았습니다.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테스트 통과를 전량 자동 처리나 모든 주문의 정상 신고로 확대하지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3566225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">
            <a:extLst xmlns:a="http://schemas.openxmlformats.org/drawingml/2006/main">
              <a:ext uri="{FF2B5EF4-FFF2-40B4-BE49-F238E27FC236}">
                <a16:creationId xmlns:a16="http://schemas.microsoft.com/office/drawing/2014/main" id="{0AB44598-092B-4E09-8F81-4674D0F0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11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494AE44-0E1A-4874-849F-DCEDB898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6B0483D-9EE0-4783-911A-E29A9D33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결과와 후속 과제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1F986DC-AC2C-47D6-B408-6919F2C8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신규 연동과 기존 방식을 병행해 집계 대상 주문의 통관 완료를 확인했습니다.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A3579B2-D7CA-4186-89EE-C8A7C37F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3676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일평균 약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6198267-A420-4CF4-BC8E-18BEF93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300건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BA77003-F18F-4801-9C2F-615623CA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943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 약 230건 / 기타 약 70건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F1D7A41-E5A0-4DC4-8DD1-B96E341D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038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집계기간 2026-08-28 ~ 2026-09-15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 대상 주문 전체 통관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83777-C8FB-4CD0-8FE6-980FAE20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19275"/>
            <a:ext cx="5400675" cy="2905125"/>
          </a:xfrm>
          <a:prstGeom xmlns:a="http://schemas.openxmlformats.org/drawingml/2006/main" prst="roundRect">
            <a:avLst>
              <a:gd name="adj" fmla="val 22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5ECCFFA-01EE-4875-9E93-4CE173FB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결과를 해석한 범위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0317971-B777-49B9-804D-E8BA8399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신규 신고 경로와 기존 방식이 함께 쓰인 운영 결과입니다.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자동 처리율·신규 경로 비중·처리 시간은 별도 계측하지 않았습니다.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0655A-DF77-4298-934F-684F2321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48577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30BF45B-E323-4AF0-A707-FE20BDE6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004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운영에서 남은 수기 보완을 다음 개선 과제로 연결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CEAED10-E3C3-481D-932D-3231802A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844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후속 기획: 고객 통관정보 보완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AD05C-2485-49BC-BAEF-E3B28FDD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05400"/>
            <a:ext cx="17716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 중 · 미배포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DEB62-1CA9-49BB-B9A0-01E95C52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09098AB2-5A21-46B9-8654-437D444D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 연락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0189B074-826C-4ECE-905A-CB520DFE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보완 필요 안내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BEA49-B5B4-4284-8076-23EA65A3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70EF534B-618D-42F1-996F-9CF1A565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0F7BC8ED-1EF7-4CBD-A879-ADB975A7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 주문과 고객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24E55-B3F4-48CE-A2EE-0BA5F41D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AF83DEF4-585C-43FD-8C13-912FE2EC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정보 보완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EA783DDF-985A-4DF1-95F1-C583C7C8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누락된 통관정보 수집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F1E62-0DFC-4DC6-BF6D-1F6C4A7F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1C31BB90-327D-4ACB-8483-53F70F7D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검증·재투입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D8BAFAD9-C5A3-445D-91D3-7535AECB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운영자가 검증 후 처리</a:t>
            </a:r>
          </a:p>
        </p:txBody>
      </p:sp>
    </p:spTree>
    <p:extLst>
      <p:ext uri="{BB962C8B-B14F-4D97-AF65-F5344CB8AC3E}">
        <p14:creationId xmlns:p14="http://schemas.microsoft.com/office/powerpoint/2010/main" val="3558670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6D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46748D20-299B-4189-B33C-4C07BC0A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12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F9EA63-C5E8-476F-ACA1-CF9A0826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02.  운영 디지털화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B1069-88BF-4C3D-9AD2-99C2BE84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858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4132F0-88CF-4C08-8A60-201B5C35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산후조리원 전용 B2B 몰 구축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3BBAE9-7899-4E5D-9211-01C0EEED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43125"/>
            <a:ext cx="56864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계약별 주문·결제·포인트 규칙을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운영자가 설정하고 확인하는 구조로 바꿨습니다.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29B8B0F-06D3-424C-8C51-3071A7E5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D1F0390-6441-4822-91A0-6A6AABA6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계정별 상품·결제 조건을 사람이 매번 다시 판단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3729394-2907-4D22-8858-2AB663E0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8B4F875-FD6B-467F-B3F6-512E948C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67175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담당자, 내부 운영팀, 공급사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10CE072-9790-4109-BB1B-A2133D6B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2D6095A-1E59-4785-99FB-5C9692AE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오출고 예방과 주문 확인 부담 감소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52D97-CB4B-4020-A976-5D4EDD17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3848100" cy="30384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9583C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68DAA7A-5B76-4994-A0D4-92881E88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 예외를 정책으로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E6B2E-60EB-4917-8D1D-190F843F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9206534-BD6C-42BB-919B-29B5AE68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회원 등급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A97ED78-F89E-49FB-A1A9-25ACF348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상품·결제수단 분기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F1515-7BD3-46E8-A9FD-5B03AAE5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7FCE6E7-B8E0-44A9-8E2D-CA536F22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47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혼합주문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B4ABC6C-79D0-498A-A87D-4D707034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분유와 물품 분리 주문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2B304-2A41-4EFB-A498-A2FFA6D4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51B5980-FC17-4F1F-B600-0DD01E73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19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24380F48-0E3F-487C-AA59-25C2EC2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3DE5D-43FA-478E-8BCE-C26AD6E8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F0DED8E0-BEA5-4255-B488-A0048707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QA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4957C574-1275-4FE4-853E-D47EB441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고객 화면에서 기대 결과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9B006C-5522-41BD-9284-18CB6B21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6D5BC"/>
            </a:solidFill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1FDC741E-ECC0-4F24-8BEE-E3FDF09E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2C619708-8293-4264-A06A-355DFA2C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911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2026-06 기획 / 07-02 개발 착수 / 07-16 핵심 흐름 가동 / 08-31 최종 검수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822DCEC-0AED-4A91-A36F-A68154E9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084A970E-CF43-4E04-A084-CED00131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673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정책·요구사항 작성, 외주 개발사 조율, 운영 QA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5C819F91-D608-437C-9706-45CF07CD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1932D4CF-210C-4181-9F19-787EE9F8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94360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커머스 솔루션 개발사, 내부 운영팀, 영업매니저, 공급사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DE6D85F3-2AAC-4F99-9956-9E43D461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CF6A941A-4F5F-417E-B580-EFD65934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21982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요구사항 대장, 계정 정책표, 사용자 흐름, QA 시나리오, 운영 안내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1676F4CC-9897-4F4C-BFD3-447DF94A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규모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5424FB1A-01B3-4144-9D9F-26BFB101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4960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약 140개소 / 물품 지원 계약 약 77개소 / 공급사 5곳</a:t>
            </a:r>
          </a:p>
        </p:txBody>
      </p:sp>
    </p:spTree>
    <p:extLst>
      <p:ext uri="{BB962C8B-B14F-4D97-AF65-F5344CB8AC3E}">
        <p14:creationId xmlns:p14="http://schemas.microsoft.com/office/powerpoint/2010/main" val="8775856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ext-0">
            <a:extLst xmlns:a="http://schemas.openxmlformats.org/drawingml/2006/main">
              <a:ext uri="{FF2B5EF4-FFF2-40B4-BE49-F238E27FC236}">
                <a16:creationId xmlns:a16="http://schemas.microsoft.com/office/drawing/2014/main" id="{2250DD30-4D1A-42A0-A7DA-ED919F1F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13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0AE733A-F2B8-44CB-94AC-B43A84B0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E8612E-D88C-44E8-A2E5-FEA6945D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AS-IS 업무 흐름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9253765-B967-4AF5-8960-02FF4BA3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같은 주문을 여러 곳에 옮겨 적고, 계약 조건을 사람이 다시 확인하는 일이 반복됐습니다.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1711A-034B-41D3-B526-84240DA4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4F24850-42C5-4288-A6A9-00229ACE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구글 폼 주문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7520AC8-777E-4BA9-8491-2BB94B19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조리원 담당자 작성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40FC8E1-38C4-4A0E-9A8F-AF82F673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5ADDA-D273-4124-902C-6D03EBBC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F70260B-A8F5-4F1F-A01D-EE4641EB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시트 취합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3BA4CD0-74DE-4454-8D28-83A9B2D5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수기 정리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C692865-D3B2-4EE1-A784-9E750F96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4BE3C-5853-4EAF-A572-800045E5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B2AD98C-2C5D-4A48-A511-A0D5C040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입금 대조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EFD669-2899-4A89-85F2-620C610B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계좌와 주문 확인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0E8A87E-D67A-4816-AF2E-31AE5C9E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3264D-0D9C-4277-8A96-91F90D86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24FA701-FFF1-487D-ADD9-53D4A9EC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거래명세서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7140A21-717A-4432-9C27-822059CB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건별 메일 발송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0C34E57-92BA-4634-B1A8-038C11DB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00826-EFD2-49A2-A3DE-A9372812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2B20DECC-C05E-4FE0-89A8-5C97502D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 등록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EF112949-2421-4956-AAA1-7B29BDE9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재입력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8721975F-7007-481B-BCC3-DA41A2F6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4C1CF-884B-462B-ABEE-910038B1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29F095C5-77BB-45C1-8984-9CEE1D5A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월말 정산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E10E23DD-3BF0-4187-BBC7-A49E6D7D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 대조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C3FC3A40-829C-4CB1-8BC3-65C2D323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부담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202590-F23A-42D5-950E-BDF47621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0C9EE842-E213-4B83-8443-6BD8625A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매일 입금 대조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73590C1B-D56E-4BEC-95C0-A8E64B7D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1947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15~30분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6C56D88B-F662-4762-A92E-8C6B9B2D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2197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입금자명·금액을 주문과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DC3391-5506-414E-AF3E-D7F1F0F8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6477A7C1-2F1B-418E-A9D8-91F4B278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57B0502A-6344-43CB-B957-B52506E9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2432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월 2~3건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B36BCF38-B835-4710-9D2C-DA8F2FE0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52197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직전 6개월 월평균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693C21-916E-48D4-B8F5-20D3F174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CE1F0531-3240-41FE-A8B5-491DDCFE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DDAD0120-0028-4B1C-9205-4447290C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2917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환산 32건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6965D1C0-3294-4D2D-87B1-D7652E4B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52197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2026-01~06 인입 이력 기준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F675BEDE-9BED-4EB4-B809-7E530990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 대조는 도입 전 소요시간 / 오출고·문의는 운영팀 출고·CS 이력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A87EA56A-02B7-4AA2-BEA9-A6414714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57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5A4F10-9486-483A-AE21-8398D7A2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76600"/>
            <a:ext cx="5324475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CCAF8068-525D-40D5-9323-41FC1789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76625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계약·결제·주문 상태를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사람의 기억으로 매번 판단하는 구조</a:t>
            </a:r>
          </a:p>
        </p:txBody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6F916E4C-B2A1-4DA9-BB01-ED237D4D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624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2FBAAC0A-D0B7-4A7F-870E-6FFB6855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62475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등급별 상품과 결제 조건이 화면·서버에서 일치해야 함</a:t>
            </a:r>
          </a:p>
        </p:txBody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C145DD5D-7C2F-4BD9-96BD-75CE4A60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054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940BB83C-CF1E-4DBF-A952-8497BD07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305425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잘못된 조합은 주문 전에 막고 고객이 다음 행동을 알 수 있어야 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4A06D3-55A6-458E-AC2C-1DCC4C5A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해결할 문제를 주문 오류 예방과 반복 확인 업무의 감소로 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5625830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459F1180-63AC-4EBF-B3D4-13EA21CA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14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7A0E049-0031-4090-916A-F0E4FB4C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671FF2C-2627-4A6F-BB47-DAA7E232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오픈 범위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EF0D1B8-EA84-4FF8-BB25-3F813301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운영팀이 익숙한 플랫폼 위에 계약별 정책을 추가하는 방식을 선택했습니다.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457450"/>
                <a:gridCol w="4686300"/>
                <a:gridCol w="1590675"/>
              </a:tblGrid>
              <a:tr h="3429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장점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판단한 제약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맞춤형 웹서비스 개발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요구사항을 자유롭게 구현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운영과 유지보수 책임이 내부로 확대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쇼핑몰 솔루션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기능을 빠르게 활용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운영팀이 새 환경을 학습하고 기존 인프라와 이원화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솔루션 + 정책 맞춤</a:t>
                      </a:r>
                    </a:p>
                  </a:txBody>
                  <a:tcPr marL="95250" marR="95250" marT="76200" marB="76200" anchor="ctr">
                    <a:solidFill>
                      <a:srgbClr val="E7F4ED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인프라와 운영 방식 유지</a:t>
                      </a:r>
                    </a:p>
                  </a:txBody>
                  <a:tcPr marL="95250" marR="95250" marT="76200" marB="76200" anchor="ctr">
                    <a:solidFill>
                      <a:srgbClr val="E7F4ED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 예외를 구체화하고 별도 개발 범위를 관리</a:t>
                      </a:r>
                    </a:p>
                  </a:txBody>
                  <a:tcPr marL="95250" marR="95250" marT="76200" marB="76200" anchor="ctr">
                    <a:solidFill>
                      <a:srgbClr val="E7F4ED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76200" marB="76200" anchor="ctr">
                    <a:solidFill>
                      <a:srgbClr val="E7F4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667A4-64B1-4DA5-A84A-A6F9A270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728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결정 기준  ① 운영팀 학습 부담    ② 기존 인프라    ③ 유지보수 책임    ④ 구축비용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F2BA22D-2F93-4DE4-B263-B56337C5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범위에서 뺀 기능과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F5773-408D-40DC-880F-BB325F28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PG 결제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07F9F02-CE7E-42AB-8F1D-05E589D0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마진 대비 수수료 부담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41EBC-C39A-4DDB-BEC6-F8FCEEC8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견적서 신규 개발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8B5A0F5E-01E8-4922-A41C-5E1A6443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거래명세서로 대체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54087-D996-44DD-B819-59E1D0AA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포인트 완전 자동화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4AF05D4D-2B9A-4158-B2CE-A917D7B4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 변경과 비가역 차감 위험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</p:spTree>
    <p:extLst>
      <p:ext uri="{BB962C8B-B14F-4D97-AF65-F5344CB8AC3E}">
        <p14:creationId xmlns:p14="http://schemas.microsoft.com/office/powerpoint/2010/main" val="6004586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C83623F6-B5BD-4AF6-A8A8-D5F8BE79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15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B0FC862-E896-4B7E-89DA-59623D99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5FD62B-1112-412D-A5F4-72252F9A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계정 정책을 설정표로 고정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BD1A714-1A7D-4EF2-BAE3-FB1401F9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회원 등급과 상품 카테고리를 조합해, 고객 화면과 서버가 같은 결제 규칙을 쓰도록 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571B28C-B0F3-4895-82A3-37FD3089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99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회원 등급 × 상품 카테고리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733425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1790700"/>
                <a:gridCol w="1628775"/>
                <a:gridCol w="1666875"/>
              </a:tblGrid>
              <a:tr h="3429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등급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분유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미분류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물품계약(선불)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물품계약(후불)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선불입금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후불입금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EDA9E-3EA0-4870-ABFF-D6C83F65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05025"/>
            <a:ext cx="2352675" cy="2057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4612A02-8097-401C-B2DE-7C96D62F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66950"/>
            <a:ext cx="1933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설계한 규칙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85FFF92-03D5-4C03-AF3F-10EC4A5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05100"/>
            <a:ext cx="19431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새 등급·카테고리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미분류 상품의 기본값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서버에서 결제수단 재검증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5D2AA7D-D3C1-44DB-90F4-80503237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설정 화면의 실제 근거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6b4ef66144adf"/>
          <a:stretch xmlns:a="http://schemas.openxmlformats.org/drawingml/2006/main"/>
        </p:blipFill>
        <p:spPr>
          <a:xfrm xmlns:a="http://schemas.openxmlformats.org/drawingml/2006/main">
            <a:off x="803249" y="4810125"/>
            <a:ext cx="5422952" cy="158115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7160DA1D-F933-4E9C-BA7C-CDD7C730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00625"/>
            <a:ext cx="4724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계약이 바뀔 때마다 코드를 수정하는 부담을 줄이고,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운영자가 확인할 수 있는 정책 값으로 남겼습니다.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5AE608B4-0930-4787-8613-09DA8653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문서의 기능 화면 발췌 · 등급 명칭은 현재 관리자 화면 기준</a:t>
            </a:r>
          </a:p>
        </p:txBody>
      </p:sp>
    </p:spTree>
    <p:extLst>
      <p:ext uri="{BB962C8B-B14F-4D97-AF65-F5344CB8AC3E}">
        <p14:creationId xmlns:p14="http://schemas.microsoft.com/office/powerpoint/2010/main" val="9283547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0">
            <a:extLst xmlns:a="http://schemas.openxmlformats.org/drawingml/2006/main">
              <a:ext uri="{FF2B5EF4-FFF2-40B4-BE49-F238E27FC236}">
                <a16:creationId xmlns:a16="http://schemas.microsoft.com/office/drawing/2014/main" id="{68067014-D82C-4011-A58D-5D73A539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16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605C6CA-6D0C-4F5E-974B-B0B7D7E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653B9D-937B-4A9E-B309-BEC96A7A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사용자 여정과 운영의 연결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65036C5-D146-4AEE-BE61-C57C2672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고객의 주문·확인 행동과 운영팀의 설정·검수 행동을 같은 흐름에 배치했습니다.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D2E20-E3B7-4C8D-9E43-DF0C0A74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2763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CFE2B-9484-4B0A-BCA3-02CF4CAB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BCC40-4DE2-4C48-B71C-5CCDF7DC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결제·접수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22EED-6EC7-46DD-ABAA-CDF6B0BD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0CC77-072E-4FE2-B19C-E05DA3BB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724025"/>
            <a:ext cx="24098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출고 이후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7599B-FC44-45FF-AC27-9BB7F0D6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276350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조리원 담당자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D0E3E-AAE1-4872-B943-83A5964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허용 상품 확인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분류별로 주문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DEBE7-1911-4990-94B4-16E18932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계정 정책에 맞는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결제수단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88ACC-46C6-49C4-B982-49ACF268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마이페이지에서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진행 상태 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6180F-538F-4625-99B4-D2132C45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90750"/>
            <a:ext cx="240982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거래명세서 출력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요청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36093-5BD6-46D1-A10C-4CA75A9D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276350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내부 운영팀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30B81-87AD-4552-8D4E-FDF7A917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 계정·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정책 값 설정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2C34C-C0B2-4F24-BFE3-7960E084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입금·후불 상태를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구분해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5F9B7-42FD-4FBA-BDD2-5CB4CA1A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화면과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예외 주문 점검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6B381-7A8E-485C-8887-4205CD48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05150"/>
            <a:ext cx="240982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피드백 반영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12883AAF-4323-4EC5-9B69-A67305D3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보이는 운영 안내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96c10c74447c5"/>
          <a:stretch xmlns:a="http://schemas.openxmlformats.org/drawingml/2006/main"/>
        </p:blipFill>
        <p:spPr>
          <a:xfrm xmlns:a="http://schemas.openxmlformats.org/drawingml/2006/main">
            <a:off x="1045822" y="4848225"/>
            <a:ext cx="4385355" cy="1162050"/>
          </a:xfrm>
          <a:prstGeom xmlns:a="http://schemas.openxmlformats.org/drawingml/2006/main" prst="rect">
            <a:avLst/>
          </a:prstGeom>
        </p:spPr>
      </p:pic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E1ABD951-2044-4279-AEF7-0D6AA5D0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529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고객이 직접 확인하는 주문 상태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e9eec81544890"/>
          <a:stretch xmlns:a="http://schemas.openxmlformats.org/drawingml/2006/main"/>
        </p:blipFill>
        <p:spPr>
          <a:xfrm xmlns:a="http://schemas.openxmlformats.org/drawingml/2006/main">
            <a:off x="6286500" y="4891400"/>
            <a:ext cx="5295900" cy="1085225"/>
          </a:xfrm>
          <a:prstGeom xmlns:a="http://schemas.openxmlformats.org/drawingml/2006/main" prst="rect">
            <a:avLst/>
          </a:prstGeom>
        </p:spPr>
      </p:pic>
      <p:sp>
        <p:nvSpPr>
          <p:cNvPr id="24" name="text-21">
            <a:extLst xmlns:a="http://schemas.openxmlformats.org/drawingml/2006/main">
              <a:ext uri="{FF2B5EF4-FFF2-40B4-BE49-F238E27FC236}">
                <a16:creationId xmlns:a16="http://schemas.microsoft.com/office/drawing/2014/main" id="{15E0AE8E-1C5C-462F-ABA5-3489421A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실제 운영 화면 발췌 · 2026-08-28 · 고객정보·가격·주문번호·상태 건수 제거</a:t>
            </a:r>
          </a:p>
        </p:txBody>
      </p:sp>
    </p:spTree>
    <p:extLst>
      <p:ext uri="{BB962C8B-B14F-4D97-AF65-F5344CB8AC3E}">
        <p14:creationId xmlns:p14="http://schemas.microsoft.com/office/powerpoint/2010/main" val="11571898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54508C26-D8CD-4D5C-BFBD-B61E27E4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17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214BDA6-932B-4F34-893B-A810D89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893EF2E-619B-4AEE-9F76-F25FFEBA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혼합주문의 빠져나가는 예외를 보완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33EB85-93E7-4EC9-860A-1F72DC4C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결제방식이 같은 경우에도 분유와 물품은 나눠 주문해야 한다는 운영 규칙을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3B15F-9A89-4F78-940E-83D0444F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2922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가상 예시: 선불입금 회원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52038-3D5B-4831-B858-C9D3283D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409825" cy="752475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분유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AC6A5EA-56A2-4FB1-AE55-55D8FF36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FBD54-D78D-4BBF-B7C7-C8C07686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2314575" cy="752475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물품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5838825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743325"/>
              </a:tblGrid>
              <a:tr h="32385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기준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이전: 결제방식 비교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 다 무통장이므로 혼합주문 통과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보완: 카테고리 비교</a:t>
                      </a:r>
                    </a:p>
                  </a:txBody>
                  <a:tcPr marL="95250" marR="95250" marT="76200" marB="76200" anchor="ctr">
                    <a:solidFill>
                      <a:srgbClr val="E7F4ED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분류가 다르면 차단하고 분리 주문 안내</a:t>
                      </a:r>
                    </a:p>
                  </a:txBody>
                  <a:tcPr marL="95250" marR="95250" marT="76200" marB="76200" anchor="ctr">
                    <a:solidFill>
                      <a:srgbClr val="E7F4ED"/>
                    </a:solidFill>
                  </a:tcPr>
                </a:tc>
              </a:tr>
            </a:tbl>
          </a:graphicData>
        </a:graphic>
      </p:graphicFrame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5A55575-B466-4168-B9EF-5FAE365D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보여준 다음 행동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1d334ac544636"/>
          <a:stretch xmlns:a="http://schemas.openxmlformats.org/drawingml/2006/main"/>
        </p:blipFill>
        <p:spPr>
          <a:xfrm xmlns:a="http://schemas.openxmlformats.org/drawingml/2006/main">
            <a:off x="7050626" y="2171700"/>
            <a:ext cx="3567622" cy="23241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27F62BEC-5BB6-4BB4-B193-E0423D56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720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막힌 이유와 분류별 주문 방법을 함께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B8B8E-6271-4487-A850-34BBC9FF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정책의 기준을 결제수단에서 상품 분류로 옮겨, 같은 결제수단의 예외까지 막았습니다.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A01854D2-EBC6-4A31-9B03-D2A325F0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좌측은 정책 기반 가상 예시 / 우측은 다른 상품 분류의 혼합차단 기능 화면 발췌(분유·미지정 테스트 상품)</a:t>
            </a:r>
          </a:p>
        </p:txBody>
      </p:sp>
    </p:spTree>
    <p:extLst>
      <p:ext uri="{BB962C8B-B14F-4D97-AF65-F5344CB8AC3E}">
        <p14:creationId xmlns:p14="http://schemas.microsoft.com/office/powerpoint/2010/main" val="4232596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0">
            <a:extLst xmlns:a="http://schemas.openxmlformats.org/drawingml/2006/main">
              <a:ext uri="{FF2B5EF4-FFF2-40B4-BE49-F238E27FC236}">
                <a16:creationId xmlns:a16="http://schemas.microsoft.com/office/drawing/2014/main" id="{49018EB8-7441-4346-A785-E86B1752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18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D88B9E-8D7C-4530-B09C-214F56AF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20EEA0-1EB2-4C3D-812E-9E9B6AA3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포인트 정리에 사람의 확인을 남김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7F17185-AA84-43BA-8DC0-6CBEA73F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 1회 발생하는 비가역 작업이어서, 대상과 차감 결과를 확인한 뒤 실행하도록 범위를 조정했습니다.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89721-1ABF-4E5E-A2FB-0B4F3A04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1E315A6-A9ED-4208-9A9E-A9DA8196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미리보기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1F792BC-4FD0-40CC-B4BC-835828B6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현재·차감·잔여 확인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0B20E1E-E7C9-44DB-9DFA-005723DE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86863-E4A4-4BE2-93DC-94AE7D6A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86DCE46-A6BD-4E55-8837-C367572A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대상 선택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7B3DA86-DE44-48A6-A171-4529CA7F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처리할 회원 선택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A601099-2FFD-4A1C-A96B-4441C981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3BCBE-FA65-4DA6-BF59-955F3E79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2F0ABA47-9E15-464D-8B58-E9B34B85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최종 확인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028ECEB1-13F6-4E4C-9043-43E54C6D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대상과 합계를 재확인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DEFC751-DF8B-40DA-9171-AF29ECE8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82370-CCB8-4F98-923A-FA3370B6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09D2A77-F6CD-4E6D-84DC-41B59D13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실행·기록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81F5B0D-CBDD-4A11-8B9C-D5308958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상태 재검증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0C87EF8E-1DF7-4547-8D70-52AC0B84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조회한 뒤 회원 상태가 바뀐다면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609600" y="3333750"/>
          <a:ext xmlns:a="http://schemas.openxmlformats.org/drawingml/2006/main" cx="109728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048000"/>
                <a:gridCol w="3048000"/>
                <a:gridCol w="3352800"/>
              </a:tblGrid>
              <a:tr h="36195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가상 대상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후 상황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시 처리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막으려는 문제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A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변동 없음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대상만 정리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외 회원의 임의 차감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B</a:t>
                      </a:r>
                    </a:p>
                  </a:txBody>
                  <a:tcPr marL="95250" marR="95250" marT="76200" marB="76200" anchor="ctr">
                    <a:solidFill>
                      <a:srgbClr val="E7F4ED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 사용 또는 등급 변경</a:t>
                      </a:r>
                    </a:p>
                  </a:txBody>
                  <a:tcPr marL="95250" marR="95250" marT="76200" marB="76200" anchor="ctr">
                    <a:solidFill>
                      <a:srgbClr val="E7F4ED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회원 자동 제외</a:t>
                      </a:r>
                    </a:p>
                  </a:txBody>
                  <a:tcPr marL="95250" marR="95250" marT="76200" marB="76200" anchor="ctr">
                    <a:solidFill>
                      <a:srgbClr val="E7F4ED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화면 값으로 과다 차감</a:t>
                      </a:r>
                    </a:p>
                  </a:txBody>
                  <a:tcPr marL="95250" marR="95250" marT="76200" marB="76200" anchor="ctr">
                    <a:solidFill>
                      <a:srgbClr val="E7F4ED"/>
                    </a:solidFill>
                  </a:tcPr>
                </a:tc>
              </a:tr>
              <a:tr h="6096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조건 재실행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운영자가 실행을 다시 누름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차감하지 않음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실행으로 반복 차감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08CED-A0C8-4A68-B1D6-A6EB3C48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428B60D7-8F6A-49EB-9A57-740A655D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91225"/>
            <a:ext cx="695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F52FA405-B346-4FB6-A3A5-B1F9BD35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81700"/>
            <a:ext cx="975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정기 자동 실행의 추가 운영 부담과 잘못된 회수 위험을 비교해, 담당자 확인 방식으로 조정했습니다.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8F08424E-C801-4A9F-91A2-0F970710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시뮬레이션 · 회원 A/B는 가상 예시이며 포인트 금액·고객정보는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18207007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415EA127-A2CC-43E9-8E76-FB7EC32F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19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32D0D14-1F22-4980-8088-14267B70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1402C0F-4AAF-48F5-A052-9EF46045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 통보를 운영 검수 기준으로 바꿈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C5291A-15E3-4F70-8CAC-DB615404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수정 화면에 들어갈 수 없었던 사례에서, 배포와 기능 동작을 따로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1589F-ACD9-40D9-BADB-B4A7EAFC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현상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BF6EE0E-1DFD-45CA-BA1A-42D273DE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838325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마이페이지의 정보 수정에 진입 불가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CD161-E4EE-4DEE-9F10-FDE04F70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3C5AACD-0DF9-4E96-A765-830315B3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43200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서버 미반영과 이전 차단 로직 잔존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0A12F-5C33-43DF-B662-258FE174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검수 기준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4563279-C82B-46B3-BF3E-392FC9FC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48075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메뉴 노출·실제 진입·수정 가능한 항목을 확인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49CB569-42BD-4AA0-824F-BAE3ADB8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049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메뉴가 없던 화면과 반영 결과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a271ba749430a"/>
          <a:stretch xmlns:a="http://schemas.openxmlformats.org/drawingml/2006/main"/>
        </p:blipFill>
        <p:spPr>
          <a:xfrm xmlns:a="http://schemas.openxmlformats.org/drawingml/2006/main">
            <a:off x="7609609" y="2162175"/>
            <a:ext cx="1163782" cy="22860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abb547d674ff6"/>
          <a:stretch xmlns:a="http://schemas.openxmlformats.org/drawingml/2006/main"/>
        </p:blipFill>
        <p:spPr>
          <a:xfrm xmlns:a="http://schemas.openxmlformats.org/drawingml/2006/main">
            <a:off x="9924184" y="2162175"/>
            <a:ext cx="1163782" cy="2286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7AF94-603C-4B61-B1E4-E59BF62A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19050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확인 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A31BE-F578-4CD9-AA91-19F78CFB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591050"/>
            <a:ext cx="19050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6" name="text-13">
            <a:extLst xmlns:a="http://schemas.openxmlformats.org/drawingml/2006/main">
              <a:ext uri="{FF2B5EF4-FFF2-40B4-BE49-F238E27FC236}">
                <a16:creationId xmlns:a16="http://schemas.microsoft.com/office/drawing/2014/main" id="{8A06C765-902A-4525-8CD9-83B8E43E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같은 기능을 다른 조건에서도 확인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09600" y="5324475"/>
          <a:ext xmlns:a="http://schemas.openxmlformats.org/drawingml/2006/main" cx="109728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90950"/>
                <a:gridCol w="4324350"/>
              </a:tblGrid>
              <a:tr h="3048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행동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기대 결과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 서버·실제 계정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수정 메뉴 클릭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비밀번호 확인 후 화면 진입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항목과 변경 가능 항목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아이디·주소 / 연락처 확인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고정값은 보호, 허용 항목만 수정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CEE4645-01EB-4A46-8F16-C283AC1C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문서의 기능 화면 발췌 · 개발 반영 통보와 운영 검수를 구분</a:t>
            </a:r>
          </a:p>
        </p:txBody>
      </p:sp>
    </p:spTree>
    <p:extLst>
      <p:ext uri="{BB962C8B-B14F-4D97-AF65-F5344CB8AC3E}">
        <p14:creationId xmlns:p14="http://schemas.microsoft.com/office/powerpoint/2010/main" val="14795093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89D8E891-4004-4933-9BA1-3CD89686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20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40EB0A2-5D07-4738-A4CB-8C1D8558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D87E5C-331B-4F0F-89F9-08609BB6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피드백으로 화면을 다시 조정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A6DC33C-7E96-4A6E-ACE4-3FEC591C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운영 반영: 반복해서 하는 행동과 누락된 현장 요청을 화면에 반영했습니다.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D8C584-E9E4-4DAB-A56E-1836240B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거래명세서를 주문내역에서 바로 출력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287b78e6841ce"/>
          <a:stretch xmlns:a="http://schemas.openxmlformats.org/drawingml/2006/main"/>
        </p:blipFill>
        <p:spPr>
          <a:xfrm xmlns:a="http://schemas.openxmlformats.org/drawingml/2006/main">
            <a:off x="907761" y="2190750"/>
            <a:ext cx="1765877" cy="153352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f036f81bc477c"/>
          <a:stretch xmlns:a="http://schemas.openxmlformats.org/drawingml/2006/main"/>
        </p:blipFill>
        <p:spPr>
          <a:xfrm xmlns:a="http://schemas.openxmlformats.org/drawingml/2006/main">
            <a:off x="3784311" y="2190750"/>
            <a:ext cx="1765877" cy="1533525"/>
          </a:xfrm>
          <a:prstGeom xmlns:a="http://schemas.openxmlformats.org/drawingml/2006/main" prst="rect">
            <a:avLst/>
          </a:prstGeom>
        </p:spPr>
      </p:pic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621A2CF9-C3BF-46CF-A79B-CD5CFDD4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71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7E35B07D-CF98-4AF0-A3D6-ED656E86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요청 전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463A46CC-7A16-4558-9A4D-DB541A93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780AB569-BBA5-4B76-B034-8A9F5150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257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주문당 버튼 1개, 취소·환불 주문은 제외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구매확정·리뷰 기능은 주문상세에 유지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2F993E7E-6E7D-400B-894C-42B5C067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삭제했던 배송 메시지 입력칸 복원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a8e4a528648b2"/>
          <a:stretch xmlns:a="http://schemas.openxmlformats.org/drawingml/2006/main"/>
        </p:blipFill>
        <p:spPr>
          <a:xfrm xmlns:a="http://schemas.openxmlformats.org/drawingml/2006/main">
            <a:off x="6267450" y="2356982"/>
            <a:ext cx="5314950" cy="1324886"/>
          </a:xfrm>
          <a:prstGeom xmlns:a="http://schemas.openxmlformats.org/drawingml/2006/main" prst="rect">
            <a:avLst/>
          </a:prstGeom>
        </p:spPr>
      </p:pic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04CFB5F6-E758-4996-83B8-8A43498E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24350"/>
            <a:ext cx="5314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1차 QA에서 제거했던 입력칸을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시 요청을 받는 용도로 다시 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3F7F3-0B59-4E7D-81A6-1E21D2A0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981075"/>
          </a:xfrm>
          <a:prstGeom xmlns:a="http://schemas.openxmlformats.org/drawingml/2006/main" prst="roundRect">
            <a:avLst>
              <a:gd name="adj" fmla="val 679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3B3BF915-12CF-4BA9-B2DF-8F837E10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213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것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B3BB268E-4F62-4A69-88A4-44797B8C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495925"/>
            <a:ext cx="8220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화면을 단순하게 만드는 것만으로 업무가 끝나지 않았습니다.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자주 쓰는 행동은 앞에 두고, 실제로 필요한 입력은 다시 남겼습니다.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B9C8299D-CCCF-4EF0-B531-9A07CD15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문서의 변경 전·후 기능 화면 발췌 · 고객정보·주문·가격 영역 제외</a:t>
            </a:r>
          </a:p>
        </p:txBody>
      </p:sp>
    </p:spTree>
    <p:extLst>
      <p:ext uri="{BB962C8B-B14F-4D97-AF65-F5344CB8AC3E}">
        <p14:creationId xmlns:p14="http://schemas.microsoft.com/office/powerpoint/2010/main" val="15559231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">
            <a:extLst xmlns:a="http://schemas.openxmlformats.org/drawingml/2006/main">
              <a:ext uri="{FF2B5EF4-FFF2-40B4-BE49-F238E27FC236}">
                <a16:creationId xmlns:a16="http://schemas.microsoft.com/office/drawing/2014/main" id="{EA51FAD7-1CAD-434B-9C26-CD6041C6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21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6C5D2C5-B1D9-491A-AC71-F2CA91C4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45762D-383A-4BE4-A2AA-A32BFCD1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초기 운영 결과와 측정 범위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F92D2B0-4A24-4EE6-BE45-87C8C4C2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핵심 주문·입금·정산 흐름의 운영 결과와, 계약상 전체 개발요구의 검수를 구분했습니다.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AF442A8-085C-4BC4-8B07-E7E823C8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477A093-4861-4605-B9BD-395707AC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038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월평균 2~3건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EE85ED4-5FF0-405A-87EA-3128957F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14550"/>
            <a:ext cx="1828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20AEB-76CF-42B1-A76D-33827D8C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257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47CF368-A9CD-4778-8482-9DC5B450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직전 6개월 월평균과 2026-07-16 전체 가동 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약 1개월을 비교한 전체 측정 범위의 관찰값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EE12B49-D28B-48EF-9EFF-FAB27B81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4BC62A9-A487-4FBA-9E1E-0F847516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2657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2주 32건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CE8A7F8-F7DB-456F-88BC-2D9C9D76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717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19건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6D868-0965-4BA1-A132-0B5DCF7C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5257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B276590-745F-4057-B392-49C2DFD0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2026-01~06 CS 인입의 2주 환산치와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2026-07~08 배포 구간 2주 집계를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FBC63-1C8D-4C3C-88D6-28292F86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134302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627A7F1-2604-4778-AF3C-205D598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운영과 검수의 경계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7DB37E84-FF33-4467-A9BD-01B20C97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43425"/>
            <a:ext cx="786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핵심 흐름은 2026-07-16 가동 후 약 1개월 관찰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계약상 기본 개발요구 22건은 2026-08-31 최종검수까지 운영 QA 지속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D18E856-9A62-4541-B415-096839B1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05425"/>
            <a:ext cx="1050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검수 기록: 배포·QA 필요 17건 / 부분·수정·구현변경 후 QA 각 1건 / 진행 중 계약 항목 2건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6662F-A57B-4651-9742-8E9C4308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측정은 입금 대조 시간과 오출고·CS 문의의 장기 추이입니다.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29B2EA70-6356-4091-90FA-FF8F8C87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원천: 운영팀 출고·CS 이력과 사용자 확인 · 초기 관찰이며 장기 지속 효과와 단독 인과는 미검증</a:t>
            </a:r>
          </a:p>
        </p:txBody>
      </p:sp>
    </p:spTree>
    <p:extLst>
      <p:ext uri="{BB962C8B-B14F-4D97-AF65-F5344CB8AC3E}">
        <p14:creationId xmlns:p14="http://schemas.microsoft.com/office/powerpoint/2010/main" val="20668203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A662C-1197-4571-A16B-9FC6F879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0"/>
            <a:ext cx="389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C127ED-70C0-4125-AFB2-B1097225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0580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현장의 문제를 구조로 바꾸고,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운영에서 확인하는 PM입니다.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55BEE9-CEE9-4046-9823-3B8A76A9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663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두 프로젝트에서 만든 업무 방식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56AD9A1-7B32-4BB6-9FD5-6BCD97A7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7132CC5-67CD-474F-83A0-D640AACE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정책의 기준을 구체적인 예외까지 내려 씁니다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73AC1CA-2429-4B5D-B11A-252DACFA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주문과 포장을 구분하고, 같은 결제수단의 혼합주문 예외를 확인했습니다.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9110C17-99DF-4084-94EB-950EC6E0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52F0799-4215-41EF-9346-0FF08212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시스템 제약과 운영 영향을 함께 판단합니다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8B58C83-5B73-41C4-BB8C-F1E42FB9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815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혼재 주문의 내수 지연을 수용하고, 포인트 정리에 담당자 확인을 남겼습니다.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0E122A8-9073-436D-A0EA-042E320C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0C664C0-8FF4-444A-86EB-58B98D96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완료는 실제 운영의 기대 결과로 판단합니다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B9BAA05-6DCE-4226-8048-22249AF0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02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관세청 오류 수정·재제출과 B2B 고객 화면을 검증하고 초기 결과를 관찰했습니다.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372ACFB-30BA-4251-B0BE-6E2D1598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19425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351FC01-5F36-42F6-874C-E2B6DDD5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3362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PM PORTFOLIO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A1B74EB-4D84-4D8E-92F2-446A9012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38625"/>
            <a:ext cx="335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749683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Walnut Exporter</lastModifiedBy>
  <dc:title>박종혁 PM 포트폴리오 v4.3</dc:title>
  <dcterms:created xsi:type="dcterms:W3CDTF">2026-09-17T06:03:02.6870000Z</dcterms:created>
  <dcterms:modified xsi:type="dcterms:W3CDTF">2026-09-17T06:03:02.6870000Z</dcterms:modified>
</coreProperties>
</file>