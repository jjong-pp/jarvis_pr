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f5f73c170a934d6b" /><Relationship Type="http://schemas.openxmlformats.org/officeDocument/2006/relationships/extended-properties" Target="/docProps/app.xml" Id="Rc5a33f4039514be9" /><Relationship Type="http://schemas.openxmlformats.org/officeDocument/2006/relationships/officeDocument" Target="/ppt/presentation.xml" Id="R49d462c9c80c4b12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c35fd87c0ac24c89"/>
  </p:sldMasterIdLst>
  <p:notesMasterIdLst>
    <p:notesMasterId xmlns:r="http://schemas.openxmlformats.org/officeDocument/2006/relationships" r:id="R9bd3f14934da4c85"/>
  </p:notesMasterIdLst>
  <p:sldIdLst>
    <p:sldId xmlns:r="http://schemas.openxmlformats.org/officeDocument/2006/relationships" id="256" r:id="R847ce612e57b416f"/>
    <p:sldId xmlns:r="http://schemas.openxmlformats.org/officeDocument/2006/relationships" id="257" r:id="R85fc7e8b81614647"/>
    <p:sldId xmlns:r="http://schemas.openxmlformats.org/officeDocument/2006/relationships" id="258" r:id="Rc10e5470c80f498f"/>
    <p:sldId xmlns:r="http://schemas.openxmlformats.org/officeDocument/2006/relationships" id="259" r:id="R596ce7730a58499a"/>
    <p:sldId xmlns:r="http://schemas.openxmlformats.org/officeDocument/2006/relationships" id="260" r:id="R24518044f01b40b5"/>
    <p:sldId xmlns:r="http://schemas.openxmlformats.org/officeDocument/2006/relationships" id="261" r:id="R392fcee1e99a40e2"/>
    <p:sldId xmlns:r="http://schemas.openxmlformats.org/officeDocument/2006/relationships" id="262" r:id="Rac4c8322093745a9"/>
    <p:sldId xmlns:r="http://schemas.openxmlformats.org/officeDocument/2006/relationships" id="263" r:id="Ra9bab750aad94522"/>
    <p:sldId xmlns:r="http://schemas.openxmlformats.org/officeDocument/2006/relationships" id="264" r:id="R634ee9684b574cac"/>
    <p:sldId xmlns:r="http://schemas.openxmlformats.org/officeDocument/2006/relationships" id="265" r:id="R10525ccc15df421f"/>
    <p:sldId xmlns:r="http://schemas.openxmlformats.org/officeDocument/2006/relationships" id="266" r:id="R286d68e2b04148c6"/>
    <p:sldId xmlns:r="http://schemas.openxmlformats.org/officeDocument/2006/relationships" id="267" r:id="Rb213c13d8ee14b0d"/>
    <p:sldId xmlns:r="http://schemas.openxmlformats.org/officeDocument/2006/relationships" id="268" r:id="Rcee21c738d304d84"/>
    <p:sldId xmlns:r="http://schemas.openxmlformats.org/officeDocument/2006/relationships" id="269" r:id="Ra2ab295bfac844b6"/>
    <p:sldId xmlns:r="http://schemas.openxmlformats.org/officeDocument/2006/relationships" id="270" r:id="Re1f6d40511764d1e"/>
    <p:sldId xmlns:r="http://schemas.openxmlformats.org/officeDocument/2006/relationships" id="271" r:id="R6f737e2639464f77"/>
    <p:sldId xmlns:r="http://schemas.openxmlformats.org/officeDocument/2006/relationships" id="272" r:id="R0615b754bce64f98"/>
    <p:sldId xmlns:r="http://schemas.openxmlformats.org/officeDocument/2006/relationships" id="273" r:id="R4b83465ab3a8447c"/>
    <p:sldId xmlns:r="http://schemas.openxmlformats.org/officeDocument/2006/relationships" id="274" r:id="R6c4c7d2c62e84cc2"/>
    <p:sldId xmlns:r="http://schemas.openxmlformats.org/officeDocument/2006/relationships" id="275" r:id="R56cb5fe1ff3c4045"/>
    <p:sldId xmlns:r="http://schemas.openxmlformats.org/officeDocument/2006/relationships" id="276" r:id="Rfef9ddb43fcf407d"/>
    <p:sldId xmlns:r="http://schemas.openxmlformats.org/officeDocument/2006/relationships" id="277" r:id="Rc53c9fbfec084419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b15da25d15094a74" /><Relationship Type="http://schemas.openxmlformats.org/officeDocument/2006/relationships/slideMaster" Target="/ppt/slideMasters/slideMaster1.xml" Id="Rc35fd87c0ac24c89" /><Relationship Type="http://schemas.openxmlformats.org/officeDocument/2006/relationships/notesMaster" Target="/ppt/notesMasters/notesMaster1.xml" Id="R9bd3f14934da4c85" /><Relationship Type="http://schemas.openxmlformats.org/officeDocument/2006/relationships/presProps" Target="/ppt/presProps.xml" Id="Rdbd2c2b795b64173" /><Relationship Type="http://schemas.openxmlformats.org/officeDocument/2006/relationships/tableStyles" Target="/ppt/tableStyles.xml" Id="R013b40b698e34f2d" /><Relationship Type="http://schemas.openxmlformats.org/officeDocument/2006/relationships/slide" Target="/ppt/slides/slide1.xml" Id="R847ce612e57b416f" /><Relationship Type="http://schemas.openxmlformats.org/officeDocument/2006/relationships/slide" Target="/ppt/slides/slide2.xml" Id="R85fc7e8b81614647" /><Relationship Type="http://schemas.openxmlformats.org/officeDocument/2006/relationships/slide" Target="/ppt/slides/slide3.xml" Id="Rc10e5470c80f498f" /><Relationship Type="http://schemas.openxmlformats.org/officeDocument/2006/relationships/slide" Target="/ppt/slides/slide4.xml" Id="R596ce7730a58499a" /><Relationship Type="http://schemas.openxmlformats.org/officeDocument/2006/relationships/slide" Target="/ppt/slides/slide5.xml" Id="R24518044f01b40b5" /><Relationship Type="http://schemas.openxmlformats.org/officeDocument/2006/relationships/slide" Target="/ppt/slides/slide6.xml" Id="R392fcee1e99a40e2" /><Relationship Type="http://schemas.openxmlformats.org/officeDocument/2006/relationships/slide" Target="/ppt/slides/slide7.xml" Id="Rac4c8322093745a9" /><Relationship Type="http://schemas.openxmlformats.org/officeDocument/2006/relationships/slide" Target="/ppt/slides/slide8.xml" Id="Ra9bab750aad94522" /><Relationship Type="http://schemas.openxmlformats.org/officeDocument/2006/relationships/slide" Target="/ppt/slides/slide9.xml" Id="R634ee9684b574cac" /><Relationship Type="http://schemas.openxmlformats.org/officeDocument/2006/relationships/slide" Target="/ppt/slides/slide10.xml" Id="R10525ccc15df421f" /><Relationship Type="http://schemas.openxmlformats.org/officeDocument/2006/relationships/slide" Target="/ppt/slides/slide11.xml" Id="R286d68e2b04148c6" /><Relationship Type="http://schemas.openxmlformats.org/officeDocument/2006/relationships/slide" Target="/ppt/slides/slide12.xml" Id="Rb213c13d8ee14b0d" /><Relationship Type="http://schemas.openxmlformats.org/officeDocument/2006/relationships/slide" Target="/ppt/slides/slide13.xml" Id="Rcee21c738d304d84" /><Relationship Type="http://schemas.openxmlformats.org/officeDocument/2006/relationships/slide" Target="/ppt/slides/slide14.xml" Id="Ra2ab295bfac844b6" /><Relationship Type="http://schemas.openxmlformats.org/officeDocument/2006/relationships/slide" Target="/ppt/slides/slide15.xml" Id="Re1f6d40511764d1e" /><Relationship Type="http://schemas.openxmlformats.org/officeDocument/2006/relationships/slide" Target="/ppt/slides/slide16.xml" Id="R6f737e2639464f77" /><Relationship Type="http://schemas.openxmlformats.org/officeDocument/2006/relationships/slide" Target="/ppt/slides/slide17.xml" Id="R0615b754bce64f98" /><Relationship Type="http://schemas.openxmlformats.org/officeDocument/2006/relationships/slide" Target="/ppt/slides/slide18.xml" Id="R4b83465ab3a8447c" /><Relationship Type="http://schemas.openxmlformats.org/officeDocument/2006/relationships/slide" Target="/ppt/slides/slide19.xml" Id="R6c4c7d2c62e84cc2" /><Relationship Type="http://schemas.openxmlformats.org/officeDocument/2006/relationships/slide" Target="/ppt/slides/slide20.xml" Id="R56cb5fe1ff3c4045" /><Relationship Type="http://schemas.openxmlformats.org/officeDocument/2006/relationships/slide" Target="/ppt/slides/slide21.xml" Id="Rfef9ddb43fcf407d" /><Relationship Type="http://schemas.openxmlformats.org/officeDocument/2006/relationships/slide" Target="/ppt/slides/slide22.xml" Id="Rc53c9fbfec084419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93340d84500c482a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ca23b15076964b64" /><Relationship Type="http://schemas.openxmlformats.org/officeDocument/2006/relationships/notesMaster" Target="/ppt/notesMasters/notesMaster1.xml" Id="R9dd74293dc224910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a730e5db084349c2" /><Relationship Type="http://schemas.openxmlformats.org/officeDocument/2006/relationships/notesMaster" Target="/ppt/notesMasters/notesMaster1.xml" Id="R48377065e5fc4c69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d45eb9f80f4d46e6" /><Relationship Type="http://schemas.openxmlformats.org/officeDocument/2006/relationships/notesMaster" Target="/ppt/notesMasters/notesMaster1.xml" Id="R9c45cf4e47154817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edf38adcbc4c4492" /><Relationship Type="http://schemas.openxmlformats.org/officeDocument/2006/relationships/notesMaster" Target="/ppt/notesMasters/notesMaster1.xml" Id="R5015c16e9b844d49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e27b42b09da648f0" /><Relationship Type="http://schemas.openxmlformats.org/officeDocument/2006/relationships/notesMaster" Target="/ppt/notesMasters/notesMaster1.xml" Id="Re6e7f533c194449c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fd0d3c80b7a048e6" /><Relationship Type="http://schemas.openxmlformats.org/officeDocument/2006/relationships/notesMaster" Target="/ppt/notesMasters/notesMaster1.xml" Id="R672475e4aea04408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df0ae14cf384403a" /><Relationship Type="http://schemas.openxmlformats.org/officeDocument/2006/relationships/notesMaster" Target="/ppt/notesMasters/notesMaster1.xml" Id="R1bcb8bf66c0741d0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e394e829d910452c" /><Relationship Type="http://schemas.openxmlformats.org/officeDocument/2006/relationships/notesMaster" Target="/ppt/notesMasters/notesMaster1.xml" Id="Rd9a970b5ea5e4679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092281607a714126" /><Relationship Type="http://schemas.openxmlformats.org/officeDocument/2006/relationships/notesMaster" Target="/ppt/notesMasters/notesMaster1.xml" Id="R10f50ab24bf345fc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48a0fa1a7a074a67" /><Relationship Type="http://schemas.openxmlformats.org/officeDocument/2006/relationships/notesMaster" Target="/ppt/notesMasters/notesMaster1.xml" Id="R12673f463ec1437e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584848cb6df24aa9" /><Relationship Type="http://schemas.openxmlformats.org/officeDocument/2006/relationships/notesMaster" Target="/ppt/notesMasters/notesMaster1.xml" Id="R221f4536abfa4f28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18a7c8f326194c79" /><Relationship Type="http://schemas.openxmlformats.org/officeDocument/2006/relationships/notesMaster" Target="/ppt/notesMasters/notesMaster1.xml" Id="R340062bc6f3a4bcd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82cfe374964440fb" /><Relationship Type="http://schemas.openxmlformats.org/officeDocument/2006/relationships/notesMaster" Target="/ppt/notesMasters/notesMaster1.xml" Id="Rdf81765341304dd5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c6e94d2395c24292" /><Relationship Type="http://schemas.openxmlformats.org/officeDocument/2006/relationships/notesMaster" Target="/ppt/notesMasters/notesMaster1.xml" Id="R686b326acaf04393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8aa69efca1564e8d" /><Relationship Type="http://schemas.openxmlformats.org/officeDocument/2006/relationships/notesMaster" Target="/ppt/notesMasters/notesMaster1.xml" Id="Rdbf33c3cc5bc418f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725b502b238d4394" /><Relationship Type="http://schemas.openxmlformats.org/officeDocument/2006/relationships/notesMaster" Target="/ppt/notesMasters/notesMaster1.xml" Id="R403318b7eb2145cc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8e39d08debb844a7" /><Relationship Type="http://schemas.openxmlformats.org/officeDocument/2006/relationships/notesMaster" Target="/ppt/notesMasters/notesMaster1.xml" Id="Rc38e0b04df56458e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3b5eaad69e174ef9" /><Relationship Type="http://schemas.openxmlformats.org/officeDocument/2006/relationships/notesMaster" Target="/ppt/notesMasters/notesMaster1.xml" Id="R6f5f787c4a5e4f55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51e169ebfdb04658" /><Relationship Type="http://schemas.openxmlformats.org/officeDocument/2006/relationships/notesMaster" Target="/ppt/notesMasters/notesMaster1.xml" Id="R72a156202f3945bb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5c95c8985e834f7b" /><Relationship Type="http://schemas.openxmlformats.org/officeDocument/2006/relationships/notesMaster" Target="/ppt/notesMasters/notesMaster1.xml" Id="R294bd1d8404c43d7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3ec2d0a330be4a34" /><Relationship Type="http://schemas.openxmlformats.org/officeDocument/2006/relationships/notesMaster" Target="/ppt/notesMasters/notesMaster1.xml" Id="R141adc50202e4bee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7da6fa6a7ea84a39" /><Relationship Type="http://schemas.openxmlformats.org/officeDocument/2006/relationships/notesMaster" Target="/ppt/notesMasters/notesMaster1.xml" Id="R3bcfcd8f2ab8471e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근거: 경력 사실 원장 C-002·003·010a·025·039·077~087·126.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근거: 경력 사실 원장 C-021·022·025·031·039.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근거: 경력 사실 원장 C-020~028·101·126. 운영 시작과 전체 자동화 완료는 구분.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근거: 경력 사실 원장 C-025·028·101·126. planning_v7.html 4·8·9절. 원본은 내부 문서로 도표를 일반화해 재구성.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근거: 경력 사실 원장 C-025·028·126. 기준 디자인 원본 5장 대안 비교·책임 분담. 각 개발사의 실제 구현을 본인의 단독 개발로 표현하지 않음.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근거: 경력 사실 원장 C-025·028·101·128. planning_v7.html 4·8·9절. 재구성 흐름도.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근거: 경력 사실 원장 C-029. planning_v7.html 8절 공통 식별자. orderNo는 원주문번호, erpPackageOrderNo는 ERP 포장번호, 병합키는 hwbNo+orderNo. 시뮬레이션은 실제 주문·운영 로그가 아님.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근거: 경력 사실 원장 C-127. 리스크·질의대장 2026-08-26 협의 이력(572·622행). 실제 당시 의사결정 사례이며 현재 모든 채널에 적용되는 일괄 정책으로 확대하지 않음.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근거: 경력 사실 원장 C-128. planning_v7.html 9절 상태와 재시도. merged는 통관 완료가 아니며 pending은 대기와 검증 실패를 조회로 구분. 구현 완료 상태는 주장하지 않음.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근거: 경력 사실 원장 C-027. 2026-08-28 사용자 직접 확인: 운영 환경 30건 검증, 테스트 목적 30/30 통과. 유형별 건수와 오류코드는 원본 로그가 없어 기재하지 않음.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근거: 경력 사실 원장 C-100·101·102·103. 2026-09-15 사용자 확인 운영 집계. 후속 통관정보 보완 웹서비스는 기획 중이며 배포나 효과 검증 완료가 아님.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근거: 경력 사실 원장 C-030~039·076. 사업 규모와 확정 일정. 계약 항목 전체 완료와 핵심 서비스 가동을 구분.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근거: 경력 사실 원장 C-030·035·040·042·043. 기준 디자인 원본 10장 업무 흐름. 초기 오출고 전체 측정 범위와 문의 환산 기준은 결과 장에 명시.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근거: 경력 사실 원장 C-035·036·130. 대안 비교와 범위 제외 근거. 공급사 직접 입력·입금자동매칭은 구현 증빙 수준이 달라 핵심 성과에서 제외.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근거: 경력 사실 원장 C-033·129. 산후조리원몰_과업내역_처리결과.html 과업1, 228~250행. 수치가 포함된 계정·상품 데이터는 캡처에서 제외.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근거: 경력 사실 원장 C-047·048·131·132. 실제 운영 홈·마이페이지 캡처. 업무 흐름은 현재 정책 기반 재구성. 공급사별 권한·송장입력은 증거 부족으로 제외.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근거: 경력 사실 원장 C-034. 산후조리원몰_과업내역_처리결과.html 322~327행. 실제 주문을 재현한 로그가 아닌 정책 설명 시뮬레이션.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근거: 경력 사실 원장 C-036·130. 산후조리원몰_과업내역_처리결과.html 452~477행. 자동 실행 대신 담당자 확인 후 실행 결정과 안전장치 근거.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근거: 경력 사실 원장 C-038·046. 산후조리원몰_과업내역_처리결과.html 329~344행. 수용 기준은 실제 문제·요구사항을 바탕으로 재구성.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근거: 경력 사실 원장 C-131. 산후조리원몰_과업내역_처리결과.html 695~721행. 2026-08-13 운영 반영 및 고객 화면 확인 명시. 개발사 구현과 본인 요구·운영 검수 역할을 구분.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근거: 경력 사실 원장 C-031·040·042·043·044. 정산시간 C-041은 비교 월 미확인으로 제외. 입금자동매칭 완료·서비스 밖 문의 개선을 주장하지 않음.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근거: 경력 사실 원장 C-025·027·029·034·038·040·042·126~131.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39823f878a045ca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54745a8edc384863" /><Relationship Type="http://schemas.openxmlformats.org/officeDocument/2006/relationships/slideLayout" Target="/ppt/slideLayouts/slideLayout1.xml" Id="R610ed5feef214602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610ed5feef214602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38118ebf9ea4e38" /><Relationship Type="http://schemas.openxmlformats.org/officeDocument/2006/relationships/image" Target="/ppt/media/image.png" Id="R83b5daf793704445" /><Relationship Type="http://schemas.openxmlformats.org/officeDocument/2006/relationships/notesSlide" Target="/ppt/notesSlides/notesSlide1.xml" Id="Rb97cdb96455d4991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030847e68524fd3" /><Relationship Type="http://schemas.openxmlformats.org/officeDocument/2006/relationships/notesSlide" Target="/ppt/notesSlides/notesSlide2.xml" Id="R8282e324dd274c79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ef3788a16044aea" /><Relationship Type="http://schemas.openxmlformats.org/officeDocument/2006/relationships/notesSlide" Target="/ppt/notesSlides/notesSlide3.xml" Id="R89dbf7e03f54425e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ac8d674d42b4a79" /><Relationship Type="http://schemas.openxmlformats.org/officeDocument/2006/relationships/notesSlide" Target="/ppt/notesSlides/notesSlide4.xml" Id="Rbf0575b361c24803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b918d29f3ac4e23" /><Relationship Type="http://schemas.openxmlformats.org/officeDocument/2006/relationships/notesSlide" Target="/ppt/notesSlides/notesSlide5.xml" Id="R9d6bf7b0f8144a76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5775e7e53d74688" /><Relationship Type="http://schemas.openxmlformats.org/officeDocument/2006/relationships/notesSlide" Target="/ppt/notesSlides/notesSlide6.xml" Id="R75408c2b661a4a55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772e24745ed4cbc" /><Relationship Type="http://schemas.openxmlformats.org/officeDocument/2006/relationships/notesSlide" Target="/ppt/notesSlides/notesSlide7.xml" Id="R0442b9eec7744cd0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6b6c899275b4213" /><Relationship Type="http://schemas.openxmlformats.org/officeDocument/2006/relationships/notesSlide" Target="/ppt/notesSlides/notesSlide8.xml" Id="Rb48a9e436b654bc2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4b7484cb56d402c" /><Relationship Type="http://schemas.openxmlformats.org/officeDocument/2006/relationships/notesSlide" Target="/ppt/notesSlides/notesSlide9.xml" Id="R3bad12d707664527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0c2bcf7f9664fbd" /><Relationship Type="http://schemas.openxmlformats.org/officeDocument/2006/relationships/notesSlide" Target="/ppt/notesSlides/notesSlide10.xml" Id="Re8b87fe014e448a5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c8ee783e6ca4d95" /><Relationship Type="http://schemas.openxmlformats.org/officeDocument/2006/relationships/notesSlide" Target="/ppt/notesSlides/notesSlide11.xml" Id="R79b17246d74c4ff6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441b6f3e2544b1d" /><Relationship Type="http://schemas.openxmlformats.org/officeDocument/2006/relationships/notesSlide" Target="/ppt/notesSlides/notesSlide12.xml" Id="R878fc8944a3f484a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25fbdb4077d4109" /><Relationship Type="http://schemas.openxmlformats.org/officeDocument/2006/relationships/notesSlide" Target="/ppt/notesSlides/notesSlide13.xml" Id="R2bfaa4986b3d4388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5151ecbfcdf435a" /><Relationship Type="http://schemas.openxmlformats.org/officeDocument/2006/relationships/notesSlide" Target="/ppt/notesSlides/notesSlide14.xml" Id="R495051fca52d49b2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be11c3965884b04" /><Relationship Type="http://schemas.openxmlformats.org/officeDocument/2006/relationships/image" Target="/ppt/media/image2.png" Id="Rcd2c16bfc3b14491" /><Relationship Type="http://schemas.openxmlformats.org/officeDocument/2006/relationships/notesSlide" Target="/ppt/notesSlides/notesSlide15.xml" Id="Rf38c8f439ff9453b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64138a66f06483a" /><Relationship Type="http://schemas.openxmlformats.org/officeDocument/2006/relationships/image" Target="/ppt/media/image3.png" Id="Re39058b01a2f48c9" /><Relationship Type="http://schemas.openxmlformats.org/officeDocument/2006/relationships/image" Target="/ppt/media/image4.png" Id="Rc021d5c3ce0342ad" /><Relationship Type="http://schemas.openxmlformats.org/officeDocument/2006/relationships/notesSlide" Target="/ppt/notesSlides/notesSlide16.xml" Id="R0253c72318cf4d1f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f17401b110748f4" /><Relationship Type="http://schemas.openxmlformats.org/officeDocument/2006/relationships/image" Target="/ppt/media/image5.png" Id="Rd0c6e123ca614588" /><Relationship Type="http://schemas.openxmlformats.org/officeDocument/2006/relationships/notesSlide" Target="/ppt/notesSlides/notesSlide17.xml" Id="Ra7fe31652b9f4757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fea727154894f48" /><Relationship Type="http://schemas.openxmlformats.org/officeDocument/2006/relationships/notesSlide" Target="/ppt/notesSlides/notesSlide18.xml" Id="R5e1c73261738486e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1adefe255e941e2" /><Relationship Type="http://schemas.openxmlformats.org/officeDocument/2006/relationships/image" Target="/ppt/media/image6.png" Id="R2eb2316695c3424f" /><Relationship Type="http://schemas.openxmlformats.org/officeDocument/2006/relationships/image" Target="/ppt/media/image7.png" Id="Rfebb664e2f464e67" /><Relationship Type="http://schemas.openxmlformats.org/officeDocument/2006/relationships/notesSlide" Target="/ppt/notesSlides/notesSlide19.xml" Id="Rab1fb09429834cfa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1d9a038dd914acd" /><Relationship Type="http://schemas.openxmlformats.org/officeDocument/2006/relationships/image" Target="/ppt/media/image8.png" Id="Ref2c7744c9634817" /><Relationship Type="http://schemas.openxmlformats.org/officeDocument/2006/relationships/image" Target="/ppt/media/image9.png" Id="Rc43da39d8b33404c" /><Relationship Type="http://schemas.openxmlformats.org/officeDocument/2006/relationships/image" Target="/ppt/media/image10.png" Id="R2fb576e2c6c34dcc" /><Relationship Type="http://schemas.openxmlformats.org/officeDocument/2006/relationships/notesSlide" Target="/ppt/notesSlides/notesSlide20.xml" Id="Rb1a4f1d79edb49be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c012847ceda4cf9" /><Relationship Type="http://schemas.openxmlformats.org/officeDocument/2006/relationships/notesSlide" Target="/ppt/notesSlides/notesSlide21.xml" Id="Re261b6904ceb47ed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4d04dcdbf374d18" /><Relationship Type="http://schemas.openxmlformats.org/officeDocument/2006/relationships/notesSlide" Target="/ppt/notesSlides/notesSlide22.xml" Id="R2b8bc50775b04920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20A28E75-5360-43D0-A24D-5E6E706038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0"/>
            <a:ext cx="44577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4F6"/>
          </a:solidFill>
          <a:ln xmlns:a="http://schemas.openxmlformats.org/drawingml/2006/main" w="0">
            <a:noFill/>
          </a:ln>
        </p:spPr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782FE1DC-1F6F-4FBC-B096-CCCA9D7578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66750"/>
            <a:ext cx="6858000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913" b="1">
                <a:solidFill>
                  <a:srgbClr val="1A1A1A"/>
                </a:solidFill>
                <a:latin typeface="Noto Sans KR"/>
                <a:ea typeface="Noto Sans KR"/>
                <a:cs typeface="Noto Sans KR"/>
              </a:defRPr>
            </a:pPr>
            <a:r>
              <a:rPr sz="1913" b="1">
                <a:solidFill>
                  <a:srgbClr val="1A1A1A"/>
                </a:solidFill>
                <a:latin typeface="Noto Sans KR"/>
                <a:ea typeface="Noto Sans KR"/>
                <a:cs typeface="Noto Sans KR"/>
              </a:rPr>
              <a:t>현장에서 겪은 운영 문제를</a:t>
            </a:r>
          </a:p>
          <a:p xmlns:a="http://schemas.openxmlformats.org/drawingml/2006/main">
            <a:pPr algn="l">
              <a:lnSpc>
                <a:spcPct val="125000"/>
              </a:lnSpc>
              <a:buNone/>
              <a:defRPr sz="1913" b="1">
                <a:solidFill>
                  <a:srgbClr val="1A1A1A"/>
                </a:solidFill>
                <a:latin typeface="Noto Sans KR"/>
                <a:ea typeface="Noto Sans KR"/>
                <a:cs typeface="Noto Sans KR"/>
              </a:defRPr>
            </a:pPr>
            <a:r>
              <a:rPr sz="1913" b="1">
                <a:solidFill>
                  <a:srgbClr val="1A1A1A"/>
                </a:solidFill>
                <a:latin typeface="Noto Sans KR"/>
                <a:ea typeface="Noto Sans KR"/>
                <a:cs typeface="Noto Sans KR"/>
              </a:rPr>
              <a:t>정책과 데이터 구조로 바꿔 실제로 돌아가게 만듭니다.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6176894F-BD73-4742-9BFF-ED9C3E7115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619250"/>
            <a:ext cx="6838950" cy="1295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125" b="0">
                <a:solidFill>
                  <a:srgbClr val="4E4E53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0">
                <a:solidFill>
                  <a:srgbClr val="4E4E53"/>
                </a:solidFill>
                <a:latin typeface="Noto Sans KR"/>
                <a:ea typeface="Noto Sans KR"/>
                <a:cs typeface="Noto Sans KR"/>
              </a:rPr>
              <a:t>아이베 SCM팀에서 수입·물류 실무를 하며 반복되는 오류와 병목을 직접 겪었습니다.</a:t>
            </a:r>
          </a:p>
          <a:p xmlns:a="http://schemas.openxmlformats.org/drawingml/2006/main">
            <a:pPr algn="l">
              <a:lnSpc>
                <a:spcPct val="125000"/>
              </a:lnSpc>
              <a:buNone/>
              <a:defRPr sz="1125" b="0">
                <a:solidFill>
                  <a:srgbClr val="4E4E53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0">
                <a:solidFill>
                  <a:srgbClr val="4E4E53"/>
                </a:solidFill>
                <a:latin typeface="Noto Sans KR"/>
                <a:ea typeface="Noto Sans KR"/>
                <a:cs typeface="Noto Sans KR"/>
              </a:rPr>
              <a:t>관세청 연동에서는 주문과 통관 데이터를 연결하는 기준을,</a:t>
            </a:r>
          </a:p>
          <a:p xmlns:a="http://schemas.openxmlformats.org/drawingml/2006/main">
            <a:pPr algn="l">
              <a:lnSpc>
                <a:spcPct val="125000"/>
              </a:lnSpc>
              <a:buNone/>
              <a:defRPr sz="1125" b="0">
                <a:solidFill>
                  <a:srgbClr val="4E4E53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0">
                <a:solidFill>
                  <a:srgbClr val="4E4E53"/>
                </a:solidFill>
                <a:latin typeface="Noto Sans KR"/>
                <a:ea typeface="Noto Sans KR"/>
                <a:cs typeface="Noto Sans KR"/>
              </a:rPr>
              <a:t>B2B 전용몰에서는 계약별 주문·결제 정책과 운영 검수 기준을 정했습니다.</a:t>
            </a:r>
          </a:p>
          <a:p xmlns:a="http://schemas.openxmlformats.org/drawingml/2006/main">
            <a:pPr algn="l">
              <a:lnSpc>
                <a:spcPct val="125000"/>
              </a:lnSpc>
              <a:buNone/>
              <a:defRPr sz="1125" b="0">
                <a:solidFill>
                  <a:srgbClr val="4E4E53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0">
                <a:solidFill>
                  <a:srgbClr val="4E4E53"/>
                </a:solidFill>
                <a:latin typeface="Noto Sans KR"/>
                <a:ea typeface="Noto Sans KR"/>
                <a:cs typeface="Noto Sans KR"/>
              </a:rPr>
              <a:t>개발사와 현업이 같은 결과를 확인할 수 있도록 문서와 검증 흐름을 만들었습니다.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A7DA2FCF-86EB-44F2-9134-08D82E4F1B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076575"/>
            <a:ext cx="6667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125" b="1">
                <a:solidFill>
                  <a:srgbClr val="21549B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1">
                <a:solidFill>
                  <a:srgbClr val="21549B"/>
                </a:solidFill>
                <a:latin typeface="Noto Sans KR"/>
                <a:ea typeface="Noto Sans KR"/>
                <a:cs typeface="Noto Sans KR"/>
              </a:rPr>
              <a:t>박종혁  /  PM 포트폴리오</a:t>
            </a:r>
          </a:p>
        </p:txBody>
      </p:sp>
      <p:sp>
        <p:nvSpPr>
          <p:cNvPr id="5" name="text-4">
            <a:extLst xmlns:a="http://schemas.openxmlformats.org/drawingml/2006/main">
              <a:ext uri="{FF2B5EF4-FFF2-40B4-BE49-F238E27FC236}">
                <a16:creationId xmlns:a16="http://schemas.microsoft.com/office/drawing/2014/main" id="{F2A7548A-90CD-4E45-9E82-962D90AE7E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48075"/>
            <a:ext cx="619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975" b="1">
                <a:solidFill>
                  <a:srgbClr val="77777E"/>
                </a:solidFill>
                <a:latin typeface="Noto Sans KR"/>
                <a:ea typeface="Noto Sans KR"/>
                <a:cs typeface="Noto Sans KR"/>
              </a:defRPr>
            </a:pPr>
            <a:r>
              <a:rPr sz="975" b="1">
                <a:solidFill>
                  <a:srgbClr val="77777E"/>
                </a:solidFill>
                <a:latin typeface="Noto Sans KR"/>
                <a:ea typeface="Noto Sans KR"/>
                <a:cs typeface="Noto Sans KR"/>
              </a:rPr>
              <a:t>강점</a:t>
            </a:r>
          </a:p>
        </p:txBody>
      </p:sp>
      <p:sp>
        <p:nvSpPr>
          <p:cNvPr id="6" name="text-5">
            <a:extLst xmlns:a="http://schemas.openxmlformats.org/drawingml/2006/main">
              <a:ext uri="{FF2B5EF4-FFF2-40B4-BE49-F238E27FC236}">
                <a16:creationId xmlns:a16="http://schemas.microsoft.com/office/drawing/2014/main" id="{79BB8508-8777-4085-A2C7-94CBDD157F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81450"/>
            <a:ext cx="190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050" b="1">
                <a:solidFill>
                  <a:srgbClr val="3483E8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1">
                <a:solidFill>
                  <a:srgbClr val="3483E8"/>
                </a:solidFill>
                <a:latin typeface="Noto Sans KR"/>
                <a:ea typeface="Noto Sans KR"/>
                <a:cs typeface="Noto Sans KR"/>
              </a:rPr>
              <a:t>01</a:t>
            </a:r>
          </a:p>
        </p:txBody>
      </p:sp>
      <p:sp>
        <p:nvSpPr>
          <p:cNvPr id="7" name="text-6">
            <a:extLst xmlns:a="http://schemas.openxmlformats.org/drawingml/2006/main">
              <a:ext uri="{FF2B5EF4-FFF2-40B4-BE49-F238E27FC236}">
                <a16:creationId xmlns:a16="http://schemas.microsoft.com/office/drawing/2014/main" id="{A1505FBA-BA6F-4D4F-964B-769B8D8407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95775"/>
            <a:ext cx="2076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500" b="1">
                <a:solidFill>
                  <a:srgbClr val="1A1A1A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1">
                <a:solidFill>
                  <a:srgbClr val="1A1A1A"/>
                </a:solidFill>
                <a:latin typeface="Noto Sans KR"/>
                <a:ea typeface="Noto Sans KR"/>
                <a:cs typeface="Noto Sans KR"/>
              </a:rPr>
              <a:t>현장 구조화</a:t>
            </a:r>
          </a:p>
        </p:txBody>
      </p:sp>
      <p:sp>
        <p:nvSpPr>
          <p:cNvPr id="8" name="text-7">
            <a:extLst xmlns:a="http://schemas.openxmlformats.org/drawingml/2006/main">
              <a:ext uri="{FF2B5EF4-FFF2-40B4-BE49-F238E27FC236}">
                <a16:creationId xmlns:a16="http://schemas.microsoft.com/office/drawing/2014/main" id="{A9C21B8A-D51A-4CA2-AC58-9867288AF3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86300"/>
            <a:ext cx="20764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013" b="0">
                <a:solidFill>
                  <a:srgbClr val="77777E"/>
                </a:solidFill>
                <a:latin typeface="Noto Sans KR"/>
                <a:ea typeface="Noto Sans KR"/>
                <a:cs typeface="Noto Sans KR"/>
              </a:defRPr>
            </a:pPr>
            <a:r>
              <a:rPr sz="1013" b="0">
                <a:solidFill>
                  <a:srgbClr val="77777E"/>
                </a:solidFill>
                <a:latin typeface="Noto Sans KR"/>
                <a:ea typeface="Noto Sans KR"/>
                <a:cs typeface="Noto Sans KR"/>
              </a:rPr>
              <a:t>반복 문의와 운영 예외를</a:t>
            </a:r>
          </a:p>
          <a:p xmlns:a="http://schemas.openxmlformats.org/drawingml/2006/main">
            <a:pPr algn="l">
              <a:lnSpc>
                <a:spcPct val="125000"/>
              </a:lnSpc>
              <a:buNone/>
              <a:defRPr sz="1013" b="0">
                <a:solidFill>
                  <a:srgbClr val="77777E"/>
                </a:solidFill>
                <a:latin typeface="Noto Sans KR"/>
                <a:ea typeface="Noto Sans KR"/>
                <a:cs typeface="Noto Sans KR"/>
              </a:defRPr>
            </a:pPr>
            <a:r>
              <a:rPr sz="1013" b="0">
                <a:solidFill>
                  <a:srgbClr val="77777E"/>
                </a:solidFill>
                <a:latin typeface="Noto Sans KR"/>
                <a:ea typeface="Noto Sans KR"/>
                <a:cs typeface="Noto Sans KR"/>
              </a:rPr>
              <a:t>정책과 요구사항으로 정리</a:t>
            </a:r>
          </a:p>
        </p:txBody>
      </p:sp>
      <p:sp>
        <p:nvSpPr>
          <p:cNvPr id="9" name="text-8">
            <a:extLst xmlns:a="http://schemas.openxmlformats.org/drawingml/2006/main">
              <a:ext uri="{FF2B5EF4-FFF2-40B4-BE49-F238E27FC236}">
                <a16:creationId xmlns:a16="http://schemas.microsoft.com/office/drawing/2014/main" id="{C0A16EFE-6744-413D-B717-81D2FA552B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48275"/>
            <a:ext cx="20764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863" b="1">
                <a:solidFill>
                  <a:srgbClr val="3483E8"/>
                </a:solidFill>
                <a:latin typeface="Noto Sans KR"/>
                <a:ea typeface="Noto Sans KR"/>
                <a:cs typeface="Noto Sans KR"/>
              </a:defRPr>
            </a:pPr>
            <a:r>
              <a:rPr sz="863" b="1">
                <a:solidFill>
                  <a:srgbClr val="3483E8"/>
                </a:solidFill>
                <a:latin typeface="Noto Sans KR"/>
                <a:ea typeface="Noto Sans KR"/>
                <a:cs typeface="Noto Sans KR"/>
              </a:rPr>
              <a:t>B2B · 계정별 주문 기준</a:t>
            </a:r>
          </a:p>
        </p:txBody>
      </p:sp>
      <p:sp>
        <p:nvSpPr>
          <p:cNvPr id="10" name="text-9">
            <a:extLst xmlns:a="http://schemas.openxmlformats.org/drawingml/2006/main">
              <a:ext uri="{FF2B5EF4-FFF2-40B4-BE49-F238E27FC236}">
                <a16:creationId xmlns:a16="http://schemas.microsoft.com/office/drawing/2014/main" id="{AF2719C6-1DC0-4276-A58F-655407DDBB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3981450"/>
            <a:ext cx="190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050" b="1">
                <a:solidFill>
                  <a:srgbClr val="3483E8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1">
                <a:solidFill>
                  <a:srgbClr val="3483E8"/>
                </a:solidFill>
                <a:latin typeface="Noto Sans KR"/>
                <a:ea typeface="Noto Sans KR"/>
                <a:cs typeface="Noto Sans KR"/>
              </a:rPr>
              <a:t>02</a:t>
            </a:r>
          </a:p>
        </p:txBody>
      </p:sp>
      <p:sp>
        <p:nvSpPr>
          <p:cNvPr id="11" name="text-10">
            <a:extLst xmlns:a="http://schemas.openxmlformats.org/drawingml/2006/main">
              <a:ext uri="{FF2B5EF4-FFF2-40B4-BE49-F238E27FC236}">
                <a16:creationId xmlns:a16="http://schemas.microsoft.com/office/drawing/2014/main" id="{894337E8-1F1B-4F03-A307-01C692A01C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4295775"/>
            <a:ext cx="2076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500" b="1">
                <a:solidFill>
                  <a:srgbClr val="1A1A1A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1">
                <a:solidFill>
                  <a:srgbClr val="1A1A1A"/>
                </a:solidFill>
                <a:latin typeface="Noto Sans KR"/>
                <a:ea typeface="Noto Sans KR"/>
                <a:cs typeface="Noto Sans KR"/>
              </a:rPr>
              <a:t>이해관계자 조율</a:t>
            </a:r>
          </a:p>
        </p:txBody>
      </p:sp>
      <p:sp>
        <p:nvSpPr>
          <p:cNvPr id="12" name="text-11">
            <a:extLst xmlns:a="http://schemas.openxmlformats.org/drawingml/2006/main">
              <a:ext uri="{FF2B5EF4-FFF2-40B4-BE49-F238E27FC236}">
                <a16:creationId xmlns:a16="http://schemas.microsoft.com/office/drawing/2014/main" id="{75D8D22D-76BA-41E7-9119-F8E03D839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4686300"/>
            <a:ext cx="20764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013" b="0">
                <a:solidFill>
                  <a:srgbClr val="77777E"/>
                </a:solidFill>
                <a:latin typeface="Noto Sans KR"/>
                <a:ea typeface="Noto Sans KR"/>
                <a:cs typeface="Noto Sans KR"/>
              </a:defRPr>
            </a:pPr>
            <a:r>
              <a:rPr sz="1013" b="0">
                <a:solidFill>
                  <a:srgbClr val="77777E"/>
                </a:solidFill>
                <a:latin typeface="Noto Sans KR"/>
                <a:ea typeface="Noto Sans KR"/>
                <a:cs typeface="Noto Sans KR"/>
              </a:rPr>
              <a:t>원천 데이터와 처리 책임을</a:t>
            </a:r>
          </a:p>
          <a:p xmlns:a="http://schemas.openxmlformats.org/drawingml/2006/main">
            <a:pPr algn="l">
              <a:lnSpc>
                <a:spcPct val="125000"/>
              </a:lnSpc>
              <a:buNone/>
              <a:defRPr sz="1013" b="0">
                <a:solidFill>
                  <a:srgbClr val="77777E"/>
                </a:solidFill>
                <a:latin typeface="Noto Sans KR"/>
                <a:ea typeface="Noto Sans KR"/>
                <a:cs typeface="Noto Sans KR"/>
              </a:defRPr>
            </a:pPr>
            <a:r>
              <a:rPr sz="1013" b="0">
                <a:solidFill>
                  <a:srgbClr val="77777E"/>
                </a:solidFill>
                <a:latin typeface="Noto Sans KR"/>
                <a:ea typeface="Noto Sans KR"/>
                <a:cs typeface="Noto Sans KR"/>
              </a:rPr>
              <a:t>개발사별로 구체화</a:t>
            </a:r>
          </a:p>
        </p:txBody>
      </p:sp>
      <p:sp>
        <p:nvSpPr>
          <p:cNvPr id="13" name="text-12">
            <a:extLst xmlns:a="http://schemas.openxmlformats.org/drawingml/2006/main">
              <a:ext uri="{FF2B5EF4-FFF2-40B4-BE49-F238E27FC236}">
                <a16:creationId xmlns:a16="http://schemas.microsoft.com/office/drawing/2014/main" id="{504C33E8-560A-4296-859D-F9209374A9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5248275"/>
            <a:ext cx="20764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863" b="1">
                <a:solidFill>
                  <a:srgbClr val="3483E8"/>
                </a:solidFill>
                <a:latin typeface="Noto Sans KR"/>
                <a:ea typeface="Noto Sans KR"/>
                <a:cs typeface="Noto Sans KR"/>
              </a:defRPr>
            </a:pPr>
            <a:r>
              <a:rPr sz="863" b="1">
                <a:solidFill>
                  <a:srgbClr val="3483E8"/>
                </a:solidFill>
                <a:latin typeface="Noto Sans KR"/>
                <a:ea typeface="Noto Sans KR"/>
                <a:cs typeface="Noto Sans KR"/>
              </a:rPr>
              <a:t>관세청 · 주문과 포장 분리</a:t>
            </a:r>
          </a:p>
        </p:txBody>
      </p:sp>
      <p:sp>
        <p:nvSpPr>
          <p:cNvPr id="14" name="text-13">
            <a:extLst xmlns:a="http://schemas.openxmlformats.org/drawingml/2006/main">
              <a:ext uri="{FF2B5EF4-FFF2-40B4-BE49-F238E27FC236}">
                <a16:creationId xmlns:a16="http://schemas.microsoft.com/office/drawing/2014/main" id="{768A8EB3-EE7F-4F21-930E-5436A69147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3981450"/>
            <a:ext cx="190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050" b="1">
                <a:solidFill>
                  <a:srgbClr val="3483E8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1">
                <a:solidFill>
                  <a:srgbClr val="3483E8"/>
                </a:solidFill>
                <a:latin typeface="Noto Sans KR"/>
                <a:ea typeface="Noto Sans KR"/>
                <a:cs typeface="Noto Sans KR"/>
              </a:rPr>
              <a:t>03</a:t>
            </a:r>
          </a:p>
        </p:txBody>
      </p:sp>
      <p:sp>
        <p:nvSpPr>
          <p:cNvPr id="15" name="text-14">
            <a:extLst xmlns:a="http://schemas.openxmlformats.org/drawingml/2006/main">
              <a:ext uri="{FF2B5EF4-FFF2-40B4-BE49-F238E27FC236}">
                <a16:creationId xmlns:a16="http://schemas.microsoft.com/office/drawing/2014/main" id="{C9E716E0-AEEE-4492-A9FE-4F899684BE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4295775"/>
            <a:ext cx="2076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500" b="1">
                <a:solidFill>
                  <a:srgbClr val="1A1A1A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1">
                <a:solidFill>
                  <a:srgbClr val="1A1A1A"/>
                </a:solidFill>
                <a:latin typeface="Noto Sans KR"/>
                <a:ea typeface="Noto Sans KR"/>
                <a:cs typeface="Noto Sans KR"/>
              </a:rPr>
              <a:t>운영 검증</a:t>
            </a:r>
          </a:p>
        </p:txBody>
      </p:sp>
      <p:sp>
        <p:nvSpPr>
          <p:cNvPr id="16" name="text-15">
            <a:extLst xmlns:a="http://schemas.openxmlformats.org/drawingml/2006/main">
              <a:ext uri="{FF2B5EF4-FFF2-40B4-BE49-F238E27FC236}">
                <a16:creationId xmlns:a16="http://schemas.microsoft.com/office/drawing/2014/main" id="{BE75B1FE-B903-4560-AF30-23D03829E3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4686300"/>
            <a:ext cx="20764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013" b="0">
                <a:solidFill>
                  <a:srgbClr val="77777E"/>
                </a:solidFill>
                <a:latin typeface="Noto Sans KR"/>
                <a:ea typeface="Noto Sans KR"/>
                <a:cs typeface="Noto Sans KR"/>
              </a:defRPr>
            </a:pPr>
            <a:r>
              <a:rPr sz="1013" b="0">
                <a:solidFill>
                  <a:srgbClr val="77777E"/>
                </a:solidFill>
                <a:latin typeface="Noto Sans KR"/>
                <a:ea typeface="Noto Sans KR"/>
                <a:cs typeface="Noto Sans KR"/>
              </a:rPr>
              <a:t>배포 후 고객 화면과</a:t>
            </a:r>
          </a:p>
          <a:p xmlns:a="http://schemas.openxmlformats.org/drawingml/2006/main">
            <a:pPr algn="l">
              <a:lnSpc>
                <a:spcPct val="125000"/>
              </a:lnSpc>
              <a:buNone/>
              <a:defRPr sz="1013" b="0">
                <a:solidFill>
                  <a:srgbClr val="77777E"/>
                </a:solidFill>
                <a:latin typeface="Noto Sans KR"/>
                <a:ea typeface="Noto Sans KR"/>
                <a:cs typeface="Noto Sans KR"/>
              </a:defRPr>
            </a:pPr>
            <a:r>
              <a:rPr sz="1013" b="0">
                <a:solidFill>
                  <a:srgbClr val="77777E"/>
                </a:solidFill>
                <a:latin typeface="Noto Sans KR"/>
                <a:ea typeface="Noto Sans KR"/>
                <a:cs typeface="Noto Sans KR"/>
              </a:rPr>
              <a:t>오류 복구까지 확인</a:t>
            </a:r>
          </a:p>
        </p:txBody>
      </p:sp>
      <p:sp>
        <p:nvSpPr>
          <p:cNvPr id="17" name="text-16">
            <a:extLst xmlns:a="http://schemas.openxmlformats.org/drawingml/2006/main">
              <a:ext uri="{FF2B5EF4-FFF2-40B4-BE49-F238E27FC236}">
                <a16:creationId xmlns:a16="http://schemas.microsoft.com/office/drawing/2014/main" id="{84FFE288-3B85-4160-B658-A911906721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5248275"/>
            <a:ext cx="20764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863" b="1">
                <a:solidFill>
                  <a:srgbClr val="3483E8"/>
                </a:solidFill>
                <a:latin typeface="Noto Sans KR"/>
                <a:ea typeface="Noto Sans KR"/>
                <a:cs typeface="Noto Sans KR"/>
              </a:defRPr>
            </a:pPr>
            <a:r>
              <a:rPr sz="863" b="1">
                <a:solidFill>
                  <a:srgbClr val="3483E8"/>
                </a:solidFill>
                <a:latin typeface="Noto Sans KR"/>
                <a:ea typeface="Noto Sans KR"/>
                <a:cs typeface="Noto Sans KR"/>
              </a:rPr>
              <a:t>공통 · 기대 결과로 검수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4894FA9-4BA7-4558-969C-1EC21B7E0D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43575"/>
            <a:ext cx="3286125" cy="647700"/>
          </a:xfrm>
          <a:prstGeom xmlns:a="http://schemas.openxmlformats.org/drawingml/2006/main" prst="roundRect">
            <a:avLst>
              <a:gd name="adj" fmla="val 735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9E0"/>
            </a:solidFill>
          </a:ln>
        </p:spPr>
        <p:txBody>
          <a:bodyPr xmlns:a="http://schemas.openxmlformats.org/drawingml/2006/main" wrap="square" lIns="114300" tIns="76200" rIns="114300" bIns="7620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088" b="1">
                <a:solidFill>
                  <a:srgbClr val="21549B"/>
                </a:solidFill>
                <a:latin typeface="Noto Sans KR"/>
                <a:ea typeface="Noto Sans KR"/>
                <a:cs typeface="Noto Sans KR"/>
              </a:defRPr>
            </a:pPr>
            <a:r>
              <a:rPr sz="1088" b="1">
                <a:solidFill>
                  <a:srgbClr val="21549B"/>
                </a:solidFill>
                <a:latin typeface="Noto Sans KR"/>
                <a:ea typeface="Noto Sans KR"/>
                <a:cs typeface="Noto Sans KR"/>
              </a:rPr>
              <a:t>01   관세청 통관 연동</a:t>
            </a:r>
          </a:p>
          <a:p xmlns:a="http://schemas.openxmlformats.org/drawingml/2006/main">
            <a:pPr algn="l">
              <a:lnSpc>
                <a:spcPct val="120000"/>
              </a:lnSpc>
              <a:buNone/>
              <a:defRPr sz="1088" b="1">
                <a:solidFill>
                  <a:srgbClr val="21549B"/>
                </a:solidFill>
                <a:latin typeface="Noto Sans KR"/>
                <a:ea typeface="Noto Sans KR"/>
                <a:cs typeface="Noto Sans KR"/>
              </a:defRPr>
            </a:pPr>
            <a:r>
              <a:rPr sz="1088" b="1">
                <a:solidFill>
                  <a:srgbClr val="21549B"/>
                </a:solidFill>
                <a:latin typeface="Noto Sans KR"/>
                <a:ea typeface="Noto Sans KR"/>
                <a:cs typeface="Noto Sans KR"/>
              </a:rPr>
              <a:t>다자간 데이터 계약과 오류 복구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F0C3E12-614E-4BDF-BF3F-9BC77B8482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86225" y="5743575"/>
            <a:ext cx="3286125" cy="647700"/>
          </a:xfrm>
          <a:prstGeom xmlns:a="http://schemas.openxmlformats.org/drawingml/2006/main" prst="roundRect">
            <a:avLst>
              <a:gd name="adj" fmla="val 735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9E0"/>
            </a:solidFill>
          </a:ln>
        </p:spPr>
        <p:txBody>
          <a:bodyPr xmlns:a="http://schemas.openxmlformats.org/drawingml/2006/main" wrap="square" lIns="114300" tIns="76200" rIns="114300" bIns="7620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088" b="1">
                <a:solidFill>
                  <a:srgbClr val="206D4A"/>
                </a:solidFill>
                <a:latin typeface="Noto Sans KR"/>
                <a:ea typeface="Noto Sans KR"/>
                <a:cs typeface="Noto Sans KR"/>
              </a:defRPr>
            </a:pPr>
            <a:r>
              <a:rPr sz="1088" b="1">
                <a:solidFill>
                  <a:srgbClr val="206D4A"/>
                </a:solidFill>
                <a:latin typeface="Noto Sans KR"/>
                <a:ea typeface="Noto Sans KR"/>
                <a:cs typeface="Noto Sans KR"/>
              </a:rPr>
              <a:t>02   산후조리원 전용 B2B 몰</a:t>
            </a:r>
          </a:p>
          <a:p xmlns:a="http://schemas.openxmlformats.org/drawingml/2006/main">
            <a:pPr algn="l">
              <a:lnSpc>
                <a:spcPct val="120000"/>
              </a:lnSpc>
              <a:buNone/>
              <a:defRPr sz="1088" b="1">
                <a:solidFill>
                  <a:srgbClr val="206D4A"/>
                </a:solidFill>
                <a:latin typeface="Noto Sans KR"/>
                <a:ea typeface="Noto Sans KR"/>
                <a:cs typeface="Noto Sans KR"/>
              </a:defRPr>
            </a:pPr>
            <a:r>
              <a:rPr sz="1088" b="1">
                <a:solidFill>
                  <a:srgbClr val="206D4A"/>
                </a:solidFill>
                <a:latin typeface="Noto Sans KR"/>
                <a:ea typeface="Noto Sans KR"/>
                <a:cs typeface="Noto Sans KR"/>
              </a:rPr>
              <a:t>계정 정책과 고객·운영 흐름</a:t>
            </a:r>
          </a:p>
        </p:txBody>
      </p:sp>
      <p:pic>
        <p:nvPicPr>
          <p:cNvPr id="5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3b5daf793704445"/>
          <a:stretch xmlns:a="http://schemas.openxmlformats.org/drawingml/2006/main"/>
        </p:blipFill>
        <p:spPr>
          <a:xfrm xmlns:a="http://schemas.openxmlformats.org/drawingml/2006/main">
            <a:off x="8126852" y="828675"/>
            <a:ext cx="1491372" cy="2124075"/>
          </a:xfrm>
          <a:prstGeom xmlns:a="http://schemas.openxmlformats.org/drawingml/2006/main" prst="rect">
            <a:avLst/>
          </a:prstGeom>
        </p:spPr>
      </p:pic>
      <p:sp>
        <p:nvSpPr>
          <p:cNvPr id="21" name="text-19">
            <a:extLst xmlns:a="http://schemas.openxmlformats.org/drawingml/2006/main">
              <a:ext uri="{FF2B5EF4-FFF2-40B4-BE49-F238E27FC236}">
                <a16:creationId xmlns:a16="http://schemas.microsoft.com/office/drawing/2014/main" id="{A2607CF1-90B3-4C1A-9494-5F73491EDF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923925"/>
            <a:ext cx="1581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050" b="1">
                <a:solidFill>
                  <a:srgbClr val="21549B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1">
                <a:solidFill>
                  <a:srgbClr val="21549B"/>
                </a:solidFill>
                <a:latin typeface="Noto Sans KR"/>
                <a:ea typeface="Noto Sans KR"/>
                <a:cs typeface="Noto Sans KR"/>
              </a:rPr>
              <a:t>경력</a:t>
            </a:r>
          </a:p>
        </p:txBody>
      </p:sp>
      <p:sp>
        <p:nvSpPr>
          <p:cNvPr id="22" name="text-20">
            <a:extLst xmlns:a="http://schemas.openxmlformats.org/drawingml/2006/main">
              <a:ext uri="{FF2B5EF4-FFF2-40B4-BE49-F238E27FC236}">
                <a16:creationId xmlns:a16="http://schemas.microsoft.com/office/drawing/2014/main" id="{DAC8525F-2DB3-4FC7-8B48-53CD4280EB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1200150"/>
            <a:ext cx="1581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050" b="1">
                <a:solidFill>
                  <a:srgbClr val="1A1A1A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1">
                <a:solidFill>
                  <a:srgbClr val="1A1A1A"/>
                </a:solidFill>
                <a:latin typeface="Noto Sans KR"/>
                <a:ea typeface="Noto Sans KR"/>
                <a:cs typeface="Noto Sans KR"/>
              </a:rPr>
              <a:t>아이베 SCM팀</a:t>
            </a:r>
          </a:p>
        </p:txBody>
      </p:sp>
      <p:sp>
        <p:nvSpPr>
          <p:cNvPr id="23" name="text-21">
            <a:extLst xmlns:a="http://schemas.openxmlformats.org/drawingml/2006/main">
              <a:ext uri="{FF2B5EF4-FFF2-40B4-BE49-F238E27FC236}">
                <a16:creationId xmlns:a16="http://schemas.microsoft.com/office/drawing/2014/main" id="{028CD226-E66A-45E5-8D4D-0C7BFCDA27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1466850"/>
            <a:ext cx="158115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900" b="0">
                <a:solidFill>
                  <a:srgbClr val="77777E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0">
                <a:solidFill>
                  <a:srgbClr val="77777E"/>
                </a:solidFill>
                <a:latin typeface="Noto Sans KR"/>
                <a:ea typeface="Noto Sans KR"/>
                <a:cs typeface="Noto Sans KR"/>
              </a:rPr>
              <a:t>2025-09-08 ~ 재직 중</a:t>
            </a:r>
          </a:p>
          <a:p xmlns:a="http://schemas.openxmlformats.org/drawingml/2006/main">
            <a:pPr algn="l">
              <a:lnSpc>
                <a:spcPct val="125000"/>
              </a:lnSpc>
              <a:buNone/>
              <a:defRPr sz="900" b="0">
                <a:solidFill>
                  <a:srgbClr val="77777E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0">
                <a:solidFill>
                  <a:srgbClr val="77777E"/>
                </a:solidFill>
                <a:latin typeface="Noto Sans KR"/>
                <a:ea typeface="Noto Sans KR"/>
                <a:cs typeface="Noto Sans KR"/>
              </a:rPr>
              <a:t>SCM 실무·프로젝트 PM</a:t>
            </a:r>
          </a:p>
        </p:txBody>
      </p:sp>
      <p:sp>
        <p:nvSpPr>
          <p:cNvPr id="24" name="text-22">
            <a:extLst xmlns:a="http://schemas.openxmlformats.org/drawingml/2006/main">
              <a:ext uri="{FF2B5EF4-FFF2-40B4-BE49-F238E27FC236}">
                <a16:creationId xmlns:a16="http://schemas.microsoft.com/office/drawing/2014/main" id="{4CABEDD0-9045-49B8-B915-F45E65CDF5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2105025"/>
            <a:ext cx="15716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050" b="1">
                <a:solidFill>
                  <a:srgbClr val="21549B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1">
                <a:solidFill>
                  <a:srgbClr val="21549B"/>
                </a:solidFill>
                <a:latin typeface="Noto Sans KR"/>
                <a:ea typeface="Noto Sans KR"/>
                <a:cs typeface="Noto Sans KR"/>
              </a:rPr>
              <a:t>학력</a:t>
            </a:r>
          </a:p>
        </p:txBody>
      </p:sp>
      <p:sp>
        <p:nvSpPr>
          <p:cNvPr id="25" name="text-23">
            <a:extLst xmlns:a="http://schemas.openxmlformats.org/drawingml/2006/main">
              <a:ext uri="{FF2B5EF4-FFF2-40B4-BE49-F238E27FC236}">
                <a16:creationId xmlns:a16="http://schemas.microsoft.com/office/drawing/2014/main" id="{A024E9C1-4BEF-4B8A-BD33-5827573DA8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2381250"/>
            <a:ext cx="15811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878" b="0">
                <a:solidFill>
                  <a:srgbClr val="77777E"/>
                </a:solidFill>
                <a:latin typeface="Noto Sans KR"/>
                <a:ea typeface="Noto Sans KR"/>
                <a:cs typeface="Noto Sans KR"/>
              </a:defRPr>
            </a:pPr>
            <a:r>
              <a:rPr sz="878" b="0">
                <a:solidFill>
                  <a:srgbClr val="77777E"/>
                </a:solidFill>
                <a:latin typeface="Noto Sans KR"/>
                <a:ea typeface="Noto Sans KR"/>
                <a:cs typeface="Noto Sans KR"/>
              </a:rPr>
              <a:t>고려사이버대학교</a:t>
            </a:r>
          </a:p>
          <a:p xmlns:a="http://schemas.openxmlformats.org/drawingml/2006/main">
            <a:pPr algn="l">
              <a:lnSpc>
                <a:spcPct val="125000"/>
              </a:lnSpc>
              <a:buNone/>
              <a:defRPr sz="878" b="0">
                <a:solidFill>
                  <a:srgbClr val="77777E"/>
                </a:solidFill>
                <a:latin typeface="Noto Sans KR"/>
                <a:ea typeface="Noto Sans KR"/>
                <a:cs typeface="Noto Sans KR"/>
              </a:defRPr>
            </a:pPr>
            <a:r>
              <a:rPr sz="878" b="0">
                <a:solidFill>
                  <a:srgbClr val="77777E"/>
                </a:solidFill>
                <a:latin typeface="Noto Sans KR"/>
                <a:ea typeface="Noto Sans KR"/>
                <a:cs typeface="Noto Sans KR"/>
              </a:rPr>
              <a:t>AI·데이터과학부 재학</a:t>
            </a:r>
          </a:p>
          <a:p xmlns:a="http://schemas.openxmlformats.org/drawingml/2006/main">
            <a:pPr algn="l">
              <a:lnSpc>
                <a:spcPct val="125000"/>
              </a:lnSpc>
              <a:buNone/>
              <a:defRPr sz="878" b="0">
                <a:solidFill>
                  <a:srgbClr val="77777E"/>
                </a:solidFill>
                <a:latin typeface="Noto Sans KR"/>
                <a:ea typeface="Noto Sans KR"/>
                <a:cs typeface="Noto Sans KR"/>
              </a:defRPr>
            </a:pPr>
            <a:r>
              <a:rPr sz="878" b="0">
                <a:solidFill>
                  <a:srgbClr val="77777E"/>
                </a:solidFill>
                <a:latin typeface="Noto Sans KR"/>
                <a:ea typeface="Noto Sans KR"/>
                <a:cs typeface="Noto Sans KR"/>
              </a:rPr>
              <a:t>2025-02 편입</a:t>
            </a:r>
          </a:p>
        </p:txBody>
      </p:sp>
      <p:sp>
        <p:nvSpPr>
          <p:cNvPr id="26" name="text-24">
            <a:extLst xmlns:a="http://schemas.openxmlformats.org/drawingml/2006/main">
              <a:ext uri="{FF2B5EF4-FFF2-40B4-BE49-F238E27FC236}">
                <a16:creationId xmlns:a16="http://schemas.microsoft.com/office/drawing/2014/main" id="{6B3ECC64-0F0E-4E3A-BED4-F3DC7414E5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3105150"/>
            <a:ext cx="15811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878" b="0">
                <a:solidFill>
                  <a:srgbClr val="77777E"/>
                </a:solidFill>
                <a:latin typeface="Noto Sans KR"/>
                <a:ea typeface="Noto Sans KR"/>
                <a:cs typeface="Noto Sans KR"/>
              </a:defRPr>
            </a:pPr>
            <a:r>
              <a:rPr sz="878" b="0">
                <a:solidFill>
                  <a:srgbClr val="77777E"/>
                </a:solidFill>
                <a:latin typeface="Noto Sans KR"/>
                <a:ea typeface="Noto Sans KR"/>
                <a:cs typeface="Noto Sans KR"/>
              </a:rPr>
              <a:t>부천대 컴퓨터소프트웨어과</a:t>
            </a:r>
          </a:p>
          <a:p xmlns:a="http://schemas.openxmlformats.org/drawingml/2006/main">
            <a:pPr algn="l">
              <a:lnSpc>
                <a:spcPct val="125000"/>
              </a:lnSpc>
              <a:buNone/>
              <a:defRPr sz="878" b="0">
                <a:solidFill>
                  <a:srgbClr val="77777E"/>
                </a:solidFill>
                <a:latin typeface="Noto Sans KR"/>
                <a:ea typeface="Noto Sans KR"/>
                <a:cs typeface="Noto Sans KR"/>
              </a:defRPr>
            </a:pPr>
            <a:r>
              <a:rPr sz="878" b="0">
                <a:solidFill>
                  <a:srgbClr val="77777E"/>
                </a:solidFill>
                <a:latin typeface="Noto Sans KR"/>
                <a:ea typeface="Noto Sans KR"/>
                <a:cs typeface="Noto Sans KR"/>
              </a:rPr>
              <a:t>2019-03 ~ 2024-02 졸업</a:t>
            </a:r>
          </a:p>
        </p:txBody>
      </p:sp>
      <p:sp>
        <p:nvSpPr>
          <p:cNvPr id="27" name="text-25">
            <a:extLst xmlns:a="http://schemas.openxmlformats.org/drawingml/2006/main">
              <a:ext uri="{FF2B5EF4-FFF2-40B4-BE49-F238E27FC236}">
                <a16:creationId xmlns:a16="http://schemas.microsoft.com/office/drawing/2014/main" id="{F5F66A04-5B59-4461-80C0-0F92E64048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3848100"/>
            <a:ext cx="3181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350" b="1">
                <a:solidFill>
                  <a:srgbClr val="21549B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1">
                <a:solidFill>
                  <a:srgbClr val="21549B"/>
                </a:solidFill>
                <a:latin typeface="Noto Sans KR"/>
                <a:ea typeface="Noto Sans KR"/>
                <a:cs typeface="Noto Sans KR"/>
              </a:rPr>
              <a:t>SKILL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86D45F6-4921-4211-A58A-186CCDA689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4257675"/>
            <a:ext cx="628650" cy="228600"/>
          </a:xfrm>
          <a:prstGeom xmlns:a="http://schemas.openxmlformats.org/drawingml/2006/main" prst="roundRect">
            <a:avLst>
              <a:gd name="adj" fmla="val 20833"/>
            </a:avLst>
          </a:prstGeom>
          <a:solidFill xmlns:a="http://schemas.openxmlformats.org/drawingml/2006/main">
            <a:srgbClr val="E9F1FC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114300" tIns="47625" rIns="114300" bIns="476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900" b="1">
                <a:solidFill>
                  <a:srgbClr val="21549B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1">
                <a:solidFill>
                  <a:srgbClr val="21549B"/>
                </a:solidFill>
                <a:latin typeface="Noto Sans KR"/>
                <a:ea typeface="Noto Sans KR"/>
                <a:cs typeface="Noto Sans KR"/>
              </a:rPr>
              <a:t>기획</a:t>
            </a:r>
          </a:p>
        </p:txBody>
      </p:sp>
      <p:sp>
        <p:nvSpPr>
          <p:cNvPr id="29" name="text-27">
            <a:extLst xmlns:a="http://schemas.openxmlformats.org/drawingml/2006/main">
              <a:ext uri="{FF2B5EF4-FFF2-40B4-BE49-F238E27FC236}">
                <a16:creationId xmlns:a16="http://schemas.microsoft.com/office/drawing/2014/main" id="{FADB4B22-09AE-486A-9545-331F65D738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4619625"/>
            <a:ext cx="32861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975" b="0">
                <a:solidFill>
                  <a:srgbClr val="4E4E53"/>
                </a:solidFill>
                <a:latin typeface="Noto Sans KR"/>
                <a:ea typeface="Noto Sans KR"/>
                <a:cs typeface="Noto Sans KR"/>
              </a:defRPr>
            </a:pPr>
            <a:r>
              <a:rPr sz="975" b="0">
                <a:solidFill>
                  <a:srgbClr val="4E4E53"/>
                </a:solidFill>
                <a:latin typeface="Noto Sans KR"/>
                <a:ea typeface="Noto Sans KR"/>
                <a:cs typeface="Noto Sans KR"/>
              </a:rPr>
              <a:t>요구사항 정의, 정책 설계, 데이터 흐름, QA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EE1EE4A-3804-4D21-96DF-321CDB367D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5133975"/>
            <a:ext cx="628650" cy="228600"/>
          </a:xfrm>
          <a:prstGeom xmlns:a="http://schemas.openxmlformats.org/drawingml/2006/main" prst="roundRect">
            <a:avLst>
              <a:gd name="adj" fmla="val 20833"/>
            </a:avLst>
          </a:prstGeom>
          <a:solidFill xmlns:a="http://schemas.openxmlformats.org/drawingml/2006/main">
            <a:srgbClr val="E9F1FC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114300" tIns="47625" rIns="114300" bIns="476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900" b="1">
                <a:solidFill>
                  <a:srgbClr val="21549B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1">
                <a:solidFill>
                  <a:srgbClr val="21549B"/>
                </a:solidFill>
                <a:latin typeface="Noto Sans KR"/>
                <a:ea typeface="Noto Sans KR"/>
                <a:cs typeface="Noto Sans KR"/>
              </a:rPr>
              <a:t>기술</a:t>
            </a:r>
          </a:p>
        </p:txBody>
      </p:sp>
      <p:sp>
        <p:nvSpPr>
          <p:cNvPr id="31" name="text-29">
            <a:extLst xmlns:a="http://schemas.openxmlformats.org/drawingml/2006/main">
              <a:ext uri="{FF2B5EF4-FFF2-40B4-BE49-F238E27FC236}">
                <a16:creationId xmlns:a16="http://schemas.microsoft.com/office/drawing/2014/main" id="{7697422B-ACE0-4892-8C1D-6EB11A8739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5495925"/>
            <a:ext cx="3286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975" b="0">
                <a:solidFill>
                  <a:srgbClr val="4E4E53"/>
                </a:solidFill>
                <a:latin typeface="Noto Sans KR"/>
                <a:ea typeface="Noto Sans KR"/>
                <a:cs typeface="Noto Sans KR"/>
              </a:defRPr>
            </a:pPr>
            <a:r>
              <a:rPr sz="975" b="0">
                <a:solidFill>
                  <a:srgbClr val="4E4E53"/>
                </a:solidFill>
                <a:latin typeface="Noto Sans KR"/>
                <a:ea typeface="Noto Sans KR"/>
                <a:cs typeface="Noto Sans KR"/>
              </a:rPr>
              <a:t>Python, SQL, REST API, Git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0B7F863-B86B-4EEB-A642-45801C7D75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5943600"/>
            <a:ext cx="628650" cy="228600"/>
          </a:xfrm>
          <a:prstGeom xmlns:a="http://schemas.openxmlformats.org/drawingml/2006/main" prst="roundRect">
            <a:avLst>
              <a:gd name="adj" fmla="val 20833"/>
            </a:avLst>
          </a:prstGeom>
          <a:solidFill xmlns:a="http://schemas.openxmlformats.org/drawingml/2006/main">
            <a:srgbClr val="E9F1FC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114300" tIns="47625" rIns="114300" bIns="476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900" b="1">
                <a:solidFill>
                  <a:srgbClr val="21549B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1">
                <a:solidFill>
                  <a:srgbClr val="21549B"/>
                </a:solidFill>
                <a:latin typeface="Noto Sans KR"/>
                <a:ea typeface="Noto Sans KR"/>
                <a:cs typeface="Noto Sans KR"/>
              </a:rPr>
              <a:t>운영</a:t>
            </a:r>
          </a:p>
        </p:txBody>
      </p:sp>
      <p:sp>
        <p:nvSpPr>
          <p:cNvPr id="33" name="text-31">
            <a:extLst xmlns:a="http://schemas.openxmlformats.org/drawingml/2006/main">
              <a:ext uri="{FF2B5EF4-FFF2-40B4-BE49-F238E27FC236}">
                <a16:creationId xmlns:a16="http://schemas.microsoft.com/office/drawing/2014/main" id="{50A90BBC-3F02-4174-BEAE-63FC572332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6296025"/>
            <a:ext cx="3286125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975" b="0">
                <a:solidFill>
                  <a:srgbClr val="4E4E53"/>
                </a:solidFill>
                <a:latin typeface="Noto Sans KR"/>
                <a:ea typeface="Noto Sans KR"/>
                <a:cs typeface="Noto Sans KR"/>
              </a:defRPr>
            </a:pPr>
            <a:r>
              <a:rPr sz="975" b="0">
                <a:solidFill>
                  <a:srgbClr val="4E4E53"/>
                </a:solidFill>
                <a:latin typeface="Noto Sans KR"/>
                <a:ea typeface="Noto Sans KR"/>
                <a:cs typeface="Noto Sans KR"/>
              </a:rPr>
              <a:t>개발사 조율, 운영 피드백, 지표와 검수 기준</a:t>
            </a:r>
          </a:p>
        </p:txBody>
      </p:sp>
    </p:spTree>
    <p:extLst>
      <p:ext uri="{BB962C8B-B14F-4D97-AF65-F5344CB8AC3E}">
        <p14:creationId xmlns:p14="http://schemas.microsoft.com/office/powerpoint/2010/main" val="153723469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text-0">
            <a:extLst xmlns:a="http://schemas.openxmlformats.org/drawingml/2006/main">
              <a:ext uri="{FF2B5EF4-FFF2-40B4-BE49-F238E27FC236}">
                <a16:creationId xmlns:a16="http://schemas.microsoft.com/office/drawing/2014/main" id="{3DA55D58-7AA7-4F19-9F26-71A72258D6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87075" y="285750"/>
            <a:ext cx="6953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25000"/>
              </a:lnSpc>
              <a:buNone/>
              <a:defRPr sz="788" b="0">
                <a:solidFill>
                  <a:srgbClr val="92929A"/>
                </a:solidFill>
                <a:latin typeface="Noto Sans KR"/>
                <a:ea typeface="Noto Sans KR"/>
                <a:cs typeface="Noto Sans KR"/>
              </a:defRPr>
            </a:pPr>
            <a:r>
              <a:rPr sz="788" b="0">
                <a:solidFill>
                  <a:srgbClr val="92929A"/>
                </a:solidFill>
                <a:latin typeface="Noto Sans KR"/>
                <a:ea typeface="Noto Sans KR"/>
                <a:cs typeface="Noto Sans KR"/>
              </a:rPr>
              <a:t>02 / 22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70E77DA3-5510-42D7-99B6-DC2D02F39C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47950"/>
            <a:ext cx="2857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200" b="0">
                <a:solidFill>
                  <a:srgbClr val="77777E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0">
                <a:solidFill>
                  <a:srgbClr val="77777E"/>
                </a:solidFill>
                <a:latin typeface="Noto Sans KR"/>
                <a:ea typeface="Noto Sans KR"/>
                <a:cs typeface="Noto Sans KR"/>
              </a:rPr>
              <a:t>Portfolio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E578E654-CDE1-42B3-8526-7D75273EF8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81325"/>
            <a:ext cx="3238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3450" b="1">
                <a:solidFill>
                  <a:srgbClr val="1A1A1A"/>
                </a:solidFill>
                <a:latin typeface="Noto Sans KR"/>
                <a:ea typeface="Noto Sans KR"/>
                <a:cs typeface="Noto Sans KR"/>
              </a:defRPr>
            </a:pPr>
            <a:r>
              <a:rPr sz="3450" b="1">
                <a:solidFill>
                  <a:srgbClr val="1A1A1A"/>
                </a:solidFill>
                <a:latin typeface="Noto Sans KR"/>
                <a:ea typeface="Noto Sans KR"/>
                <a:cs typeface="Noto Sans KR"/>
              </a:rPr>
              <a:t>Project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B965A69A-BDA1-43E9-B72C-70684CA805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1657350"/>
            <a:ext cx="866775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3300" b="1">
                <a:solidFill>
                  <a:srgbClr val="E9E9EE"/>
                </a:solidFill>
                <a:latin typeface="Noto Sans KR"/>
                <a:ea typeface="Noto Sans KR"/>
                <a:cs typeface="Noto Sans KR"/>
              </a:defRPr>
            </a:pPr>
            <a:r>
              <a:rPr sz="3300" b="1">
                <a:solidFill>
                  <a:srgbClr val="E9E9EE"/>
                </a:solidFill>
                <a:latin typeface="Noto Sans KR"/>
                <a:ea typeface="Noto Sans KR"/>
                <a:cs typeface="Noto Sans KR"/>
              </a:rPr>
              <a:t>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DF3C840-9160-4F8A-AA73-33CEA3597A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1724025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1549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114300" tIns="47625" rIns="114300" bIns="47625" anchor="ctr">
            <a:no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7B76F90-B8F1-4DA6-9E53-5F49B57F1D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62575" y="1924050"/>
            <a:ext cx="9525" cy="0"/>
          </a:xfrm>
          <a:prstGeom xmlns:a="http://schemas.openxmlformats.org/drawingml/2006/main" prst="line">
            <a:avLst/>
          </a:prstGeom>
          <a:ln xmlns:a="http://schemas.openxmlformats.org/drawingml/2006/main" w="7620">
            <a:solidFill>
              <a:srgbClr val="D9D9E0"/>
            </a:solidFill>
          </a:ln>
        </p:spPr>
      </p:sp>
      <p:sp>
        <p:nvSpPr>
          <p:cNvPr id="7" name="text-6">
            <a:extLst xmlns:a="http://schemas.openxmlformats.org/drawingml/2006/main">
              <a:ext uri="{FF2B5EF4-FFF2-40B4-BE49-F238E27FC236}">
                <a16:creationId xmlns:a16="http://schemas.microsoft.com/office/drawing/2014/main" id="{7BBA7501-2160-438C-A36B-A02397976B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1628775"/>
            <a:ext cx="40481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125" b="1">
                <a:solidFill>
                  <a:srgbClr val="21549B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1">
                <a:solidFill>
                  <a:srgbClr val="21549B"/>
                </a:solidFill>
                <a:latin typeface="Noto Sans KR"/>
                <a:ea typeface="Noto Sans KR"/>
                <a:cs typeface="Noto Sans KR"/>
              </a:rPr>
              <a:t>규제 대응</a:t>
            </a:r>
          </a:p>
        </p:txBody>
      </p:sp>
      <p:sp>
        <p:nvSpPr>
          <p:cNvPr id="8" name="text-7">
            <a:extLst xmlns:a="http://schemas.openxmlformats.org/drawingml/2006/main">
              <a:ext uri="{FF2B5EF4-FFF2-40B4-BE49-F238E27FC236}">
                <a16:creationId xmlns:a16="http://schemas.microsoft.com/office/drawing/2014/main" id="{A5E77F6B-9DCC-41A4-B381-ECB22B0EEF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1933575"/>
            <a:ext cx="5429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875" b="1">
                <a:solidFill>
                  <a:srgbClr val="1A1A1A"/>
                </a:solidFill>
                <a:latin typeface="Noto Sans KR"/>
                <a:ea typeface="Noto Sans KR"/>
                <a:cs typeface="Noto Sans KR"/>
              </a:defRPr>
            </a:pPr>
            <a:r>
              <a:rPr sz="1875" b="1">
                <a:solidFill>
                  <a:srgbClr val="1A1A1A"/>
                </a:solidFill>
                <a:latin typeface="Noto Sans KR"/>
                <a:ea typeface="Noto Sans KR"/>
                <a:cs typeface="Noto Sans KR"/>
              </a:rPr>
              <a:t>관세청 통관 연동</a:t>
            </a:r>
          </a:p>
        </p:txBody>
      </p:sp>
      <p:sp>
        <p:nvSpPr>
          <p:cNvPr id="9" name="text-8">
            <a:extLst xmlns:a="http://schemas.openxmlformats.org/drawingml/2006/main">
              <a:ext uri="{FF2B5EF4-FFF2-40B4-BE49-F238E27FC236}">
                <a16:creationId xmlns:a16="http://schemas.microsoft.com/office/drawing/2014/main" id="{DC8195E4-A139-4FC1-B503-C61F168E88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2438400"/>
            <a:ext cx="554355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088" b="0">
                <a:solidFill>
                  <a:srgbClr val="4E4E53"/>
                </a:solidFill>
                <a:latin typeface="Noto Sans KR"/>
                <a:ea typeface="Noto Sans KR"/>
                <a:cs typeface="Noto Sans KR"/>
              </a:defRPr>
            </a:pPr>
            <a:r>
              <a:rPr sz="1088" b="0">
                <a:solidFill>
                  <a:srgbClr val="4E4E53"/>
                </a:solidFill>
                <a:latin typeface="Noto Sans KR"/>
                <a:ea typeface="Noto Sans KR"/>
                <a:cs typeface="Noto Sans KR"/>
              </a:rPr>
              <a:t>p 03–11   주문·포장·통관 데이터를 연결하는 기준과 오류 복구</a:t>
            </a:r>
          </a:p>
        </p:txBody>
      </p:sp>
      <p:sp>
        <p:nvSpPr>
          <p:cNvPr id="10" name="text-9">
            <a:extLst xmlns:a="http://schemas.openxmlformats.org/drawingml/2006/main">
              <a:ext uri="{FF2B5EF4-FFF2-40B4-BE49-F238E27FC236}">
                <a16:creationId xmlns:a16="http://schemas.microsoft.com/office/drawing/2014/main" id="{F39620D4-9E0E-4F9E-9089-99C16B03FE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2952750"/>
            <a:ext cx="5524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938" b="0">
                <a:solidFill>
                  <a:srgbClr val="77777E"/>
                </a:solidFill>
                <a:latin typeface="Noto Sans KR"/>
                <a:ea typeface="Noto Sans KR"/>
                <a:cs typeface="Noto Sans KR"/>
              </a:defRPr>
            </a:pPr>
            <a:r>
              <a:rPr sz="938" b="0">
                <a:solidFill>
                  <a:srgbClr val="77777E"/>
                </a:solidFill>
                <a:latin typeface="Noto Sans KR"/>
                <a:ea typeface="Noto Sans KR"/>
                <a:cs typeface="Noto Sans KR"/>
              </a:rPr>
              <a:t>2026-02 시작 / 2026-08-28 운영 전환</a:t>
            </a:r>
          </a:p>
        </p:txBody>
      </p:sp>
      <p:sp>
        <p:nvSpPr>
          <p:cNvPr id="11" name="text-10">
            <a:extLst xmlns:a="http://schemas.openxmlformats.org/drawingml/2006/main">
              <a:ext uri="{FF2B5EF4-FFF2-40B4-BE49-F238E27FC236}">
                <a16:creationId xmlns:a16="http://schemas.microsoft.com/office/drawing/2014/main" id="{4D400308-C1FD-43F3-8F15-635555A965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3276600"/>
            <a:ext cx="5524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013" b="0">
                <a:solidFill>
                  <a:srgbClr val="21549B"/>
                </a:solidFill>
                <a:latin typeface="Noto Sans KR"/>
                <a:ea typeface="Noto Sans KR"/>
                <a:cs typeface="Noto Sans KR"/>
              </a:defRPr>
            </a:pPr>
            <a:r>
              <a:rPr sz="1013" b="0">
                <a:solidFill>
                  <a:srgbClr val="21549B"/>
                </a:solidFill>
                <a:latin typeface="Noto Sans KR"/>
                <a:ea typeface="Noto Sans KR"/>
                <a:cs typeface="Noto Sans KR"/>
              </a:rPr>
              <a:t>데이터 계약 · 의사결정 · 운영 검증</a:t>
            </a:r>
          </a:p>
        </p:txBody>
      </p:sp>
      <p:sp>
        <p:nvSpPr>
          <p:cNvPr id="12" name="text-11">
            <a:extLst xmlns:a="http://schemas.openxmlformats.org/drawingml/2006/main">
              <a:ext uri="{FF2B5EF4-FFF2-40B4-BE49-F238E27FC236}">
                <a16:creationId xmlns:a16="http://schemas.microsoft.com/office/drawing/2014/main" id="{53A76685-FFD3-4351-8856-7EAD817B62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3886200"/>
            <a:ext cx="866775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3300" b="1">
                <a:solidFill>
                  <a:srgbClr val="E9E9EE"/>
                </a:solidFill>
                <a:latin typeface="Noto Sans KR"/>
                <a:ea typeface="Noto Sans KR"/>
                <a:cs typeface="Noto Sans KR"/>
              </a:defRPr>
            </a:pPr>
            <a:r>
              <a:rPr sz="3300" b="1">
                <a:solidFill>
                  <a:srgbClr val="E9E9EE"/>
                </a:solidFill>
                <a:latin typeface="Noto Sans KR"/>
                <a:ea typeface="Noto Sans KR"/>
                <a:cs typeface="Noto Sans KR"/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9B55234-EBEE-4D37-B886-FBFCC08A7C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3952875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06D4A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114300" tIns="47625" rIns="114300" bIns="47625" anchor="ctr">
            <a:no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46E3BE0-8A9B-4285-A060-4C1EE992F3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62575" y="4152900"/>
            <a:ext cx="9525" cy="0"/>
          </a:xfrm>
          <a:prstGeom xmlns:a="http://schemas.openxmlformats.org/drawingml/2006/main" prst="line">
            <a:avLst/>
          </a:prstGeom>
          <a:ln xmlns:a="http://schemas.openxmlformats.org/drawingml/2006/main" w="7620">
            <a:solidFill>
              <a:srgbClr val="D9D9E0"/>
            </a:solidFill>
          </a:ln>
        </p:spPr>
      </p:sp>
      <p:sp>
        <p:nvSpPr>
          <p:cNvPr id="15" name="text-14">
            <a:extLst xmlns:a="http://schemas.openxmlformats.org/drawingml/2006/main">
              <a:ext uri="{FF2B5EF4-FFF2-40B4-BE49-F238E27FC236}">
                <a16:creationId xmlns:a16="http://schemas.microsoft.com/office/drawing/2014/main" id="{09D16C8B-693D-481F-8E73-8961E17DFC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3857625"/>
            <a:ext cx="40481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125" b="1">
                <a:solidFill>
                  <a:srgbClr val="206D4A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1">
                <a:solidFill>
                  <a:srgbClr val="206D4A"/>
                </a:solidFill>
                <a:latin typeface="Noto Sans KR"/>
                <a:ea typeface="Noto Sans KR"/>
                <a:cs typeface="Noto Sans KR"/>
              </a:rPr>
              <a:t>운영 디지털화</a:t>
            </a:r>
          </a:p>
        </p:txBody>
      </p:sp>
      <p:sp>
        <p:nvSpPr>
          <p:cNvPr id="16" name="text-15">
            <a:extLst xmlns:a="http://schemas.openxmlformats.org/drawingml/2006/main">
              <a:ext uri="{FF2B5EF4-FFF2-40B4-BE49-F238E27FC236}">
                <a16:creationId xmlns:a16="http://schemas.microsoft.com/office/drawing/2014/main" id="{66467A0C-80AC-429F-A7F9-DAB350DA8E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4162425"/>
            <a:ext cx="5429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875" b="1">
                <a:solidFill>
                  <a:srgbClr val="1A1A1A"/>
                </a:solidFill>
                <a:latin typeface="Noto Sans KR"/>
                <a:ea typeface="Noto Sans KR"/>
                <a:cs typeface="Noto Sans KR"/>
              </a:defRPr>
            </a:pPr>
            <a:r>
              <a:rPr sz="1875" b="1">
                <a:solidFill>
                  <a:srgbClr val="1A1A1A"/>
                </a:solidFill>
                <a:latin typeface="Noto Sans KR"/>
                <a:ea typeface="Noto Sans KR"/>
                <a:cs typeface="Noto Sans KR"/>
              </a:rPr>
              <a:t>산후조리원 전용 B2B 몰</a:t>
            </a:r>
          </a:p>
        </p:txBody>
      </p:sp>
      <p:sp>
        <p:nvSpPr>
          <p:cNvPr id="17" name="text-16">
            <a:extLst xmlns:a="http://schemas.openxmlformats.org/drawingml/2006/main">
              <a:ext uri="{FF2B5EF4-FFF2-40B4-BE49-F238E27FC236}">
                <a16:creationId xmlns:a16="http://schemas.microsoft.com/office/drawing/2014/main" id="{4531ECB6-96A8-44B3-AC89-EA76FDAA94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4667250"/>
            <a:ext cx="554355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088" b="0">
                <a:solidFill>
                  <a:srgbClr val="4E4E53"/>
                </a:solidFill>
                <a:latin typeface="Noto Sans KR"/>
                <a:ea typeface="Noto Sans KR"/>
                <a:cs typeface="Noto Sans KR"/>
              </a:defRPr>
            </a:pPr>
            <a:r>
              <a:rPr sz="1088" b="0">
                <a:solidFill>
                  <a:srgbClr val="4E4E53"/>
                </a:solidFill>
                <a:latin typeface="Noto Sans KR"/>
                <a:ea typeface="Noto Sans KR"/>
                <a:cs typeface="Noto Sans KR"/>
              </a:rPr>
              <a:t>p 12–21   계정별 정책과 주문 예외를 시스템의 규칙으로 전환</a:t>
            </a:r>
          </a:p>
        </p:txBody>
      </p:sp>
      <p:sp>
        <p:nvSpPr>
          <p:cNvPr id="18" name="text-17">
            <a:extLst xmlns:a="http://schemas.openxmlformats.org/drawingml/2006/main">
              <a:ext uri="{FF2B5EF4-FFF2-40B4-BE49-F238E27FC236}">
                <a16:creationId xmlns:a16="http://schemas.microsoft.com/office/drawing/2014/main" id="{795861FD-89F3-4E33-8A59-4FDE12914C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5181600"/>
            <a:ext cx="5524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938" b="0">
                <a:solidFill>
                  <a:srgbClr val="77777E"/>
                </a:solidFill>
                <a:latin typeface="Noto Sans KR"/>
                <a:ea typeface="Noto Sans KR"/>
                <a:cs typeface="Noto Sans KR"/>
              </a:defRPr>
            </a:pPr>
            <a:r>
              <a:rPr sz="938" b="0">
                <a:solidFill>
                  <a:srgbClr val="77777E"/>
                </a:solidFill>
                <a:latin typeface="Noto Sans KR"/>
                <a:ea typeface="Noto Sans KR"/>
                <a:cs typeface="Noto Sans KR"/>
              </a:rPr>
              <a:t>2026-06 기획 / 2026-07-16 핵심 흐름 가동</a:t>
            </a:r>
          </a:p>
        </p:txBody>
      </p:sp>
      <p:sp>
        <p:nvSpPr>
          <p:cNvPr id="19" name="text-18">
            <a:extLst xmlns:a="http://schemas.openxmlformats.org/drawingml/2006/main">
              <a:ext uri="{FF2B5EF4-FFF2-40B4-BE49-F238E27FC236}">
                <a16:creationId xmlns:a16="http://schemas.microsoft.com/office/drawing/2014/main" id="{36964C29-F94D-49F3-ABE7-D7328FB84B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5505450"/>
            <a:ext cx="5524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013" b="0">
                <a:solidFill>
                  <a:srgbClr val="206D4A"/>
                </a:solidFill>
                <a:latin typeface="Noto Sans KR"/>
                <a:ea typeface="Noto Sans KR"/>
                <a:cs typeface="Noto Sans KR"/>
              </a:defRPr>
            </a:pPr>
            <a:r>
              <a:rPr sz="1013" b="0">
                <a:solidFill>
                  <a:srgbClr val="206D4A"/>
                </a:solidFill>
                <a:latin typeface="Noto Sans KR"/>
                <a:ea typeface="Noto Sans KR"/>
                <a:cs typeface="Noto Sans KR"/>
              </a:rPr>
              <a:t>문제 정의 · 범위 결정 · 운영 개선</a:t>
            </a:r>
          </a:p>
        </p:txBody>
      </p:sp>
    </p:spTree>
    <p:extLst>
      <p:ext uri="{BB962C8B-B14F-4D97-AF65-F5344CB8AC3E}">
        <p14:creationId xmlns:p14="http://schemas.microsoft.com/office/powerpoint/2010/main" val="165700460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21549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7" name="text-0">
            <a:extLst xmlns:a="http://schemas.openxmlformats.org/drawingml/2006/main">
              <a:ext uri="{FF2B5EF4-FFF2-40B4-BE49-F238E27FC236}">
                <a16:creationId xmlns:a16="http://schemas.microsoft.com/office/drawing/2014/main" id="{16975EF0-ECB0-448B-8BFC-CBBA6EB9F7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87075" y="285750"/>
            <a:ext cx="6953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25000"/>
              </a:lnSpc>
              <a:buNone/>
              <a:defRPr sz="788" b="0">
                <a:solidFill>
                  <a:srgbClr val="A4C7EE"/>
                </a:solidFill>
                <a:latin typeface="Noto Sans KR"/>
                <a:ea typeface="Noto Sans KR"/>
                <a:cs typeface="Noto Sans KR"/>
              </a:defRPr>
            </a:pPr>
            <a:r>
              <a:rPr sz="788" b="0">
                <a:solidFill>
                  <a:srgbClr val="A4C7EE"/>
                </a:solidFill>
                <a:latin typeface="Noto Sans KR"/>
                <a:ea typeface="Noto Sans KR"/>
                <a:cs typeface="Noto Sans KR"/>
              </a:rPr>
              <a:t>03 / 22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9F0550E5-4474-4697-B0FE-3F7E54F184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763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4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4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Project 01.  규제 대응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DD36EF6-407F-4CB3-B10D-93CEF2EC3B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00200"/>
            <a:ext cx="885825" cy="876300"/>
          </a:xfrm>
          <a:prstGeom xmlns:a="http://schemas.openxmlformats.org/drawingml/2006/main" prst="roundRect">
            <a:avLst>
              <a:gd name="adj" fmla="val 543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114300" tIns="47625" rIns="114300" bIns="476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1800" b="1">
                <a:solidFill>
                  <a:srgbClr val="21549B"/>
                </a:solidFill>
                <a:latin typeface="Noto Sans KR"/>
                <a:ea typeface="Noto Sans KR"/>
                <a:cs typeface="Noto Sans KR"/>
              </a:defRPr>
            </a:pPr>
            <a:r>
              <a:rPr sz="1800" b="1">
                <a:solidFill>
                  <a:srgbClr val="21549B"/>
                </a:solidFill>
                <a:latin typeface="Noto Sans KR"/>
                <a:ea typeface="Noto Sans KR"/>
                <a:cs typeface="Noto Sans KR"/>
              </a:rPr>
              <a:t>KCS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A0B419F7-1118-4A3F-A875-0010AC742E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1676400"/>
            <a:ext cx="57245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20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20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관세청 통관 연동과 운영 전환</a:t>
            </a:r>
          </a:p>
        </p:txBody>
      </p:sp>
      <p:sp>
        <p:nvSpPr>
          <p:cNvPr id="5" name="text-4">
            <a:extLst xmlns:a="http://schemas.openxmlformats.org/drawingml/2006/main">
              <a:ext uri="{FF2B5EF4-FFF2-40B4-BE49-F238E27FC236}">
                <a16:creationId xmlns:a16="http://schemas.microsoft.com/office/drawing/2014/main" id="{65385AC3-641A-4F59-8E83-D3E29A686E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2143125"/>
            <a:ext cx="5686425" cy="676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275" b="0">
                <a:solidFill>
                  <a:srgbClr val="A4C7EE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0">
                <a:solidFill>
                  <a:srgbClr val="A4C7EE"/>
                </a:solidFill>
                <a:latin typeface="Noto Sans KR"/>
                <a:ea typeface="Noto Sans KR"/>
                <a:cs typeface="Noto Sans KR"/>
              </a:rPr>
              <a:t>여러 시스템에 나뉜 주문과 물류 데이터를</a:t>
            </a:r>
          </a:p>
          <a:p xmlns:a="http://schemas.openxmlformats.org/drawingml/2006/main">
            <a:pPr algn="l">
              <a:lnSpc>
                <a:spcPct val="125000"/>
              </a:lnSpc>
              <a:buNone/>
              <a:defRPr sz="1275" b="0">
                <a:solidFill>
                  <a:srgbClr val="A4C7EE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0">
                <a:solidFill>
                  <a:srgbClr val="A4C7EE"/>
                </a:solidFill>
                <a:latin typeface="Noto Sans KR"/>
                <a:ea typeface="Noto Sans KR"/>
                <a:cs typeface="Noto Sans KR"/>
              </a:rPr>
              <a:t>같은 기준으로 확인할 수 있도록 연결했습니다.</a:t>
            </a:r>
          </a:p>
        </p:txBody>
      </p:sp>
      <p:sp>
        <p:nvSpPr>
          <p:cNvPr id="6" name="text-5">
            <a:extLst xmlns:a="http://schemas.openxmlformats.org/drawingml/2006/main">
              <a:ext uri="{FF2B5EF4-FFF2-40B4-BE49-F238E27FC236}">
                <a16:creationId xmlns:a16="http://schemas.microsoft.com/office/drawing/2014/main" id="{581C82CB-7BD8-4B1C-9591-9BAA3ECF62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3028950"/>
            <a:ext cx="857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125" b="1">
                <a:solidFill>
                  <a:srgbClr val="A4C7EE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1">
                <a:solidFill>
                  <a:srgbClr val="A4C7EE"/>
                </a:solidFill>
                <a:latin typeface="Noto Sans KR"/>
                <a:ea typeface="Noto Sans KR"/>
                <a:cs typeface="Noto Sans KR"/>
              </a:rPr>
              <a:t>문제</a:t>
            </a:r>
          </a:p>
        </p:txBody>
      </p:sp>
      <p:sp>
        <p:nvSpPr>
          <p:cNvPr id="7" name="text-6">
            <a:extLst xmlns:a="http://schemas.openxmlformats.org/drawingml/2006/main">
              <a:ext uri="{FF2B5EF4-FFF2-40B4-BE49-F238E27FC236}">
                <a16:creationId xmlns:a16="http://schemas.microsoft.com/office/drawing/2014/main" id="{0663279C-58C5-4B53-89E4-63A1DF3D3F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3314700"/>
            <a:ext cx="57531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163" b="0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163" b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시스템마다 다른 주문 단위와 완료 기준</a:t>
            </a:r>
          </a:p>
        </p:txBody>
      </p:sp>
      <p:sp>
        <p:nvSpPr>
          <p:cNvPr id="8" name="text-7">
            <a:extLst xmlns:a="http://schemas.openxmlformats.org/drawingml/2006/main">
              <a:ext uri="{FF2B5EF4-FFF2-40B4-BE49-F238E27FC236}">
                <a16:creationId xmlns:a16="http://schemas.microsoft.com/office/drawing/2014/main" id="{B9E1FC3A-4AF6-450D-817F-7B60802FFB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3781425"/>
            <a:ext cx="857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125" b="1">
                <a:solidFill>
                  <a:srgbClr val="A4C7EE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1">
                <a:solidFill>
                  <a:srgbClr val="A4C7EE"/>
                </a:solidFill>
                <a:latin typeface="Noto Sans KR"/>
                <a:ea typeface="Noto Sans KR"/>
                <a:cs typeface="Noto Sans KR"/>
              </a:rPr>
              <a:t>대상</a:t>
            </a:r>
          </a:p>
        </p:txBody>
      </p:sp>
      <p:sp>
        <p:nvSpPr>
          <p:cNvPr id="9" name="text-8">
            <a:extLst xmlns:a="http://schemas.openxmlformats.org/drawingml/2006/main">
              <a:ext uri="{FF2B5EF4-FFF2-40B4-BE49-F238E27FC236}">
                <a16:creationId xmlns:a16="http://schemas.microsoft.com/office/drawing/2014/main" id="{D12A93D6-DB91-44DE-9DB0-B64098124D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4067175"/>
            <a:ext cx="57531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163" b="0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163" b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해외직구 고객과 주문·출고·통관 운영팀</a:t>
            </a:r>
          </a:p>
        </p:txBody>
      </p:sp>
      <p:sp>
        <p:nvSpPr>
          <p:cNvPr id="10" name="text-9">
            <a:extLst xmlns:a="http://schemas.openxmlformats.org/drawingml/2006/main">
              <a:ext uri="{FF2B5EF4-FFF2-40B4-BE49-F238E27FC236}">
                <a16:creationId xmlns:a16="http://schemas.microsoft.com/office/drawing/2014/main" id="{43109DFF-44EA-480B-8801-EEC1509912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4533900"/>
            <a:ext cx="857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125" b="1">
                <a:solidFill>
                  <a:srgbClr val="A4C7EE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1">
                <a:solidFill>
                  <a:srgbClr val="A4C7EE"/>
                </a:solidFill>
                <a:latin typeface="Noto Sans KR"/>
                <a:ea typeface="Noto Sans KR"/>
                <a:cs typeface="Noto Sans KR"/>
              </a:rPr>
              <a:t>목표</a:t>
            </a:r>
          </a:p>
        </p:txBody>
      </p:sp>
      <p:sp>
        <p:nvSpPr>
          <p:cNvPr id="11" name="text-10">
            <a:extLst xmlns:a="http://schemas.openxmlformats.org/drawingml/2006/main">
              <a:ext uri="{FF2B5EF4-FFF2-40B4-BE49-F238E27FC236}">
                <a16:creationId xmlns:a16="http://schemas.microsoft.com/office/drawing/2014/main" id="{CCD2F13D-7A41-4FDD-90AF-9A949988ED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4819650"/>
            <a:ext cx="57531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163" b="0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163" b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누락을 발견하고 오류를 수정·재제출할 수 있는 흐름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C393079-D134-4A43-925A-F873D358D6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1600200"/>
            <a:ext cx="3848100" cy="3038475"/>
          </a:xfrm>
          <a:prstGeom xmlns:a="http://schemas.openxmlformats.org/drawingml/2006/main" prst="roundRect">
            <a:avLst>
              <a:gd name="adj" fmla="val 3448"/>
            </a:avLst>
          </a:prstGeom>
          <a:solidFill xmlns:a="http://schemas.openxmlformats.org/drawingml/2006/main">
            <a:srgbClr val="19457E"/>
          </a:solidFill>
          <a:ln xmlns:a="http://schemas.openxmlformats.org/drawingml/2006/main" w="0">
            <a:noFill/>
          </a:ln>
        </p:spPr>
      </p:sp>
      <p:sp>
        <p:nvSpPr>
          <p:cNvPr id="13" name="text-12">
            <a:extLst xmlns:a="http://schemas.openxmlformats.org/drawingml/2006/main">
              <a:ext uri="{FF2B5EF4-FFF2-40B4-BE49-F238E27FC236}">
                <a16:creationId xmlns:a16="http://schemas.microsoft.com/office/drawing/2014/main" id="{B78949DD-54DA-4FDF-8824-44C2B5DC86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1838325"/>
            <a:ext cx="32670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050" b="1">
                <a:solidFill>
                  <a:srgbClr val="A4C7EE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1">
                <a:solidFill>
                  <a:srgbClr val="A4C7EE"/>
                </a:solidFill>
                <a:latin typeface="Noto Sans KR"/>
                <a:ea typeface="Noto Sans KR"/>
                <a:cs typeface="Noto Sans KR"/>
              </a:rPr>
              <a:t>데이터를 나눠 가진 주체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2D63758-1B0A-4216-BC51-0F69CBDC9F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2190750"/>
            <a:ext cx="3238500" cy="51435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21549B"/>
          </a:solidFill>
          <a:ln xmlns:a="http://schemas.openxmlformats.org/drawingml/2006/main" w="0">
            <a:noFill/>
          </a:ln>
        </p:spPr>
      </p:sp>
      <p:sp>
        <p:nvSpPr>
          <p:cNvPr id="15" name="text-14">
            <a:extLst xmlns:a="http://schemas.openxmlformats.org/drawingml/2006/main">
              <a:ext uri="{FF2B5EF4-FFF2-40B4-BE49-F238E27FC236}">
                <a16:creationId xmlns:a16="http://schemas.microsoft.com/office/drawing/2014/main" id="{66FDAB06-6399-496E-90A1-F272DCF2BD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247900"/>
            <a:ext cx="2838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0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자사몰</a:t>
            </a:r>
          </a:p>
        </p:txBody>
      </p:sp>
      <p:sp>
        <p:nvSpPr>
          <p:cNvPr id="16" name="text-15">
            <a:extLst xmlns:a="http://schemas.openxmlformats.org/drawingml/2006/main">
              <a:ext uri="{FF2B5EF4-FFF2-40B4-BE49-F238E27FC236}">
                <a16:creationId xmlns:a16="http://schemas.microsoft.com/office/drawing/2014/main" id="{0EA7F828-2CF8-49CE-8F79-52E53A8FB1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466975"/>
            <a:ext cx="2838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863" b="0">
                <a:solidFill>
                  <a:srgbClr val="A4C7EE"/>
                </a:solidFill>
                <a:latin typeface="Noto Sans KR"/>
                <a:ea typeface="Noto Sans KR"/>
                <a:cs typeface="Noto Sans KR"/>
              </a:defRPr>
            </a:pPr>
            <a:r>
              <a:rPr sz="863" b="0">
                <a:solidFill>
                  <a:srgbClr val="A4C7EE"/>
                </a:solidFill>
                <a:latin typeface="Noto Sans KR"/>
                <a:ea typeface="Noto Sans KR"/>
                <a:cs typeface="Noto Sans KR"/>
              </a:rPr>
              <a:t>주문·결제·고객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601887B-F817-4C8D-B24A-E934D50984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2762250"/>
            <a:ext cx="3238500" cy="51435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21549B"/>
          </a:solidFill>
          <a:ln xmlns:a="http://schemas.openxmlformats.org/drawingml/2006/main" w="0">
            <a:noFill/>
          </a:ln>
        </p:spPr>
      </p:sp>
      <p:sp>
        <p:nvSpPr>
          <p:cNvPr id="18" name="text-17">
            <a:extLst xmlns:a="http://schemas.openxmlformats.org/drawingml/2006/main">
              <a:ext uri="{FF2B5EF4-FFF2-40B4-BE49-F238E27FC236}">
                <a16:creationId xmlns:a16="http://schemas.microsoft.com/office/drawing/2014/main" id="{E3F286E9-A73C-422D-AD6B-A6A54E8472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819400"/>
            <a:ext cx="2838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0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본인확인기관</a:t>
            </a:r>
          </a:p>
        </p:txBody>
      </p:sp>
      <p:sp>
        <p:nvSpPr>
          <p:cNvPr id="19" name="text-18">
            <a:extLst xmlns:a="http://schemas.openxmlformats.org/drawingml/2006/main">
              <a:ext uri="{FF2B5EF4-FFF2-40B4-BE49-F238E27FC236}">
                <a16:creationId xmlns:a16="http://schemas.microsoft.com/office/drawing/2014/main" id="{B8E29023-2B60-4CBD-BEC1-D52FD30F28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038475"/>
            <a:ext cx="2838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863" b="0">
                <a:solidFill>
                  <a:srgbClr val="A4C7EE"/>
                </a:solidFill>
                <a:latin typeface="Noto Sans KR"/>
                <a:ea typeface="Noto Sans KR"/>
                <a:cs typeface="Noto Sans KR"/>
              </a:defRPr>
            </a:pPr>
            <a:r>
              <a:rPr sz="863" b="0">
                <a:solidFill>
                  <a:srgbClr val="A4C7EE"/>
                </a:solidFill>
                <a:latin typeface="Noto Sans KR"/>
                <a:ea typeface="Noto Sans KR"/>
                <a:cs typeface="Noto Sans KR"/>
              </a:rPr>
              <a:t>개인통관고유부호 검증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D6B9338-871B-4294-8F0B-1223813076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3333750"/>
            <a:ext cx="3238500" cy="51435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21549B"/>
          </a:solidFill>
          <a:ln xmlns:a="http://schemas.openxmlformats.org/drawingml/2006/main" w="0">
            <a:noFill/>
          </a:ln>
        </p:spPr>
      </p:sp>
      <p:sp>
        <p:nvSpPr>
          <p:cNvPr id="21" name="text-20">
            <a:extLst xmlns:a="http://schemas.openxmlformats.org/drawingml/2006/main">
              <a:ext uri="{FF2B5EF4-FFF2-40B4-BE49-F238E27FC236}">
                <a16:creationId xmlns:a16="http://schemas.microsoft.com/office/drawing/2014/main" id="{17087C01-487C-4C6B-8F6B-83491AB4F8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390900"/>
            <a:ext cx="2838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0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ERP·WMS</a:t>
            </a:r>
          </a:p>
        </p:txBody>
      </p:sp>
      <p:sp>
        <p:nvSpPr>
          <p:cNvPr id="22" name="text-21">
            <a:extLst xmlns:a="http://schemas.openxmlformats.org/drawingml/2006/main">
              <a:ext uri="{FF2B5EF4-FFF2-40B4-BE49-F238E27FC236}">
                <a16:creationId xmlns:a16="http://schemas.microsoft.com/office/drawing/2014/main" id="{90CDDA7F-5076-4A7B-96CF-CC04AD5635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609975"/>
            <a:ext cx="2838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863" b="0">
                <a:solidFill>
                  <a:srgbClr val="A4C7EE"/>
                </a:solidFill>
                <a:latin typeface="Noto Sans KR"/>
                <a:ea typeface="Noto Sans KR"/>
                <a:cs typeface="Noto Sans KR"/>
              </a:defRPr>
            </a:pPr>
            <a:r>
              <a:rPr sz="863" b="0">
                <a:solidFill>
                  <a:srgbClr val="A4C7EE"/>
                </a:solidFill>
                <a:latin typeface="Noto Sans KR"/>
                <a:ea typeface="Noto Sans KR"/>
                <a:cs typeface="Noto Sans KR"/>
              </a:rPr>
              <a:t>상품·포장·운송장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1C20444-18ED-4378-8B73-8B18EAAAF9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3905250"/>
            <a:ext cx="3238500" cy="51435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21549B"/>
          </a:solidFill>
          <a:ln xmlns:a="http://schemas.openxmlformats.org/drawingml/2006/main" w="0">
            <a:noFill/>
          </a:ln>
        </p:spPr>
      </p:sp>
      <p:sp>
        <p:nvSpPr>
          <p:cNvPr id="24" name="text-23">
            <a:extLst xmlns:a="http://schemas.openxmlformats.org/drawingml/2006/main">
              <a:ext uri="{FF2B5EF4-FFF2-40B4-BE49-F238E27FC236}">
                <a16:creationId xmlns:a16="http://schemas.microsoft.com/office/drawing/2014/main" id="{D0113A1C-C903-4FD8-B914-B71E2D4893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962400"/>
            <a:ext cx="2838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0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통관대행사</a:t>
            </a:r>
          </a:p>
        </p:txBody>
      </p:sp>
      <p:sp>
        <p:nvSpPr>
          <p:cNvPr id="25" name="text-24">
            <a:extLst xmlns:a="http://schemas.openxmlformats.org/drawingml/2006/main">
              <a:ext uri="{FF2B5EF4-FFF2-40B4-BE49-F238E27FC236}">
                <a16:creationId xmlns:a16="http://schemas.microsoft.com/office/drawing/2014/main" id="{7B154763-EC26-4E09-B069-68204CD9E0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4181475"/>
            <a:ext cx="2838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863" b="0">
                <a:solidFill>
                  <a:srgbClr val="A4C7EE"/>
                </a:solidFill>
                <a:latin typeface="Noto Sans KR"/>
                <a:ea typeface="Noto Sans KR"/>
                <a:cs typeface="Noto Sans KR"/>
              </a:defRPr>
            </a:pPr>
            <a:r>
              <a:rPr sz="863" b="0">
                <a:solidFill>
                  <a:srgbClr val="A4C7EE"/>
                </a:solidFill>
                <a:latin typeface="Noto Sans KR"/>
                <a:ea typeface="Noto Sans KR"/>
                <a:cs typeface="Noto Sans KR"/>
              </a:rPr>
              <a:t>데이터 병합·수입신고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970B2E2-4263-47B8-BA59-8852490A62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62550"/>
            <a:ext cx="10972800" cy="0"/>
          </a:xfrm>
          <a:prstGeom xmlns:a="http://schemas.openxmlformats.org/drawingml/2006/main" prst="line">
            <a:avLst/>
          </a:prstGeom>
          <a:ln xmlns:a="http://schemas.openxmlformats.org/drawingml/2006/main" w="7620">
            <a:solidFill>
              <a:srgbClr val="A4C7EE"/>
            </a:solidFill>
          </a:ln>
        </p:spPr>
      </p:sp>
      <p:sp>
        <p:nvSpPr>
          <p:cNvPr id="27" name="text-26">
            <a:extLst xmlns:a="http://schemas.openxmlformats.org/drawingml/2006/main">
              <a:ext uri="{FF2B5EF4-FFF2-40B4-BE49-F238E27FC236}">
                <a16:creationId xmlns:a16="http://schemas.microsoft.com/office/drawing/2014/main" id="{D3F9BECA-B77E-4B98-B7B8-B23A88978A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91150"/>
            <a:ext cx="7143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938" b="1">
                <a:solidFill>
                  <a:srgbClr val="A4C7EE"/>
                </a:solidFill>
                <a:latin typeface="Noto Sans KR"/>
                <a:ea typeface="Noto Sans KR"/>
                <a:cs typeface="Noto Sans KR"/>
              </a:defRPr>
            </a:pPr>
            <a:r>
              <a:rPr sz="938" b="1">
                <a:solidFill>
                  <a:srgbClr val="A4C7EE"/>
                </a:solidFill>
                <a:latin typeface="Noto Sans KR"/>
                <a:ea typeface="Noto Sans KR"/>
                <a:cs typeface="Noto Sans KR"/>
              </a:rPr>
              <a:t>기간</a:t>
            </a:r>
          </a:p>
        </p:txBody>
      </p:sp>
      <p:sp>
        <p:nvSpPr>
          <p:cNvPr id="28" name="text-27">
            <a:extLst xmlns:a="http://schemas.openxmlformats.org/drawingml/2006/main">
              <a:ext uri="{FF2B5EF4-FFF2-40B4-BE49-F238E27FC236}">
                <a16:creationId xmlns:a16="http://schemas.microsoft.com/office/drawing/2014/main" id="{3155DB6D-E19D-4DA8-BDD6-AA9FBB2783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9225" y="5391150"/>
            <a:ext cx="100774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938" b="0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938" b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2026-02 기획 시작 / 2026-08-28 운영 전환 / 이후 운영 보완</a:t>
            </a:r>
          </a:p>
        </p:txBody>
      </p:sp>
      <p:sp>
        <p:nvSpPr>
          <p:cNvPr id="29" name="text-28">
            <a:extLst xmlns:a="http://schemas.openxmlformats.org/drawingml/2006/main">
              <a:ext uri="{FF2B5EF4-FFF2-40B4-BE49-F238E27FC236}">
                <a16:creationId xmlns:a16="http://schemas.microsoft.com/office/drawing/2014/main" id="{83725686-BE9C-436C-8491-ADA1C4E5C9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67375"/>
            <a:ext cx="7143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938" b="1">
                <a:solidFill>
                  <a:srgbClr val="A4C7EE"/>
                </a:solidFill>
                <a:latin typeface="Noto Sans KR"/>
                <a:ea typeface="Noto Sans KR"/>
                <a:cs typeface="Noto Sans KR"/>
              </a:defRPr>
            </a:pPr>
            <a:r>
              <a:rPr sz="938" b="1">
                <a:solidFill>
                  <a:srgbClr val="A4C7EE"/>
                </a:solidFill>
                <a:latin typeface="Noto Sans KR"/>
                <a:ea typeface="Noto Sans KR"/>
                <a:cs typeface="Noto Sans KR"/>
              </a:rPr>
              <a:t>역할</a:t>
            </a:r>
          </a:p>
        </p:txBody>
      </p:sp>
      <p:sp>
        <p:nvSpPr>
          <p:cNvPr id="30" name="text-29">
            <a:extLst xmlns:a="http://schemas.openxmlformats.org/drawingml/2006/main">
              <a:ext uri="{FF2B5EF4-FFF2-40B4-BE49-F238E27FC236}">
                <a16:creationId xmlns:a16="http://schemas.microsoft.com/office/drawing/2014/main" id="{BE152604-B9F8-48CD-984B-14AEF3DA16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9225" y="5667375"/>
            <a:ext cx="100774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938" b="0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938" b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프로젝트 PM: 정책·데이터 계약 정의, API 요건 조율, 오류 복구와 운영 검증</a:t>
            </a:r>
          </a:p>
        </p:txBody>
      </p:sp>
      <p:sp>
        <p:nvSpPr>
          <p:cNvPr id="31" name="text-30">
            <a:extLst xmlns:a="http://schemas.openxmlformats.org/drawingml/2006/main">
              <a:ext uri="{FF2B5EF4-FFF2-40B4-BE49-F238E27FC236}">
                <a16:creationId xmlns:a16="http://schemas.microsoft.com/office/drawing/2014/main" id="{69855CDB-E59F-49E0-8F01-C903B8C5D7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43600"/>
            <a:ext cx="7143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938" b="1">
                <a:solidFill>
                  <a:srgbClr val="A4C7EE"/>
                </a:solidFill>
                <a:latin typeface="Noto Sans KR"/>
                <a:ea typeface="Noto Sans KR"/>
                <a:cs typeface="Noto Sans KR"/>
              </a:defRPr>
            </a:pPr>
            <a:r>
              <a:rPr sz="938" b="1">
                <a:solidFill>
                  <a:srgbClr val="A4C7EE"/>
                </a:solidFill>
                <a:latin typeface="Noto Sans KR"/>
                <a:ea typeface="Noto Sans KR"/>
                <a:cs typeface="Noto Sans KR"/>
              </a:rPr>
              <a:t>협업</a:t>
            </a:r>
          </a:p>
        </p:txBody>
      </p:sp>
      <p:sp>
        <p:nvSpPr>
          <p:cNvPr id="32" name="text-31">
            <a:extLst xmlns:a="http://schemas.openxmlformats.org/drawingml/2006/main">
              <a:ext uri="{FF2B5EF4-FFF2-40B4-BE49-F238E27FC236}">
                <a16:creationId xmlns:a16="http://schemas.microsoft.com/office/drawing/2014/main" id="{1921F731-BBF8-40A1-9134-4D827722D9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9225" y="5943600"/>
            <a:ext cx="100774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938" b="0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938" b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자사몰 개발사, ERP 개발사, 물류 개발사, 통관대행사, 본인확인기관</a:t>
            </a:r>
          </a:p>
        </p:txBody>
      </p:sp>
      <p:sp>
        <p:nvSpPr>
          <p:cNvPr id="33" name="text-32">
            <a:extLst xmlns:a="http://schemas.openxmlformats.org/drawingml/2006/main">
              <a:ext uri="{FF2B5EF4-FFF2-40B4-BE49-F238E27FC236}">
                <a16:creationId xmlns:a16="http://schemas.microsoft.com/office/drawing/2014/main" id="{E3DC869E-615F-4B3D-86E1-2F136607CE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19825"/>
            <a:ext cx="7143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938" b="1">
                <a:solidFill>
                  <a:srgbClr val="A4C7EE"/>
                </a:solidFill>
                <a:latin typeface="Noto Sans KR"/>
                <a:ea typeface="Noto Sans KR"/>
                <a:cs typeface="Noto Sans KR"/>
              </a:defRPr>
            </a:pPr>
            <a:r>
              <a:rPr sz="938" b="1">
                <a:solidFill>
                  <a:srgbClr val="A4C7EE"/>
                </a:solidFill>
                <a:latin typeface="Noto Sans KR"/>
                <a:ea typeface="Noto Sans KR"/>
                <a:cs typeface="Noto Sans KR"/>
              </a:rPr>
              <a:t>산출물</a:t>
            </a:r>
          </a:p>
        </p:txBody>
      </p:sp>
      <p:sp>
        <p:nvSpPr>
          <p:cNvPr id="34" name="text-33">
            <a:extLst xmlns:a="http://schemas.openxmlformats.org/drawingml/2006/main">
              <a:ext uri="{FF2B5EF4-FFF2-40B4-BE49-F238E27FC236}">
                <a16:creationId xmlns:a16="http://schemas.microsoft.com/office/drawing/2014/main" id="{5AADBC2F-2C64-4AA2-BDC1-BE19C35826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9225" y="6219825"/>
            <a:ext cx="100774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938" b="0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938" b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통합 기획서, 필드 매핑, 리스크·질의대장, 정책 결정 이력, QA 시나리오</a:t>
            </a:r>
          </a:p>
        </p:txBody>
      </p:sp>
      <p:sp>
        <p:nvSpPr>
          <p:cNvPr id="35" name="text-34">
            <a:extLst xmlns:a="http://schemas.openxmlformats.org/drawingml/2006/main">
              <a:ext uri="{FF2B5EF4-FFF2-40B4-BE49-F238E27FC236}">
                <a16:creationId xmlns:a16="http://schemas.microsoft.com/office/drawing/2014/main" id="{38E8AC8A-9398-4BFA-AA44-1974EA6701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7143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938" b="1">
                <a:solidFill>
                  <a:srgbClr val="A4C7EE"/>
                </a:solidFill>
                <a:latin typeface="Noto Sans KR"/>
                <a:ea typeface="Noto Sans KR"/>
                <a:cs typeface="Noto Sans KR"/>
              </a:defRPr>
            </a:pPr>
            <a:r>
              <a:rPr sz="938" b="1">
                <a:solidFill>
                  <a:srgbClr val="A4C7EE"/>
                </a:solidFill>
                <a:latin typeface="Noto Sans KR"/>
                <a:ea typeface="Noto Sans KR"/>
                <a:cs typeface="Noto Sans KR"/>
              </a:rPr>
              <a:t>범위</a:t>
            </a:r>
          </a:p>
        </p:txBody>
      </p:sp>
      <p:sp>
        <p:nvSpPr>
          <p:cNvPr id="36" name="text-35">
            <a:extLst xmlns:a="http://schemas.openxmlformats.org/drawingml/2006/main">
              <a:ext uri="{FF2B5EF4-FFF2-40B4-BE49-F238E27FC236}">
                <a16:creationId xmlns:a16="http://schemas.microsoft.com/office/drawing/2014/main" id="{430F6463-3142-40CE-932E-872D36B5A0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9225" y="6496050"/>
            <a:ext cx="100774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938" b="0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938" b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기획·조율·검증 담당 / 각 시스템 구현은 해당 개발사 담당</a:t>
            </a:r>
          </a:p>
        </p:txBody>
      </p:sp>
    </p:spTree>
    <p:extLst>
      <p:ext uri="{BB962C8B-B14F-4D97-AF65-F5344CB8AC3E}">
        <p14:creationId xmlns:p14="http://schemas.microsoft.com/office/powerpoint/2010/main" val="1015241483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text-0">
            <a:extLst xmlns:a="http://schemas.openxmlformats.org/drawingml/2006/main">
              <a:ext uri="{FF2B5EF4-FFF2-40B4-BE49-F238E27FC236}">
                <a16:creationId xmlns:a16="http://schemas.microsoft.com/office/drawing/2014/main" id="{0DCFF78D-38D6-4B57-A43A-3F1AF62118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87075" y="285750"/>
            <a:ext cx="6953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25000"/>
              </a:lnSpc>
              <a:buNone/>
              <a:defRPr sz="788" b="0">
                <a:solidFill>
                  <a:srgbClr val="92929A"/>
                </a:solidFill>
                <a:latin typeface="Noto Sans KR"/>
                <a:ea typeface="Noto Sans KR"/>
                <a:cs typeface="Noto Sans KR"/>
              </a:defRPr>
            </a:pPr>
            <a:r>
              <a:rPr sz="788" b="0">
                <a:solidFill>
                  <a:srgbClr val="92929A"/>
                </a:solidFill>
                <a:latin typeface="Noto Sans KR"/>
                <a:ea typeface="Noto Sans KR"/>
                <a:cs typeface="Noto Sans KR"/>
              </a:rPr>
              <a:t>04 / 22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7E3E4054-5CAD-489A-AC8A-FD3BCEBD4A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3905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950" b="1">
                <a:solidFill>
                  <a:srgbClr val="21549B"/>
                </a:solidFill>
                <a:latin typeface="Noto Sans KR"/>
                <a:ea typeface="Noto Sans KR"/>
                <a:cs typeface="Noto Sans KR"/>
              </a:defRPr>
            </a:pPr>
            <a:r>
              <a:rPr sz="1950" b="1">
                <a:solidFill>
                  <a:srgbClr val="21549B"/>
                </a:solidFill>
                <a:latin typeface="Noto Sans KR"/>
                <a:ea typeface="Noto Sans KR"/>
                <a:cs typeface="Noto Sans KR"/>
              </a:rPr>
              <a:t>01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27E6FDC0-017D-4440-A6D7-D09A1D5D0B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742950"/>
            <a:ext cx="10287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950" b="1">
                <a:solidFill>
                  <a:srgbClr val="1A1A1A"/>
                </a:solidFill>
                <a:latin typeface="Noto Sans KR"/>
                <a:ea typeface="Noto Sans KR"/>
                <a:cs typeface="Noto Sans KR"/>
              </a:defRPr>
            </a:pPr>
            <a:r>
              <a:rPr sz="1950" b="1">
                <a:solidFill>
                  <a:srgbClr val="1A1A1A"/>
                </a:solidFill>
                <a:latin typeface="Noto Sans KR"/>
                <a:ea typeface="Noto Sans KR"/>
                <a:cs typeface="Noto Sans KR"/>
              </a:rPr>
              <a:t>배경과 문제 정의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3F369C85-86FF-475F-9112-594A9EFB77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906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050" b="0">
                <a:solidFill>
                  <a:srgbClr val="77777E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0">
                <a:solidFill>
                  <a:srgbClr val="77777E"/>
                </a:solidFill>
                <a:latin typeface="Noto Sans KR"/>
                <a:ea typeface="Noto Sans KR"/>
                <a:cs typeface="Noto Sans KR"/>
              </a:rPr>
              <a:t>주문 한 건이 통관·출고로 이어지는 과정에서 데이터와 책임이 갈라져 있었습니다.</a:t>
            </a:r>
          </a:p>
        </p:txBody>
      </p:sp>
      <p:sp>
        <p:nvSpPr>
          <p:cNvPr id="5" name="text-4">
            <a:extLst xmlns:a="http://schemas.openxmlformats.org/drawingml/2006/main">
              <a:ext uri="{FF2B5EF4-FFF2-40B4-BE49-F238E27FC236}">
                <a16:creationId xmlns:a16="http://schemas.microsoft.com/office/drawing/2014/main" id="{3147AC70-66CB-4781-815B-806394FDD2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76400"/>
            <a:ext cx="52863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350" b="1">
                <a:solidFill>
                  <a:srgbClr val="21549B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1">
                <a:solidFill>
                  <a:srgbClr val="21549B"/>
                </a:solidFill>
                <a:latin typeface="Noto Sans KR"/>
                <a:ea typeface="Noto Sans KR"/>
                <a:cs typeface="Noto Sans KR"/>
              </a:rPr>
              <a:t>데이터는 각 시스템에, 판단은 담당자에게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4CDD4CB-3816-4379-BE6D-355038D7E3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66925"/>
            <a:ext cx="5257800" cy="466725"/>
          </a:xfrm>
          <a:prstGeom xmlns:a="http://schemas.openxmlformats.org/drawingml/2006/main" prst="roundRect">
            <a:avLst>
              <a:gd name="adj" fmla="val 1020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9E0"/>
            </a:solidFill>
          </a:ln>
        </p:spPr>
      </p:sp>
      <p:sp>
        <p:nvSpPr>
          <p:cNvPr id="7" name="text-6">
            <a:extLst xmlns:a="http://schemas.openxmlformats.org/drawingml/2006/main">
              <a:ext uri="{FF2B5EF4-FFF2-40B4-BE49-F238E27FC236}">
                <a16:creationId xmlns:a16="http://schemas.microsoft.com/office/drawing/2014/main" id="{4FA91079-E654-46E3-A77B-6CD9941F17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200275"/>
            <a:ext cx="1600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200" b="1">
                <a:solidFill>
                  <a:srgbClr val="1A1A1A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1">
                <a:solidFill>
                  <a:srgbClr val="1A1A1A"/>
                </a:solidFill>
                <a:latin typeface="Noto Sans KR"/>
                <a:ea typeface="Noto Sans KR"/>
                <a:cs typeface="Noto Sans KR"/>
              </a:rPr>
              <a:t>자사몰</a:t>
            </a:r>
          </a:p>
        </p:txBody>
      </p:sp>
      <p:sp>
        <p:nvSpPr>
          <p:cNvPr id="8" name="text-7">
            <a:extLst xmlns:a="http://schemas.openxmlformats.org/drawingml/2006/main">
              <a:ext uri="{FF2B5EF4-FFF2-40B4-BE49-F238E27FC236}">
                <a16:creationId xmlns:a16="http://schemas.microsoft.com/office/drawing/2014/main" id="{54558DB5-2657-4B97-8319-0BF574CFDE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2200275"/>
            <a:ext cx="31908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088" b="0">
                <a:solidFill>
                  <a:srgbClr val="77777E"/>
                </a:solidFill>
                <a:latin typeface="Noto Sans KR"/>
                <a:ea typeface="Noto Sans KR"/>
                <a:cs typeface="Noto Sans KR"/>
              </a:defRPr>
            </a:pPr>
            <a:r>
              <a:rPr sz="1088" b="0">
                <a:solidFill>
                  <a:srgbClr val="77777E"/>
                </a:solidFill>
                <a:latin typeface="Noto Sans KR"/>
                <a:ea typeface="Noto Sans KR"/>
                <a:cs typeface="Noto Sans KR"/>
              </a:rPr>
              <a:t>주문·결제·고객 정보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ED5D73E-1FF7-4725-A738-CB83A46DFA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76525"/>
            <a:ext cx="5257800" cy="466725"/>
          </a:xfrm>
          <a:prstGeom xmlns:a="http://schemas.openxmlformats.org/drawingml/2006/main" prst="roundRect">
            <a:avLst>
              <a:gd name="adj" fmla="val 1020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9E0"/>
            </a:solidFill>
          </a:ln>
        </p:spPr>
      </p:sp>
      <p:sp>
        <p:nvSpPr>
          <p:cNvPr id="10" name="text-9">
            <a:extLst xmlns:a="http://schemas.openxmlformats.org/drawingml/2006/main">
              <a:ext uri="{FF2B5EF4-FFF2-40B4-BE49-F238E27FC236}">
                <a16:creationId xmlns:a16="http://schemas.microsoft.com/office/drawing/2014/main" id="{E83F97E0-C36A-46E7-B663-006F2BB713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809875"/>
            <a:ext cx="1600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200" b="1">
                <a:solidFill>
                  <a:srgbClr val="1A1A1A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1">
                <a:solidFill>
                  <a:srgbClr val="1A1A1A"/>
                </a:solidFill>
                <a:latin typeface="Noto Sans KR"/>
                <a:ea typeface="Noto Sans KR"/>
                <a:cs typeface="Noto Sans KR"/>
              </a:rPr>
              <a:t>본인확인기관</a:t>
            </a:r>
          </a:p>
        </p:txBody>
      </p:sp>
      <p:sp>
        <p:nvSpPr>
          <p:cNvPr id="11" name="text-10">
            <a:extLst xmlns:a="http://schemas.openxmlformats.org/drawingml/2006/main">
              <a:ext uri="{FF2B5EF4-FFF2-40B4-BE49-F238E27FC236}">
                <a16:creationId xmlns:a16="http://schemas.microsoft.com/office/drawing/2014/main" id="{8048D134-8A14-4331-AE9C-C4DF676F3A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2809875"/>
            <a:ext cx="31908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088" b="0">
                <a:solidFill>
                  <a:srgbClr val="77777E"/>
                </a:solidFill>
                <a:latin typeface="Noto Sans KR"/>
                <a:ea typeface="Noto Sans KR"/>
                <a:cs typeface="Noto Sans KR"/>
              </a:defRPr>
            </a:pPr>
            <a:r>
              <a:rPr sz="1088" b="0">
                <a:solidFill>
                  <a:srgbClr val="77777E"/>
                </a:solidFill>
                <a:latin typeface="Noto Sans KR"/>
                <a:ea typeface="Noto Sans KR"/>
                <a:cs typeface="Noto Sans KR"/>
              </a:rPr>
              <a:t>개인통관고유부호 검증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6DE5EB7-D04C-49CD-B6B8-A7FFF6BBC4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86125"/>
            <a:ext cx="5257800" cy="466725"/>
          </a:xfrm>
          <a:prstGeom xmlns:a="http://schemas.openxmlformats.org/drawingml/2006/main" prst="roundRect">
            <a:avLst>
              <a:gd name="adj" fmla="val 1020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9E0"/>
            </a:solidFill>
          </a:ln>
        </p:spPr>
      </p:sp>
      <p:sp>
        <p:nvSpPr>
          <p:cNvPr id="13" name="text-12">
            <a:extLst xmlns:a="http://schemas.openxmlformats.org/drawingml/2006/main">
              <a:ext uri="{FF2B5EF4-FFF2-40B4-BE49-F238E27FC236}">
                <a16:creationId xmlns:a16="http://schemas.microsoft.com/office/drawing/2014/main" id="{2B0BFCF6-915D-4DD8-B01B-61F5344B30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419475"/>
            <a:ext cx="1600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200" b="1">
                <a:solidFill>
                  <a:srgbClr val="1A1A1A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1">
                <a:solidFill>
                  <a:srgbClr val="1A1A1A"/>
                </a:solidFill>
                <a:latin typeface="Noto Sans KR"/>
                <a:ea typeface="Noto Sans KR"/>
                <a:cs typeface="Noto Sans KR"/>
              </a:rPr>
              <a:t>ERP·WMS</a:t>
            </a:r>
          </a:p>
        </p:txBody>
      </p:sp>
      <p:sp>
        <p:nvSpPr>
          <p:cNvPr id="14" name="text-13">
            <a:extLst xmlns:a="http://schemas.openxmlformats.org/drawingml/2006/main">
              <a:ext uri="{FF2B5EF4-FFF2-40B4-BE49-F238E27FC236}">
                <a16:creationId xmlns:a16="http://schemas.microsoft.com/office/drawing/2014/main" id="{C93A21FE-CA60-45E5-8DDE-87C9DF3034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3419475"/>
            <a:ext cx="31908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088" b="0">
                <a:solidFill>
                  <a:srgbClr val="77777E"/>
                </a:solidFill>
                <a:latin typeface="Noto Sans KR"/>
                <a:ea typeface="Noto Sans KR"/>
                <a:cs typeface="Noto Sans KR"/>
              </a:defRPr>
            </a:pPr>
            <a:r>
              <a:rPr sz="1088" b="0">
                <a:solidFill>
                  <a:srgbClr val="77777E"/>
                </a:solidFill>
                <a:latin typeface="Noto Sans KR"/>
                <a:ea typeface="Noto Sans KR"/>
                <a:cs typeface="Noto Sans KR"/>
              </a:rPr>
              <a:t>상품·포장·운송장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F3AAF30-E65C-425C-AFAA-A31A604869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95725"/>
            <a:ext cx="5257800" cy="466725"/>
          </a:xfrm>
          <a:prstGeom xmlns:a="http://schemas.openxmlformats.org/drawingml/2006/main" prst="roundRect">
            <a:avLst>
              <a:gd name="adj" fmla="val 1020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9E0"/>
            </a:solidFill>
          </a:ln>
        </p:spPr>
      </p:sp>
      <p:sp>
        <p:nvSpPr>
          <p:cNvPr id="16" name="text-15">
            <a:extLst xmlns:a="http://schemas.openxmlformats.org/drawingml/2006/main">
              <a:ext uri="{FF2B5EF4-FFF2-40B4-BE49-F238E27FC236}">
                <a16:creationId xmlns:a16="http://schemas.microsoft.com/office/drawing/2014/main" id="{78296CA6-2DC7-4BC5-AB5B-5463CB283E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029075"/>
            <a:ext cx="1600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200" b="1">
                <a:solidFill>
                  <a:srgbClr val="1A1A1A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1">
                <a:solidFill>
                  <a:srgbClr val="1A1A1A"/>
                </a:solidFill>
                <a:latin typeface="Noto Sans KR"/>
                <a:ea typeface="Noto Sans KR"/>
                <a:cs typeface="Noto Sans KR"/>
              </a:rPr>
              <a:t>통관대행사</a:t>
            </a:r>
          </a:p>
        </p:txBody>
      </p:sp>
      <p:sp>
        <p:nvSpPr>
          <p:cNvPr id="17" name="text-16">
            <a:extLst xmlns:a="http://schemas.openxmlformats.org/drawingml/2006/main">
              <a:ext uri="{FF2B5EF4-FFF2-40B4-BE49-F238E27FC236}">
                <a16:creationId xmlns:a16="http://schemas.microsoft.com/office/drawing/2014/main" id="{CA9F8460-310B-41F1-9730-D83583E7F1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4029075"/>
            <a:ext cx="31908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088" b="0">
                <a:solidFill>
                  <a:srgbClr val="77777E"/>
                </a:solidFill>
                <a:latin typeface="Noto Sans KR"/>
                <a:ea typeface="Noto Sans KR"/>
                <a:cs typeface="Noto Sans KR"/>
              </a:defRPr>
            </a:pPr>
            <a:r>
              <a:rPr sz="1088" b="0">
                <a:solidFill>
                  <a:srgbClr val="77777E"/>
                </a:solidFill>
                <a:latin typeface="Noto Sans KR"/>
                <a:ea typeface="Noto Sans KR"/>
                <a:cs typeface="Noto Sans KR"/>
              </a:rPr>
              <a:t>병합·수입신고·통관 상태</a:t>
            </a:r>
          </a:p>
        </p:txBody>
      </p:sp>
      <p:sp>
        <p:nvSpPr>
          <p:cNvPr id="18" name="text-17">
            <a:extLst xmlns:a="http://schemas.openxmlformats.org/drawingml/2006/main">
              <a:ext uri="{FF2B5EF4-FFF2-40B4-BE49-F238E27FC236}">
                <a16:creationId xmlns:a16="http://schemas.microsoft.com/office/drawing/2014/main" id="{B83062DC-A8EF-4F15-806C-0DC05C81E3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1676400"/>
            <a:ext cx="5257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350" b="1">
                <a:solidFill>
                  <a:srgbClr val="21549B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1">
                <a:solidFill>
                  <a:srgbClr val="21549B"/>
                </a:solidFill>
                <a:latin typeface="Noto Sans KR"/>
                <a:ea typeface="Noto Sans KR"/>
                <a:cs typeface="Noto Sans KR"/>
              </a:rPr>
              <a:t>수기 전송만으로 남는 운영 공백</a:t>
            </a:r>
          </a:p>
        </p:txBody>
      </p:sp>
      <p:sp>
        <p:nvSpPr>
          <p:cNvPr id="19" name="text-18">
            <a:extLst xmlns:a="http://schemas.openxmlformats.org/drawingml/2006/main">
              <a:ext uri="{FF2B5EF4-FFF2-40B4-BE49-F238E27FC236}">
                <a16:creationId xmlns:a16="http://schemas.microsoft.com/office/drawing/2014/main" id="{2B977250-6B64-47BE-BA73-E991EC1158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152650"/>
            <a:ext cx="3429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125" b="1">
                <a:solidFill>
                  <a:srgbClr val="21549B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1">
                <a:solidFill>
                  <a:srgbClr val="21549B"/>
                </a:solidFill>
                <a:latin typeface="Noto Sans KR"/>
                <a:ea typeface="Noto Sans KR"/>
                <a:cs typeface="Noto Sans KR"/>
              </a:rPr>
              <a:t>01</a:t>
            </a:r>
          </a:p>
        </p:txBody>
      </p:sp>
      <p:sp>
        <p:nvSpPr>
          <p:cNvPr id="20" name="text-19">
            <a:extLst xmlns:a="http://schemas.openxmlformats.org/drawingml/2006/main">
              <a:ext uri="{FF2B5EF4-FFF2-40B4-BE49-F238E27FC236}">
                <a16:creationId xmlns:a16="http://schemas.microsoft.com/office/drawing/2014/main" id="{D0FA9D4F-8B4C-4A31-A555-460AAAE0E6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2152650"/>
            <a:ext cx="47434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125" b="0">
                <a:solidFill>
                  <a:srgbClr val="4E4E53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0">
                <a:solidFill>
                  <a:srgbClr val="4E4E53"/>
                </a:solidFill>
                <a:latin typeface="Noto Sans KR"/>
                <a:ea typeface="Noto Sans KR"/>
                <a:cs typeface="Noto Sans KR"/>
              </a:rPr>
              <a:t>주문번호와 포장번호가 달라 같은 주문을 대조하기 어려움</a:t>
            </a:r>
          </a:p>
        </p:txBody>
      </p:sp>
      <p:sp>
        <p:nvSpPr>
          <p:cNvPr id="21" name="text-20">
            <a:extLst xmlns:a="http://schemas.openxmlformats.org/drawingml/2006/main">
              <a:ext uri="{FF2B5EF4-FFF2-40B4-BE49-F238E27FC236}">
                <a16:creationId xmlns:a16="http://schemas.microsoft.com/office/drawing/2014/main" id="{A943ACDA-A447-48FB-A1C7-60282B412D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924175"/>
            <a:ext cx="3429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125" b="1">
                <a:solidFill>
                  <a:srgbClr val="21549B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1">
                <a:solidFill>
                  <a:srgbClr val="21549B"/>
                </a:solidFill>
                <a:latin typeface="Noto Sans KR"/>
                <a:ea typeface="Noto Sans KR"/>
                <a:cs typeface="Noto Sans KR"/>
              </a:rPr>
              <a:t>02</a:t>
            </a:r>
          </a:p>
        </p:txBody>
      </p:sp>
      <p:sp>
        <p:nvSpPr>
          <p:cNvPr id="22" name="text-21">
            <a:extLst xmlns:a="http://schemas.openxmlformats.org/drawingml/2006/main">
              <a:ext uri="{FF2B5EF4-FFF2-40B4-BE49-F238E27FC236}">
                <a16:creationId xmlns:a16="http://schemas.microsoft.com/office/drawing/2014/main" id="{F1B93F1B-8FF1-4316-8881-5F47CC87F3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2924175"/>
            <a:ext cx="47434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125" b="0">
                <a:solidFill>
                  <a:srgbClr val="4E4E53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0">
                <a:solidFill>
                  <a:srgbClr val="4E4E53"/>
                </a:solidFill>
                <a:latin typeface="Noto Sans KR"/>
                <a:ea typeface="Noto Sans KR"/>
                <a:cs typeface="Noto Sans KR"/>
              </a:rPr>
              <a:t>접수 응답과 통관 완료를 같은 상태로 오인할 수 있음</a:t>
            </a:r>
          </a:p>
        </p:txBody>
      </p:sp>
      <p:sp>
        <p:nvSpPr>
          <p:cNvPr id="23" name="text-22">
            <a:extLst xmlns:a="http://schemas.openxmlformats.org/drawingml/2006/main">
              <a:ext uri="{FF2B5EF4-FFF2-40B4-BE49-F238E27FC236}">
                <a16:creationId xmlns:a16="http://schemas.microsoft.com/office/drawing/2014/main" id="{3141C3C7-1A4E-4E90-B2B1-2773AE942D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3695700"/>
            <a:ext cx="3429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125" b="1">
                <a:solidFill>
                  <a:srgbClr val="21549B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1">
                <a:solidFill>
                  <a:srgbClr val="21549B"/>
                </a:solidFill>
                <a:latin typeface="Noto Sans KR"/>
                <a:ea typeface="Noto Sans KR"/>
                <a:cs typeface="Noto Sans KR"/>
              </a:rPr>
              <a:t>03</a:t>
            </a:r>
          </a:p>
        </p:txBody>
      </p:sp>
      <p:sp>
        <p:nvSpPr>
          <p:cNvPr id="24" name="text-23">
            <a:extLst xmlns:a="http://schemas.openxmlformats.org/drawingml/2006/main">
              <a:ext uri="{FF2B5EF4-FFF2-40B4-BE49-F238E27FC236}">
                <a16:creationId xmlns:a16="http://schemas.microsoft.com/office/drawing/2014/main" id="{D7026395-F677-4A0D-8E6E-61917947A2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3695700"/>
            <a:ext cx="47434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125" b="0">
                <a:solidFill>
                  <a:srgbClr val="4E4E53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0">
                <a:solidFill>
                  <a:srgbClr val="4E4E53"/>
                </a:solidFill>
                <a:latin typeface="Noto Sans KR"/>
                <a:ea typeface="Noto Sans KR"/>
                <a:cs typeface="Noto Sans KR"/>
              </a:rPr>
              <a:t>오류가 났을 때 수정할 원천과 재처리 담당이 불명확함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6D45921-BE1C-4169-AB14-B65E933EE3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81575"/>
            <a:ext cx="10972800" cy="1076325"/>
          </a:xfrm>
          <a:prstGeom xmlns:a="http://schemas.openxmlformats.org/drawingml/2006/main" prst="roundRect">
            <a:avLst>
              <a:gd name="adj" fmla="val 5310"/>
            </a:avLst>
          </a:prstGeom>
          <a:solidFill xmlns:a="http://schemas.openxmlformats.org/drawingml/2006/main">
            <a:srgbClr val="E9F1FC"/>
          </a:solidFill>
          <a:ln xmlns:a="http://schemas.openxmlformats.org/drawingml/2006/main" w="0">
            <a:noFill/>
          </a:ln>
        </p:spPr>
      </p:sp>
      <p:sp>
        <p:nvSpPr>
          <p:cNvPr id="26" name="text-25">
            <a:extLst xmlns:a="http://schemas.openxmlformats.org/drawingml/2006/main">
              <a:ext uri="{FF2B5EF4-FFF2-40B4-BE49-F238E27FC236}">
                <a16:creationId xmlns:a16="http://schemas.microsoft.com/office/drawing/2014/main" id="{99432F87-61BA-4F1B-B8C8-317C4837B2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153025"/>
            <a:ext cx="12763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125" b="1">
                <a:solidFill>
                  <a:srgbClr val="21549B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1">
                <a:solidFill>
                  <a:srgbClr val="21549B"/>
                </a:solidFill>
                <a:latin typeface="Noto Sans KR"/>
                <a:ea typeface="Noto Sans KR"/>
                <a:cs typeface="Noto Sans KR"/>
              </a:rPr>
              <a:t>문제 정의</a:t>
            </a:r>
          </a:p>
        </p:txBody>
      </p:sp>
      <p:sp>
        <p:nvSpPr>
          <p:cNvPr id="27" name="text-26">
            <a:extLst xmlns:a="http://schemas.openxmlformats.org/drawingml/2006/main">
              <a:ext uri="{FF2B5EF4-FFF2-40B4-BE49-F238E27FC236}">
                <a16:creationId xmlns:a16="http://schemas.microsoft.com/office/drawing/2014/main" id="{57689664-402D-4CBF-8AAE-0EEBE7C64D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5162550"/>
            <a:ext cx="9144000" cy="676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725" b="1">
                <a:solidFill>
                  <a:srgbClr val="21549B"/>
                </a:solidFill>
                <a:latin typeface="Noto Sans KR"/>
                <a:ea typeface="Noto Sans KR"/>
                <a:cs typeface="Noto Sans KR"/>
              </a:defRPr>
            </a:pPr>
            <a:r>
              <a:rPr sz="1725" b="1">
                <a:solidFill>
                  <a:srgbClr val="21549B"/>
                </a:solidFill>
                <a:latin typeface="Noto Sans KR"/>
                <a:ea typeface="Noto Sans KR"/>
                <a:cs typeface="Noto Sans KR"/>
              </a:rPr>
              <a:t>누가 어떤 데이터를 책임지고,</a:t>
            </a:r>
          </a:p>
          <a:p xmlns:a="http://schemas.openxmlformats.org/drawingml/2006/main">
            <a:pPr algn="l">
              <a:lnSpc>
                <a:spcPct val="125000"/>
              </a:lnSpc>
              <a:buNone/>
              <a:defRPr sz="1725" b="1">
                <a:solidFill>
                  <a:srgbClr val="21549B"/>
                </a:solidFill>
                <a:latin typeface="Noto Sans KR"/>
                <a:ea typeface="Noto Sans KR"/>
                <a:cs typeface="Noto Sans KR"/>
              </a:defRPr>
            </a:pPr>
            <a:r>
              <a:rPr sz="1725" b="1">
                <a:solidFill>
                  <a:srgbClr val="21549B"/>
                </a:solidFill>
                <a:latin typeface="Noto Sans KR"/>
                <a:ea typeface="Noto Sans KR"/>
                <a:cs typeface="Noto Sans KR"/>
              </a:rPr>
              <a:t>어느 상태를 근거로 다음 작업을 진행할 것인가</a:t>
            </a:r>
          </a:p>
        </p:txBody>
      </p:sp>
      <p:sp>
        <p:nvSpPr>
          <p:cNvPr id="28" name="text-27">
            <a:extLst xmlns:a="http://schemas.openxmlformats.org/drawingml/2006/main">
              <a:ext uri="{FF2B5EF4-FFF2-40B4-BE49-F238E27FC236}">
                <a16:creationId xmlns:a16="http://schemas.microsoft.com/office/drawing/2014/main" id="{EBACD5A7-F615-40FF-97BB-35B2DD7D93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674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013" b="0">
                <a:solidFill>
                  <a:srgbClr val="77777E"/>
                </a:solidFill>
                <a:latin typeface="Noto Sans KR"/>
                <a:ea typeface="Noto Sans KR"/>
                <a:cs typeface="Noto Sans KR"/>
              </a:defRPr>
            </a:pPr>
            <a:r>
              <a:rPr sz="1013" b="0">
                <a:solidFill>
                  <a:srgbClr val="77777E"/>
                </a:solidFill>
                <a:latin typeface="Noto Sans KR"/>
                <a:ea typeface="Noto Sans KR"/>
                <a:cs typeface="Noto Sans KR"/>
              </a:rPr>
              <a:t>관세청 통관 연동 기획서의 데이터 책임·운영 기준을 재구성</a:t>
            </a:r>
          </a:p>
        </p:txBody>
      </p:sp>
    </p:spTree>
    <p:extLst>
      <p:ext uri="{BB962C8B-B14F-4D97-AF65-F5344CB8AC3E}">
        <p14:creationId xmlns:p14="http://schemas.microsoft.com/office/powerpoint/2010/main" val="2126252864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text-0">
            <a:extLst xmlns:a="http://schemas.openxmlformats.org/drawingml/2006/main">
              <a:ext uri="{FF2B5EF4-FFF2-40B4-BE49-F238E27FC236}">
                <a16:creationId xmlns:a16="http://schemas.microsoft.com/office/drawing/2014/main" id="{EAB0A359-737E-4805-80FC-6782AFB043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87075" y="285750"/>
            <a:ext cx="6953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25000"/>
              </a:lnSpc>
              <a:buNone/>
              <a:defRPr sz="788" b="0">
                <a:solidFill>
                  <a:srgbClr val="92929A"/>
                </a:solidFill>
                <a:latin typeface="Noto Sans KR"/>
                <a:ea typeface="Noto Sans KR"/>
                <a:cs typeface="Noto Sans KR"/>
              </a:defRPr>
            </a:pPr>
            <a:r>
              <a:rPr sz="788" b="0">
                <a:solidFill>
                  <a:srgbClr val="92929A"/>
                </a:solidFill>
                <a:latin typeface="Noto Sans KR"/>
                <a:ea typeface="Noto Sans KR"/>
                <a:cs typeface="Noto Sans KR"/>
              </a:rPr>
              <a:t>05 / 22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6B994BA0-48B8-46F1-BBD3-3DEEA986D3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3905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950" b="1">
                <a:solidFill>
                  <a:srgbClr val="21549B"/>
                </a:solidFill>
                <a:latin typeface="Noto Sans KR"/>
                <a:ea typeface="Noto Sans KR"/>
                <a:cs typeface="Noto Sans KR"/>
              </a:defRPr>
            </a:pPr>
            <a:r>
              <a:rPr sz="1950" b="1">
                <a:solidFill>
                  <a:srgbClr val="21549B"/>
                </a:solidFill>
                <a:latin typeface="Noto Sans KR"/>
                <a:ea typeface="Noto Sans KR"/>
                <a:cs typeface="Noto Sans KR"/>
              </a:rPr>
              <a:t>02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2CDDB24D-4121-4475-90FC-3809910D74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742950"/>
            <a:ext cx="10287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950" b="1">
                <a:solidFill>
                  <a:srgbClr val="1A1A1A"/>
                </a:solidFill>
                <a:latin typeface="Noto Sans KR"/>
                <a:ea typeface="Noto Sans KR"/>
                <a:cs typeface="Noto Sans KR"/>
              </a:defRPr>
            </a:pPr>
            <a:r>
              <a:rPr sz="1950" b="1">
                <a:solidFill>
                  <a:srgbClr val="1A1A1A"/>
                </a:solidFill>
                <a:latin typeface="Noto Sans KR"/>
                <a:ea typeface="Noto Sans KR"/>
                <a:cs typeface="Noto Sans KR"/>
              </a:rPr>
              <a:t>대안 비교와 책임 분담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D7A3F2F4-5490-4C5F-9B1C-513EEFC83C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906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050" b="0">
                <a:solidFill>
                  <a:srgbClr val="77777E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0">
                <a:solidFill>
                  <a:srgbClr val="77777E"/>
                </a:solidFill>
                <a:latin typeface="Noto Sans KR"/>
                <a:ea typeface="Noto Sans KR"/>
                <a:cs typeface="Noto Sans KR"/>
              </a:rPr>
              <a:t>신고 판단과 상태 관리의 통제점을 국내 자사몰 DB에 두었습니다.</a:t>
            </a:r>
          </a:p>
        </p:txBody>
      </p:sp>
      <p:graphicFrame>
        <p:nvGraphicFramePr>
          <p:cNvPr id="20" name=""/>
          <p:cNvGraphicFramePr/>
          <p:nvPr/>
        </p:nvGraphicFramePr>
        <p:xfrm>
          <a:off xmlns:a="http://schemas.openxmlformats.org/drawingml/2006/main" x="609600" y="1752600"/>
          <a:ext xmlns:a="http://schemas.openxmlformats.org/drawingml/2006/main" cx="10972800" cy="22002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076450"/>
                <a:gridCol w="2667000"/>
                <a:gridCol w="4667250"/>
                <a:gridCol w="1562100"/>
              </a:tblGrid>
              <a:tr h="342900">
                <a:tc>
                  <a:txBody>
                    <a:bodyPr lIns="95250" tIns="57150" rIns="95250" bIns="57150"/>
                    <a:lstStyle/>
                    <a:p>
                      <a:pPr algn="l">
                        <a:lnSpc>
                          <a:spcPct val="122000"/>
                        </a:lnSpc>
                        <a:buNone/>
                      </a:pPr>
                      <a:r>
                        <a:rPr sz="1088" b="1">
                          <a:solidFill>
                            <a:srgbClr val="77777E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대안</a:t>
                      </a:r>
                    </a:p>
                  </a:txBody>
                  <a:tcPr marL="95250" marR="95250" marT="57150" marB="5715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57150" rIns="95250" bIns="57150"/>
                    <a:lstStyle/>
                    <a:p>
                      <a:pPr algn="l">
                        <a:lnSpc>
                          <a:spcPct val="122000"/>
                        </a:lnSpc>
                        <a:buNone/>
                      </a:pPr>
                      <a:r>
                        <a:rPr sz="1088" b="1">
                          <a:solidFill>
                            <a:srgbClr val="77777E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활용할 수 있는 점</a:t>
                      </a:r>
                    </a:p>
                  </a:txBody>
                  <a:tcPr marL="95250" marR="95250" marT="57150" marB="5715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57150" rIns="95250" bIns="57150"/>
                    <a:lstStyle/>
                    <a:p>
                      <a:pPr algn="l">
                        <a:lnSpc>
                          <a:spcPct val="122000"/>
                        </a:lnSpc>
                        <a:buNone/>
                      </a:pPr>
                      <a:r>
                        <a:rPr sz="1088" b="1">
                          <a:solidFill>
                            <a:srgbClr val="77777E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제약과 판단</a:t>
                      </a:r>
                    </a:p>
                  </a:txBody>
                  <a:tcPr marL="95250" marR="95250" marT="57150" marB="5715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57150" rIns="95250" bIns="57150"/>
                    <a:lstStyle/>
                    <a:p>
                      <a:pPr algn="l">
                        <a:lnSpc>
                          <a:spcPct val="122000"/>
                        </a:lnSpc>
                        <a:buNone/>
                      </a:pPr>
                      <a:r>
                        <a:rPr sz="1088" b="1">
                          <a:solidFill>
                            <a:srgbClr val="77777E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선택</a:t>
                      </a:r>
                    </a:p>
                  </a:txBody>
                  <a:tcPr marL="95250" marR="95250" marT="57150" marB="5715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19125">
                <a:tc>
                  <a:txBody>
                    <a:bodyPr lIns="95250" tIns="57150" rIns="95250" bIns="57150"/>
                    <a:lstStyle/>
                    <a:p>
                      <a:pPr algn="l">
                        <a:lnSpc>
                          <a:spcPct val="122000"/>
                        </a:lnSpc>
                        <a:buNone/>
                      </a:pPr>
                      <a:r>
                        <a:rPr sz="1088" b="1">
                          <a:solidFill>
                            <a:srgbClr val="21549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해외 ERP 중심</a:t>
                      </a:r>
                    </a:p>
                  </a:txBody>
                  <a:tcPr marL="95250" marR="95250" marT="57150" marB="5715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57150" rIns="95250" bIns="57150"/>
                    <a:lstStyle/>
                    <a:p>
                      <a:pPr algn="l">
                        <a:lnSpc>
                          <a:spcPct val="122000"/>
                        </a:lnSpc>
                        <a:buNone/>
                      </a:pPr>
                      <a:r>
                        <a:rPr sz="1088" b="0">
                          <a:solidFill>
                            <a:srgbClr val="4E4E5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상품·포장 원천과 가까움</a:t>
                      </a:r>
                    </a:p>
                  </a:txBody>
                  <a:tcPr marL="95250" marR="95250" marT="57150" marB="5715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57150" rIns="95250" bIns="57150"/>
                    <a:lstStyle/>
                    <a:p>
                      <a:pPr algn="l">
                        <a:lnSpc>
                          <a:spcPct val="122000"/>
                        </a:lnSpc>
                        <a:buNone/>
                      </a:pPr>
                      <a:r>
                        <a:rPr sz="1088" b="0">
                          <a:solidFill>
                            <a:srgbClr val="4E4E5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국내 인증정보 처리와 제출 상태 통제가 어려움</a:t>
                      </a:r>
                    </a:p>
                  </a:txBody>
                  <a:tcPr marL="95250" marR="95250" marT="57150" marB="5715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57150" rIns="95250" bIns="57150"/>
                    <a:lstStyle/>
                    <a:p>
                      <a:pPr algn="l">
                        <a:lnSpc>
                          <a:spcPct val="122000"/>
                        </a:lnSpc>
                        <a:buNone/>
                      </a:pPr>
                      <a:r>
                        <a:rPr sz="1088" b="0">
                          <a:solidFill>
                            <a:srgbClr val="4E4E5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제외</a:t>
                      </a:r>
                    </a:p>
                  </a:txBody>
                  <a:tcPr marL="95250" marR="95250" marT="57150" marB="5715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19125">
                <a:tc>
                  <a:txBody>
                    <a:bodyPr lIns="95250" tIns="57150" rIns="95250" bIns="57150"/>
                    <a:lstStyle/>
                    <a:p>
                      <a:pPr algn="l">
                        <a:lnSpc>
                          <a:spcPct val="122000"/>
                        </a:lnSpc>
                        <a:buNone/>
                      </a:pPr>
                      <a:r>
                        <a:rPr sz="1088" b="1">
                          <a:solidFill>
                            <a:srgbClr val="21549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수기 제출 유지</a:t>
                      </a:r>
                    </a:p>
                  </a:txBody>
                  <a:tcPr marL="95250" marR="95250" marT="57150" marB="5715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57150" rIns="95250" bIns="57150"/>
                    <a:lstStyle/>
                    <a:p>
                      <a:pPr algn="l">
                        <a:lnSpc>
                          <a:spcPct val="122000"/>
                        </a:lnSpc>
                        <a:buNone/>
                      </a:pPr>
                      <a:r>
                        <a:rPr sz="1088" b="0">
                          <a:solidFill>
                            <a:srgbClr val="4E4E5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장애 시 즉시 대응 가능</a:t>
                      </a:r>
                    </a:p>
                  </a:txBody>
                  <a:tcPr marL="95250" marR="95250" marT="57150" marB="5715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57150" rIns="95250" bIns="57150"/>
                    <a:lstStyle/>
                    <a:p>
                      <a:pPr algn="l">
                        <a:lnSpc>
                          <a:spcPct val="122000"/>
                        </a:lnSpc>
                        <a:buNone/>
                      </a:pPr>
                      <a:r>
                        <a:rPr sz="1088" b="0">
                          <a:solidFill>
                            <a:srgbClr val="4E4E5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상태 이력·재처리·채널 확장의 운영 부담</a:t>
                      </a:r>
                    </a:p>
                  </a:txBody>
                  <a:tcPr marL="95250" marR="95250" marT="57150" marB="5715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57150" rIns="95250" bIns="57150"/>
                    <a:lstStyle/>
                    <a:p>
                      <a:pPr algn="l">
                        <a:lnSpc>
                          <a:spcPct val="122000"/>
                        </a:lnSpc>
                        <a:buNone/>
                      </a:pPr>
                      <a:r>
                        <a:rPr sz="1088" b="0">
                          <a:solidFill>
                            <a:srgbClr val="4E4E5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비상 대응</a:t>
                      </a:r>
                    </a:p>
                  </a:txBody>
                  <a:tcPr marL="95250" marR="95250" marT="57150" marB="5715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19125">
                <a:tc>
                  <a:txBody>
                    <a:bodyPr lIns="95250" tIns="57150" rIns="95250" bIns="57150"/>
                    <a:lstStyle/>
                    <a:p>
                      <a:pPr algn="l">
                        <a:lnSpc>
                          <a:spcPct val="122000"/>
                        </a:lnSpc>
                        <a:buNone/>
                      </a:pPr>
                      <a:r>
                        <a:rPr sz="1088" b="1">
                          <a:solidFill>
                            <a:srgbClr val="21549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국내 DB 중심</a:t>
                      </a:r>
                    </a:p>
                  </a:txBody>
                  <a:tcPr marL="95250" marR="95250" marT="57150" marB="5715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E0"/>
                      </a:solidFill>
                      <a:prstDash val="solid"/>
                    </a:lnB>
                    <a:solidFill>
                      <a:srgbClr val="E9F1FC"/>
                    </a:solidFill>
                  </a:tcPr>
                </a:tc>
                <a:tc>
                  <a:txBody>
                    <a:bodyPr lIns="95250" tIns="57150" rIns="95250" bIns="57150"/>
                    <a:lstStyle/>
                    <a:p>
                      <a:pPr algn="l">
                        <a:lnSpc>
                          <a:spcPct val="122000"/>
                        </a:lnSpc>
                        <a:buNone/>
                      </a:pPr>
                      <a:r>
                        <a:rPr sz="1088" b="1">
                          <a:solidFill>
                            <a:srgbClr val="21549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제출 상태를 관리하고 원천별 책임 분리</a:t>
                      </a:r>
                    </a:p>
                  </a:txBody>
                  <a:tcPr marL="95250" marR="95250" marT="57150" marB="5715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E0"/>
                      </a:solidFill>
                      <a:prstDash val="solid"/>
                    </a:lnB>
                    <a:solidFill>
                      <a:srgbClr val="E9F1FC"/>
                    </a:solidFill>
                  </a:tcPr>
                </a:tc>
                <a:tc>
                  <a:txBody>
                    <a:bodyPr lIns="95250" tIns="57150" rIns="95250" bIns="57150"/>
                    <a:lstStyle/>
                    <a:p>
                      <a:pPr algn="l">
                        <a:lnSpc>
                          <a:spcPct val="122000"/>
                        </a:lnSpc>
                        <a:buNone/>
                      </a:pPr>
                      <a:r>
                        <a:rPr sz="1088" b="1">
                          <a:solidFill>
                            <a:srgbClr val="21549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회사 간 데이터 계약과 인터페이스 조율 필요</a:t>
                      </a:r>
                    </a:p>
                  </a:txBody>
                  <a:tcPr marL="95250" marR="95250" marT="57150" marB="5715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E0"/>
                      </a:solidFill>
                      <a:prstDash val="solid"/>
                    </a:lnB>
                    <a:solidFill>
                      <a:srgbClr val="E9F1FC"/>
                    </a:solidFill>
                  </a:tcPr>
                </a:tc>
                <a:tc>
                  <a:txBody>
                    <a:bodyPr lIns="95250" tIns="57150" rIns="95250" bIns="57150"/>
                    <a:lstStyle/>
                    <a:p>
                      <a:pPr algn="l">
                        <a:lnSpc>
                          <a:spcPct val="122000"/>
                        </a:lnSpc>
                        <a:buNone/>
                      </a:pPr>
                      <a:r>
                        <a:rPr sz="1088" b="1">
                          <a:solidFill>
                            <a:srgbClr val="21549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채택</a:t>
                      </a:r>
                    </a:p>
                  </a:txBody>
                  <a:tcPr marL="95250" marR="95250" marT="57150" marB="5715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E0"/>
                      </a:solidFill>
                      <a:prstDash val="solid"/>
                    </a:lnB>
                    <a:solidFill>
                      <a:srgbClr val="E9F1FC"/>
                    </a:solidFill>
                  </a:tcPr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4CC107D-3D15-48D0-9156-76345030BF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95750"/>
            <a:ext cx="10972800" cy="3810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4F4F6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114300" tIns="47625" rIns="114300" bIns="476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1050" b="1">
                <a:solidFill>
                  <a:srgbClr val="1A1A1A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1">
                <a:solidFill>
                  <a:srgbClr val="1A1A1A"/>
                </a:solidFill>
                <a:latin typeface="Noto Sans KR"/>
                <a:ea typeface="Noto Sans KR"/>
                <a:cs typeface="Noto Sans KR"/>
              </a:rPr>
              <a:t>판단 기준  ① 개인정보 최소화    ② 제출 상태 통제    ③ 원천별 책임    ④ 개발 난이도</a:t>
            </a:r>
          </a:p>
        </p:txBody>
      </p:sp>
      <p:sp>
        <p:nvSpPr>
          <p:cNvPr id="7" name="text-5">
            <a:extLst xmlns:a="http://schemas.openxmlformats.org/drawingml/2006/main">
              <a:ext uri="{FF2B5EF4-FFF2-40B4-BE49-F238E27FC236}">
                <a16:creationId xmlns:a16="http://schemas.microsoft.com/office/drawing/2014/main" id="{EDE9364E-F652-40DC-B3F5-AD0015963E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14875"/>
            <a:ext cx="10858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350" b="1">
                <a:solidFill>
                  <a:srgbClr val="21549B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1">
                <a:solidFill>
                  <a:srgbClr val="21549B"/>
                </a:solidFill>
                <a:latin typeface="Noto Sans KR"/>
                <a:ea typeface="Noto Sans KR"/>
                <a:cs typeface="Noto Sans KR"/>
              </a:rPr>
              <a:t>결정 이후의 책임 경계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FCC5602-0467-4709-8454-04C7580879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53025"/>
            <a:ext cx="2628900" cy="419100"/>
          </a:xfrm>
          <a:prstGeom xmlns:a="http://schemas.openxmlformats.org/drawingml/2006/main" prst="roundRect">
            <a:avLst>
              <a:gd name="adj" fmla="val 11364"/>
            </a:avLst>
          </a:prstGeom>
          <a:solidFill xmlns:a="http://schemas.openxmlformats.org/drawingml/2006/main">
            <a:srgbClr val="E9F1FC"/>
          </a:solidFill>
          <a:ln xmlns:a="http://schemas.openxmlformats.org/drawingml/2006/main" w="9525">
            <a:solidFill>
              <a:srgbClr val="D9D9E0"/>
            </a:solidFill>
          </a:ln>
        </p:spPr>
        <p:txBody>
          <a:bodyPr xmlns:a="http://schemas.openxmlformats.org/drawingml/2006/main" wrap="square" lIns="114300" tIns="76200" rIns="11430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0000"/>
              </a:lnSpc>
              <a:buNone/>
              <a:defRPr sz="1125" b="1">
                <a:solidFill>
                  <a:srgbClr val="21549B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1">
                <a:solidFill>
                  <a:srgbClr val="21549B"/>
                </a:solidFill>
                <a:latin typeface="Noto Sans KR"/>
                <a:ea typeface="Noto Sans KR"/>
                <a:cs typeface="Noto Sans KR"/>
              </a:rPr>
              <a:t>자사몰 개발사</a:t>
            </a:r>
          </a:p>
        </p:txBody>
      </p:sp>
      <p:sp>
        <p:nvSpPr>
          <p:cNvPr id="9" name="text-7">
            <a:extLst xmlns:a="http://schemas.openxmlformats.org/drawingml/2006/main">
              <a:ext uri="{FF2B5EF4-FFF2-40B4-BE49-F238E27FC236}">
                <a16:creationId xmlns:a16="http://schemas.microsoft.com/office/drawing/2014/main" id="{0E6EA099-1518-44A9-8DFF-4BAC56AA66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5734050"/>
            <a:ext cx="25336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5000"/>
              </a:lnSpc>
              <a:buNone/>
              <a:defRPr sz="1088" b="0">
                <a:solidFill>
                  <a:srgbClr val="4E4E53"/>
                </a:solidFill>
                <a:latin typeface="Noto Sans KR"/>
                <a:ea typeface="Noto Sans KR"/>
                <a:cs typeface="Noto Sans KR"/>
              </a:defRPr>
            </a:pPr>
            <a:r>
              <a:rPr sz="1088" b="0">
                <a:solidFill>
                  <a:srgbClr val="4E4E53"/>
                </a:solidFill>
                <a:latin typeface="Noto Sans KR"/>
                <a:ea typeface="Noto Sans KR"/>
                <a:cs typeface="Noto Sans KR"/>
              </a:rPr>
              <a:t>주문·인증·제출 상태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ACB7E8F-15C7-49F7-94F9-9C532138CB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5153025"/>
            <a:ext cx="2628900" cy="419100"/>
          </a:xfrm>
          <a:prstGeom xmlns:a="http://schemas.openxmlformats.org/drawingml/2006/main" prst="roundRect">
            <a:avLst>
              <a:gd name="adj" fmla="val 11364"/>
            </a:avLst>
          </a:prstGeom>
          <a:solidFill xmlns:a="http://schemas.openxmlformats.org/drawingml/2006/main">
            <a:srgbClr val="E9F1FC"/>
          </a:solidFill>
          <a:ln xmlns:a="http://schemas.openxmlformats.org/drawingml/2006/main" w="9525">
            <a:solidFill>
              <a:srgbClr val="D9D9E0"/>
            </a:solidFill>
          </a:ln>
        </p:spPr>
        <p:txBody>
          <a:bodyPr xmlns:a="http://schemas.openxmlformats.org/drawingml/2006/main" wrap="square" lIns="114300" tIns="76200" rIns="11430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0000"/>
              </a:lnSpc>
              <a:buNone/>
              <a:defRPr sz="1125" b="1">
                <a:solidFill>
                  <a:srgbClr val="21549B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1">
                <a:solidFill>
                  <a:srgbClr val="21549B"/>
                </a:solidFill>
                <a:latin typeface="Noto Sans KR"/>
                <a:ea typeface="Noto Sans KR"/>
                <a:cs typeface="Noto Sans KR"/>
              </a:rPr>
              <a:t>ERP·물류 개발사</a:t>
            </a:r>
          </a:p>
        </p:txBody>
      </p:sp>
      <p:sp>
        <p:nvSpPr>
          <p:cNvPr id="11" name="text-9">
            <a:extLst xmlns:a="http://schemas.openxmlformats.org/drawingml/2006/main">
              <a:ext uri="{FF2B5EF4-FFF2-40B4-BE49-F238E27FC236}">
                <a16:creationId xmlns:a16="http://schemas.microsoft.com/office/drawing/2014/main" id="{F1A59E30-87CA-40AA-B2DE-1804E9B04F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38525" y="5734050"/>
            <a:ext cx="25336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5000"/>
              </a:lnSpc>
              <a:buNone/>
              <a:defRPr sz="1088" b="0">
                <a:solidFill>
                  <a:srgbClr val="4E4E53"/>
                </a:solidFill>
                <a:latin typeface="Noto Sans KR"/>
                <a:ea typeface="Noto Sans KR"/>
                <a:cs typeface="Noto Sans KR"/>
              </a:defRPr>
            </a:pPr>
            <a:r>
              <a:rPr sz="1088" b="0">
                <a:solidFill>
                  <a:srgbClr val="4E4E53"/>
                </a:solidFill>
                <a:latin typeface="Noto Sans KR"/>
                <a:ea typeface="Noto Sans KR"/>
                <a:cs typeface="Noto Sans KR"/>
              </a:rPr>
              <a:t>상품·포장·운송장 원천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3022E8A-E597-4ACE-B541-649380273D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5153025"/>
            <a:ext cx="2628900" cy="419100"/>
          </a:xfrm>
          <a:prstGeom xmlns:a="http://schemas.openxmlformats.org/drawingml/2006/main" prst="roundRect">
            <a:avLst>
              <a:gd name="adj" fmla="val 11364"/>
            </a:avLst>
          </a:prstGeom>
          <a:solidFill xmlns:a="http://schemas.openxmlformats.org/drawingml/2006/main">
            <a:srgbClr val="E9F1FC"/>
          </a:solidFill>
          <a:ln xmlns:a="http://schemas.openxmlformats.org/drawingml/2006/main" w="9525">
            <a:solidFill>
              <a:srgbClr val="D9D9E0"/>
            </a:solidFill>
          </a:ln>
        </p:spPr>
        <p:txBody>
          <a:bodyPr xmlns:a="http://schemas.openxmlformats.org/drawingml/2006/main" wrap="square" lIns="114300" tIns="76200" rIns="11430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0000"/>
              </a:lnSpc>
              <a:buNone/>
              <a:defRPr sz="1125" b="1">
                <a:solidFill>
                  <a:srgbClr val="21549B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1">
                <a:solidFill>
                  <a:srgbClr val="21549B"/>
                </a:solidFill>
                <a:latin typeface="Noto Sans KR"/>
                <a:ea typeface="Noto Sans KR"/>
                <a:cs typeface="Noto Sans KR"/>
              </a:rPr>
              <a:t>통관대행사</a:t>
            </a:r>
          </a:p>
        </p:txBody>
      </p:sp>
      <p:sp>
        <p:nvSpPr>
          <p:cNvPr id="13" name="text-11">
            <a:extLst xmlns:a="http://schemas.openxmlformats.org/drawingml/2006/main">
              <a:ext uri="{FF2B5EF4-FFF2-40B4-BE49-F238E27FC236}">
                <a16:creationId xmlns:a16="http://schemas.microsoft.com/office/drawing/2014/main" id="{8A4368B4-D7DA-45A1-AB03-4C76634EA5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9825" y="5734050"/>
            <a:ext cx="25336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5000"/>
              </a:lnSpc>
              <a:buNone/>
              <a:defRPr sz="1088" b="0">
                <a:solidFill>
                  <a:srgbClr val="4E4E53"/>
                </a:solidFill>
                <a:latin typeface="Noto Sans KR"/>
                <a:ea typeface="Noto Sans KR"/>
                <a:cs typeface="Noto Sans KR"/>
              </a:defRPr>
            </a:pPr>
            <a:r>
              <a:rPr sz="1088" b="0">
                <a:solidFill>
                  <a:srgbClr val="4E4E53"/>
                </a:solidFill>
                <a:latin typeface="Noto Sans KR"/>
                <a:ea typeface="Noto Sans KR"/>
                <a:cs typeface="Noto Sans KR"/>
              </a:rPr>
              <a:t>데이터 병합·신고 결과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7F3FD5D-24F6-4AFB-A50F-B032C5BA07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5153025"/>
            <a:ext cx="2628900" cy="419100"/>
          </a:xfrm>
          <a:prstGeom xmlns:a="http://schemas.openxmlformats.org/drawingml/2006/main" prst="roundRect">
            <a:avLst>
              <a:gd name="adj" fmla="val 11364"/>
            </a:avLst>
          </a:prstGeom>
          <a:solidFill xmlns:a="http://schemas.openxmlformats.org/drawingml/2006/main">
            <a:srgbClr val="21549B"/>
          </a:solidFill>
          <a:ln xmlns:a="http://schemas.openxmlformats.org/drawingml/2006/main" w="9525">
            <a:solidFill>
              <a:srgbClr val="D9D9E0"/>
            </a:solidFill>
          </a:ln>
        </p:spPr>
        <p:txBody>
          <a:bodyPr xmlns:a="http://schemas.openxmlformats.org/drawingml/2006/main" wrap="square" lIns="114300" tIns="76200" rIns="11430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0000"/>
              </a:lnSpc>
              <a:buNone/>
              <a:defRPr sz="11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본인 역할</a:t>
            </a:r>
          </a:p>
        </p:txBody>
      </p:sp>
      <p:sp>
        <p:nvSpPr>
          <p:cNvPr id="15" name="text-13">
            <a:extLst xmlns:a="http://schemas.openxmlformats.org/drawingml/2006/main">
              <a:ext uri="{FF2B5EF4-FFF2-40B4-BE49-F238E27FC236}">
                <a16:creationId xmlns:a16="http://schemas.microsoft.com/office/drawing/2014/main" id="{519C79C5-E3C5-482C-9A53-2F7BC36362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1125" y="5734050"/>
            <a:ext cx="25336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5000"/>
              </a:lnSpc>
              <a:buNone/>
              <a:defRPr sz="1088" b="0">
                <a:solidFill>
                  <a:srgbClr val="4E4E53"/>
                </a:solidFill>
                <a:latin typeface="Noto Sans KR"/>
                <a:ea typeface="Noto Sans KR"/>
                <a:cs typeface="Noto Sans KR"/>
              </a:defRPr>
            </a:pPr>
            <a:r>
              <a:rPr sz="1088" b="0">
                <a:solidFill>
                  <a:srgbClr val="4E4E53"/>
                </a:solidFill>
                <a:latin typeface="Noto Sans KR"/>
                <a:ea typeface="Noto Sans KR"/>
                <a:cs typeface="Noto Sans KR"/>
              </a:rPr>
              <a:t>필드·흐름·검수 기준 조율</a:t>
            </a:r>
          </a:p>
        </p:txBody>
      </p:sp>
    </p:spTree>
    <p:extLst>
      <p:ext uri="{BB962C8B-B14F-4D97-AF65-F5344CB8AC3E}">
        <p14:creationId xmlns:p14="http://schemas.microsoft.com/office/powerpoint/2010/main" val="1958325612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7" name="text-0">
            <a:extLst xmlns:a="http://schemas.openxmlformats.org/drawingml/2006/main">
              <a:ext uri="{FF2B5EF4-FFF2-40B4-BE49-F238E27FC236}">
                <a16:creationId xmlns:a16="http://schemas.microsoft.com/office/drawing/2014/main" id="{08FC3933-3D97-43A5-8372-CEA49F620F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87075" y="285750"/>
            <a:ext cx="6953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25000"/>
              </a:lnSpc>
              <a:buNone/>
              <a:defRPr sz="788" b="0">
                <a:solidFill>
                  <a:srgbClr val="92929A"/>
                </a:solidFill>
                <a:latin typeface="Noto Sans KR"/>
                <a:ea typeface="Noto Sans KR"/>
                <a:cs typeface="Noto Sans KR"/>
              </a:defRPr>
            </a:pPr>
            <a:r>
              <a:rPr sz="788" b="0">
                <a:solidFill>
                  <a:srgbClr val="92929A"/>
                </a:solidFill>
                <a:latin typeface="Noto Sans KR"/>
                <a:ea typeface="Noto Sans KR"/>
                <a:cs typeface="Noto Sans KR"/>
              </a:rPr>
              <a:t>06 / 22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4687F889-4706-4D47-91E1-1783A7126A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3905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950" b="1">
                <a:solidFill>
                  <a:srgbClr val="21549B"/>
                </a:solidFill>
                <a:latin typeface="Noto Sans KR"/>
                <a:ea typeface="Noto Sans KR"/>
                <a:cs typeface="Noto Sans KR"/>
              </a:defRPr>
            </a:pPr>
            <a:r>
              <a:rPr sz="1950" b="1">
                <a:solidFill>
                  <a:srgbClr val="21549B"/>
                </a:solidFill>
                <a:latin typeface="Noto Sans KR"/>
                <a:ea typeface="Noto Sans KR"/>
                <a:cs typeface="Noto Sans KR"/>
              </a:rPr>
              <a:t>03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1DE60FBE-CFC6-4B91-A2C8-FBF54BF913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742950"/>
            <a:ext cx="10287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950" b="1">
                <a:solidFill>
                  <a:srgbClr val="1A1A1A"/>
                </a:solidFill>
                <a:latin typeface="Noto Sans KR"/>
                <a:ea typeface="Noto Sans KR"/>
                <a:cs typeface="Noto Sans KR"/>
              </a:defRPr>
            </a:pPr>
            <a:r>
              <a:rPr sz="1950" b="1">
                <a:solidFill>
                  <a:srgbClr val="1A1A1A"/>
                </a:solidFill>
                <a:latin typeface="Noto Sans KR"/>
                <a:ea typeface="Noto Sans KR"/>
                <a:cs typeface="Noto Sans KR"/>
              </a:rPr>
              <a:t>주문부터 통관까지의 업무 흐름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7D6643D3-6C59-4F00-A9B7-39CED62C90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906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050" b="0">
                <a:solidFill>
                  <a:srgbClr val="77777E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0">
                <a:solidFill>
                  <a:srgbClr val="77777E"/>
                </a:solidFill>
                <a:latin typeface="Noto Sans KR"/>
                <a:ea typeface="Noto Sans KR"/>
                <a:cs typeface="Noto Sans KR"/>
              </a:rPr>
              <a:t>단계별 입력·처리 주체·완료 근거를 맞추고, 미완료 상태의 다음 단계 진입을 구분했습니다.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6A3646F-CB82-4CEE-80FD-42C5981F30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43075"/>
            <a:ext cx="1181100" cy="304800"/>
          </a:xfrm>
          <a:prstGeom xmlns:a="http://schemas.openxmlformats.org/drawingml/2006/main" prst="roundRect">
            <a:avLst>
              <a:gd name="adj" fmla="val 15625"/>
            </a:avLst>
          </a:prstGeom>
          <a:solidFill xmlns:a="http://schemas.openxmlformats.org/drawingml/2006/main">
            <a:srgbClr val="E9F1FC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114300" tIns="47625" rIns="114300" bIns="476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1088" b="1">
                <a:solidFill>
                  <a:srgbClr val="21549B"/>
                </a:solidFill>
                <a:latin typeface="Noto Sans KR"/>
                <a:ea typeface="Noto Sans KR"/>
                <a:cs typeface="Noto Sans KR"/>
              </a:defRPr>
            </a:pPr>
            <a:r>
              <a:rPr sz="1088" b="1">
                <a:solidFill>
                  <a:srgbClr val="21549B"/>
                </a:solidFill>
                <a:latin typeface="Noto Sans KR"/>
                <a:ea typeface="Noto Sans KR"/>
                <a:cs typeface="Noto Sans KR"/>
              </a:rPr>
              <a:t>단계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95E1592-A1DF-4075-A86B-AE3A16F051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1743075"/>
            <a:ext cx="2305050" cy="304800"/>
          </a:xfrm>
          <a:prstGeom xmlns:a="http://schemas.openxmlformats.org/drawingml/2006/main" prst="roundRect">
            <a:avLst>
              <a:gd name="adj" fmla="val 15625"/>
            </a:avLst>
          </a:prstGeom>
          <a:solidFill xmlns:a="http://schemas.openxmlformats.org/drawingml/2006/main">
            <a:srgbClr val="1A1A1A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114300" tIns="47625" rIns="114300" bIns="476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1088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088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자사몰·국내 DB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5779166-640D-4183-AFCD-A1B0CDD4A2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1743075"/>
            <a:ext cx="2305050" cy="304800"/>
          </a:xfrm>
          <a:prstGeom xmlns:a="http://schemas.openxmlformats.org/drawingml/2006/main" prst="roundRect">
            <a:avLst>
              <a:gd name="adj" fmla="val 15625"/>
            </a:avLst>
          </a:prstGeom>
          <a:solidFill xmlns:a="http://schemas.openxmlformats.org/drawingml/2006/main">
            <a:srgbClr val="1A1A1A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114300" tIns="47625" rIns="114300" bIns="476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1088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088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본인확인기관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18FA925-28C1-4838-8364-81B365C950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1743075"/>
            <a:ext cx="2305050" cy="304800"/>
          </a:xfrm>
          <a:prstGeom xmlns:a="http://schemas.openxmlformats.org/drawingml/2006/main" prst="roundRect">
            <a:avLst>
              <a:gd name="adj" fmla="val 15625"/>
            </a:avLst>
          </a:prstGeom>
          <a:solidFill xmlns:a="http://schemas.openxmlformats.org/drawingml/2006/main">
            <a:srgbClr val="1A1A1A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114300" tIns="47625" rIns="114300" bIns="476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1088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088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ERP·WMS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C9D4E87-5059-42B2-A045-5D5BF3C9A3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1743075"/>
            <a:ext cx="2419350" cy="304800"/>
          </a:xfrm>
          <a:prstGeom xmlns:a="http://schemas.openxmlformats.org/drawingml/2006/main" prst="roundRect">
            <a:avLst>
              <a:gd name="adj" fmla="val 15625"/>
            </a:avLst>
          </a:prstGeom>
          <a:solidFill xmlns:a="http://schemas.openxmlformats.org/drawingml/2006/main">
            <a:srgbClr val="1A1A1A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114300" tIns="47625" rIns="114300" bIns="476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1088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088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통관 시스템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C3787BC-3326-4F38-A97E-15017E990E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71700"/>
            <a:ext cx="1181100" cy="552450"/>
          </a:xfrm>
          <a:prstGeom xmlns:a="http://schemas.openxmlformats.org/drawingml/2006/main" prst="roundRect">
            <a:avLst>
              <a:gd name="adj" fmla="val 8621"/>
            </a:avLst>
          </a:prstGeom>
          <a:solidFill xmlns:a="http://schemas.openxmlformats.org/drawingml/2006/main">
            <a:srgbClr val="E9F1FC"/>
          </a:solidFill>
          <a:ln xmlns:a="http://schemas.openxmlformats.org/drawingml/2006/main" w="9525">
            <a:solidFill>
              <a:srgbClr val="D9D9E0"/>
            </a:solidFill>
          </a:ln>
        </p:spPr>
        <p:txBody>
          <a:bodyPr xmlns:a="http://schemas.openxmlformats.org/drawingml/2006/main" wrap="square" lIns="114300" tIns="76200" rIns="11430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0000"/>
              </a:lnSpc>
              <a:buNone/>
              <a:defRPr sz="1050" b="1">
                <a:solidFill>
                  <a:srgbClr val="21549B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1">
                <a:solidFill>
                  <a:srgbClr val="21549B"/>
                </a:solidFill>
                <a:latin typeface="Noto Sans KR"/>
                <a:ea typeface="Noto Sans KR"/>
                <a:cs typeface="Noto Sans KR"/>
              </a:rPr>
              <a:t>주문·검증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CE1938A-E991-418D-B839-7C40D7618F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2171700"/>
            <a:ext cx="2305050" cy="552450"/>
          </a:xfrm>
          <a:prstGeom xmlns:a="http://schemas.openxmlformats.org/drawingml/2006/main" prst="roundRect">
            <a:avLst>
              <a:gd name="adj" fmla="val 862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9E0"/>
            </a:solidFill>
          </a:ln>
        </p:spPr>
        <p:txBody>
          <a:bodyPr xmlns:a="http://schemas.openxmlformats.org/drawingml/2006/main" wrap="square" lIns="114300" tIns="76200" rIns="11430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0000"/>
              </a:lnSpc>
              <a:buNone/>
              <a:defRPr sz="1050" b="0">
                <a:solidFill>
                  <a:srgbClr val="4E4E53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0">
                <a:solidFill>
                  <a:srgbClr val="4E4E53"/>
                </a:solidFill>
                <a:latin typeface="Noto Sans KR"/>
                <a:ea typeface="Noto Sans KR"/>
                <a:cs typeface="Noto Sans KR"/>
              </a:rPr>
              <a:t>주문·실수하인 확인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66B245C-BB84-4FDF-B7E7-0CD2796984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2171700"/>
            <a:ext cx="2305050" cy="552450"/>
          </a:xfrm>
          <a:prstGeom xmlns:a="http://schemas.openxmlformats.org/drawingml/2006/main" prst="roundRect">
            <a:avLst>
              <a:gd name="adj" fmla="val 862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9E0"/>
            </a:solidFill>
          </a:ln>
        </p:spPr>
        <p:txBody>
          <a:bodyPr xmlns:a="http://schemas.openxmlformats.org/drawingml/2006/main" wrap="square" lIns="114300" tIns="76200" rIns="11430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0000"/>
              </a:lnSpc>
              <a:buNone/>
              <a:defRPr sz="1050" b="0">
                <a:solidFill>
                  <a:srgbClr val="4E4E53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0">
                <a:solidFill>
                  <a:srgbClr val="4E4E53"/>
                </a:solidFill>
                <a:latin typeface="Noto Sans KR"/>
                <a:ea typeface="Noto Sans KR"/>
                <a:cs typeface="Noto Sans KR"/>
              </a:rPr>
              <a:t>통관정보 검증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72508C0-1520-49D0-8CA6-86AD9F4203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2171700"/>
            <a:ext cx="2305050" cy="552450"/>
          </a:xfrm>
          <a:prstGeom xmlns:a="http://schemas.openxmlformats.org/drawingml/2006/main" prst="roundRect">
            <a:avLst>
              <a:gd name="adj" fmla="val 862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9E0"/>
            </a:solidFill>
          </a:ln>
        </p:spPr>
        <p:txBody>
          <a:bodyPr xmlns:a="http://schemas.openxmlformats.org/drawingml/2006/main" wrap="square" lIns="114300" tIns="76200" rIns="11430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0000"/>
              </a:lnSpc>
              <a:buNone/>
              <a:defRPr sz="1050" b="0">
                <a:solidFill>
                  <a:srgbClr val="4E4E53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0">
                <a:solidFill>
                  <a:srgbClr val="4E4E53"/>
                </a:solidFill>
                <a:latin typeface="Noto Sans KR"/>
                <a:ea typeface="Noto Sans KR"/>
                <a:cs typeface="Noto Sans KR"/>
              </a:rPr>
              <a:t>—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3E03401-EFA3-4389-96D8-82C5B9A015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2171700"/>
            <a:ext cx="2419350" cy="552450"/>
          </a:xfrm>
          <a:prstGeom xmlns:a="http://schemas.openxmlformats.org/drawingml/2006/main" prst="roundRect">
            <a:avLst>
              <a:gd name="adj" fmla="val 862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9E0"/>
            </a:solidFill>
          </a:ln>
        </p:spPr>
        <p:txBody>
          <a:bodyPr xmlns:a="http://schemas.openxmlformats.org/drawingml/2006/main" wrap="square" lIns="114300" tIns="76200" rIns="11430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0000"/>
              </a:lnSpc>
              <a:buNone/>
              <a:defRPr sz="1050" b="0">
                <a:solidFill>
                  <a:srgbClr val="4E4E53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0">
                <a:solidFill>
                  <a:srgbClr val="4E4E53"/>
                </a:solidFill>
                <a:latin typeface="Noto Sans KR"/>
                <a:ea typeface="Noto Sans KR"/>
                <a:cs typeface="Noto Sans KR"/>
              </a:rPr>
              <a:t>—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E6F6EB7-BEAC-4561-B3B3-A33E726C5D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47975"/>
            <a:ext cx="1181100" cy="552450"/>
          </a:xfrm>
          <a:prstGeom xmlns:a="http://schemas.openxmlformats.org/drawingml/2006/main" prst="roundRect">
            <a:avLst>
              <a:gd name="adj" fmla="val 8621"/>
            </a:avLst>
          </a:prstGeom>
          <a:solidFill xmlns:a="http://schemas.openxmlformats.org/drawingml/2006/main">
            <a:srgbClr val="E9F1FC"/>
          </a:solidFill>
          <a:ln xmlns:a="http://schemas.openxmlformats.org/drawingml/2006/main" w="9525">
            <a:solidFill>
              <a:srgbClr val="D9D9E0"/>
            </a:solidFill>
          </a:ln>
        </p:spPr>
        <p:txBody>
          <a:bodyPr xmlns:a="http://schemas.openxmlformats.org/drawingml/2006/main" wrap="square" lIns="114300" tIns="76200" rIns="11430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0000"/>
              </a:lnSpc>
              <a:buNone/>
              <a:defRPr sz="1050" b="1">
                <a:solidFill>
                  <a:srgbClr val="21549B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1">
                <a:solidFill>
                  <a:srgbClr val="21549B"/>
                </a:solidFill>
                <a:latin typeface="Noto Sans KR"/>
                <a:ea typeface="Noto Sans KR"/>
                <a:cs typeface="Noto Sans KR"/>
              </a:rPr>
              <a:t>포장 준비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0C38DCF-E641-4532-91D8-426E79368D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2847975"/>
            <a:ext cx="2305050" cy="552450"/>
          </a:xfrm>
          <a:prstGeom xmlns:a="http://schemas.openxmlformats.org/drawingml/2006/main" prst="roundRect">
            <a:avLst>
              <a:gd name="adj" fmla="val 862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9E0"/>
            </a:solidFill>
          </a:ln>
        </p:spPr>
        <p:txBody>
          <a:bodyPr xmlns:a="http://schemas.openxmlformats.org/drawingml/2006/main" wrap="square" lIns="114300" tIns="76200" rIns="11430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0000"/>
              </a:lnSpc>
              <a:buNone/>
              <a:defRPr sz="1050" b="0">
                <a:solidFill>
                  <a:srgbClr val="4E4E53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0">
                <a:solidFill>
                  <a:srgbClr val="4E4E53"/>
                </a:solidFill>
                <a:latin typeface="Noto Sans KR"/>
                <a:ea typeface="Noto Sans KR"/>
                <a:cs typeface="Noto Sans KR"/>
              </a:rPr>
              <a:t>원주문번호 유지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07CBB22-BB94-4579-952B-ACE2945A4D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2847975"/>
            <a:ext cx="2305050" cy="552450"/>
          </a:xfrm>
          <a:prstGeom xmlns:a="http://schemas.openxmlformats.org/drawingml/2006/main" prst="roundRect">
            <a:avLst>
              <a:gd name="adj" fmla="val 862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9E0"/>
            </a:solidFill>
          </a:ln>
        </p:spPr>
        <p:txBody>
          <a:bodyPr xmlns:a="http://schemas.openxmlformats.org/drawingml/2006/main" wrap="square" lIns="114300" tIns="76200" rIns="11430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0000"/>
              </a:lnSpc>
              <a:buNone/>
              <a:defRPr sz="1050" b="0">
                <a:solidFill>
                  <a:srgbClr val="4E4E53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0">
                <a:solidFill>
                  <a:srgbClr val="4E4E53"/>
                </a:solidFill>
                <a:latin typeface="Noto Sans KR"/>
                <a:ea typeface="Noto Sans KR"/>
                <a:cs typeface="Noto Sans KR"/>
              </a:rPr>
              <a:t>—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AE9BD6B-B7A2-447E-A1D4-48F235A8A9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2847975"/>
            <a:ext cx="2305050" cy="552450"/>
          </a:xfrm>
          <a:prstGeom xmlns:a="http://schemas.openxmlformats.org/drawingml/2006/main" prst="roundRect">
            <a:avLst>
              <a:gd name="adj" fmla="val 862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9E0"/>
            </a:solidFill>
          </a:ln>
        </p:spPr>
        <p:txBody>
          <a:bodyPr xmlns:a="http://schemas.openxmlformats.org/drawingml/2006/main" wrap="square" lIns="114300" tIns="76200" rIns="11430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0000"/>
              </a:lnSpc>
              <a:buNone/>
              <a:defRPr sz="1050" b="0">
                <a:solidFill>
                  <a:srgbClr val="4E4E53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0">
                <a:solidFill>
                  <a:srgbClr val="4E4E53"/>
                </a:solidFill>
                <a:latin typeface="Noto Sans KR"/>
                <a:ea typeface="Noto Sans KR"/>
                <a:cs typeface="Noto Sans KR"/>
              </a:rPr>
              <a:t>포장·운송장 확정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0A9BD61-9EC5-44D8-B46B-A8FD1BEE78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2847975"/>
            <a:ext cx="2419350" cy="552450"/>
          </a:xfrm>
          <a:prstGeom xmlns:a="http://schemas.openxmlformats.org/drawingml/2006/main" prst="roundRect">
            <a:avLst>
              <a:gd name="adj" fmla="val 862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9E0"/>
            </a:solidFill>
          </a:ln>
        </p:spPr>
        <p:txBody>
          <a:bodyPr xmlns:a="http://schemas.openxmlformats.org/drawingml/2006/main" wrap="square" lIns="114300" tIns="76200" rIns="11430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0000"/>
              </a:lnSpc>
              <a:buNone/>
              <a:defRPr sz="1050" b="0">
                <a:solidFill>
                  <a:srgbClr val="4E4E53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0">
                <a:solidFill>
                  <a:srgbClr val="4E4E53"/>
                </a:solidFill>
                <a:latin typeface="Noto Sans KR"/>
                <a:ea typeface="Noto Sans KR"/>
                <a:cs typeface="Noto Sans KR"/>
              </a:rPr>
              <a:t>—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EB226C5-0A4A-41AC-AABD-011E593AE9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24250"/>
            <a:ext cx="1181100" cy="552450"/>
          </a:xfrm>
          <a:prstGeom xmlns:a="http://schemas.openxmlformats.org/drawingml/2006/main" prst="roundRect">
            <a:avLst>
              <a:gd name="adj" fmla="val 8621"/>
            </a:avLst>
          </a:prstGeom>
          <a:solidFill xmlns:a="http://schemas.openxmlformats.org/drawingml/2006/main">
            <a:srgbClr val="E9F1FC"/>
          </a:solidFill>
          <a:ln xmlns:a="http://schemas.openxmlformats.org/drawingml/2006/main" w="9525">
            <a:solidFill>
              <a:srgbClr val="D9D9E0"/>
            </a:solidFill>
          </a:ln>
        </p:spPr>
        <p:txBody>
          <a:bodyPr xmlns:a="http://schemas.openxmlformats.org/drawingml/2006/main" wrap="square" lIns="114300" tIns="76200" rIns="11430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0000"/>
              </a:lnSpc>
              <a:buNone/>
              <a:defRPr sz="1050" b="1">
                <a:solidFill>
                  <a:srgbClr val="21549B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1">
                <a:solidFill>
                  <a:srgbClr val="21549B"/>
                </a:solidFill>
                <a:latin typeface="Noto Sans KR"/>
                <a:ea typeface="Noto Sans KR"/>
                <a:cs typeface="Noto Sans KR"/>
              </a:rPr>
              <a:t>정보 제출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9D8F2F6-8A17-438B-A8DD-11584BD4A2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3524250"/>
            <a:ext cx="2305050" cy="552450"/>
          </a:xfrm>
          <a:prstGeom xmlns:a="http://schemas.openxmlformats.org/drawingml/2006/main" prst="roundRect">
            <a:avLst>
              <a:gd name="adj" fmla="val 862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9E0"/>
            </a:solidFill>
          </a:ln>
        </p:spPr>
        <p:txBody>
          <a:bodyPr xmlns:a="http://schemas.openxmlformats.org/drawingml/2006/main" wrap="square" lIns="114300" tIns="76200" rIns="11430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0000"/>
              </a:lnSpc>
              <a:buNone/>
              <a:defRPr sz="1050" b="0">
                <a:solidFill>
                  <a:srgbClr val="4E4E53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0">
                <a:solidFill>
                  <a:srgbClr val="4E4E53"/>
                </a:solidFill>
                <a:latin typeface="Noto Sans KR"/>
                <a:ea typeface="Noto Sans KR"/>
                <a:cs typeface="Noto Sans KR"/>
              </a:rPr>
              <a:t>거래정보·인증정보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1452515-BE0D-42AE-8AA0-ABE16741A5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3524250"/>
            <a:ext cx="2305050" cy="552450"/>
          </a:xfrm>
          <a:prstGeom xmlns:a="http://schemas.openxmlformats.org/drawingml/2006/main" prst="roundRect">
            <a:avLst>
              <a:gd name="adj" fmla="val 862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9E0"/>
            </a:solidFill>
          </a:ln>
        </p:spPr>
        <p:txBody>
          <a:bodyPr xmlns:a="http://schemas.openxmlformats.org/drawingml/2006/main" wrap="square" lIns="114300" tIns="76200" rIns="11430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0000"/>
              </a:lnSpc>
              <a:buNone/>
              <a:defRPr sz="1050" b="0">
                <a:solidFill>
                  <a:srgbClr val="4E4E53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0">
                <a:solidFill>
                  <a:srgbClr val="4E4E53"/>
                </a:solidFill>
                <a:latin typeface="Noto Sans KR"/>
                <a:ea typeface="Noto Sans KR"/>
                <a:cs typeface="Noto Sans KR"/>
              </a:rPr>
              <a:t>—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786469E-A79D-42DE-8D8F-5564F30A81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3524250"/>
            <a:ext cx="2305050" cy="552450"/>
          </a:xfrm>
          <a:prstGeom xmlns:a="http://schemas.openxmlformats.org/drawingml/2006/main" prst="roundRect">
            <a:avLst>
              <a:gd name="adj" fmla="val 862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9E0"/>
            </a:solidFill>
          </a:ln>
        </p:spPr>
        <p:txBody>
          <a:bodyPr xmlns:a="http://schemas.openxmlformats.org/drawingml/2006/main" wrap="square" lIns="114300" tIns="76200" rIns="11430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0000"/>
              </a:lnSpc>
              <a:buNone/>
              <a:defRPr sz="1050" b="0">
                <a:solidFill>
                  <a:srgbClr val="4E4E53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0">
                <a:solidFill>
                  <a:srgbClr val="4E4E53"/>
                </a:solidFill>
                <a:latin typeface="Noto Sans KR"/>
                <a:ea typeface="Noto Sans KR"/>
                <a:cs typeface="Noto Sans KR"/>
              </a:rPr>
              <a:t>물류 스냅샷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8637B5D-CED9-44A5-9AD4-AE737C621F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3524250"/>
            <a:ext cx="2419350" cy="552450"/>
          </a:xfrm>
          <a:prstGeom xmlns:a="http://schemas.openxmlformats.org/drawingml/2006/main" prst="roundRect">
            <a:avLst>
              <a:gd name="adj" fmla="val 862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9E0"/>
            </a:solidFill>
          </a:ln>
        </p:spPr>
        <p:txBody>
          <a:bodyPr xmlns:a="http://schemas.openxmlformats.org/drawingml/2006/main" wrap="square" lIns="114300" tIns="76200" rIns="11430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0000"/>
              </a:lnSpc>
              <a:buNone/>
              <a:defRPr sz="1050" b="0">
                <a:solidFill>
                  <a:srgbClr val="4E4E53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0">
                <a:solidFill>
                  <a:srgbClr val="4E4E53"/>
                </a:solidFill>
                <a:latin typeface="Noto Sans KR"/>
                <a:ea typeface="Noto Sans KR"/>
                <a:cs typeface="Noto Sans KR"/>
              </a:rPr>
              <a:t>접수 상태 확인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F55F3FB-F8A9-450F-9D95-0CA9680283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00525"/>
            <a:ext cx="1181100" cy="552450"/>
          </a:xfrm>
          <a:prstGeom xmlns:a="http://schemas.openxmlformats.org/drawingml/2006/main" prst="roundRect">
            <a:avLst>
              <a:gd name="adj" fmla="val 8621"/>
            </a:avLst>
          </a:prstGeom>
          <a:solidFill xmlns:a="http://schemas.openxmlformats.org/drawingml/2006/main">
            <a:srgbClr val="E9F1FC"/>
          </a:solidFill>
          <a:ln xmlns:a="http://schemas.openxmlformats.org/drawingml/2006/main" w="9525">
            <a:solidFill>
              <a:srgbClr val="D9D9E0"/>
            </a:solidFill>
          </a:ln>
        </p:spPr>
        <p:txBody>
          <a:bodyPr xmlns:a="http://schemas.openxmlformats.org/drawingml/2006/main" wrap="square" lIns="114300" tIns="76200" rIns="11430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0000"/>
              </a:lnSpc>
              <a:buNone/>
              <a:defRPr sz="1050" b="1">
                <a:solidFill>
                  <a:srgbClr val="21549B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1">
                <a:solidFill>
                  <a:srgbClr val="21549B"/>
                </a:solidFill>
                <a:latin typeface="Noto Sans KR"/>
                <a:ea typeface="Noto Sans KR"/>
                <a:cs typeface="Noto Sans KR"/>
              </a:rPr>
              <a:t>병합·대사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DE7B71A-CB5D-4F7C-B2AD-9FB38B920D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4200525"/>
            <a:ext cx="2305050" cy="552450"/>
          </a:xfrm>
          <a:prstGeom xmlns:a="http://schemas.openxmlformats.org/drawingml/2006/main" prst="roundRect">
            <a:avLst>
              <a:gd name="adj" fmla="val 862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9E0"/>
            </a:solidFill>
          </a:ln>
        </p:spPr>
        <p:txBody>
          <a:bodyPr xmlns:a="http://schemas.openxmlformats.org/drawingml/2006/main" wrap="square" lIns="114300" tIns="76200" rIns="11430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0000"/>
              </a:lnSpc>
              <a:buNone/>
              <a:defRPr sz="1050" b="0">
                <a:solidFill>
                  <a:srgbClr val="4E4E53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0">
                <a:solidFill>
                  <a:srgbClr val="4E4E53"/>
                </a:solidFill>
                <a:latin typeface="Noto Sans KR"/>
                <a:ea typeface="Noto Sans KR"/>
                <a:cs typeface="Noto Sans KR"/>
              </a:rPr>
              <a:t>주문별 제출 이력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E146B4F-312F-4AE5-9A4D-91B1166112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4200525"/>
            <a:ext cx="2305050" cy="552450"/>
          </a:xfrm>
          <a:prstGeom xmlns:a="http://schemas.openxmlformats.org/drawingml/2006/main" prst="roundRect">
            <a:avLst>
              <a:gd name="adj" fmla="val 862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9E0"/>
            </a:solidFill>
          </a:ln>
        </p:spPr>
        <p:txBody>
          <a:bodyPr xmlns:a="http://schemas.openxmlformats.org/drawingml/2006/main" wrap="square" lIns="114300" tIns="76200" rIns="11430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0000"/>
              </a:lnSpc>
              <a:buNone/>
              <a:defRPr sz="1050" b="0">
                <a:solidFill>
                  <a:srgbClr val="4E4E53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0">
                <a:solidFill>
                  <a:srgbClr val="4E4E53"/>
                </a:solidFill>
                <a:latin typeface="Noto Sans KR"/>
                <a:ea typeface="Noto Sans KR"/>
                <a:cs typeface="Noto Sans KR"/>
              </a:rPr>
              <a:t>—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716B523-6554-4261-AA44-6735026AB6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4200525"/>
            <a:ext cx="2305050" cy="552450"/>
          </a:xfrm>
          <a:prstGeom xmlns:a="http://schemas.openxmlformats.org/drawingml/2006/main" prst="roundRect">
            <a:avLst>
              <a:gd name="adj" fmla="val 862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9E0"/>
            </a:solidFill>
          </a:ln>
        </p:spPr>
        <p:txBody>
          <a:bodyPr xmlns:a="http://schemas.openxmlformats.org/drawingml/2006/main" wrap="square" lIns="114300" tIns="76200" rIns="11430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0000"/>
              </a:lnSpc>
              <a:buNone/>
              <a:defRPr sz="1050" b="0">
                <a:solidFill>
                  <a:srgbClr val="4E4E53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0">
                <a:solidFill>
                  <a:srgbClr val="4E4E53"/>
                </a:solidFill>
                <a:latin typeface="Noto Sans KR"/>
                <a:ea typeface="Noto Sans KR"/>
                <a:cs typeface="Noto Sans KR"/>
              </a:rPr>
              <a:t>누락 포장 재확인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DCA0086-AD89-44E1-AF0D-1CBFD19B27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4200525"/>
            <a:ext cx="2419350" cy="552450"/>
          </a:xfrm>
          <a:prstGeom xmlns:a="http://schemas.openxmlformats.org/drawingml/2006/main" prst="roundRect">
            <a:avLst>
              <a:gd name="adj" fmla="val 862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9E0"/>
            </a:solidFill>
          </a:ln>
        </p:spPr>
        <p:txBody>
          <a:bodyPr xmlns:a="http://schemas.openxmlformats.org/drawingml/2006/main" wrap="square" lIns="114300" tIns="76200" rIns="11430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0000"/>
              </a:lnSpc>
              <a:buNone/>
              <a:defRPr sz="1050" b="0">
                <a:solidFill>
                  <a:srgbClr val="4E4E53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0">
                <a:solidFill>
                  <a:srgbClr val="4E4E53"/>
                </a:solidFill>
                <a:latin typeface="Noto Sans KR"/>
                <a:ea typeface="Noto Sans KR"/>
                <a:cs typeface="Noto Sans KR"/>
              </a:rPr>
              <a:t>병합·통관 결과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FFDFB6F-2CB4-4069-A383-741B7A9B7E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76800"/>
            <a:ext cx="1181100" cy="552450"/>
          </a:xfrm>
          <a:prstGeom xmlns:a="http://schemas.openxmlformats.org/drawingml/2006/main" prst="roundRect">
            <a:avLst>
              <a:gd name="adj" fmla="val 8621"/>
            </a:avLst>
          </a:prstGeom>
          <a:solidFill xmlns:a="http://schemas.openxmlformats.org/drawingml/2006/main">
            <a:srgbClr val="E9F1FC"/>
          </a:solidFill>
          <a:ln xmlns:a="http://schemas.openxmlformats.org/drawingml/2006/main" w="9525">
            <a:solidFill>
              <a:srgbClr val="D9D9E0"/>
            </a:solidFill>
          </a:ln>
        </p:spPr>
        <p:txBody>
          <a:bodyPr xmlns:a="http://schemas.openxmlformats.org/drawingml/2006/main" wrap="square" lIns="114300" tIns="76200" rIns="11430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0000"/>
              </a:lnSpc>
              <a:buNone/>
              <a:defRPr sz="1050" b="1">
                <a:solidFill>
                  <a:srgbClr val="21549B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1">
                <a:solidFill>
                  <a:srgbClr val="21549B"/>
                </a:solidFill>
                <a:latin typeface="Noto Sans KR"/>
                <a:ea typeface="Noto Sans KR"/>
                <a:cs typeface="Noto Sans KR"/>
              </a:rPr>
              <a:t>오류 복구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26376D2-01B3-434E-A5E3-CF486DE7DE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4876800"/>
            <a:ext cx="2305050" cy="552450"/>
          </a:xfrm>
          <a:prstGeom xmlns:a="http://schemas.openxmlformats.org/drawingml/2006/main" prst="roundRect">
            <a:avLst>
              <a:gd name="adj" fmla="val 862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9E0"/>
            </a:solidFill>
          </a:ln>
        </p:spPr>
        <p:txBody>
          <a:bodyPr xmlns:a="http://schemas.openxmlformats.org/drawingml/2006/main" wrap="square" lIns="114300" tIns="76200" rIns="11430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0000"/>
              </a:lnSpc>
              <a:buNone/>
              <a:defRPr sz="1050" b="0">
                <a:solidFill>
                  <a:srgbClr val="4E4E53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0">
                <a:solidFill>
                  <a:srgbClr val="4E4E53"/>
                </a:solidFill>
                <a:latin typeface="Noto Sans KR"/>
                <a:ea typeface="Noto Sans KR"/>
                <a:cs typeface="Noto Sans KR"/>
              </a:rPr>
              <a:t>오류 원천 분류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65E6565-EB60-4A54-98AA-618896F1C0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4876800"/>
            <a:ext cx="2305050" cy="552450"/>
          </a:xfrm>
          <a:prstGeom xmlns:a="http://schemas.openxmlformats.org/drawingml/2006/main" prst="roundRect">
            <a:avLst>
              <a:gd name="adj" fmla="val 862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9E0"/>
            </a:solidFill>
          </a:ln>
        </p:spPr>
        <p:txBody>
          <a:bodyPr xmlns:a="http://schemas.openxmlformats.org/drawingml/2006/main" wrap="square" lIns="114300" tIns="76200" rIns="11430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0000"/>
              </a:lnSpc>
              <a:buNone/>
              <a:defRPr sz="1050" b="0">
                <a:solidFill>
                  <a:srgbClr val="4E4E53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0">
                <a:solidFill>
                  <a:srgbClr val="4E4E53"/>
                </a:solidFill>
                <a:latin typeface="Noto Sans KR"/>
                <a:ea typeface="Noto Sans KR"/>
                <a:cs typeface="Noto Sans KR"/>
              </a:rPr>
              <a:t>인증정보 보완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CC735995-4319-4521-875B-94C1EBD0BD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4876800"/>
            <a:ext cx="2305050" cy="552450"/>
          </a:xfrm>
          <a:prstGeom xmlns:a="http://schemas.openxmlformats.org/drawingml/2006/main" prst="roundRect">
            <a:avLst>
              <a:gd name="adj" fmla="val 862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9E0"/>
            </a:solidFill>
          </a:ln>
        </p:spPr>
        <p:txBody>
          <a:bodyPr xmlns:a="http://schemas.openxmlformats.org/drawingml/2006/main" wrap="square" lIns="114300" tIns="76200" rIns="11430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0000"/>
              </a:lnSpc>
              <a:buNone/>
              <a:defRPr sz="1050" b="0">
                <a:solidFill>
                  <a:srgbClr val="4E4E53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0">
                <a:solidFill>
                  <a:srgbClr val="4E4E53"/>
                </a:solidFill>
                <a:latin typeface="Noto Sans KR"/>
                <a:ea typeface="Noto Sans KR"/>
                <a:cs typeface="Noto Sans KR"/>
              </a:rPr>
              <a:t>상품·포장정보 보완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63841A9B-1417-4044-A5F4-12A494BD70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4876800"/>
            <a:ext cx="2419350" cy="552450"/>
          </a:xfrm>
          <a:prstGeom xmlns:a="http://schemas.openxmlformats.org/drawingml/2006/main" prst="roundRect">
            <a:avLst>
              <a:gd name="adj" fmla="val 862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9E0"/>
            </a:solidFill>
          </a:ln>
        </p:spPr>
        <p:txBody>
          <a:bodyPr xmlns:a="http://schemas.openxmlformats.org/drawingml/2006/main" wrap="square" lIns="114300" tIns="76200" rIns="11430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0000"/>
              </a:lnSpc>
              <a:buNone/>
              <a:defRPr sz="1050" b="0">
                <a:solidFill>
                  <a:srgbClr val="4E4E53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0">
                <a:solidFill>
                  <a:srgbClr val="4E4E53"/>
                </a:solidFill>
                <a:latin typeface="Noto Sans KR"/>
                <a:ea typeface="Noto Sans KR"/>
                <a:cs typeface="Noto Sans KR"/>
              </a:rPr>
              <a:t>결과 조회·재처리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0187BCEE-C492-445D-8255-05F1DAEDC8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38825"/>
            <a:ext cx="10972800" cy="457200"/>
          </a:xfrm>
          <a:prstGeom xmlns:a="http://schemas.openxmlformats.org/drawingml/2006/main" prst="roundRect">
            <a:avLst>
              <a:gd name="adj" fmla="val 10417"/>
            </a:avLst>
          </a:prstGeom>
          <a:solidFill xmlns:a="http://schemas.openxmlformats.org/drawingml/2006/main">
            <a:srgbClr val="21549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114300" tIns="47625" rIns="114300" bIns="476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127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같은 주문번호·포장번호와 완료 근거를 공유해, 담당자 간 인계 기준을 문서로 고정했습니다.</a:t>
            </a:r>
          </a:p>
        </p:txBody>
      </p:sp>
      <p:sp>
        <p:nvSpPr>
          <p:cNvPr id="36" name="text-35">
            <a:extLst xmlns:a="http://schemas.openxmlformats.org/drawingml/2006/main">
              <a:ext uri="{FF2B5EF4-FFF2-40B4-BE49-F238E27FC236}">
                <a16:creationId xmlns:a16="http://schemas.microsoft.com/office/drawing/2014/main" id="{7DC94E23-3B4C-4EB4-8B90-D33B621B6E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91275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013" b="0">
                <a:solidFill>
                  <a:srgbClr val="77777E"/>
                </a:solidFill>
                <a:latin typeface="Noto Sans KR"/>
                <a:ea typeface="Noto Sans KR"/>
                <a:cs typeface="Noto Sans KR"/>
              </a:defRPr>
            </a:pPr>
            <a:r>
              <a:rPr sz="1013" b="0">
                <a:solidFill>
                  <a:srgbClr val="77777E"/>
                </a:solidFill>
                <a:latin typeface="Noto Sans KR"/>
                <a:ea typeface="Noto Sans KR"/>
                <a:cs typeface="Noto Sans KR"/>
              </a:rPr>
              <a:t>현재 정책 구조를 요약한 흐름도 · 개별 분기의 구현 완료나 자동화율을 나타내지 않음</a:t>
            </a:r>
          </a:p>
        </p:txBody>
      </p:sp>
    </p:spTree>
    <p:extLst>
      <p:ext uri="{BB962C8B-B14F-4D97-AF65-F5344CB8AC3E}">
        <p14:creationId xmlns:p14="http://schemas.microsoft.com/office/powerpoint/2010/main" val="408083236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text-0">
            <a:extLst xmlns:a="http://schemas.openxmlformats.org/drawingml/2006/main">
              <a:ext uri="{FF2B5EF4-FFF2-40B4-BE49-F238E27FC236}">
                <a16:creationId xmlns:a16="http://schemas.microsoft.com/office/drawing/2014/main" id="{BC69C2D6-C833-48F7-9D62-2030055813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87075" y="285750"/>
            <a:ext cx="6953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25000"/>
              </a:lnSpc>
              <a:buNone/>
              <a:defRPr sz="788" b="0">
                <a:solidFill>
                  <a:srgbClr val="92929A"/>
                </a:solidFill>
                <a:latin typeface="Noto Sans KR"/>
                <a:ea typeface="Noto Sans KR"/>
                <a:cs typeface="Noto Sans KR"/>
              </a:defRPr>
            </a:pPr>
            <a:r>
              <a:rPr sz="788" b="0">
                <a:solidFill>
                  <a:srgbClr val="92929A"/>
                </a:solidFill>
                <a:latin typeface="Noto Sans KR"/>
                <a:ea typeface="Noto Sans KR"/>
                <a:cs typeface="Noto Sans KR"/>
              </a:rPr>
              <a:t>07 / 22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3553D003-EFCC-4B19-9D12-C952278D26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3905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950" b="1">
                <a:solidFill>
                  <a:srgbClr val="21549B"/>
                </a:solidFill>
                <a:latin typeface="Noto Sans KR"/>
                <a:ea typeface="Noto Sans KR"/>
                <a:cs typeface="Noto Sans KR"/>
              </a:defRPr>
            </a:pPr>
            <a:r>
              <a:rPr sz="1950" b="1">
                <a:solidFill>
                  <a:srgbClr val="21549B"/>
                </a:solidFill>
                <a:latin typeface="Noto Sans KR"/>
                <a:ea typeface="Noto Sans KR"/>
                <a:cs typeface="Noto Sans KR"/>
              </a:rPr>
              <a:t>04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A0B45EF3-D51D-4086-B9EC-88452D28CF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742950"/>
            <a:ext cx="10287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950" b="1">
                <a:solidFill>
                  <a:srgbClr val="1A1A1A"/>
                </a:solidFill>
                <a:latin typeface="Noto Sans KR"/>
                <a:ea typeface="Noto Sans KR"/>
                <a:cs typeface="Noto Sans KR"/>
              </a:defRPr>
            </a:pPr>
            <a:r>
              <a:rPr sz="1950" b="1">
                <a:solidFill>
                  <a:srgbClr val="1A1A1A"/>
                </a:solidFill>
                <a:latin typeface="Noto Sans KR"/>
                <a:ea typeface="Noto Sans KR"/>
                <a:cs typeface="Noto Sans KR"/>
              </a:rPr>
              <a:t>주문번호와 포장번호를 분리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DC8993C3-152C-4392-967C-4CBC83AC2C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906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050" b="0">
                <a:solidFill>
                  <a:srgbClr val="77777E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0">
                <a:solidFill>
                  <a:srgbClr val="77777E"/>
                </a:solidFill>
                <a:latin typeface="Noto Sans KR"/>
                <a:ea typeface="Noto Sans KR"/>
                <a:cs typeface="Noto Sans KR"/>
              </a:rPr>
              <a:t>주문 추적 기준을 유지하면서 분할 출고와 합배송을 설명할 수 있도록 관계를 정의했습니다.</a:t>
            </a:r>
          </a:p>
        </p:txBody>
      </p:sp>
      <p:sp>
        <p:nvSpPr>
          <p:cNvPr id="5" name="text-4">
            <a:extLst xmlns:a="http://schemas.openxmlformats.org/drawingml/2006/main">
              <a:ext uri="{FF2B5EF4-FFF2-40B4-BE49-F238E27FC236}">
                <a16:creationId xmlns:a16="http://schemas.microsoft.com/office/drawing/2014/main" id="{72863173-CE24-43CF-92ED-631673553D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04975"/>
            <a:ext cx="52292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350" b="1">
                <a:solidFill>
                  <a:srgbClr val="21549B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1">
                <a:solidFill>
                  <a:srgbClr val="21549B"/>
                </a:solidFill>
                <a:latin typeface="Noto Sans KR"/>
                <a:ea typeface="Noto Sans KR"/>
                <a:cs typeface="Noto Sans KR"/>
              </a:rPr>
              <a:t>분할 출고</a:t>
            </a:r>
          </a:p>
        </p:txBody>
      </p:sp>
      <p:sp>
        <p:nvSpPr>
          <p:cNvPr id="6" name="text-5">
            <a:extLst xmlns:a="http://schemas.openxmlformats.org/drawingml/2006/main">
              <a:ext uri="{FF2B5EF4-FFF2-40B4-BE49-F238E27FC236}">
                <a16:creationId xmlns:a16="http://schemas.microsoft.com/office/drawing/2014/main" id="{13AC7F24-444B-48CC-9014-F40761B000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704975"/>
            <a:ext cx="5219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350" b="1">
                <a:solidFill>
                  <a:srgbClr val="21549B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1">
                <a:solidFill>
                  <a:srgbClr val="21549B"/>
                </a:solidFill>
                <a:latin typeface="Noto Sans KR"/>
                <a:ea typeface="Noto Sans KR"/>
                <a:cs typeface="Noto Sans KR"/>
              </a:rPr>
              <a:t>합배송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9947F0B-5FB0-48E9-A1E8-6AE742A7B2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05025"/>
            <a:ext cx="5257800" cy="2686050"/>
          </a:xfrm>
          <a:prstGeom xmlns:a="http://schemas.openxmlformats.org/drawingml/2006/main" prst="roundRect">
            <a:avLst>
              <a:gd name="adj" fmla="val 2482"/>
            </a:avLst>
          </a:prstGeom>
          <a:solidFill xmlns:a="http://schemas.openxmlformats.org/drawingml/2006/main">
            <a:srgbClr val="E9F1FC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814B14C-02F9-4B18-BFAE-A9283355D2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105025"/>
            <a:ext cx="5295900" cy="2686050"/>
          </a:xfrm>
          <a:prstGeom xmlns:a="http://schemas.openxmlformats.org/drawingml/2006/main" prst="roundRect">
            <a:avLst>
              <a:gd name="adj" fmla="val 2482"/>
            </a:avLst>
          </a:prstGeom>
          <a:solidFill xmlns:a="http://schemas.openxmlformats.org/drawingml/2006/main">
            <a:srgbClr val="F4F4F6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2FA5AF9-264D-4BD4-9D24-375DB5954C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" y="2914650"/>
            <a:ext cx="1628775" cy="514350"/>
          </a:xfrm>
          <a:prstGeom xmlns:a="http://schemas.openxmlformats.org/drawingml/2006/main" prst="roundRect">
            <a:avLst>
              <a:gd name="adj" fmla="val 925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9E0"/>
            </a:solidFill>
          </a:ln>
        </p:spPr>
        <p:txBody>
          <a:bodyPr xmlns:a="http://schemas.openxmlformats.org/drawingml/2006/main" wrap="square" lIns="114300" tIns="76200" rIns="11430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0000"/>
              </a:lnSpc>
              <a:buNone/>
              <a:defRPr sz="1125" b="1">
                <a:solidFill>
                  <a:srgbClr val="21549B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1">
                <a:solidFill>
                  <a:srgbClr val="21549B"/>
                </a:solidFill>
                <a:latin typeface="Noto Sans KR"/>
                <a:ea typeface="Noto Sans KR"/>
                <a:cs typeface="Noto Sans KR"/>
              </a:rPr>
              <a:t>원주문 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3ED24A7-BD51-4E36-BEC8-CD12BD854C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6125" y="2352675"/>
            <a:ext cx="2219325" cy="781050"/>
          </a:xfrm>
          <a:prstGeom xmlns:a="http://schemas.openxmlformats.org/drawingml/2006/main" prst="roundRect">
            <a:avLst>
              <a:gd name="adj" fmla="val 609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9E0"/>
            </a:solidFill>
          </a:ln>
        </p:spPr>
        <p:txBody>
          <a:bodyPr xmlns:a="http://schemas.openxmlformats.org/drawingml/2006/main" wrap="square" lIns="114300" tIns="76200" rIns="11430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0000"/>
              </a:lnSpc>
              <a:buNone/>
              <a:defRPr sz="1275" b="1">
                <a:solidFill>
                  <a:srgbClr val="21549B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1">
                <a:solidFill>
                  <a:srgbClr val="21549B"/>
                </a:solidFill>
                <a:latin typeface="Noto Sans KR"/>
                <a:ea typeface="Noto Sans KR"/>
                <a:cs typeface="Noto Sans KR"/>
              </a:rPr>
              <a:t>포장 A-1</a:t>
            </a:r>
          </a:p>
          <a:p xmlns:a="http://schemas.openxmlformats.org/drawingml/2006/main">
            <a:pPr algn="ctr">
              <a:lnSpc>
                <a:spcPct val="120000"/>
              </a:lnSpc>
              <a:buNone/>
              <a:defRPr sz="1275" b="1">
                <a:solidFill>
                  <a:srgbClr val="21549B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1">
                <a:solidFill>
                  <a:srgbClr val="21549B"/>
                </a:solidFill>
                <a:latin typeface="Noto Sans KR"/>
                <a:ea typeface="Noto Sans KR"/>
                <a:cs typeface="Noto Sans KR"/>
              </a:rPr>
              <a:t>운송장 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DC8D1D3-96B4-40D3-AF7A-2D44117C0F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6125" y="3324225"/>
            <a:ext cx="2219325" cy="781050"/>
          </a:xfrm>
          <a:prstGeom xmlns:a="http://schemas.openxmlformats.org/drawingml/2006/main" prst="roundRect">
            <a:avLst>
              <a:gd name="adj" fmla="val 609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9E0"/>
            </a:solidFill>
          </a:ln>
        </p:spPr>
        <p:txBody>
          <a:bodyPr xmlns:a="http://schemas.openxmlformats.org/drawingml/2006/main" wrap="square" lIns="114300" tIns="76200" rIns="11430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0000"/>
              </a:lnSpc>
              <a:buNone/>
              <a:defRPr sz="1275" b="1">
                <a:solidFill>
                  <a:srgbClr val="21549B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1">
                <a:solidFill>
                  <a:srgbClr val="21549B"/>
                </a:solidFill>
                <a:latin typeface="Noto Sans KR"/>
                <a:ea typeface="Noto Sans KR"/>
                <a:cs typeface="Noto Sans KR"/>
              </a:rPr>
              <a:t>포장 A-2</a:t>
            </a:r>
          </a:p>
          <a:p xmlns:a="http://schemas.openxmlformats.org/drawingml/2006/main">
            <a:pPr algn="ctr">
              <a:lnSpc>
                <a:spcPct val="120000"/>
              </a:lnSpc>
              <a:buNone/>
              <a:defRPr sz="1275" b="1">
                <a:solidFill>
                  <a:srgbClr val="21549B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1">
                <a:solidFill>
                  <a:srgbClr val="21549B"/>
                </a:solidFill>
                <a:latin typeface="Noto Sans KR"/>
                <a:ea typeface="Noto Sans KR"/>
                <a:cs typeface="Noto Sans KR"/>
              </a:rPr>
              <a:t>운송장 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C4B7E14-0CD6-43A4-B1AA-9FAB4B597B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3171825"/>
            <a:ext cx="381000" cy="0"/>
          </a:xfrm>
          <a:prstGeom xmlns:a="http://schemas.openxmlformats.org/drawingml/2006/main" prst="line">
            <a:avLst/>
          </a:prstGeom>
          <a:ln xmlns:a="http://schemas.openxmlformats.org/drawingml/2006/main" w="7620">
            <a:solidFill>
              <a:srgbClr val="21549B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E4AAC0F-9D1E-4F45-8168-535B11472B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743200"/>
            <a:ext cx="0" cy="971550"/>
          </a:xfrm>
          <a:prstGeom xmlns:a="http://schemas.openxmlformats.org/drawingml/2006/main" prst="line">
            <a:avLst/>
          </a:prstGeom>
          <a:ln xmlns:a="http://schemas.openxmlformats.org/drawingml/2006/main" w="11430">
            <a:solidFill>
              <a:srgbClr val="21549B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337A2A6-FF72-4681-A71B-AF2F96E475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743200"/>
            <a:ext cx="285750" cy="0"/>
          </a:xfrm>
          <a:prstGeom xmlns:a="http://schemas.openxmlformats.org/drawingml/2006/main" prst="line">
            <a:avLst/>
          </a:prstGeom>
          <a:ln xmlns:a="http://schemas.openxmlformats.org/drawingml/2006/main" w="7620">
            <a:solidFill>
              <a:srgbClr val="21549B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9DE8CE6-4046-418F-AE37-771FA565B7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3714750"/>
            <a:ext cx="285750" cy="0"/>
          </a:xfrm>
          <a:prstGeom xmlns:a="http://schemas.openxmlformats.org/drawingml/2006/main" prst="line">
            <a:avLst/>
          </a:prstGeom>
          <a:ln xmlns:a="http://schemas.openxmlformats.org/drawingml/2006/main" w="7620">
            <a:solidFill>
              <a:srgbClr val="21549B"/>
            </a:solidFill>
          </a:ln>
        </p:spPr>
      </p:sp>
      <p:sp>
        <p:nvSpPr>
          <p:cNvPr id="16" name="text-15">
            <a:extLst xmlns:a="http://schemas.openxmlformats.org/drawingml/2006/main">
              <a:ext uri="{FF2B5EF4-FFF2-40B4-BE49-F238E27FC236}">
                <a16:creationId xmlns:a16="http://schemas.microsoft.com/office/drawing/2014/main" id="{23BA80A5-F293-421A-91DB-DC8781F613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2609850"/>
            <a:ext cx="171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5000"/>
              </a:lnSpc>
              <a:buNone/>
              <a:defRPr sz="1575" b="0">
                <a:solidFill>
                  <a:srgbClr val="21549B"/>
                </a:solidFill>
                <a:latin typeface="Noto Sans KR"/>
                <a:ea typeface="Noto Sans KR"/>
                <a:cs typeface="Noto Sans KR"/>
              </a:defRPr>
            </a:pPr>
            <a:r>
              <a:rPr sz="1575" b="0">
                <a:solidFill>
                  <a:srgbClr val="21549B"/>
                </a:solidFill>
                <a:latin typeface="Noto Sans KR"/>
                <a:ea typeface="Noto Sans KR"/>
                <a:cs typeface="Noto Sans KR"/>
              </a:rPr>
              <a:t>›</a:t>
            </a:r>
          </a:p>
        </p:txBody>
      </p:sp>
      <p:sp>
        <p:nvSpPr>
          <p:cNvPr id="17" name="text-16">
            <a:extLst xmlns:a="http://schemas.openxmlformats.org/drawingml/2006/main">
              <a:ext uri="{FF2B5EF4-FFF2-40B4-BE49-F238E27FC236}">
                <a16:creationId xmlns:a16="http://schemas.microsoft.com/office/drawing/2014/main" id="{C18565DF-E6DD-4EF8-B200-1D3B139E49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3581400"/>
            <a:ext cx="171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5000"/>
              </a:lnSpc>
              <a:buNone/>
              <a:defRPr sz="1575" b="0">
                <a:solidFill>
                  <a:srgbClr val="21549B"/>
                </a:solidFill>
                <a:latin typeface="Noto Sans KR"/>
                <a:ea typeface="Noto Sans KR"/>
                <a:cs typeface="Noto Sans KR"/>
              </a:defRPr>
            </a:pPr>
            <a:r>
              <a:rPr sz="1575" b="0">
                <a:solidFill>
                  <a:srgbClr val="21549B"/>
                </a:solidFill>
                <a:latin typeface="Noto Sans KR"/>
                <a:ea typeface="Noto Sans KR"/>
                <a:cs typeface="Noto Sans KR"/>
              </a:rPr>
              <a:t>›</a:t>
            </a:r>
          </a:p>
        </p:txBody>
      </p:sp>
      <p:sp>
        <p:nvSpPr>
          <p:cNvPr id="18" name="text-17">
            <a:extLst xmlns:a="http://schemas.openxmlformats.org/drawingml/2006/main">
              <a:ext uri="{FF2B5EF4-FFF2-40B4-BE49-F238E27FC236}">
                <a16:creationId xmlns:a16="http://schemas.microsoft.com/office/drawing/2014/main" id="{EC3FAD7A-19E7-4998-8986-2DBCDB1E31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4286250"/>
            <a:ext cx="463867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5000"/>
              </a:lnSpc>
              <a:buNone/>
              <a:defRPr sz="1163" b="1">
                <a:solidFill>
                  <a:srgbClr val="21549B"/>
                </a:solidFill>
                <a:latin typeface="Noto Sans KR"/>
                <a:ea typeface="Noto Sans KR"/>
                <a:cs typeface="Noto Sans KR"/>
              </a:defRPr>
            </a:pPr>
            <a:r>
              <a:rPr sz="1163" b="1">
                <a:solidFill>
                  <a:srgbClr val="21549B"/>
                </a:solidFill>
                <a:latin typeface="Noto Sans KR"/>
                <a:ea typeface="Noto Sans KR"/>
                <a:cs typeface="Noto Sans KR"/>
              </a:rPr>
              <a:t>외부에 보내는 원주문번호는 A로 유지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6100DFF-ACD3-4B42-9190-B54666B48C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62725" y="2438400"/>
            <a:ext cx="1962150" cy="581025"/>
          </a:xfrm>
          <a:prstGeom xmlns:a="http://schemas.openxmlformats.org/drawingml/2006/main" prst="roundRect">
            <a:avLst>
              <a:gd name="adj" fmla="val 81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9E0"/>
            </a:solidFill>
          </a:ln>
        </p:spPr>
        <p:txBody>
          <a:bodyPr xmlns:a="http://schemas.openxmlformats.org/drawingml/2006/main" wrap="square" lIns="114300" tIns="76200" rIns="11430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0000"/>
              </a:lnSpc>
              <a:buNone/>
              <a:defRPr sz="1275" b="1">
                <a:solidFill>
                  <a:srgbClr val="4E4E53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1">
                <a:solidFill>
                  <a:srgbClr val="4E4E53"/>
                </a:solidFill>
                <a:latin typeface="Noto Sans KR"/>
                <a:ea typeface="Noto Sans KR"/>
                <a:cs typeface="Noto Sans KR"/>
              </a:rPr>
              <a:t>원주문 B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60C5192-C6BC-4200-BCB9-F8A4071FF8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62725" y="3333750"/>
            <a:ext cx="1962150" cy="581025"/>
          </a:xfrm>
          <a:prstGeom xmlns:a="http://schemas.openxmlformats.org/drawingml/2006/main" prst="roundRect">
            <a:avLst>
              <a:gd name="adj" fmla="val 81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9E0"/>
            </a:solidFill>
          </a:ln>
        </p:spPr>
        <p:txBody>
          <a:bodyPr xmlns:a="http://schemas.openxmlformats.org/drawingml/2006/main" wrap="square" lIns="114300" tIns="76200" rIns="11430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0000"/>
              </a:lnSpc>
              <a:buNone/>
              <a:defRPr sz="1275" b="1">
                <a:solidFill>
                  <a:srgbClr val="4E4E53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1">
                <a:solidFill>
                  <a:srgbClr val="4E4E53"/>
                </a:solidFill>
                <a:latin typeface="Noto Sans KR"/>
                <a:ea typeface="Noto Sans KR"/>
                <a:cs typeface="Noto Sans KR"/>
              </a:rPr>
              <a:t>원주문 C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DA5347A-3B6F-4C98-B9E7-FB345CE9BC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2733675"/>
            <a:ext cx="314325" cy="0"/>
          </a:xfrm>
          <a:prstGeom xmlns:a="http://schemas.openxmlformats.org/drawingml/2006/main" prst="line">
            <a:avLst/>
          </a:prstGeom>
          <a:ln xmlns:a="http://schemas.openxmlformats.org/drawingml/2006/main" w="7620">
            <a:solidFill>
              <a:srgbClr val="21549B"/>
            </a:solidFill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E29C878-73DE-4A3D-B513-3A3F4FE6DE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3629025"/>
            <a:ext cx="314325" cy="0"/>
          </a:xfrm>
          <a:prstGeom xmlns:a="http://schemas.openxmlformats.org/drawingml/2006/main" prst="line">
            <a:avLst/>
          </a:prstGeom>
          <a:ln xmlns:a="http://schemas.openxmlformats.org/drawingml/2006/main" w="7620">
            <a:solidFill>
              <a:srgbClr val="21549B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419D325-5C57-4559-B265-8406A439DF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2733675"/>
            <a:ext cx="0" cy="895350"/>
          </a:xfrm>
          <a:prstGeom xmlns:a="http://schemas.openxmlformats.org/drawingml/2006/main" prst="line">
            <a:avLst/>
          </a:prstGeom>
          <a:ln xmlns:a="http://schemas.openxmlformats.org/drawingml/2006/main" w="11430">
            <a:solidFill>
              <a:srgbClr val="21549B"/>
            </a:solidFill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A1F99DA-54E8-4B6E-A38F-714DC53902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3238500"/>
            <a:ext cx="228600" cy="0"/>
          </a:xfrm>
          <a:prstGeom xmlns:a="http://schemas.openxmlformats.org/drawingml/2006/main" prst="line">
            <a:avLst/>
          </a:prstGeom>
          <a:ln xmlns:a="http://schemas.openxmlformats.org/drawingml/2006/main" w="7620">
            <a:solidFill>
              <a:srgbClr val="21549B"/>
            </a:solidFill>
          </a:ln>
        </p:spPr>
      </p:sp>
      <p:sp>
        <p:nvSpPr>
          <p:cNvPr id="25" name="text-24">
            <a:extLst xmlns:a="http://schemas.openxmlformats.org/drawingml/2006/main">
              <a:ext uri="{FF2B5EF4-FFF2-40B4-BE49-F238E27FC236}">
                <a16:creationId xmlns:a16="http://schemas.microsoft.com/office/drawing/2014/main" id="{24980566-C420-4E99-903F-B49F23E33E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39225" y="3105150"/>
            <a:ext cx="171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5000"/>
              </a:lnSpc>
              <a:buNone/>
              <a:defRPr sz="1575" b="0">
                <a:solidFill>
                  <a:srgbClr val="21549B"/>
                </a:solidFill>
                <a:latin typeface="Noto Sans KR"/>
                <a:ea typeface="Noto Sans KR"/>
                <a:cs typeface="Noto Sans KR"/>
              </a:defRPr>
            </a:pPr>
            <a:r>
              <a:rPr sz="1575" b="0">
                <a:solidFill>
                  <a:srgbClr val="21549B"/>
                </a:solidFill>
                <a:latin typeface="Noto Sans KR"/>
                <a:ea typeface="Noto Sans KR"/>
                <a:cs typeface="Noto Sans KR"/>
              </a:rPr>
              <a:t>›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8D28454-130C-4063-8BE2-89FCD77FD0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9725" y="2667000"/>
            <a:ext cx="1981200" cy="1152525"/>
          </a:xfrm>
          <a:prstGeom xmlns:a="http://schemas.openxmlformats.org/drawingml/2006/main" prst="roundRect">
            <a:avLst>
              <a:gd name="adj" fmla="val 413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9E0"/>
            </a:solidFill>
          </a:ln>
        </p:spPr>
        <p:txBody>
          <a:bodyPr xmlns:a="http://schemas.openxmlformats.org/drawingml/2006/main" wrap="square" lIns="114300" tIns="76200" rIns="11430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0000"/>
              </a:lnSpc>
              <a:buNone/>
              <a:defRPr sz="1275" b="1">
                <a:solidFill>
                  <a:srgbClr val="21549B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1">
                <a:solidFill>
                  <a:srgbClr val="21549B"/>
                </a:solidFill>
                <a:latin typeface="Noto Sans KR"/>
                <a:ea typeface="Noto Sans KR"/>
                <a:cs typeface="Noto Sans KR"/>
              </a:rPr>
              <a:t>운송장 3</a:t>
            </a:r>
          </a:p>
          <a:p xmlns:a="http://schemas.openxmlformats.org/drawingml/2006/main">
            <a:pPr algn="ctr">
              <a:lnSpc>
                <a:spcPct val="120000"/>
              </a:lnSpc>
              <a:buNone/>
              <a:defRPr sz="1275" b="1">
                <a:solidFill>
                  <a:srgbClr val="21549B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1">
                <a:solidFill>
                  <a:srgbClr val="21549B"/>
                </a:solidFill>
                <a:latin typeface="Noto Sans KR"/>
                <a:ea typeface="Noto Sans KR"/>
                <a:cs typeface="Noto Sans KR"/>
              </a:rPr>
              <a:t>주문별 거래정보 2건</a:t>
            </a:r>
          </a:p>
        </p:txBody>
      </p:sp>
      <p:sp>
        <p:nvSpPr>
          <p:cNvPr id="27" name="text-26">
            <a:extLst xmlns:a="http://schemas.openxmlformats.org/drawingml/2006/main">
              <a:ext uri="{FF2B5EF4-FFF2-40B4-BE49-F238E27FC236}">
                <a16:creationId xmlns:a16="http://schemas.microsoft.com/office/drawing/2014/main" id="{CF0C6271-5DD9-4E01-82F5-201DCB97C1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295775"/>
            <a:ext cx="46672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5000"/>
              </a:lnSpc>
              <a:buNone/>
              <a:defRPr sz="1163" b="1">
                <a:solidFill>
                  <a:srgbClr val="21549B"/>
                </a:solidFill>
                <a:latin typeface="Noto Sans KR"/>
                <a:ea typeface="Noto Sans KR"/>
                <a:cs typeface="Noto Sans KR"/>
              </a:defRPr>
            </a:pPr>
            <a:r>
              <a:rPr sz="1163" b="1">
                <a:solidFill>
                  <a:srgbClr val="21549B"/>
                </a:solidFill>
                <a:latin typeface="Noto Sans KR"/>
                <a:ea typeface="Noto Sans KR"/>
                <a:cs typeface="Noto Sans KR"/>
              </a:rPr>
              <a:t>운송장 하나에 묶여도 거래정보는 주문별 유지</a:t>
            </a:r>
          </a:p>
        </p:txBody>
      </p:sp>
      <p:graphicFrame>
        <p:nvGraphicFramePr>
          <p:cNvPr id="57" name=""/>
          <p:cNvGraphicFramePr/>
          <p:nvPr/>
        </p:nvGraphicFramePr>
        <p:xfrm>
          <a:off xmlns:a="http://schemas.openxmlformats.org/drawingml/2006/main" x="609600" y="4981575"/>
          <a:ext xmlns:a="http://schemas.openxmlformats.org/drawingml/2006/main" cx="10972800" cy="12954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495550"/>
                <a:gridCol w="8477250"/>
              </a:tblGrid>
              <a:tr h="295275">
                <a:tc>
                  <a:txBody>
                    <a:bodyPr lIns="95250" tIns="57150" rIns="95250" bIns="57150"/>
                    <a:lstStyle/>
                    <a:p>
                      <a:pPr algn="l">
                        <a:lnSpc>
                          <a:spcPct val="122000"/>
                        </a:lnSpc>
                        <a:buNone/>
                      </a:pPr>
                      <a:r>
                        <a:rPr sz="1013" b="1">
                          <a:solidFill>
                            <a:srgbClr val="77777E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보존할 기준</a:t>
                      </a:r>
                    </a:p>
                  </a:txBody>
                  <a:tcPr marL="95250" marR="95250" marT="57150" marB="5715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57150" rIns="95250" bIns="57150"/>
                    <a:lstStyle/>
                    <a:p>
                      <a:pPr algn="l">
                        <a:lnSpc>
                          <a:spcPct val="122000"/>
                        </a:lnSpc>
                        <a:buNone/>
                      </a:pPr>
                      <a:r>
                        <a:rPr sz="1013" b="1">
                          <a:solidFill>
                            <a:srgbClr val="77777E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설계 의미</a:t>
                      </a:r>
                    </a:p>
                  </a:txBody>
                  <a:tcPr marL="95250" marR="95250" marT="57150" marB="5715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33375">
                <a:tc>
                  <a:txBody>
                    <a:bodyPr lIns="95250" tIns="57150" rIns="95250" bIns="57150"/>
                    <a:lstStyle/>
                    <a:p>
                      <a:pPr algn="l">
                        <a:lnSpc>
                          <a:spcPct val="122000"/>
                        </a:lnSpc>
                        <a:buNone/>
                      </a:pPr>
                      <a:r>
                        <a:rPr sz="1013" b="1">
                          <a:solidFill>
                            <a:srgbClr val="21549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원주문번호</a:t>
                      </a:r>
                    </a:p>
                  </a:txBody>
                  <a:tcPr marL="95250" marR="95250" marT="57150" marB="5715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57150" rIns="95250" bIns="57150"/>
                    <a:lstStyle/>
                    <a:p>
                      <a:pPr algn="l">
                        <a:lnSpc>
                          <a:spcPct val="122000"/>
                        </a:lnSpc>
                        <a:buNone/>
                      </a:pPr>
                      <a:r>
                        <a:rPr sz="1013" b="0">
                          <a:solidFill>
                            <a:srgbClr val="4E4E5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판매 채널의 원주문번호를 전 구간에서 유지</a:t>
                      </a:r>
                    </a:p>
                  </a:txBody>
                  <a:tcPr marL="95250" marR="95250" marT="57150" marB="5715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33375">
                <a:tc>
                  <a:txBody>
                    <a:bodyPr lIns="95250" tIns="57150" rIns="95250" bIns="57150"/>
                    <a:lstStyle/>
                    <a:p>
                      <a:pPr algn="l">
                        <a:lnSpc>
                          <a:spcPct val="122000"/>
                        </a:lnSpc>
                        <a:buNone/>
                      </a:pPr>
                      <a:r>
                        <a:rPr sz="1013" b="1">
                          <a:solidFill>
                            <a:srgbClr val="21549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포장번호·운송장</a:t>
                      </a:r>
                    </a:p>
                  </a:txBody>
                  <a:tcPr marL="95250" marR="95250" marT="57150" marB="5715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57150" rIns="95250" bIns="57150"/>
                    <a:lstStyle/>
                    <a:p>
                      <a:pPr algn="l">
                        <a:lnSpc>
                          <a:spcPct val="122000"/>
                        </a:lnSpc>
                        <a:buNone/>
                      </a:pPr>
                      <a:r>
                        <a:rPr sz="1013" b="0">
                          <a:solidFill>
                            <a:srgbClr val="4E4E5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물류 처리 단위를 별도 보존하고 원주문과 연결</a:t>
                      </a:r>
                    </a:p>
                  </a:txBody>
                  <a:tcPr marL="95250" marR="95250" marT="57150" marB="5715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33375">
                <a:tc>
                  <a:txBody>
                    <a:bodyPr lIns="95250" tIns="57150" rIns="95250" bIns="57150"/>
                    <a:lstStyle/>
                    <a:p>
                      <a:pPr algn="l">
                        <a:lnSpc>
                          <a:spcPct val="122000"/>
                        </a:lnSpc>
                        <a:buNone/>
                      </a:pPr>
                      <a:r>
                        <a:rPr sz="1013" b="1">
                          <a:solidFill>
                            <a:srgbClr val="21549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병합키</a:t>
                      </a:r>
                    </a:p>
                  </a:txBody>
                  <a:tcPr marL="95250" marR="95250" marT="57150" marB="5715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57150" rIns="95250" bIns="57150"/>
                    <a:lstStyle/>
                    <a:p>
                      <a:pPr algn="l">
                        <a:lnSpc>
                          <a:spcPct val="122000"/>
                        </a:lnSpc>
                        <a:buNone/>
                      </a:pPr>
                      <a:r>
                        <a:rPr sz="1013" b="0">
                          <a:solidFill>
                            <a:srgbClr val="4E4E5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운송장 + 원주문번호가 양쪽 데이터에서 일치</a:t>
                      </a:r>
                    </a:p>
                  </a:txBody>
                  <a:tcPr marL="95250" marR="95250" marT="57150" marB="5715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9" name="text-27">
            <a:extLst xmlns:a="http://schemas.openxmlformats.org/drawingml/2006/main">
              <a:ext uri="{FF2B5EF4-FFF2-40B4-BE49-F238E27FC236}">
                <a16:creationId xmlns:a16="http://schemas.microsoft.com/office/drawing/2014/main" id="{CC250EC5-D623-420E-BCAF-F359F206CB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05575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013" b="0">
                <a:solidFill>
                  <a:srgbClr val="77777E"/>
                </a:solidFill>
                <a:latin typeface="Noto Sans KR"/>
                <a:ea typeface="Noto Sans KR"/>
                <a:cs typeface="Noto Sans KR"/>
              </a:defRPr>
            </a:pPr>
            <a:r>
              <a:rPr sz="1013" b="0">
                <a:solidFill>
                  <a:srgbClr val="77777E"/>
                </a:solidFill>
                <a:latin typeface="Noto Sans KR"/>
                <a:ea typeface="Noto Sans KR"/>
                <a:cs typeface="Noto Sans KR"/>
              </a:rPr>
              <a:t>정책 기반 재구성 · A/B/C와 운송장 번호는 가상 예시</a:t>
            </a:r>
          </a:p>
        </p:txBody>
      </p:sp>
    </p:spTree>
    <p:extLst>
      <p:ext uri="{BB962C8B-B14F-4D97-AF65-F5344CB8AC3E}">
        <p14:creationId xmlns:p14="http://schemas.microsoft.com/office/powerpoint/2010/main" val="420844011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text-0">
            <a:extLst xmlns:a="http://schemas.openxmlformats.org/drawingml/2006/main">
              <a:ext uri="{FF2B5EF4-FFF2-40B4-BE49-F238E27FC236}">
                <a16:creationId xmlns:a16="http://schemas.microsoft.com/office/drawing/2014/main" id="{8745A7EC-D890-430D-9981-2AC9B1DD12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87075" y="285750"/>
            <a:ext cx="6953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25000"/>
              </a:lnSpc>
              <a:buNone/>
              <a:defRPr sz="788" b="0">
                <a:solidFill>
                  <a:srgbClr val="92929A"/>
                </a:solidFill>
                <a:latin typeface="Noto Sans KR"/>
                <a:ea typeface="Noto Sans KR"/>
                <a:cs typeface="Noto Sans KR"/>
              </a:defRPr>
            </a:pPr>
            <a:r>
              <a:rPr sz="788" b="0">
                <a:solidFill>
                  <a:srgbClr val="92929A"/>
                </a:solidFill>
                <a:latin typeface="Noto Sans KR"/>
                <a:ea typeface="Noto Sans KR"/>
                <a:cs typeface="Noto Sans KR"/>
              </a:rPr>
              <a:t>08 / 22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BD856EFD-7D7E-4884-889F-853FFC6B05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3905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950" b="1">
                <a:solidFill>
                  <a:srgbClr val="21549B"/>
                </a:solidFill>
                <a:latin typeface="Noto Sans KR"/>
                <a:ea typeface="Noto Sans KR"/>
                <a:cs typeface="Noto Sans KR"/>
              </a:defRPr>
            </a:pPr>
            <a:r>
              <a:rPr sz="1950" b="1">
                <a:solidFill>
                  <a:srgbClr val="21549B"/>
                </a:solidFill>
                <a:latin typeface="Noto Sans KR"/>
                <a:ea typeface="Noto Sans KR"/>
                <a:cs typeface="Noto Sans KR"/>
              </a:rPr>
              <a:t>05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41D5199B-5E5B-4C05-BBB4-4E8BC61263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742950"/>
            <a:ext cx="10287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950" b="1">
                <a:solidFill>
                  <a:srgbClr val="1A1A1A"/>
                </a:solidFill>
                <a:latin typeface="Noto Sans KR"/>
                <a:ea typeface="Noto Sans KR"/>
                <a:cs typeface="Noto Sans KR"/>
              </a:defRPr>
            </a:pPr>
            <a:r>
              <a:rPr sz="1950" b="1">
                <a:solidFill>
                  <a:srgbClr val="1A1A1A"/>
                </a:solidFill>
                <a:latin typeface="Noto Sans KR"/>
                <a:ea typeface="Noto Sans KR"/>
                <a:cs typeface="Noto Sans KR"/>
              </a:rPr>
              <a:t>혼재 주문의 선출고 요청을 조정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6D28F673-6415-47B6-81C3-0665F413CA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906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050" b="0">
                <a:solidFill>
                  <a:srgbClr val="77777E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0">
                <a:solidFill>
                  <a:srgbClr val="77777E"/>
                </a:solidFill>
                <a:latin typeface="Noto Sans KR"/>
                <a:ea typeface="Noto Sans KR"/>
                <a:cs typeface="Noto Sans KR"/>
              </a:rPr>
              <a:t>2026-08-26 협의 사례: 국내 상품과 해외직구 상품이 섞인 주문의 처리 단위를 맞췄습니다.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78AF243-52DD-4EFE-8DAA-634BFC00EF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33550"/>
            <a:ext cx="3524250" cy="390525"/>
          </a:xfrm>
          <a:prstGeom xmlns:a="http://schemas.openxmlformats.org/drawingml/2006/main" prst="roundRect">
            <a:avLst>
              <a:gd name="adj" fmla="val 12195"/>
            </a:avLst>
          </a:prstGeom>
          <a:solidFill xmlns:a="http://schemas.openxmlformats.org/drawingml/2006/main">
            <a:srgbClr val="F4F4F6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114300" tIns="47625" rIns="114300" bIns="476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1200" b="1">
                <a:solidFill>
                  <a:srgbClr val="21549B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1">
                <a:solidFill>
                  <a:srgbClr val="21549B"/>
                </a:solidFill>
                <a:latin typeface="Noto Sans KR"/>
                <a:ea typeface="Noto Sans KR"/>
                <a:cs typeface="Noto Sans KR"/>
              </a:rPr>
              <a:t>처음 요청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E15F91C-9478-46A1-A29F-8969B7642E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57425"/>
            <a:ext cx="3524250" cy="1257300"/>
          </a:xfrm>
          <a:prstGeom xmlns:a="http://schemas.openxmlformats.org/drawingml/2006/main" prst="roundRect">
            <a:avLst>
              <a:gd name="adj" fmla="val 454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9E0"/>
            </a:solidFill>
          </a:ln>
        </p:spPr>
      </p:sp>
      <p:sp>
        <p:nvSpPr>
          <p:cNvPr id="7" name="text-6">
            <a:extLst xmlns:a="http://schemas.openxmlformats.org/drawingml/2006/main">
              <a:ext uri="{FF2B5EF4-FFF2-40B4-BE49-F238E27FC236}">
                <a16:creationId xmlns:a16="http://schemas.microsoft.com/office/drawing/2014/main" id="{D8905555-198D-47B1-B16C-EFB1652827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333625"/>
            <a:ext cx="310515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275" b="0">
                <a:solidFill>
                  <a:srgbClr val="4E4E53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0">
                <a:solidFill>
                  <a:srgbClr val="4E4E53"/>
                </a:solidFill>
                <a:latin typeface="Noto Sans KR"/>
                <a:ea typeface="Noto Sans KR"/>
                <a:cs typeface="Noto Sans KR"/>
              </a:rPr>
              <a:t>국내 상품은 통관과 무관하므로 먼저 출고</a:t>
            </a:r>
          </a:p>
        </p:txBody>
      </p:sp>
      <p:sp>
        <p:nvSpPr>
          <p:cNvPr id="8" name="text-7">
            <a:extLst xmlns:a="http://schemas.openxmlformats.org/drawingml/2006/main">
              <a:ext uri="{FF2B5EF4-FFF2-40B4-BE49-F238E27FC236}">
                <a16:creationId xmlns:a16="http://schemas.microsoft.com/office/drawing/2014/main" id="{38020C59-62E7-41D5-8188-D7B3F3A6B7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2714625"/>
            <a:ext cx="1619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5000"/>
              </a:lnSpc>
              <a:buNone/>
              <a:defRPr sz="1575" b="0">
                <a:solidFill>
                  <a:srgbClr val="21549B"/>
                </a:solidFill>
                <a:latin typeface="Noto Sans KR"/>
                <a:ea typeface="Noto Sans KR"/>
                <a:cs typeface="Noto Sans KR"/>
              </a:defRPr>
            </a:pPr>
            <a:r>
              <a:rPr sz="1575" b="0">
                <a:solidFill>
                  <a:srgbClr val="21549B"/>
                </a:solidFill>
                <a:latin typeface="Noto Sans KR"/>
                <a:ea typeface="Noto Sans KR"/>
                <a:cs typeface="Noto Sans KR"/>
              </a:rPr>
              <a:t>›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856727B-AF45-4D5E-A8E1-ADA50D6279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1733550"/>
            <a:ext cx="3524250" cy="390525"/>
          </a:xfrm>
          <a:prstGeom xmlns:a="http://schemas.openxmlformats.org/drawingml/2006/main" prst="roundRect">
            <a:avLst>
              <a:gd name="adj" fmla="val 12195"/>
            </a:avLst>
          </a:prstGeom>
          <a:solidFill xmlns:a="http://schemas.openxmlformats.org/drawingml/2006/main">
            <a:srgbClr val="F4F4F6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114300" tIns="47625" rIns="114300" bIns="476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1200" b="1">
                <a:solidFill>
                  <a:srgbClr val="21549B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1">
                <a:solidFill>
                  <a:srgbClr val="21549B"/>
                </a:solidFill>
                <a:latin typeface="Noto Sans KR"/>
                <a:ea typeface="Noto Sans KR"/>
                <a:cs typeface="Noto Sans KR"/>
              </a:rPr>
              <a:t>확인한 제약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8EACD31-0FAA-41AC-B609-291E531DFC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2257425"/>
            <a:ext cx="3524250" cy="1257300"/>
          </a:xfrm>
          <a:prstGeom xmlns:a="http://schemas.openxmlformats.org/drawingml/2006/main" prst="roundRect">
            <a:avLst>
              <a:gd name="adj" fmla="val 454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9E0"/>
            </a:solidFill>
          </a:ln>
        </p:spPr>
      </p:sp>
      <p:sp>
        <p:nvSpPr>
          <p:cNvPr id="11" name="text-10">
            <a:extLst xmlns:a="http://schemas.openxmlformats.org/drawingml/2006/main">
              <a:ext uri="{FF2B5EF4-FFF2-40B4-BE49-F238E27FC236}">
                <a16:creationId xmlns:a16="http://schemas.microsoft.com/office/drawing/2014/main" id="{FCD9DCDE-4496-4FFB-AC85-76763F0105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333625"/>
            <a:ext cx="310515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275" b="0">
                <a:solidFill>
                  <a:srgbClr val="4E4E53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0">
                <a:solidFill>
                  <a:srgbClr val="4E4E53"/>
                </a:solidFill>
                <a:latin typeface="Noto Sans KR"/>
                <a:ea typeface="Noto Sans KR"/>
                <a:cs typeface="Noto Sans KR"/>
              </a:rPr>
              <a:t>ERP는 원주문 단위로 삭제·재생성</a:t>
            </a:r>
          </a:p>
          <a:p xmlns:a="http://schemas.openxmlformats.org/drawingml/2006/main">
            <a:pPr algn="l">
              <a:lnSpc>
                <a:spcPct val="125000"/>
              </a:lnSpc>
              <a:buNone/>
              <a:defRPr sz="1275" b="0">
                <a:solidFill>
                  <a:srgbClr val="4E4E53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0">
                <a:solidFill>
                  <a:srgbClr val="4E4E53"/>
                </a:solidFill>
                <a:latin typeface="Noto Sans KR"/>
                <a:ea typeface="Noto Sans KR"/>
                <a:cs typeface="Noto Sans KR"/>
              </a:rPr>
              <a:t>부분 재처리 시 내수 주문의 중복 위험</a:t>
            </a:r>
          </a:p>
        </p:txBody>
      </p:sp>
      <p:sp>
        <p:nvSpPr>
          <p:cNvPr id="12" name="text-11">
            <a:extLst xmlns:a="http://schemas.openxmlformats.org/drawingml/2006/main">
              <a:ext uri="{FF2B5EF4-FFF2-40B4-BE49-F238E27FC236}">
                <a16:creationId xmlns:a16="http://schemas.microsoft.com/office/drawing/2014/main" id="{5A93A491-F896-441A-9C16-9A828C11FC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2714625"/>
            <a:ext cx="1619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5000"/>
              </a:lnSpc>
              <a:buNone/>
              <a:defRPr sz="1575" b="0">
                <a:solidFill>
                  <a:srgbClr val="21549B"/>
                </a:solidFill>
                <a:latin typeface="Noto Sans KR"/>
                <a:ea typeface="Noto Sans KR"/>
                <a:cs typeface="Noto Sans KR"/>
              </a:defRPr>
            </a:pPr>
            <a:r>
              <a:rPr sz="1575" b="0">
                <a:solidFill>
                  <a:srgbClr val="21549B"/>
                </a:solidFill>
                <a:latin typeface="Noto Sans KR"/>
                <a:ea typeface="Noto Sans KR"/>
                <a:cs typeface="Noto Sans KR"/>
              </a:rPr>
              <a:t>›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A0B5BF2-C077-4655-BE9A-FCE799FE65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1733550"/>
            <a:ext cx="3524250" cy="390525"/>
          </a:xfrm>
          <a:prstGeom xmlns:a="http://schemas.openxmlformats.org/drawingml/2006/main" prst="roundRect">
            <a:avLst>
              <a:gd name="adj" fmla="val 12195"/>
            </a:avLst>
          </a:prstGeom>
          <a:solidFill xmlns:a="http://schemas.openxmlformats.org/drawingml/2006/main">
            <a:srgbClr val="21549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114300" tIns="47625" rIns="114300" bIns="476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12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최종 결정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A90FBF6-3FA7-419B-906A-DD45E97897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2257425"/>
            <a:ext cx="3524250" cy="1257300"/>
          </a:xfrm>
          <a:prstGeom xmlns:a="http://schemas.openxmlformats.org/drawingml/2006/main" prst="roundRect">
            <a:avLst>
              <a:gd name="adj" fmla="val 4545"/>
            </a:avLst>
          </a:prstGeom>
          <a:solidFill xmlns:a="http://schemas.openxmlformats.org/drawingml/2006/main">
            <a:srgbClr val="E9F1FC"/>
          </a:solidFill>
          <a:ln xmlns:a="http://schemas.openxmlformats.org/drawingml/2006/main" w="0">
            <a:noFill/>
          </a:ln>
        </p:spPr>
      </p:sp>
      <p:sp>
        <p:nvSpPr>
          <p:cNvPr id="15" name="text-14">
            <a:extLst xmlns:a="http://schemas.openxmlformats.org/drawingml/2006/main">
              <a:ext uri="{FF2B5EF4-FFF2-40B4-BE49-F238E27FC236}">
                <a16:creationId xmlns:a16="http://schemas.microsoft.com/office/drawing/2014/main" id="{3D54E3C1-CF9F-4EB6-B1C3-F2673570E5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2333625"/>
            <a:ext cx="310515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275" b="1">
                <a:solidFill>
                  <a:srgbClr val="21549B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1">
                <a:solidFill>
                  <a:srgbClr val="21549B"/>
                </a:solidFill>
                <a:latin typeface="Noto Sans KR"/>
                <a:ea typeface="Noto Sans KR"/>
                <a:cs typeface="Noto Sans KR"/>
              </a:rPr>
              <a:t>내수 선출고 요청을 철회</a:t>
            </a:r>
          </a:p>
          <a:p xmlns:a="http://schemas.openxmlformats.org/drawingml/2006/main">
            <a:pPr algn="l">
              <a:lnSpc>
                <a:spcPct val="125000"/>
              </a:lnSpc>
              <a:buNone/>
              <a:defRPr sz="1275" b="1">
                <a:solidFill>
                  <a:srgbClr val="21549B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1">
                <a:solidFill>
                  <a:srgbClr val="21549B"/>
                </a:solidFill>
                <a:latin typeface="Noto Sans KR"/>
                <a:ea typeface="Noto Sans KR"/>
                <a:cs typeface="Noto Sans KR"/>
              </a:rPr>
              <a:t>해외직구 신고가 확정될 때까지 함께 보류</a:t>
            </a:r>
          </a:p>
        </p:txBody>
      </p:sp>
      <p:sp>
        <p:nvSpPr>
          <p:cNvPr id="16" name="text-15">
            <a:extLst xmlns:a="http://schemas.openxmlformats.org/drawingml/2006/main">
              <a:ext uri="{FF2B5EF4-FFF2-40B4-BE49-F238E27FC236}">
                <a16:creationId xmlns:a16="http://schemas.microsoft.com/office/drawing/2014/main" id="{358F3BEB-5FE2-40A8-A9E8-5887022B69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67150"/>
            <a:ext cx="10972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350" b="1">
                <a:solidFill>
                  <a:srgbClr val="21549B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1">
                <a:solidFill>
                  <a:srgbClr val="21549B"/>
                </a:solidFill>
                <a:latin typeface="Noto Sans KR"/>
                <a:ea typeface="Noto Sans KR"/>
                <a:cs typeface="Noto Sans KR"/>
              </a:rPr>
              <a:t>대안의 이익과 감수할 영향</a:t>
            </a:r>
          </a:p>
        </p:txBody>
      </p:sp>
      <p:graphicFrame>
        <p:nvGraphicFramePr>
          <p:cNvPr id="35" name=""/>
          <p:cNvGraphicFramePr/>
          <p:nvPr/>
        </p:nvGraphicFramePr>
        <p:xfrm>
          <a:off xmlns:a="http://schemas.openxmlformats.org/drawingml/2006/main" x="609600" y="4276725"/>
          <a:ext xmlns:a="http://schemas.openxmlformats.org/drawingml/2006/main" cx="10972800" cy="15716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447925"/>
                <a:gridCol w="3333750"/>
                <a:gridCol w="5191125"/>
              </a:tblGrid>
              <a:tr h="352425">
                <a:tc>
                  <a:txBody>
                    <a:bodyPr lIns="95250" tIns="57150" rIns="95250" bIns="57150"/>
                    <a:lstStyle/>
                    <a:p>
                      <a:pPr algn="l">
                        <a:lnSpc>
                          <a:spcPct val="122000"/>
                        </a:lnSpc>
                        <a:buNone/>
                      </a:pPr>
                      <a:r>
                        <a:rPr sz="1125" b="1">
                          <a:solidFill>
                            <a:srgbClr val="77777E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대안</a:t>
                      </a:r>
                    </a:p>
                  </a:txBody>
                  <a:tcPr marL="95250" marR="95250" marT="57150" marB="5715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57150" rIns="95250" bIns="57150"/>
                    <a:lstStyle/>
                    <a:p>
                      <a:pPr algn="l">
                        <a:lnSpc>
                          <a:spcPct val="122000"/>
                        </a:lnSpc>
                        <a:buNone/>
                      </a:pPr>
                      <a:r>
                        <a:rPr sz="1125" b="1">
                          <a:solidFill>
                            <a:srgbClr val="77777E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얻는 것</a:t>
                      </a:r>
                    </a:p>
                  </a:txBody>
                  <a:tcPr marL="95250" marR="95250" marT="57150" marB="5715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57150" rIns="95250" bIns="57150"/>
                    <a:lstStyle/>
                    <a:p>
                      <a:pPr algn="l">
                        <a:lnSpc>
                          <a:spcPct val="122000"/>
                        </a:lnSpc>
                        <a:buNone/>
                      </a:pPr>
                      <a:r>
                        <a:rPr sz="1125" b="1">
                          <a:solidFill>
                            <a:srgbClr val="77777E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위험·수용한 영향</a:t>
                      </a:r>
                    </a:p>
                  </a:txBody>
                  <a:tcPr marL="95250" marR="95250" marT="57150" marB="5715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09600">
                <a:tc>
                  <a:txBody>
                    <a:bodyPr lIns="95250" tIns="57150" rIns="95250" bIns="57150"/>
                    <a:lstStyle/>
                    <a:p>
                      <a:pPr algn="l">
                        <a:lnSpc>
                          <a:spcPct val="122000"/>
                        </a:lnSpc>
                        <a:buNone/>
                      </a:pPr>
                      <a:r>
                        <a:rPr sz="1125" b="1">
                          <a:solidFill>
                            <a:srgbClr val="21549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내수 먼저 출고</a:t>
                      </a:r>
                    </a:p>
                  </a:txBody>
                  <a:tcPr marL="95250" marR="95250" marT="57150" marB="5715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57150" rIns="95250" bIns="57150"/>
                    <a:lstStyle/>
                    <a:p>
                      <a:pPr algn="l">
                        <a:lnSpc>
                          <a:spcPct val="122000"/>
                        </a:lnSpc>
                        <a:buNone/>
                      </a:pPr>
                      <a:r>
                        <a:rPr sz="1125" b="0">
                          <a:solidFill>
                            <a:srgbClr val="4E4E5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국내 상품의 배송 지연 최소화</a:t>
                      </a:r>
                    </a:p>
                  </a:txBody>
                  <a:tcPr marL="95250" marR="95250" marT="57150" marB="5715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57150" rIns="95250" bIns="57150"/>
                    <a:lstStyle/>
                    <a:p>
                      <a:pPr algn="l">
                        <a:lnSpc>
                          <a:spcPct val="122000"/>
                        </a:lnSpc>
                        <a:buNone/>
                      </a:pPr>
                      <a:r>
                        <a:rPr sz="1125" b="0">
                          <a:solidFill>
                            <a:srgbClr val="4E4E5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부분 삭제·재생성이 어려워 중복 처리 위험</a:t>
                      </a:r>
                    </a:p>
                  </a:txBody>
                  <a:tcPr marL="95250" marR="95250" marT="57150" marB="5715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09600">
                <a:tc>
                  <a:txBody>
                    <a:bodyPr lIns="95250" tIns="57150" rIns="95250" bIns="57150"/>
                    <a:lstStyle/>
                    <a:p>
                      <a:pPr algn="l">
                        <a:lnSpc>
                          <a:spcPct val="122000"/>
                        </a:lnSpc>
                        <a:buNone/>
                      </a:pPr>
                      <a:r>
                        <a:rPr sz="1125" b="1">
                          <a:solidFill>
                            <a:srgbClr val="21549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혼재 주문 함께 보류</a:t>
                      </a:r>
                    </a:p>
                  </a:txBody>
                  <a:tcPr marL="95250" marR="95250" marT="57150" marB="5715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E0"/>
                      </a:solidFill>
                      <a:prstDash val="solid"/>
                    </a:lnB>
                    <a:solidFill>
                      <a:srgbClr val="E9F1FC"/>
                    </a:solidFill>
                  </a:tcPr>
                </a:tc>
                <a:tc>
                  <a:txBody>
                    <a:bodyPr lIns="95250" tIns="57150" rIns="95250" bIns="57150"/>
                    <a:lstStyle/>
                    <a:p>
                      <a:pPr algn="l">
                        <a:lnSpc>
                          <a:spcPct val="122000"/>
                        </a:lnSpc>
                        <a:buNone/>
                      </a:pPr>
                      <a:r>
                        <a:rPr sz="1125" b="1">
                          <a:solidFill>
                            <a:srgbClr val="21549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원주문 단위의 처리 일관성</a:t>
                      </a:r>
                    </a:p>
                  </a:txBody>
                  <a:tcPr marL="95250" marR="95250" marT="57150" marB="5715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E0"/>
                      </a:solidFill>
                      <a:prstDash val="solid"/>
                    </a:lnB>
                    <a:solidFill>
                      <a:srgbClr val="E9F1FC"/>
                    </a:solidFill>
                  </a:tcPr>
                </a:tc>
                <a:tc>
                  <a:txBody>
                    <a:bodyPr lIns="95250" tIns="57150" rIns="95250" bIns="57150"/>
                    <a:lstStyle/>
                    <a:p>
                      <a:pPr algn="l">
                        <a:lnSpc>
                          <a:spcPct val="122000"/>
                        </a:lnSpc>
                        <a:buNone/>
                      </a:pPr>
                      <a:r>
                        <a:rPr sz="1125" b="1">
                          <a:solidFill>
                            <a:srgbClr val="21549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국내 상품도 신고 확정까지 동반 지연</a:t>
                      </a:r>
                    </a:p>
                  </a:txBody>
                  <a:tcPr marL="95250" marR="95250" marT="57150" marB="5715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E0"/>
                      </a:solidFill>
                      <a:prstDash val="solid"/>
                    </a:lnB>
                    <a:solidFill>
                      <a:srgbClr val="E9F1FC"/>
                    </a:solidFill>
                  </a:tcPr>
                </a:tc>
              </a:tr>
            </a:tbl>
          </a:graphicData>
        </a:graphic>
      </p:graphicFrame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6A8D541-3E98-40F7-B2C0-79CB0FB333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76950"/>
            <a:ext cx="10972800" cy="457200"/>
          </a:xfrm>
          <a:prstGeom xmlns:a="http://schemas.openxmlformats.org/drawingml/2006/main" prst="roundRect">
            <a:avLst>
              <a:gd name="adj" fmla="val 10417"/>
            </a:avLst>
          </a:prstGeom>
          <a:solidFill xmlns:a="http://schemas.openxmlformats.org/drawingml/2006/main">
            <a:srgbClr val="21549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114300" tIns="47625" rIns="114300" bIns="476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127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배송 속도와 중복 위험을 비교하고, 시스템 제약을 운영 기준으로 합의했습니다.</a:t>
            </a:r>
          </a:p>
        </p:txBody>
      </p:sp>
    </p:spTree>
    <p:extLst>
      <p:ext uri="{BB962C8B-B14F-4D97-AF65-F5344CB8AC3E}">
        <p14:creationId xmlns:p14="http://schemas.microsoft.com/office/powerpoint/2010/main" val="535210813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text-0">
            <a:extLst xmlns:a="http://schemas.openxmlformats.org/drawingml/2006/main">
              <a:ext uri="{FF2B5EF4-FFF2-40B4-BE49-F238E27FC236}">
                <a16:creationId xmlns:a16="http://schemas.microsoft.com/office/drawing/2014/main" id="{A7A5096A-E0B3-4C6E-9176-8FC101A4FF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87075" y="285750"/>
            <a:ext cx="6953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25000"/>
              </a:lnSpc>
              <a:buNone/>
              <a:defRPr sz="788" b="0">
                <a:solidFill>
                  <a:srgbClr val="92929A"/>
                </a:solidFill>
                <a:latin typeface="Noto Sans KR"/>
                <a:ea typeface="Noto Sans KR"/>
                <a:cs typeface="Noto Sans KR"/>
              </a:defRPr>
            </a:pPr>
            <a:r>
              <a:rPr sz="788" b="0">
                <a:solidFill>
                  <a:srgbClr val="92929A"/>
                </a:solidFill>
                <a:latin typeface="Noto Sans KR"/>
                <a:ea typeface="Noto Sans KR"/>
                <a:cs typeface="Noto Sans KR"/>
              </a:rPr>
              <a:t>09 / 22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28448619-51C8-4392-B8FC-5B4CE389CA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3905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950" b="1">
                <a:solidFill>
                  <a:srgbClr val="21549B"/>
                </a:solidFill>
                <a:latin typeface="Noto Sans KR"/>
                <a:ea typeface="Noto Sans KR"/>
                <a:cs typeface="Noto Sans KR"/>
              </a:defRPr>
            </a:pPr>
            <a:r>
              <a:rPr sz="1950" b="1">
                <a:solidFill>
                  <a:srgbClr val="21549B"/>
                </a:solidFill>
                <a:latin typeface="Noto Sans KR"/>
                <a:ea typeface="Noto Sans KR"/>
                <a:cs typeface="Noto Sans KR"/>
              </a:rPr>
              <a:t>06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0E96811B-C6F7-422A-8CA7-6BDA77529D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742950"/>
            <a:ext cx="10287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950" b="1">
                <a:solidFill>
                  <a:srgbClr val="1A1A1A"/>
                </a:solidFill>
                <a:latin typeface="Noto Sans KR"/>
                <a:ea typeface="Noto Sans KR"/>
                <a:cs typeface="Noto Sans KR"/>
              </a:defRPr>
            </a:pPr>
            <a:r>
              <a:rPr sz="1950" b="1">
                <a:solidFill>
                  <a:srgbClr val="1A1A1A"/>
                </a:solidFill>
                <a:latin typeface="Noto Sans KR"/>
                <a:ea typeface="Noto Sans KR"/>
                <a:cs typeface="Noto Sans KR"/>
              </a:rPr>
              <a:t>접수 이후의 상태와 오류 복구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0145DC77-E146-4325-94F1-F78760D296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906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050" b="0">
                <a:solidFill>
                  <a:srgbClr val="77777E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0">
                <a:solidFill>
                  <a:srgbClr val="77777E"/>
                </a:solidFill>
                <a:latin typeface="Noto Sans KR"/>
                <a:ea typeface="Noto Sans KR"/>
                <a:cs typeface="Noto Sans KR"/>
              </a:rPr>
              <a:t>접수, 상대 데이터 대기, 병합, 통관 결과를 서로 다른 근거로 판단하도록 설계했습니다.</a:t>
            </a:r>
          </a:p>
        </p:txBody>
      </p:sp>
      <p:sp>
        <p:nvSpPr>
          <p:cNvPr id="5" name="text-4">
            <a:extLst xmlns:a="http://schemas.openxmlformats.org/drawingml/2006/main">
              <a:ext uri="{FF2B5EF4-FFF2-40B4-BE49-F238E27FC236}">
                <a16:creationId xmlns:a16="http://schemas.microsoft.com/office/drawing/2014/main" id="{3DF656BE-57BB-4EF2-A055-B8A82976ED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95450"/>
            <a:ext cx="10896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350" b="1">
                <a:solidFill>
                  <a:srgbClr val="21549B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1">
                <a:solidFill>
                  <a:srgbClr val="21549B"/>
                </a:solidFill>
                <a:latin typeface="Noto Sans KR"/>
                <a:ea typeface="Noto Sans KR"/>
                <a:cs typeface="Noto Sans KR"/>
              </a:rPr>
              <a:t>같은 주문이 두 시스템에서 도착하는 상황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3B448C0-F8AA-4F8C-9386-9DBDE49B4F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24075"/>
            <a:ext cx="2628900" cy="371475"/>
          </a:xfrm>
          <a:prstGeom xmlns:a="http://schemas.openxmlformats.org/drawingml/2006/main" prst="roundRect">
            <a:avLst>
              <a:gd name="adj" fmla="val 12821"/>
            </a:avLst>
          </a:prstGeom>
          <a:solidFill xmlns:a="http://schemas.openxmlformats.org/drawingml/2006/main">
            <a:srgbClr val="1A1A1A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114300" tIns="47625" rIns="114300" bIns="476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11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01  접수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D8E51FA-6AA3-48E1-81E2-68B4DFAD94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09850"/>
            <a:ext cx="2628900" cy="533400"/>
          </a:xfrm>
          <a:prstGeom xmlns:a="http://schemas.openxmlformats.org/drawingml/2006/main" prst="roundRect">
            <a:avLst>
              <a:gd name="adj" fmla="val 89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9E0"/>
            </a:solidFill>
          </a:ln>
        </p:spPr>
        <p:txBody>
          <a:bodyPr xmlns:a="http://schemas.openxmlformats.org/drawingml/2006/main" wrap="square" lIns="114300" tIns="76200" rIns="11430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0000"/>
              </a:lnSpc>
              <a:buNone/>
              <a:defRPr sz="1125" b="1">
                <a:solidFill>
                  <a:srgbClr val="21549B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1">
                <a:solidFill>
                  <a:srgbClr val="21549B"/>
                </a:solidFill>
                <a:latin typeface="Noto Sans KR"/>
                <a:ea typeface="Noto Sans KR"/>
                <a:cs typeface="Noto Sans KR"/>
              </a:rPr>
              <a:t>물류 데이터 도착</a:t>
            </a:r>
          </a:p>
        </p:txBody>
      </p:sp>
      <p:sp>
        <p:nvSpPr>
          <p:cNvPr id="8" name="text-7">
            <a:extLst xmlns:a="http://schemas.openxmlformats.org/drawingml/2006/main">
              <a:ext uri="{FF2B5EF4-FFF2-40B4-BE49-F238E27FC236}">
                <a16:creationId xmlns:a16="http://schemas.microsoft.com/office/drawing/2014/main" id="{749D5CD4-F07B-4EAF-A97E-2FF550491A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305175"/>
            <a:ext cx="23241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5000"/>
              </a:lnSpc>
              <a:buNone/>
              <a:defRPr sz="1125" b="0">
                <a:solidFill>
                  <a:srgbClr val="4E4E53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0">
                <a:solidFill>
                  <a:srgbClr val="4E4E53"/>
                </a:solidFill>
                <a:latin typeface="Noto Sans KR"/>
                <a:ea typeface="Noto Sans KR"/>
                <a:cs typeface="Noto Sans KR"/>
              </a:rPr>
              <a:t>HTTP 202 응답</a:t>
            </a:r>
          </a:p>
          <a:p xmlns:a="http://schemas.openxmlformats.org/drawingml/2006/main">
            <a:pPr algn="ctr">
              <a:lnSpc>
                <a:spcPct val="125000"/>
              </a:lnSpc>
              <a:buNone/>
              <a:defRPr sz="1125" b="0">
                <a:solidFill>
                  <a:srgbClr val="4E4E53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0">
                <a:solidFill>
                  <a:srgbClr val="4E4E53"/>
                </a:solidFill>
                <a:latin typeface="Noto Sans KR"/>
                <a:ea typeface="Noto Sans KR"/>
                <a:cs typeface="Noto Sans KR"/>
              </a:rPr>
              <a:t>접수 사실만 확인</a:t>
            </a:r>
          </a:p>
        </p:txBody>
      </p:sp>
      <p:sp>
        <p:nvSpPr>
          <p:cNvPr id="9" name="text-8">
            <a:extLst xmlns:a="http://schemas.openxmlformats.org/drawingml/2006/main">
              <a:ext uri="{FF2B5EF4-FFF2-40B4-BE49-F238E27FC236}">
                <a16:creationId xmlns:a16="http://schemas.microsoft.com/office/drawing/2014/main" id="{53331EBD-9600-44A3-8333-617A18F6DF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28975" y="2752725"/>
            <a:ext cx="1809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5000"/>
              </a:lnSpc>
              <a:buNone/>
              <a:defRPr sz="1575" b="0">
                <a:solidFill>
                  <a:srgbClr val="21549B"/>
                </a:solidFill>
                <a:latin typeface="Noto Sans KR"/>
                <a:ea typeface="Noto Sans KR"/>
                <a:cs typeface="Noto Sans KR"/>
              </a:defRPr>
            </a:pPr>
            <a:r>
              <a:rPr sz="1575" b="0">
                <a:solidFill>
                  <a:srgbClr val="21549B"/>
                </a:solidFill>
                <a:latin typeface="Noto Sans KR"/>
                <a:ea typeface="Noto Sans KR"/>
                <a:cs typeface="Noto Sans KR"/>
              </a:rPr>
              <a:t>›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83923CF-7D38-4FDE-B966-32BA32A892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2124075"/>
            <a:ext cx="2628900" cy="371475"/>
          </a:xfrm>
          <a:prstGeom xmlns:a="http://schemas.openxmlformats.org/drawingml/2006/main" prst="roundRect">
            <a:avLst>
              <a:gd name="adj" fmla="val 12821"/>
            </a:avLst>
          </a:prstGeom>
          <a:solidFill xmlns:a="http://schemas.openxmlformats.org/drawingml/2006/main">
            <a:srgbClr val="1A1A1A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114300" tIns="47625" rIns="114300" bIns="476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11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02  대기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2DE8420-1FC8-430A-9A9C-AEBA7E6C38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2609850"/>
            <a:ext cx="2628900" cy="533400"/>
          </a:xfrm>
          <a:prstGeom xmlns:a="http://schemas.openxmlformats.org/drawingml/2006/main" prst="roundRect">
            <a:avLst>
              <a:gd name="adj" fmla="val 89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9E0"/>
            </a:solidFill>
          </a:ln>
        </p:spPr>
        <p:txBody>
          <a:bodyPr xmlns:a="http://schemas.openxmlformats.org/drawingml/2006/main" wrap="square" lIns="114300" tIns="76200" rIns="11430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0000"/>
              </a:lnSpc>
              <a:buNone/>
              <a:defRPr sz="1125" b="1">
                <a:solidFill>
                  <a:srgbClr val="21549B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1">
                <a:solidFill>
                  <a:srgbClr val="21549B"/>
                </a:solidFill>
                <a:latin typeface="Noto Sans KR"/>
                <a:ea typeface="Noto Sans KR"/>
                <a:cs typeface="Noto Sans KR"/>
              </a:rPr>
              <a:t>짝이 되는 정보 미도착</a:t>
            </a:r>
          </a:p>
        </p:txBody>
      </p:sp>
      <p:sp>
        <p:nvSpPr>
          <p:cNvPr id="12" name="text-11">
            <a:extLst xmlns:a="http://schemas.openxmlformats.org/drawingml/2006/main">
              <a:ext uri="{FF2B5EF4-FFF2-40B4-BE49-F238E27FC236}">
                <a16:creationId xmlns:a16="http://schemas.microsoft.com/office/drawing/2014/main" id="{BDAF717C-1527-428F-98AF-8900B279B0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3305175"/>
            <a:ext cx="23241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5000"/>
              </a:lnSpc>
              <a:buNone/>
              <a:defRPr sz="1125" b="0">
                <a:solidFill>
                  <a:srgbClr val="4E4E53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0">
                <a:solidFill>
                  <a:srgbClr val="4E4E53"/>
                </a:solidFill>
                <a:latin typeface="Noto Sans KR"/>
                <a:ea typeface="Noto Sans KR"/>
                <a:cs typeface="Noto Sans KR"/>
              </a:rPr>
              <a:t>상태 조회로</a:t>
            </a:r>
          </a:p>
          <a:p xmlns:a="http://schemas.openxmlformats.org/drawingml/2006/main">
            <a:pPr algn="ctr">
              <a:lnSpc>
                <a:spcPct val="125000"/>
              </a:lnSpc>
              <a:buNone/>
              <a:defRPr sz="1125" b="0">
                <a:solidFill>
                  <a:srgbClr val="4E4E53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0">
                <a:solidFill>
                  <a:srgbClr val="4E4E53"/>
                </a:solidFill>
                <a:latin typeface="Noto Sans KR"/>
                <a:ea typeface="Noto Sans KR"/>
                <a:cs typeface="Noto Sans KR"/>
              </a:rPr>
              <a:t>대기와 검증 실패 구분</a:t>
            </a:r>
          </a:p>
        </p:txBody>
      </p:sp>
      <p:sp>
        <p:nvSpPr>
          <p:cNvPr id="13" name="text-12">
            <a:extLst xmlns:a="http://schemas.openxmlformats.org/drawingml/2006/main">
              <a:ext uri="{FF2B5EF4-FFF2-40B4-BE49-F238E27FC236}">
                <a16:creationId xmlns:a16="http://schemas.microsoft.com/office/drawing/2014/main" id="{76EF8157-B601-4DB1-A053-612DFEA139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0275" y="2752725"/>
            <a:ext cx="1809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5000"/>
              </a:lnSpc>
              <a:buNone/>
              <a:defRPr sz="1575" b="0">
                <a:solidFill>
                  <a:srgbClr val="21549B"/>
                </a:solidFill>
                <a:latin typeface="Noto Sans KR"/>
                <a:ea typeface="Noto Sans KR"/>
                <a:cs typeface="Noto Sans KR"/>
              </a:defRPr>
            </a:pPr>
            <a:r>
              <a:rPr sz="1575" b="0">
                <a:solidFill>
                  <a:srgbClr val="21549B"/>
                </a:solidFill>
                <a:latin typeface="Noto Sans KR"/>
                <a:ea typeface="Noto Sans KR"/>
                <a:cs typeface="Noto Sans KR"/>
              </a:rPr>
              <a:t>›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86F9E86-BC52-4F0F-AEC4-1DC50BFD03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124075"/>
            <a:ext cx="2628900" cy="371475"/>
          </a:xfrm>
          <a:prstGeom xmlns:a="http://schemas.openxmlformats.org/drawingml/2006/main" prst="roundRect">
            <a:avLst>
              <a:gd name="adj" fmla="val 12821"/>
            </a:avLst>
          </a:prstGeom>
          <a:solidFill xmlns:a="http://schemas.openxmlformats.org/drawingml/2006/main">
            <a:srgbClr val="1A1A1A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114300" tIns="47625" rIns="114300" bIns="476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11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03  병합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F7BD35B-6D09-4AD2-8466-A39236D432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609850"/>
            <a:ext cx="2628900" cy="533400"/>
          </a:xfrm>
          <a:prstGeom xmlns:a="http://schemas.openxmlformats.org/drawingml/2006/main" prst="roundRect">
            <a:avLst>
              <a:gd name="adj" fmla="val 89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9E0"/>
            </a:solidFill>
          </a:ln>
        </p:spPr>
        <p:txBody>
          <a:bodyPr xmlns:a="http://schemas.openxmlformats.org/drawingml/2006/main" wrap="square" lIns="114300" tIns="76200" rIns="11430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0000"/>
              </a:lnSpc>
              <a:buNone/>
              <a:defRPr sz="1125" b="1">
                <a:solidFill>
                  <a:srgbClr val="21549B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1">
                <a:solidFill>
                  <a:srgbClr val="21549B"/>
                </a:solidFill>
                <a:latin typeface="Noto Sans KR"/>
                <a:ea typeface="Noto Sans KR"/>
                <a:cs typeface="Noto Sans KR"/>
              </a:rPr>
              <a:t>주문·운송장 기준 일치</a:t>
            </a:r>
          </a:p>
        </p:txBody>
      </p:sp>
      <p:sp>
        <p:nvSpPr>
          <p:cNvPr id="16" name="text-15">
            <a:extLst xmlns:a="http://schemas.openxmlformats.org/drawingml/2006/main">
              <a:ext uri="{FF2B5EF4-FFF2-40B4-BE49-F238E27FC236}">
                <a16:creationId xmlns:a16="http://schemas.microsoft.com/office/drawing/2014/main" id="{6BF7E522-F74C-4FF6-859F-CF9224EF22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305175"/>
            <a:ext cx="23241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5000"/>
              </a:lnSpc>
              <a:buNone/>
              <a:defRPr sz="1125" b="0">
                <a:solidFill>
                  <a:srgbClr val="4E4E53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0">
                <a:solidFill>
                  <a:srgbClr val="4E4E53"/>
                </a:solidFill>
                <a:latin typeface="Noto Sans KR"/>
                <a:ea typeface="Noto Sans KR"/>
                <a:cs typeface="Noto Sans KR"/>
              </a:rPr>
              <a:t>병합 결과를 확인</a:t>
            </a:r>
          </a:p>
          <a:p xmlns:a="http://schemas.openxmlformats.org/drawingml/2006/main">
            <a:pPr algn="ctr">
              <a:lnSpc>
                <a:spcPct val="125000"/>
              </a:lnSpc>
              <a:buNone/>
              <a:defRPr sz="1125" b="0">
                <a:solidFill>
                  <a:srgbClr val="4E4E53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0">
                <a:solidFill>
                  <a:srgbClr val="4E4E53"/>
                </a:solidFill>
                <a:latin typeface="Noto Sans KR"/>
                <a:ea typeface="Noto Sans KR"/>
                <a:cs typeface="Noto Sans KR"/>
              </a:rPr>
              <a:t>통관 완료와 구분</a:t>
            </a:r>
          </a:p>
        </p:txBody>
      </p:sp>
      <p:sp>
        <p:nvSpPr>
          <p:cNvPr id="17" name="text-16">
            <a:extLst xmlns:a="http://schemas.openxmlformats.org/drawingml/2006/main">
              <a:ext uri="{FF2B5EF4-FFF2-40B4-BE49-F238E27FC236}">
                <a16:creationId xmlns:a16="http://schemas.microsoft.com/office/drawing/2014/main" id="{E7504CA3-55DB-4CF0-A609-DF96983A4A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91575" y="2752725"/>
            <a:ext cx="1809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5000"/>
              </a:lnSpc>
              <a:buNone/>
              <a:defRPr sz="1575" b="0">
                <a:solidFill>
                  <a:srgbClr val="21549B"/>
                </a:solidFill>
                <a:latin typeface="Noto Sans KR"/>
                <a:ea typeface="Noto Sans KR"/>
                <a:cs typeface="Noto Sans KR"/>
              </a:defRPr>
            </a:pPr>
            <a:r>
              <a:rPr sz="1575" b="0">
                <a:solidFill>
                  <a:srgbClr val="21549B"/>
                </a:solidFill>
                <a:latin typeface="Noto Sans KR"/>
                <a:ea typeface="Noto Sans KR"/>
                <a:cs typeface="Noto Sans KR"/>
              </a:rPr>
              <a:t>›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8F673A0-6F16-4350-B3EE-9D6F03BABD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124075"/>
            <a:ext cx="2628900" cy="371475"/>
          </a:xfrm>
          <a:prstGeom xmlns:a="http://schemas.openxmlformats.org/drawingml/2006/main" prst="roundRect">
            <a:avLst>
              <a:gd name="adj" fmla="val 12821"/>
            </a:avLst>
          </a:prstGeom>
          <a:solidFill xmlns:a="http://schemas.openxmlformats.org/drawingml/2006/main">
            <a:srgbClr val="21549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114300" tIns="47625" rIns="114300" bIns="476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11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04  결과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92168EC-3B2E-4A3A-98DA-F1B751B6A5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609850"/>
            <a:ext cx="2628900" cy="533400"/>
          </a:xfrm>
          <a:prstGeom xmlns:a="http://schemas.openxmlformats.org/drawingml/2006/main" prst="roundRect">
            <a:avLst>
              <a:gd name="adj" fmla="val 89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9E0"/>
            </a:solidFill>
          </a:ln>
        </p:spPr>
        <p:txBody>
          <a:bodyPr xmlns:a="http://schemas.openxmlformats.org/drawingml/2006/main" wrap="square" lIns="114300" tIns="76200" rIns="11430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0000"/>
              </a:lnSpc>
              <a:buNone/>
              <a:defRPr sz="1125" b="1">
                <a:solidFill>
                  <a:srgbClr val="21549B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1">
                <a:solidFill>
                  <a:srgbClr val="21549B"/>
                </a:solidFill>
                <a:latin typeface="Noto Sans KR"/>
                <a:ea typeface="Noto Sans KR"/>
                <a:cs typeface="Noto Sans KR"/>
              </a:rPr>
              <a:t>신고·통관 상태 조회</a:t>
            </a:r>
          </a:p>
        </p:txBody>
      </p:sp>
      <p:sp>
        <p:nvSpPr>
          <p:cNvPr id="20" name="text-19">
            <a:extLst xmlns:a="http://schemas.openxmlformats.org/drawingml/2006/main">
              <a:ext uri="{FF2B5EF4-FFF2-40B4-BE49-F238E27FC236}">
                <a16:creationId xmlns:a16="http://schemas.microsoft.com/office/drawing/2014/main" id="{CA5CC653-CF9E-42EB-99EB-2B445FB3D9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3305175"/>
            <a:ext cx="23241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5000"/>
              </a:lnSpc>
              <a:buNone/>
              <a:defRPr sz="1125" b="0">
                <a:solidFill>
                  <a:srgbClr val="4E4E53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0">
                <a:solidFill>
                  <a:srgbClr val="4E4E53"/>
                </a:solidFill>
                <a:latin typeface="Noto Sans KR"/>
                <a:ea typeface="Noto Sans KR"/>
                <a:cs typeface="Noto Sans KR"/>
              </a:rPr>
              <a:t>최종 결과를 근거로</a:t>
            </a:r>
          </a:p>
          <a:p xmlns:a="http://schemas.openxmlformats.org/drawingml/2006/main">
            <a:pPr algn="ctr">
              <a:lnSpc>
                <a:spcPct val="125000"/>
              </a:lnSpc>
              <a:buNone/>
              <a:defRPr sz="1125" b="0">
                <a:solidFill>
                  <a:srgbClr val="4E4E53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0">
                <a:solidFill>
                  <a:srgbClr val="4E4E53"/>
                </a:solidFill>
                <a:latin typeface="Noto Sans KR"/>
                <a:ea typeface="Noto Sans KR"/>
                <a:cs typeface="Noto Sans KR"/>
              </a:rPr>
              <a:t>후속 운영 판단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539E9F7-3709-4901-9D9F-C5084DBA92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71950"/>
            <a:ext cx="10972800" cy="0"/>
          </a:xfrm>
          <a:prstGeom xmlns:a="http://schemas.openxmlformats.org/drawingml/2006/main" prst="line">
            <a:avLst/>
          </a:prstGeom>
          <a:ln xmlns:a="http://schemas.openxmlformats.org/drawingml/2006/main" w="7620">
            <a:solidFill>
              <a:srgbClr val="D9D9E0"/>
            </a:solidFill>
          </a:ln>
        </p:spPr>
      </p:sp>
      <p:sp>
        <p:nvSpPr>
          <p:cNvPr id="22" name="text-21">
            <a:extLst xmlns:a="http://schemas.openxmlformats.org/drawingml/2006/main">
              <a:ext uri="{FF2B5EF4-FFF2-40B4-BE49-F238E27FC236}">
                <a16:creationId xmlns:a16="http://schemas.microsoft.com/office/drawing/2014/main" id="{B730283C-E64F-495A-914D-73FA4012A0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19600"/>
            <a:ext cx="10972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350" b="1">
                <a:solidFill>
                  <a:srgbClr val="21549B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1">
                <a:solidFill>
                  <a:srgbClr val="21549B"/>
                </a:solidFill>
                <a:latin typeface="Noto Sans KR"/>
                <a:ea typeface="Noto Sans KR"/>
                <a:cs typeface="Noto Sans KR"/>
              </a:rPr>
              <a:t>오류가 확인되면 원천과 재처리 기준을 먼저 구분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B0C6FC1-DCF3-4B34-BA6D-70E80EEF8E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29175"/>
            <a:ext cx="3524250" cy="342900"/>
          </a:xfrm>
          <a:prstGeom xmlns:a="http://schemas.openxmlformats.org/drawingml/2006/main" prst="roundRect">
            <a:avLst>
              <a:gd name="adj" fmla="val 13889"/>
            </a:avLst>
          </a:prstGeom>
          <a:solidFill xmlns:a="http://schemas.openxmlformats.org/drawingml/2006/main">
            <a:srgbClr val="E9F1FC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114300" tIns="47625" rIns="114300" bIns="476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1125" b="1">
                <a:solidFill>
                  <a:srgbClr val="21549B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1">
                <a:solidFill>
                  <a:srgbClr val="21549B"/>
                </a:solidFill>
                <a:latin typeface="Noto Sans KR"/>
                <a:ea typeface="Noto Sans KR"/>
                <a:cs typeface="Noto Sans KR"/>
              </a:rPr>
              <a:t>원천 확인</a:t>
            </a:r>
          </a:p>
        </p:txBody>
      </p:sp>
      <p:sp>
        <p:nvSpPr>
          <p:cNvPr id="24" name="text-23">
            <a:extLst xmlns:a="http://schemas.openxmlformats.org/drawingml/2006/main">
              <a:ext uri="{FF2B5EF4-FFF2-40B4-BE49-F238E27FC236}">
                <a16:creationId xmlns:a16="http://schemas.microsoft.com/office/drawing/2014/main" id="{C2A8B255-0692-409A-BB10-E960C76765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314950"/>
            <a:ext cx="325755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088" b="0">
                <a:solidFill>
                  <a:srgbClr val="4E4E53"/>
                </a:solidFill>
                <a:latin typeface="Noto Sans KR"/>
                <a:ea typeface="Noto Sans KR"/>
                <a:cs typeface="Noto Sans KR"/>
              </a:defRPr>
            </a:pPr>
            <a:r>
              <a:rPr sz="1088" b="0">
                <a:solidFill>
                  <a:srgbClr val="4E4E53"/>
                </a:solidFill>
                <a:latin typeface="Noto Sans KR"/>
                <a:ea typeface="Noto Sans KR"/>
                <a:cs typeface="Noto Sans KR"/>
              </a:rPr>
              <a:t>고객·인증 / 상품·포장 / 제출 필드를 구분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10A7818-17D3-46D9-ACC1-648B43C6A8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4829175"/>
            <a:ext cx="3524250" cy="342900"/>
          </a:xfrm>
          <a:prstGeom xmlns:a="http://schemas.openxmlformats.org/drawingml/2006/main" prst="roundRect">
            <a:avLst>
              <a:gd name="adj" fmla="val 13889"/>
            </a:avLst>
          </a:prstGeom>
          <a:solidFill xmlns:a="http://schemas.openxmlformats.org/drawingml/2006/main">
            <a:srgbClr val="E9F1FC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114300" tIns="47625" rIns="114300" bIns="476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1125" b="1">
                <a:solidFill>
                  <a:srgbClr val="21549B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1">
                <a:solidFill>
                  <a:srgbClr val="21549B"/>
                </a:solidFill>
                <a:latin typeface="Noto Sans KR"/>
                <a:ea typeface="Noto Sans KR"/>
                <a:cs typeface="Noto Sans KR"/>
              </a:rPr>
              <a:t>보완과 재처리</a:t>
            </a:r>
          </a:p>
        </p:txBody>
      </p:sp>
      <p:sp>
        <p:nvSpPr>
          <p:cNvPr id="26" name="text-25">
            <a:extLst xmlns:a="http://schemas.openxmlformats.org/drawingml/2006/main">
              <a:ext uri="{FF2B5EF4-FFF2-40B4-BE49-F238E27FC236}">
                <a16:creationId xmlns:a16="http://schemas.microsoft.com/office/drawing/2014/main" id="{369B0FB6-9B80-4DD4-B358-F37E773F95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5314950"/>
            <a:ext cx="325755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088" b="0">
                <a:solidFill>
                  <a:srgbClr val="4E4E53"/>
                </a:solidFill>
                <a:latin typeface="Noto Sans KR"/>
                <a:ea typeface="Noto Sans KR"/>
                <a:cs typeface="Noto Sans KR"/>
              </a:defRPr>
            </a:pPr>
            <a:r>
              <a:rPr sz="1088" b="0">
                <a:solidFill>
                  <a:srgbClr val="4E4E53"/>
                </a:solidFill>
                <a:latin typeface="Noto Sans KR"/>
                <a:ea typeface="Noto Sans KR"/>
                <a:cs typeface="Noto Sans KR"/>
              </a:rPr>
              <a:t>제공자별 식별자와 공식 처리 규칙 적용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78D8947-5FF9-486B-88FB-7DA0BAF529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4829175"/>
            <a:ext cx="3524250" cy="342900"/>
          </a:xfrm>
          <a:prstGeom xmlns:a="http://schemas.openxmlformats.org/drawingml/2006/main" prst="roundRect">
            <a:avLst>
              <a:gd name="adj" fmla="val 13889"/>
            </a:avLst>
          </a:prstGeom>
          <a:solidFill xmlns:a="http://schemas.openxmlformats.org/drawingml/2006/main">
            <a:srgbClr val="E9F1FC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114300" tIns="47625" rIns="114300" bIns="476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1125" b="1">
                <a:solidFill>
                  <a:srgbClr val="21549B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1">
                <a:solidFill>
                  <a:srgbClr val="21549B"/>
                </a:solidFill>
                <a:latin typeface="Noto Sans KR"/>
                <a:ea typeface="Noto Sans KR"/>
                <a:cs typeface="Noto Sans KR"/>
              </a:rPr>
              <a:t>다시 확인</a:t>
            </a:r>
          </a:p>
        </p:txBody>
      </p:sp>
      <p:sp>
        <p:nvSpPr>
          <p:cNvPr id="28" name="text-27">
            <a:extLst xmlns:a="http://schemas.openxmlformats.org/drawingml/2006/main">
              <a:ext uri="{FF2B5EF4-FFF2-40B4-BE49-F238E27FC236}">
                <a16:creationId xmlns:a16="http://schemas.microsoft.com/office/drawing/2014/main" id="{287BC317-368B-4A51-8F04-44453B4B54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5314950"/>
            <a:ext cx="325755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088" b="0">
                <a:solidFill>
                  <a:srgbClr val="4E4E53"/>
                </a:solidFill>
                <a:latin typeface="Noto Sans KR"/>
                <a:ea typeface="Noto Sans KR"/>
                <a:cs typeface="Noto Sans KR"/>
              </a:defRPr>
            </a:pPr>
            <a:r>
              <a:rPr sz="1088" b="0">
                <a:solidFill>
                  <a:srgbClr val="4E4E53"/>
                </a:solidFill>
                <a:latin typeface="Noto Sans KR"/>
                <a:ea typeface="Noto Sans KR"/>
                <a:cs typeface="Noto Sans KR"/>
              </a:rPr>
              <a:t>응답 원문·제출 이력·최종 상태를 대사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19DDE55-D3BA-4389-A6F5-4C64AEFD7E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67425"/>
            <a:ext cx="10972800" cy="457200"/>
          </a:xfrm>
          <a:prstGeom xmlns:a="http://schemas.openxmlformats.org/drawingml/2006/main" prst="roundRect">
            <a:avLst>
              <a:gd name="adj" fmla="val 10417"/>
            </a:avLst>
          </a:prstGeom>
          <a:solidFill xmlns:a="http://schemas.openxmlformats.org/drawingml/2006/main">
            <a:srgbClr val="21549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114300" tIns="47625" rIns="114300" bIns="476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127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필드 매핑표는 값의 계약, 상태 정의는 다음 작업을 시작할 조건이 됐습니다.</a:t>
            </a:r>
          </a:p>
        </p:txBody>
      </p:sp>
      <p:sp>
        <p:nvSpPr>
          <p:cNvPr id="30" name="text-29">
            <a:extLst xmlns:a="http://schemas.openxmlformats.org/drawingml/2006/main">
              <a:ext uri="{FF2B5EF4-FFF2-40B4-BE49-F238E27FC236}">
                <a16:creationId xmlns:a16="http://schemas.microsoft.com/office/drawing/2014/main" id="{C5FCEDA5-A962-4398-8D33-5493FDCE3B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81775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013" b="0">
                <a:solidFill>
                  <a:srgbClr val="77777E"/>
                </a:solidFill>
                <a:latin typeface="Noto Sans KR"/>
                <a:ea typeface="Noto Sans KR"/>
                <a:cs typeface="Noto Sans KR"/>
              </a:defRPr>
            </a:pPr>
            <a:r>
              <a:rPr sz="1013" b="0">
                <a:solidFill>
                  <a:srgbClr val="77777E"/>
                </a:solidFill>
                <a:latin typeface="Noto Sans KR"/>
                <a:ea typeface="Noto Sans KR"/>
                <a:cs typeface="Noto Sans KR"/>
              </a:rPr>
              <a:t>정책 기반 시뮬레이션 · 실제 운영 로그를 재현한 화면이 아님</a:t>
            </a:r>
          </a:p>
        </p:txBody>
      </p:sp>
    </p:spTree>
    <p:extLst>
      <p:ext uri="{BB962C8B-B14F-4D97-AF65-F5344CB8AC3E}">
        <p14:creationId xmlns:p14="http://schemas.microsoft.com/office/powerpoint/2010/main" val="958674559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text-0">
            <a:extLst xmlns:a="http://schemas.openxmlformats.org/drawingml/2006/main">
              <a:ext uri="{FF2B5EF4-FFF2-40B4-BE49-F238E27FC236}">
                <a16:creationId xmlns:a16="http://schemas.microsoft.com/office/drawing/2014/main" id="{C855A285-C13F-43E8-8A6D-AABF953B90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87075" y="285750"/>
            <a:ext cx="6953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25000"/>
              </a:lnSpc>
              <a:buNone/>
              <a:defRPr sz="788" b="0">
                <a:solidFill>
                  <a:srgbClr val="92929A"/>
                </a:solidFill>
                <a:latin typeface="Noto Sans KR"/>
                <a:ea typeface="Noto Sans KR"/>
                <a:cs typeface="Noto Sans KR"/>
              </a:defRPr>
            </a:pPr>
            <a:r>
              <a:rPr sz="788" b="0">
                <a:solidFill>
                  <a:srgbClr val="92929A"/>
                </a:solidFill>
                <a:latin typeface="Noto Sans KR"/>
                <a:ea typeface="Noto Sans KR"/>
                <a:cs typeface="Noto Sans KR"/>
              </a:rPr>
              <a:t>10 / 22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21F58F4B-099F-4E0A-B88F-F8D2714511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3905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950" b="1">
                <a:solidFill>
                  <a:srgbClr val="21549B"/>
                </a:solidFill>
                <a:latin typeface="Noto Sans KR"/>
                <a:ea typeface="Noto Sans KR"/>
                <a:cs typeface="Noto Sans KR"/>
              </a:defRPr>
            </a:pPr>
            <a:r>
              <a:rPr sz="1950" b="1">
                <a:solidFill>
                  <a:srgbClr val="21549B"/>
                </a:solidFill>
                <a:latin typeface="Noto Sans KR"/>
                <a:ea typeface="Noto Sans KR"/>
                <a:cs typeface="Noto Sans KR"/>
              </a:rPr>
              <a:t>07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B848E840-91CD-4B0D-9843-9398D520A5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742950"/>
            <a:ext cx="10287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950" b="1">
                <a:solidFill>
                  <a:srgbClr val="1A1A1A"/>
                </a:solidFill>
                <a:latin typeface="Noto Sans KR"/>
                <a:ea typeface="Noto Sans KR"/>
                <a:cs typeface="Noto Sans KR"/>
              </a:defRPr>
            </a:pPr>
            <a:r>
              <a:rPr sz="1950" b="1">
                <a:solidFill>
                  <a:srgbClr val="1A1A1A"/>
                </a:solidFill>
                <a:latin typeface="Noto Sans KR"/>
                <a:ea typeface="Noto Sans KR"/>
                <a:cs typeface="Noto Sans KR"/>
              </a:rPr>
              <a:t>정상 경로와 오류 복구 검증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EF4596F4-B811-4FC8-A18A-0217CF50BA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906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050" b="0">
                <a:solidFill>
                  <a:srgbClr val="77777E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0">
                <a:solidFill>
                  <a:srgbClr val="77777E"/>
                </a:solidFill>
                <a:latin typeface="Noto Sans KR"/>
                <a:ea typeface="Noto Sans KR"/>
                <a:cs typeface="Noto Sans KR"/>
              </a:rPr>
              <a:t>운영 환경에서 정상 접수, 의도 오류 반환, 수정 후 재제출을 함께 확인했습니다.</a:t>
            </a:r>
          </a:p>
        </p:txBody>
      </p:sp>
      <p:sp>
        <p:nvSpPr>
          <p:cNvPr id="5" name="text-4">
            <a:extLst xmlns:a="http://schemas.openxmlformats.org/drawingml/2006/main">
              <a:ext uri="{FF2B5EF4-FFF2-40B4-BE49-F238E27FC236}">
                <a16:creationId xmlns:a16="http://schemas.microsoft.com/office/drawing/2014/main" id="{9D42DF51-42AE-479F-81C0-51A68946C7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95450"/>
            <a:ext cx="67722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350" b="1">
                <a:solidFill>
                  <a:srgbClr val="21549B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1">
                <a:solidFill>
                  <a:srgbClr val="21549B"/>
                </a:solidFill>
                <a:latin typeface="Noto Sans KR"/>
                <a:ea typeface="Noto Sans KR"/>
                <a:cs typeface="Noto Sans KR"/>
              </a:rPr>
              <a:t>운영 환경에서 확인한 세 가지 목적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0099288-EA96-4B67-A063-BE4C0001A3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14550"/>
            <a:ext cx="6981825" cy="800100"/>
          </a:xfrm>
          <a:prstGeom xmlns:a="http://schemas.openxmlformats.org/drawingml/2006/main" prst="roundRect">
            <a:avLst>
              <a:gd name="adj" fmla="val 595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9E0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71B366E-424D-4EBA-898F-E330F56153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2324100"/>
            <a:ext cx="466725" cy="323850"/>
          </a:xfrm>
          <a:prstGeom xmlns:a="http://schemas.openxmlformats.org/drawingml/2006/main" prst="roundRect">
            <a:avLst>
              <a:gd name="adj" fmla="val 14706"/>
            </a:avLst>
          </a:prstGeom>
          <a:solidFill xmlns:a="http://schemas.openxmlformats.org/drawingml/2006/main">
            <a:srgbClr val="21549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114300" tIns="47625" rIns="114300" bIns="476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97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97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01</a:t>
            </a:r>
          </a:p>
        </p:txBody>
      </p:sp>
      <p:sp>
        <p:nvSpPr>
          <p:cNvPr id="8" name="text-7">
            <a:extLst xmlns:a="http://schemas.openxmlformats.org/drawingml/2006/main">
              <a:ext uri="{FF2B5EF4-FFF2-40B4-BE49-F238E27FC236}">
                <a16:creationId xmlns:a16="http://schemas.microsoft.com/office/drawing/2014/main" id="{BB0D4B81-08D0-4BA5-887A-84D1A2BC66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2257425"/>
            <a:ext cx="56388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425" b="1">
                <a:solidFill>
                  <a:srgbClr val="1A1A1A"/>
                </a:solidFill>
                <a:latin typeface="Noto Sans KR"/>
                <a:ea typeface="Noto Sans KR"/>
                <a:cs typeface="Noto Sans KR"/>
              </a:defRPr>
            </a:pPr>
            <a:r>
              <a:rPr sz="1425" b="1">
                <a:solidFill>
                  <a:srgbClr val="1A1A1A"/>
                </a:solidFill>
                <a:latin typeface="Noto Sans KR"/>
                <a:ea typeface="Noto Sans KR"/>
                <a:cs typeface="Noto Sans KR"/>
              </a:rPr>
              <a:t>정상 접수</a:t>
            </a:r>
          </a:p>
        </p:txBody>
      </p:sp>
      <p:sp>
        <p:nvSpPr>
          <p:cNvPr id="9" name="text-8">
            <a:extLst xmlns:a="http://schemas.openxmlformats.org/drawingml/2006/main">
              <a:ext uri="{FF2B5EF4-FFF2-40B4-BE49-F238E27FC236}">
                <a16:creationId xmlns:a16="http://schemas.microsoft.com/office/drawing/2014/main" id="{4402E5D7-C570-4E65-87E7-BD8A5E5C25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2609850"/>
            <a:ext cx="56388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088" b="0">
                <a:solidFill>
                  <a:srgbClr val="77777E"/>
                </a:solidFill>
                <a:latin typeface="Noto Sans KR"/>
                <a:ea typeface="Noto Sans KR"/>
                <a:cs typeface="Noto Sans KR"/>
              </a:defRPr>
            </a:pPr>
            <a:r>
              <a:rPr sz="1088" b="0">
                <a:solidFill>
                  <a:srgbClr val="77777E"/>
                </a:solidFill>
                <a:latin typeface="Noto Sans KR"/>
                <a:ea typeface="Noto Sans KR"/>
                <a:cs typeface="Noto Sans KR"/>
              </a:rPr>
              <a:t>정상 데이터를 제출하고 접수 결과를 확인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1727495-BCF1-4E4B-A4F6-060A4D7B2B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95625"/>
            <a:ext cx="6981825" cy="800100"/>
          </a:xfrm>
          <a:prstGeom xmlns:a="http://schemas.openxmlformats.org/drawingml/2006/main" prst="roundRect">
            <a:avLst>
              <a:gd name="adj" fmla="val 595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9E0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E8F36B4-EAC7-4FC3-8A3E-E581F072ED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3305175"/>
            <a:ext cx="466725" cy="323850"/>
          </a:xfrm>
          <a:prstGeom xmlns:a="http://schemas.openxmlformats.org/drawingml/2006/main" prst="roundRect">
            <a:avLst>
              <a:gd name="adj" fmla="val 14706"/>
            </a:avLst>
          </a:prstGeom>
          <a:solidFill xmlns:a="http://schemas.openxmlformats.org/drawingml/2006/main">
            <a:srgbClr val="21549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114300" tIns="47625" rIns="114300" bIns="476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97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97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02</a:t>
            </a:r>
          </a:p>
        </p:txBody>
      </p:sp>
      <p:sp>
        <p:nvSpPr>
          <p:cNvPr id="12" name="text-11">
            <a:extLst xmlns:a="http://schemas.openxmlformats.org/drawingml/2006/main">
              <a:ext uri="{FF2B5EF4-FFF2-40B4-BE49-F238E27FC236}">
                <a16:creationId xmlns:a16="http://schemas.microsoft.com/office/drawing/2014/main" id="{D9290896-0118-4B74-967B-E555C19036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3238500"/>
            <a:ext cx="56388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425" b="1">
                <a:solidFill>
                  <a:srgbClr val="1A1A1A"/>
                </a:solidFill>
                <a:latin typeface="Noto Sans KR"/>
                <a:ea typeface="Noto Sans KR"/>
                <a:cs typeface="Noto Sans KR"/>
              </a:defRPr>
            </a:pPr>
            <a:r>
              <a:rPr sz="1425" b="1">
                <a:solidFill>
                  <a:srgbClr val="1A1A1A"/>
                </a:solidFill>
                <a:latin typeface="Noto Sans KR"/>
                <a:ea typeface="Noto Sans KR"/>
                <a:cs typeface="Noto Sans KR"/>
              </a:rPr>
              <a:t>의도 오류</a:t>
            </a:r>
          </a:p>
        </p:txBody>
      </p:sp>
      <p:sp>
        <p:nvSpPr>
          <p:cNvPr id="13" name="text-12">
            <a:extLst xmlns:a="http://schemas.openxmlformats.org/drawingml/2006/main">
              <a:ext uri="{FF2B5EF4-FFF2-40B4-BE49-F238E27FC236}">
                <a16:creationId xmlns:a16="http://schemas.microsoft.com/office/drawing/2014/main" id="{110BEC7F-C361-4286-BB6A-667B8A4914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3590925"/>
            <a:ext cx="56388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088" b="0">
                <a:solidFill>
                  <a:srgbClr val="77777E"/>
                </a:solidFill>
                <a:latin typeface="Noto Sans KR"/>
                <a:ea typeface="Noto Sans KR"/>
                <a:cs typeface="Noto Sans KR"/>
              </a:defRPr>
            </a:pPr>
            <a:r>
              <a:rPr sz="1088" b="0">
                <a:solidFill>
                  <a:srgbClr val="77777E"/>
                </a:solidFill>
                <a:latin typeface="Noto Sans KR"/>
                <a:ea typeface="Noto Sans KR"/>
                <a:cs typeface="Noto Sans KR"/>
              </a:rPr>
              <a:t>오류가 있는 입력에 예상한 오류 응답이 오는지 확인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646F39C-8688-45B7-BF57-EDE3F95999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76700"/>
            <a:ext cx="6981825" cy="800100"/>
          </a:xfrm>
          <a:prstGeom xmlns:a="http://schemas.openxmlformats.org/drawingml/2006/main" prst="roundRect">
            <a:avLst>
              <a:gd name="adj" fmla="val 595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9E0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A2BBBB9-1D31-4E60-8404-6970925B20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4286250"/>
            <a:ext cx="466725" cy="323850"/>
          </a:xfrm>
          <a:prstGeom xmlns:a="http://schemas.openxmlformats.org/drawingml/2006/main" prst="roundRect">
            <a:avLst>
              <a:gd name="adj" fmla="val 14706"/>
            </a:avLst>
          </a:prstGeom>
          <a:solidFill xmlns:a="http://schemas.openxmlformats.org/drawingml/2006/main">
            <a:srgbClr val="21549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114300" tIns="47625" rIns="114300" bIns="476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97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97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03</a:t>
            </a:r>
          </a:p>
        </p:txBody>
      </p:sp>
      <p:sp>
        <p:nvSpPr>
          <p:cNvPr id="16" name="text-15">
            <a:extLst xmlns:a="http://schemas.openxmlformats.org/drawingml/2006/main">
              <a:ext uri="{FF2B5EF4-FFF2-40B4-BE49-F238E27FC236}">
                <a16:creationId xmlns:a16="http://schemas.microsoft.com/office/drawing/2014/main" id="{4E711462-A6B4-49FE-B953-A26E182B5C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4219575"/>
            <a:ext cx="56388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425" b="1">
                <a:solidFill>
                  <a:srgbClr val="1A1A1A"/>
                </a:solidFill>
                <a:latin typeface="Noto Sans KR"/>
                <a:ea typeface="Noto Sans KR"/>
                <a:cs typeface="Noto Sans KR"/>
              </a:defRPr>
            </a:pPr>
            <a:r>
              <a:rPr sz="1425" b="1">
                <a:solidFill>
                  <a:srgbClr val="1A1A1A"/>
                </a:solidFill>
                <a:latin typeface="Noto Sans KR"/>
                <a:ea typeface="Noto Sans KR"/>
                <a:cs typeface="Noto Sans KR"/>
              </a:rPr>
              <a:t>수정 재제출</a:t>
            </a:r>
          </a:p>
        </p:txBody>
      </p:sp>
      <p:sp>
        <p:nvSpPr>
          <p:cNvPr id="17" name="text-16">
            <a:extLst xmlns:a="http://schemas.openxmlformats.org/drawingml/2006/main">
              <a:ext uri="{FF2B5EF4-FFF2-40B4-BE49-F238E27FC236}">
                <a16:creationId xmlns:a16="http://schemas.microsoft.com/office/drawing/2014/main" id="{B9552002-8493-47D2-A245-0C99504A9B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4572000"/>
            <a:ext cx="56388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088" b="0">
                <a:solidFill>
                  <a:srgbClr val="77777E"/>
                </a:solidFill>
                <a:latin typeface="Noto Sans KR"/>
                <a:ea typeface="Noto Sans KR"/>
                <a:cs typeface="Noto Sans KR"/>
              </a:defRPr>
            </a:pPr>
            <a:r>
              <a:rPr sz="1088" b="0">
                <a:solidFill>
                  <a:srgbClr val="77777E"/>
                </a:solidFill>
                <a:latin typeface="Noto Sans KR"/>
                <a:ea typeface="Noto Sans KR"/>
                <a:cs typeface="Noto Sans KR"/>
              </a:rPr>
              <a:t>원천 데이터를 보완한 뒤 정상 접수로 전환되는지 확인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4FEE5A7-F45B-4FD0-B577-B55C0493ED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72425" y="2114550"/>
            <a:ext cx="3609975" cy="2762250"/>
          </a:xfrm>
          <a:prstGeom xmlns:a="http://schemas.openxmlformats.org/drawingml/2006/main" prst="roundRect">
            <a:avLst>
              <a:gd name="adj" fmla="val 2414"/>
            </a:avLst>
          </a:prstGeom>
          <a:solidFill xmlns:a="http://schemas.openxmlformats.org/drawingml/2006/main">
            <a:srgbClr val="E9F1FC"/>
          </a:solidFill>
          <a:ln xmlns:a="http://schemas.openxmlformats.org/drawingml/2006/main" w="0">
            <a:noFill/>
          </a:ln>
        </p:spPr>
      </p:sp>
      <p:sp>
        <p:nvSpPr>
          <p:cNvPr id="19" name="text-18">
            <a:extLst xmlns:a="http://schemas.openxmlformats.org/drawingml/2006/main">
              <a:ext uri="{FF2B5EF4-FFF2-40B4-BE49-F238E27FC236}">
                <a16:creationId xmlns:a16="http://schemas.microsoft.com/office/drawing/2014/main" id="{35BAF33A-8540-4417-B166-C8FF343D86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62925" y="2381250"/>
            <a:ext cx="322897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5000"/>
              </a:lnSpc>
              <a:buNone/>
              <a:defRPr sz="4275" b="1">
                <a:solidFill>
                  <a:srgbClr val="21549B"/>
                </a:solidFill>
                <a:latin typeface="Noto Sans KR"/>
                <a:ea typeface="Noto Sans KR"/>
                <a:cs typeface="Noto Sans KR"/>
              </a:defRPr>
            </a:pPr>
            <a:r>
              <a:rPr sz="4275" b="1">
                <a:solidFill>
                  <a:srgbClr val="21549B"/>
                </a:solidFill>
                <a:latin typeface="Noto Sans KR"/>
                <a:ea typeface="Noto Sans KR"/>
                <a:cs typeface="Noto Sans KR"/>
              </a:rPr>
              <a:t>30건</a:t>
            </a:r>
          </a:p>
        </p:txBody>
      </p:sp>
      <p:sp>
        <p:nvSpPr>
          <p:cNvPr id="20" name="text-19">
            <a:extLst xmlns:a="http://schemas.openxmlformats.org/drawingml/2006/main">
              <a:ext uri="{FF2B5EF4-FFF2-40B4-BE49-F238E27FC236}">
                <a16:creationId xmlns:a16="http://schemas.microsoft.com/office/drawing/2014/main" id="{22224C62-B8AA-4AFA-968A-F0C1FEB493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62925" y="3295650"/>
            <a:ext cx="322897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5000"/>
              </a:lnSpc>
              <a:buNone/>
              <a:defRPr sz="1575" b="1">
                <a:solidFill>
                  <a:srgbClr val="21549B"/>
                </a:solidFill>
                <a:latin typeface="Noto Sans KR"/>
                <a:ea typeface="Noto Sans KR"/>
                <a:cs typeface="Noto Sans KR"/>
              </a:defRPr>
            </a:pPr>
            <a:r>
              <a:rPr sz="1575" b="1">
                <a:solidFill>
                  <a:srgbClr val="21549B"/>
                </a:solidFill>
                <a:latin typeface="Noto Sans KR"/>
                <a:ea typeface="Noto Sans KR"/>
                <a:cs typeface="Noto Sans KR"/>
              </a:rPr>
              <a:t>테스트 목적 30/30 통과</a:t>
            </a:r>
          </a:p>
        </p:txBody>
      </p:sp>
      <p:sp>
        <p:nvSpPr>
          <p:cNvPr id="21" name="text-20">
            <a:extLst xmlns:a="http://schemas.openxmlformats.org/drawingml/2006/main">
              <a:ext uri="{FF2B5EF4-FFF2-40B4-BE49-F238E27FC236}">
                <a16:creationId xmlns:a16="http://schemas.microsoft.com/office/drawing/2014/main" id="{C9F59BAC-F19C-4411-A632-C8B2C0F7CE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01025" y="3905250"/>
            <a:ext cx="315277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5000"/>
              </a:lnSpc>
              <a:buNone/>
              <a:defRPr sz="1088" b="0">
                <a:solidFill>
                  <a:srgbClr val="4E4E53"/>
                </a:solidFill>
                <a:latin typeface="Noto Sans KR"/>
                <a:ea typeface="Noto Sans KR"/>
                <a:cs typeface="Noto Sans KR"/>
              </a:defRPr>
            </a:pPr>
            <a:r>
              <a:rPr sz="1088" b="0">
                <a:solidFill>
                  <a:srgbClr val="4E4E53"/>
                </a:solidFill>
                <a:latin typeface="Noto Sans KR"/>
                <a:ea typeface="Noto Sans KR"/>
                <a:cs typeface="Noto Sans KR"/>
              </a:rPr>
              <a:t>정상 접수와 오류 반환·수정 복구를</a:t>
            </a:r>
          </a:p>
          <a:p xmlns:a="http://schemas.openxmlformats.org/drawingml/2006/main">
            <a:pPr algn="ctr">
              <a:lnSpc>
                <a:spcPct val="125000"/>
              </a:lnSpc>
              <a:buNone/>
              <a:defRPr sz="1088" b="0">
                <a:solidFill>
                  <a:srgbClr val="4E4E53"/>
                </a:solidFill>
                <a:latin typeface="Noto Sans KR"/>
                <a:ea typeface="Noto Sans KR"/>
                <a:cs typeface="Noto Sans KR"/>
              </a:defRPr>
            </a:pPr>
            <a:r>
              <a:rPr sz="1088" b="0">
                <a:solidFill>
                  <a:srgbClr val="4E4E53"/>
                </a:solidFill>
                <a:latin typeface="Noto Sans KR"/>
                <a:ea typeface="Noto Sans KR"/>
                <a:cs typeface="Noto Sans KR"/>
              </a:rPr>
              <a:t>함께 포함한 검증 결과</a:t>
            </a:r>
          </a:p>
        </p:txBody>
      </p:sp>
      <p:sp>
        <p:nvSpPr>
          <p:cNvPr id="22" name="text-21">
            <a:extLst xmlns:a="http://schemas.openxmlformats.org/drawingml/2006/main">
              <a:ext uri="{FF2B5EF4-FFF2-40B4-BE49-F238E27FC236}">
                <a16:creationId xmlns:a16="http://schemas.microsoft.com/office/drawing/2014/main" id="{D335A008-A022-41F9-8BB0-029A42F6F5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72100"/>
            <a:ext cx="1047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350" b="1">
                <a:solidFill>
                  <a:srgbClr val="21549B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1">
                <a:solidFill>
                  <a:srgbClr val="21549B"/>
                </a:solidFill>
                <a:latin typeface="Noto Sans KR"/>
                <a:ea typeface="Noto Sans KR"/>
                <a:cs typeface="Noto Sans KR"/>
              </a:rPr>
              <a:t>검증의 범위</a:t>
            </a:r>
          </a:p>
        </p:txBody>
      </p:sp>
      <p:sp>
        <p:nvSpPr>
          <p:cNvPr id="23" name="text-22">
            <a:extLst xmlns:a="http://schemas.openxmlformats.org/drawingml/2006/main">
              <a:ext uri="{FF2B5EF4-FFF2-40B4-BE49-F238E27FC236}">
                <a16:creationId xmlns:a16="http://schemas.microsoft.com/office/drawing/2014/main" id="{3042A916-0E73-4F1C-8CB8-3714C74FBE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62625"/>
            <a:ext cx="1062990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200" b="0">
                <a:solidFill>
                  <a:srgbClr val="4E4E53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0">
                <a:solidFill>
                  <a:srgbClr val="4E4E53"/>
                </a:solidFill>
                <a:latin typeface="Noto Sans KR"/>
                <a:ea typeface="Noto Sans KR"/>
                <a:cs typeface="Noto Sans KR"/>
              </a:rPr>
              <a:t>정상 접수·오류 반환·수정 복구를 포함한 30건의 검증입니다.</a:t>
            </a:r>
          </a:p>
          <a:p xmlns:a="http://schemas.openxmlformats.org/drawingml/2006/main">
            <a:pPr algn="l">
              <a:lnSpc>
                <a:spcPct val="125000"/>
              </a:lnSpc>
              <a:buNone/>
              <a:defRPr sz="1200" b="0">
                <a:solidFill>
                  <a:srgbClr val="4E4E53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0">
                <a:solidFill>
                  <a:srgbClr val="4E4E53"/>
                </a:solidFill>
                <a:latin typeface="Noto Sans KR"/>
                <a:ea typeface="Noto Sans KR"/>
                <a:cs typeface="Noto Sans KR"/>
              </a:rPr>
              <a:t>운영 전체의 자동 처리율과는 별개이며, 시나리오별 개별 건수는 미확인입니다.</a:t>
            </a:r>
          </a:p>
        </p:txBody>
      </p:sp>
    </p:spTree>
    <p:extLst>
      <p:ext uri="{BB962C8B-B14F-4D97-AF65-F5344CB8AC3E}">
        <p14:creationId xmlns:p14="http://schemas.microsoft.com/office/powerpoint/2010/main" val="737389850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text-0">
            <a:extLst xmlns:a="http://schemas.openxmlformats.org/drawingml/2006/main">
              <a:ext uri="{FF2B5EF4-FFF2-40B4-BE49-F238E27FC236}">
                <a16:creationId xmlns:a16="http://schemas.microsoft.com/office/drawing/2014/main" id="{35FE3857-4F8B-4C52-9B19-D5427E8B61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87075" y="285750"/>
            <a:ext cx="6953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25000"/>
              </a:lnSpc>
              <a:buNone/>
              <a:defRPr sz="788" b="0">
                <a:solidFill>
                  <a:srgbClr val="92929A"/>
                </a:solidFill>
                <a:latin typeface="Noto Sans KR"/>
                <a:ea typeface="Noto Sans KR"/>
                <a:cs typeface="Noto Sans KR"/>
              </a:defRPr>
            </a:pPr>
            <a:r>
              <a:rPr sz="788" b="0">
                <a:solidFill>
                  <a:srgbClr val="92929A"/>
                </a:solidFill>
                <a:latin typeface="Noto Sans KR"/>
                <a:ea typeface="Noto Sans KR"/>
                <a:cs typeface="Noto Sans KR"/>
              </a:rPr>
              <a:t>11 / 22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EF9DD813-20FC-43BC-94C0-D5C1873C35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3905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950" b="1">
                <a:solidFill>
                  <a:srgbClr val="21549B"/>
                </a:solidFill>
                <a:latin typeface="Noto Sans KR"/>
                <a:ea typeface="Noto Sans KR"/>
                <a:cs typeface="Noto Sans KR"/>
              </a:defRPr>
            </a:pPr>
            <a:r>
              <a:rPr sz="1950" b="1">
                <a:solidFill>
                  <a:srgbClr val="21549B"/>
                </a:solidFill>
                <a:latin typeface="Noto Sans KR"/>
                <a:ea typeface="Noto Sans KR"/>
                <a:cs typeface="Noto Sans KR"/>
              </a:rPr>
              <a:t>08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AF2B4411-606C-4C24-977B-86B7092B9B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742950"/>
            <a:ext cx="10287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950" b="1">
                <a:solidFill>
                  <a:srgbClr val="1A1A1A"/>
                </a:solidFill>
                <a:latin typeface="Noto Sans KR"/>
                <a:ea typeface="Noto Sans KR"/>
                <a:cs typeface="Noto Sans KR"/>
              </a:defRPr>
            </a:pPr>
            <a:r>
              <a:rPr sz="1950" b="1">
                <a:solidFill>
                  <a:srgbClr val="1A1A1A"/>
                </a:solidFill>
                <a:latin typeface="Noto Sans KR"/>
                <a:ea typeface="Noto Sans KR"/>
                <a:cs typeface="Noto Sans KR"/>
              </a:rPr>
              <a:t>운영 결과와 후속 과제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FA85EB13-1161-4142-A7F4-2C6A6522DF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906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050" b="0">
                <a:solidFill>
                  <a:srgbClr val="77777E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0">
                <a:solidFill>
                  <a:srgbClr val="77777E"/>
                </a:solidFill>
                <a:latin typeface="Noto Sans KR"/>
                <a:ea typeface="Noto Sans KR"/>
                <a:cs typeface="Noto Sans KR"/>
              </a:rPr>
              <a:t>신규 연동과 기존 방식을 병행해 집계 대상 주문의 통관 완료를 확인했습니다.</a:t>
            </a:r>
          </a:p>
        </p:txBody>
      </p:sp>
      <p:sp>
        <p:nvSpPr>
          <p:cNvPr id="5" name="text-4">
            <a:extLst xmlns:a="http://schemas.openxmlformats.org/drawingml/2006/main">
              <a:ext uri="{FF2B5EF4-FFF2-40B4-BE49-F238E27FC236}">
                <a16:creationId xmlns:a16="http://schemas.microsoft.com/office/drawing/2014/main" id="{9E205990-985F-4C6C-B157-60292E3CCD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95475"/>
            <a:ext cx="36766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425" b="0">
                <a:solidFill>
                  <a:srgbClr val="77777E"/>
                </a:solidFill>
                <a:latin typeface="Noto Sans KR"/>
                <a:ea typeface="Noto Sans KR"/>
                <a:cs typeface="Noto Sans KR"/>
              </a:defRPr>
            </a:pPr>
            <a:r>
              <a:rPr sz="1425" b="0">
                <a:solidFill>
                  <a:srgbClr val="77777E"/>
                </a:solidFill>
                <a:latin typeface="Noto Sans KR"/>
                <a:ea typeface="Noto Sans KR"/>
                <a:cs typeface="Noto Sans KR"/>
              </a:rPr>
              <a:t>일평균 약</a:t>
            </a:r>
          </a:p>
        </p:txBody>
      </p:sp>
      <p:sp>
        <p:nvSpPr>
          <p:cNvPr id="6" name="text-5">
            <a:extLst xmlns:a="http://schemas.openxmlformats.org/drawingml/2006/main">
              <a:ext uri="{FF2B5EF4-FFF2-40B4-BE49-F238E27FC236}">
                <a16:creationId xmlns:a16="http://schemas.microsoft.com/office/drawing/2014/main" id="{DDF62900-1A4C-45EB-917B-0DDE9F01A3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14575"/>
            <a:ext cx="46291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4950" b="1">
                <a:solidFill>
                  <a:srgbClr val="21549B"/>
                </a:solidFill>
                <a:latin typeface="Noto Sans KR"/>
                <a:ea typeface="Noto Sans KR"/>
                <a:cs typeface="Noto Sans KR"/>
              </a:defRPr>
            </a:pPr>
            <a:r>
              <a:rPr sz="4950" b="1">
                <a:solidFill>
                  <a:srgbClr val="21549B"/>
                </a:solidFill>
                <a:latin typeface="Noto Sans KR"/>
                <a:ea typeface="Noto Sans KR"/>
                <a:cs typeface="Noto Sans KR"/>
              </a:rPr>
              <a:t>300건</a:t>
            </a:r>
          </a:p>
        </p:txBody>
      </p:sp>
      <p:sp>
        <p:nvSpPr>
          <p:cNvPr id="7" name="text-6">
            <a:extLst xmlns:a="http://schemas.openxmlformats.org/drawingml/2006/main">
              <a:ext uri="{FF2B5EF4-FFF2-40B4-BE49-F238E27FC236}">
                <a16:creationId xmlns:a16="http://schemas.microsoft.com/office/drawing/2014/main" id="{65F168B6-DE29-4990-BF9E-4B43449970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81375"/>
            <a:ext cx="4943475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500" b="1">
                <a:solidFill>
                  <a:srgbClr val="1A1A1A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1">
                <a:solidFill>
                  <a:srgbClr val="1A1A1A"/>
                </a:solidFill>
                <a:latin typeface="Noto Sans KR"/>
                <a:ea typeface="Noto Sans KR"/>
                <a:cs typeface="Noto Sans KR"/>
              </a:rPr>
              <a:t>자사몰 약 230건 / 기타 약 70건</a:t>
            </a:r>
          </a:p>
        </p:txBody>
      </p:sp>
      <p:sp>
        <p:nvSpPr>
          <p:cNvPr id="8" name="text-7">
            <a:extLst xmlns:a="http://schemas.openxmlformats.org/drawingml/2006/main">
              <a:ext uri="{FF2B5EF4-FFF2-40B4-BE49-F238E27FC236}">
                <a16:creationId xmlns:a16="http://schemas.microsoft.com/office/drawing/2014/main" id="{FC2B5301-C2C5-4A7D-83F9-3517385773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52875"/>
            <a:ext cx="503872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200" b="0">
                <a:solidFill>
                  <a:srgbClr val="4E4E53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0">
                <a:solidFill>
                  <a:srgbClr val="4E4E53"/>
                </a:solidFill>
                <a:latin typeface="Noto Sans KR"/>
                <a:ea typeface="Noto Sans KR"/>
                <a:cs typeface="Noto Sans KR"/>
              </a:rPr>
              <a:t>집계기간 2026-08-28 ~ 2026-09-15</a:t>
            </a:r>
          </a:p>
          <a:p xmlns:a="http://schemas.openxmlformats.org/drawingml/2006/main">
            <a:pPr algn="l">
              <a:lnSpc>
                <a:spcPct val="125000"/>
              </a:lnSpc>
              <a:buNone/>
              <a:defRPr sz="1200" b="0">
                <a:solidFill>
                  <a:srgbClr val="4E4E53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0">
                <a:solidFill>
                  <a:srgbClr val="4E4E53"/>
                </a:solidFill>
                <a:latin typeface="Noto Sans KR"/>
                <a:ea typeface="Noto Sans KR"/>
                <a:cs typeface="Noto Sans KR"/>
              </a:rPr>
              <a:t>집계 대상 주문 전체 통관 완료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8CB7566-55E4-4E27-BEEF-30ACF24F53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1725" y="1819275"/>
            <a:ext cx="5400675" cy="2905125"/>
          </a:xfrm>
          <a:prstGeom xmlns:a="http://schemas.openxmlformats.org/drawingml/2006/main" prst="roundRect">
            <a:avLst>
              <a:gd name="adj" fmla="val 2295"/>
            </a:avLst>
          </a:prstGeom>
          <a:solidFill xmlns:a="http://schemas.openxmlformats.org/drawingml/2006/main">
            <a:srgbClr val="F4F4F6"/>
          </a:solidFill>
          <a:ln xmlns:a="http://schemas.openxmlformats.org/drawingml/2006/main" w="0">
            <a:noFill/>
          </a:ln>
        </p:spPr>
      </p:sp>
      <p:sp>
        <p:nvSpPr>
          <p:cNvPr id="10" name="text-9">
            <a:extLst xmlns:a="http://schemas.openxmlformats.org/drawingml/2006/main">
              <a:ext uri="{FF2B5EF4-FFF2-40B4-BE49-F238E27FC236}">
                <a16:creationId xmlns:a16="http://schemas.microsoft.com/office/drawing/2014/main" id="{7C1CE039-85A6-43A1-A195-A88D3A668C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047875"/>
            <a:ext cx="48958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350" b="1">
                <a:solidFill>
                  <a:srgbClr val="21549B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1">
                <a:solidFill>
                  <a:srgbClr val="21549B"/>
                </a:solidFill>
                <a:latin typeface="Noto Sans KR"/>
                <a:ea typeface="Noto Sans KR"/>
                <a:cs typeface="Noto Sans KR"/>
              </a:rPr>
              <a:t>결과를 해석한 범위</a:t>
            </a:r>
          </a:p>
        </p:txBody>
      </p:sp>
      <p:sp>
        <p:nvSpPr>
          <p:cNvPr id="11" name="text-10">
            <a:extLst xmlns:a="http://schemas.openxmlformats.org/drawingml/2006/main">
              <a:ext uri="{FF2B5EF4-FFF2-40B4-BE49-F238E27FC236}">
                <a16:creationId xmlns:a16="http://schemas.microsoft.com/office/drawing/2014/main" id="{1A00812F-D995-4B17-8DAB-B740375151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486025"/>
            <a:ext cx="485775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275" b="0">
                <a:solidFill>
                  <a:srgbClr val="4E4E53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0">
                <a:solidFill>
                  <a:srgbClr val="4E4E53"/>
                </a:solidFill>
                <a:latin typeface="Noto Sans KR"/>
                <a:ea typeface="Noto Sans KR"/>
                <a:cs typeface="Noto Sans KR"/>
              </a:rPr>
              <a:t>신규 신고 경로와 기존 방식이 함께 쓰인 운영 결과입니다.</a:t>
            </a:r>
          </a:p>
          <a:p xmlns:a="http://schemas.openxmlformats.org/drawingml/2006/main">
            <a:pPr algn="l">
              <a:lnSpc>
                <a:spcPct val="125000"/>
              </a:lnSpc>
              <a:buNone/>
              <a:defRPr sz="1275" b="0">
                <a:solidFill>
                  <a:srgbClr val="4E4E53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0">
                <a:solidFill>
                  <a:srgbClr val="4E4E53"/>
                </a:solidFill>
                <a:latin typeface="Noto Sans KR"/>
                <a:ea typeface="Noto Sans KR"/>
                <a:cs typeface="Noto Sans KR"/>
              </a:rPr>
              <a:t>자동 처리율·신규 경로 비중·처리 시간은 별도 계측하지 않았습니다.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553C359-5177-4D85-BFAF-125E70AE38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3505200"/>
            <a:ext cx="4857750" cy="0"/>
          </a:xfrm>
          <a:prstGeom xmlns:a="http://schemas.openxmlformats.org/drawingml/2006/main" prst="line">
            <a:avLst/>
          </a:prstGeom>
          <a:ln xmlns:a="http://schemas.openxmlformats.org/drawingml/2006/main" w="7620">
            <a:solidFill>
              <a:srgbClr val="D9D9E0"/>
            </a:solidFill>
          </a:ln>
        </p:spPr>
      </p:sp>
      <p:sp>
        <p:nvSpPr>
          <p:cNvPr id="13" name="text-12">
            <a:extLst xmlns:a="http://schemas.openxmlformats.org/drawingml/2006/main">
              <a:ext uri="{FF2B5EF4-FFF2-40B4-BE49-F238E27FC236}">
                <a16:creationId xmlns:a16="http://schemas.microsoft.com/office/drawing/2014/main" id="{406D6E7B-A2DC-4651-B7B3-B874D6CED6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3800475"/>
            <a:ext cx="4857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350" b="1">
                <a:solidFill>
                  <a:srgbClr val="21549B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1">
                <a:solidFill>
                  <a:srgbClr val="21549B"/>
                </a:solidFill>
                <a:latin typeface="Noto Sans KR"/>
                <a:ea typeface="Noto Sans KR"/>
                <a:cs typeface="Noto Sans KR"/>
              </a:rPr>
              <a:t>운영에서 남은 수기 보완을 다음 개선 과제로 연결</a:t>
            </a:r>
          </a:p>
        </p:txBody>
      </p:sp>
      <p:sp>
        <p:nvSpPr>
          <p:cNvPr id="14" name="text-13">
            <a:extLst xmlns:a="http://schemas.openxmlformats.org/drawingml/2006/main">
              <a:ext uri="{FF2B5EF4-FFF2-40B4-BE49-F238E27FC236}">
                <a16:creationId xmlns:a16="http://schemas.microsoft.com/office/drawing/2014/main" id="{4C1CEDD6-AF6F-490E-9D71-F7CA7E2913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24450"/>
            <a:ext cx="84486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350" b="1">
                <a:solidFill>
                  <a:srgbClr val="21549B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1">
                <a:solidFill>
                  <a:srgbClr val="21549B"/>
                </a:solidFill>
                <a:latin typeface="Noto Sans KR"/>
                <a:ea typeface="Noto Sans KR"/>
                <a:cs typeface="Noto Sans KR"/>
              </a:rPr>
              <a:t>후속 기획: 고객 통관정보 보완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62AA5AF-8BEC-4DDD-8649-B00F29FE0E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5105400"/>
            <a:ext cx="1771650" cy="28575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E9F1FC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114300" tIns="47625" rIns="114300" bIns="476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900" b="1">
                <a:solidFill>
                  <a:srgbClr val="21549B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1">
                <a:solidFill>
                  <a:srgbClr val="21549B"/>
                </a:solidFill>
                <a:latin typeface="Noto Sans KR"/>
                <a:ea typeface="Noto Sans KR"/>
                <a:cs typeface="Noto Sans KR"/>
              </a:rPr>
              <a:t>기획 중 · 미배포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373213F-4343-4D42-8414-82E3146514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81650"/>
            <a:ext cx="2628900" cy="704850"/>
          </a:xfrm>
          <a:prstGeom xmlns:a="http://schemas.openxmlformats.org/drawingml/2006/main" prst="roundRect">
            <a:avLst>
              <a:gd name="adj" fmla="val 675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9E0"/>
            </a:solidFill>
          </a:ln>
        </p:spPr>
      </p:sp>
      <p:sp>
        <p:nvSpPr>
          <p:cNvPr id="17" name="text-16">
            <a:extLst xmlns:a="http://schemas.openxmlformats.org/drawingml/2006/main">
              <a:ext uri="{FF2B5EF4-FFF2-40B4-BE49-F238E27FC236}">
                <a16:creationId xmlns:a16="http://schemas.microsoft.com/office/drawing/2014/main" id="{92A6184A-7738-41D0-AA0E-633BC22246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695950"/>
            <a:ext cx="23622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200" b="1">
                <a:solidFill>
                  <a:srgbClr val="1A1A1A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1">
                <a:solidFill>
                  <a:srgbClr val="1A1A1A"/>
                </a:solidFill>
                <a:latin typeface="Noto Sans KR"/>
                <a:ea typeface="Noto Sans KR"/>
                <a:cs typeface="Noto Sans KR"/>
              </a:rPr>
              <a:t>고객 연락</a:t>
            </a:r>
          </a:p>
        </p:txBody>
      </p:sp>
      <p:sp>
        <p:nvSpPr>
          <p:cNvPr id="18" name="text-17">
            <a:extLst xmlns:a="http://schemas.openxmlformats.org/drawingml/2006/main">
              <a:ext uri="{FF2B5EF4-FFF2-40B4-BE49-F238E27FC236}">
                <a16:creationId xmlns:a16="http://schemas.microsoft.com/office/drawing/2014/main" id="{F0AD28AA-BDB4-4A5D-B3FC-8DA531BD8A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962650"/>
            <a:ext cx="23622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938" b="0">
                <a:solidFill>
                  <a:srgbClr val="77777E"/>
                </a:solidFill>
                <a:latin typeface="Noto Sans KR"/>
                <a:ea typeface="Noto Sans KR"/>
                <a:cs typeface="Noto Sans KR"/>
              </a:defRPr>
            </a:pPr>
            <a:r>
              <a:rPr sz="938" b="0">
                <a:solidFill>
                  <a:srgbClr val="77777E"/>
                </a:solidFill>
                <a:latin typeface="Noto Sans KR"/>
                <a:ea typeface="Noto Sans KR"/>
                <a:cs typeface="Noto Sans KR"/>
              </a:rPr>
              <a:t>정보 보완 필요 안내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F0CC8E1-5D67-4516-909F-2B18F84358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5581650"/>
            <a:ext cx="2628900" cy="704850"/>
          </a:xfrm>
          <a:prstGeom xmlns:a="http://schemas.openxmlformats.org/drawingml/2006/main" prst="roundRect">
            <a:avLst>
              <a:gd name="adj" fmla="val 675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9E0"/>
            </a:solidFill>
          </a:ln>
        </p:spPr>
      </p:sp>
      <p:sp>
        <p:nvSpPr>
          <p:cNvPr id="20" name="text-19">
            <a:extLst xmlns:a="http://schemas.openxmlformats.org/drawingml/2006/main">
              <a:ext uri="{FF2B5EF4-FFF2-40B4-BE49-F238E27FC236}">
                <a16:creationId xmlns:a16="http://schemas.microsoft.com/office/drawing/2014/main" id="{CE152347-3897-4185-9B8B-B09194E923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5695950"/>
            <a:ext cx="23622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200" b="1">
                <a:solidFill>
                  <a:srgbClr val="1A1A1A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1">
                <a:solidFill>
                  <a:srgbClr val="1A1A1A"/>
                </a:solidFill>
                <a:latin typeface="Noto Sans KR"/>
                <a:ea typeface="Noto Sans KR"/>
                <a:cs typeface="Noto Sans KR"/>
              </a:rPr>
              <a:t>주문 확인</a:t>
            </a:r>
          </a:p>
        </p:txBody>
      </p:sp>
      <p:sp>
        <p:nvSpPr>
          <p:cNvPr id="21" name="text-20">
            <a:extLst xmlns:a="http://schemas.openxmlformats.org/drawingml/2006/main">
              <a:ext uri="{FF2B5EF4-FFF2-40B4-BE49-F238E27FC236}">
                <a16:creationId xmlns:a16="http://schemas.microsoft.com/office/drawing/2014/main" id="{3A30F577-16D1-4399-8989-89F7A1FEC7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5962650"/>
            <a:ext cx="23622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938" b="0">
                <a:solidFill>
                  <a:srgbClr val="77777E"/>
                </a:solidFill>
                <a:latin typeface="Noto Sans KR"/>
                <a:ea typeface="Noto Sans KR"/>
                <a:cs typeface="Noto Sans KR"/>
              </a:defRPr>
            </a:pPr>
            <a:r>
              <a:rPr sz="938" b="0">
                <a:solidFill>
                  <a:srgbClr val="77777E"/>
                </a:solidFill>
                <a:latin typeface="Noto Sans KR"/>
                <a:ea typeface="Noto Sans KR"/>
                <a:cs typeface="Noto Sans KR"/>
              </a:rPr>
              <a:t>대상 주문과 고객 확인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2BDD22B-4149-4D8A-AB0D-21F3385E63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5581650"/>
            <a:ext cx="2628900" cy="704850"/>
          </a:xfrm>
          <a:prstGeom xmlns:a="http://schemas.openxmlformats.org/drawingml/2006/main" prst="roundRect">
            <a:avLst>
              <a:gd name="adj" fmla="val 675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9E0"/>
            </a:solidFill>
          </a:ln>
        </p:spPr>
      </p:sp>
      <p:sp>
        <p:nvSpPr>
          <p:cNvPr id="23" name="text-22">
            <a:extLst xmlns:a="http://schemas.openxmlformats.org/drawingml/2006/main">
              <a:ext uri="{FF2B5EF4-FFF2-40B4-BE49-F238E27FC236}">
                <a16:creationId xmlns:a16="http://schemas.microsoft.com/office/drawing/2014/main" id="{38D05BB9-D43F-45F9-83CD-8084AA197E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5695950"/>
            <a:ext cx="23622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200" b="1">
                <a:solidFill>
                  <a:srgbClr val="1A1A1A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1">
                <a:solidFill>
                  <a:srgbClr val="1A1A1A"/>
                </a:solidFill>
                <a:latin typeface="Noto Sans KR"/>
                <a:ea typeface="Noto Sans KR"/>
                <a:cs typeface="Noto Sans KR"/>
              </a:rPr>
              <a:t>정보 보완</a:t>
            </a:r>
          </a:p>
        </p:txBody>
      </p:sp>
      <p:sp>
        <p:nvSpPr>
          <p:cNvPr id="24" name="text-23">
            <a:extLst xmlns:a="http://schemas.openxmlformats.org/drawingml/2006/main">
              <a:ext uri="{FF2B5EF4-FFF2-40B4-BE49-F238E27FC236}">
                <a16:creationId xmlns:a16="http://schemas.microsoft.com/office/drawing/2014/main" id="{FB093B5B-AF8A-4975-9A6F-98959DA897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5962650"/>
            <a:ext cx="23622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938" b="0">
                <a:solidFill>
                  <a:srgbClr val="77777E"/>
                </a:solidFill>
                <a:latin typeface="Noto Sans KR"/>
                <a:ea typeface="Noto Sans KR"/>
                <a:cs typeface="Noto Sans KR"/>
              </a:defRPr>
            </a:pPr>
            <a:r>
              <a:rPr sz="938" b="0">
                <a:solidFill>
                  <a:srgbClr val="77777E"/>
                </a:solidFill>
                <a:latin typeface="Noto Sans KR"/>
                <a:ea typeface="Noto Sans KR"/>
                <a:cs typeface="Noto Sans KR"/>
              </a:rPr>
              <a:t>누락된 통관정보 수집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D3FA771-275B-4CDA-8FF2-78C7A178E9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5581650"/>
            <a:ext cx="2628900" cy="704850"/>
          </a:xfrm>
          <a:prstGeom xmlns:a="http://schemas.openxmlformats.org/drawingml/2006/main" prst="roundRect">
            <a:avLst>
              <a:gd name="adj" fmla="val 675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9E0"/>
            </a:solidFill>
          </a:ln>
        </p:spPr>
      </p:sp>
      <p:sp>
        <p:nvSpPr>
          <p:cNvPr id="26" name="text-25">
            <a:extLst xmlns:a="http://schemas.openxmlformats.org/drawingml/2006/main">
              <a:ext uri="{FF2B5EF4-FFF2-40B4-BE49-F238E27FC236}">
                <a16:creationId xmlns:a16="http://schemas.microsoft.com/office/drawing/2014/main" id="{9A1C501C-6828-4460-9C2D-975AD0C9E0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5695950"/>
            <a:ext cx="23622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200" b="1">
                <a:solidFill>
                  <a:srgbClr val="1A1A1A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1">
                <a:solidFill>
                  <a:srgbClr val="1A1A1A"/>
                </a:solidFill>
                <a:latin typeface="Noto Sans KR"/>
                <a:ea typeface="Noto Sans KR"/>
                <a:cs typeface="Noto Sans KR"/>
              </a:rPr>
              <a:t>검증·재투입</a:t>
            </a:r>
          </a:p>
        </p:txBody>
      </p:sp>
      <p:sp>
        <p:nvSpPr>
          <p:cNvPr id="27" name="text-26">
            <a:extLst xmlns:a="http://schemas.openxmlformats.org/drawingml/2006/main">
              <a:ext uri="{FF2B5EF4-FFF2-40B4-BE49-F238E27FC236}">
                <a16:creationId xmlns:a16="http://schemas.microsoft.com/office/drawing/2014/main" id="{A8AEB987-D1BC-4841-A544-F2519975E4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5962650"/>
            <a:ext cx="23622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938" b="0">
                <a:solidFill>
                  <a:srgbClr val="77777E"/>
                </a:solidFill>
                <a:latin typeface="Noto Sans KR"/>
                <a:ea typeface="Noto Sans KR"/>
                <a:cs typeface="Noto Sans KR"/>
              </a:defRPr>
            </a:pPr>
            <a:r>
              <a:rPr sz="938" b="0">
                <a:solidFill>
                  <a:srgbClr val="77777E"/>
                </a:solidFill>
                <a:latin typeface="Noto Sans KR"/>
                <a:ea typeface="Noto Sans KR"/>
                <a:cs typeface="Noto Sans KR"/>
              </a:rPr>
              <a:t>운영자가 검증 후 처리</a:t>
            </a:r>
          </a:p>
        </p:txBody>
      </p:sp>
    </p:spTree>
    <p:extLst>
      <p:ext uri="{BB962C8B-B14F-4D97-AF65-F5344CB8AC3E}">
        <p14:creationId xmlns:p14="http://schemas.microsoft.com/office/powerpoint/2010/main" val="776022648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206D4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7" name="text-0">
            <a:extLst xmlns:a="http://schemas.openxmlformats.org/drawingml/2006/main">
              <a:ext uri="{FF2B5EF4-FFF2-40B4-BE49-F238E27FC236}">
                <a16:creationId xmlns:a16="http://schemas.microsoft.com/office/drawing/2014/main" id="{DB02EF33-5A6C-458D-9802-080C9C2065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87075" y="285750"/>
            <a:ext cx="6953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25000"/>
              </a:lnSpc>
              <a:buNone/>
              <a:defRPr sz="788" b="0">
                <a:solidFill>
                  <a:srgbClr val="A6D5BC"/>
                </a:solidFill>
                <a:latin typeface="Noto Sans KR"/>
                <a:ea typeface="Noto Sans KR"/>
                <a:cs typeface="Noto Sans KR"/>
              </a:defRPr>
            </a:pPr>
            <a:r>
              <a:rPr sz="788" b="0">
                <a:solidFill>
                  <a:srgbClr val="A6D5BC"/>
                </a:solidFill>
                <a:latin typeface="Noto Sans KR"/>
                <a:ea typeface="Noto Sans KR"/>
                <a:cs typeface="Noto Sans KR"/>
              </a:rPr>
              <a:t>12 / 22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38AF7427-D3D4-4C54-A048-5382D37F0B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763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4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4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Project 02.  운영 디지털화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43271EF-8AD8-4345-8D9B-E34F5E2B74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00200"/>
            <a:ext cx="885825" cy="876300"/>
          </a:xfrm>
          <a:prstGeom xmlns:a="http://schemas.openxmlformats.org/drawingml/2006/main" prst="roundRect">
            <a:avLst>
              <a:gd name="adj" fmla="val 543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114300" tIns="47625" rIns="114300" bIns="476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1800" b="1">
                <a:solidFill>
                  <a:srgbClr val="206D4A"/>
                </a:solidFill>
                <a:latin typeface="Noto Sans KR"/>
                <a:ea typeface="Noto Sans KR"/>
                <a:cs typeface="Noto Sans KR"/>
              </a:defRPr>
            </a:pPr>
            <a:r>
              <a:rPr sz="1800" b="1">
                <a:solidFill>
                  <a:srgbClr val="206D4A"/>
                </a:solidFill>
                <a:latin typeface="Noto Sans KR"/>
                <a:ea typeface="Noto Sans KR"/>
                <a:cs typeface="Noto Sans KR"/>
              </a:rPr>
              <a:t>B2B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0DD793EA-5289-4005-8A44-62AE72634E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1676400"/>
            <a:ext cx="57245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20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20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산후조리원 전용 B2B 몰 구축</a:t>
            </a:r>
          </a:p>
        </p:txBody>
      </p:sp>
      <p:sp>
        <p:nvSpPr>
          <p:cNvPr id="5" name="text-4">
            <a:extLst xmlns:a="http://schemas.openxmlformats.org/drawingml/2006/main">
              <a:ext uri="{FF2B5EF4-FFF2-40B4-BE49-F238E27FC236}">
                <a16:creationId xmlns:a16="http://schemas.microsoft.com/office/drawing/2014/main" id="{42D51082-4B92-47B0-807D-829AAF5595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2143125"/>
            <a:ext cx="5686425" cy="676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275" b="0">
                <a:solidFill>
                  <a:srgbClr val="A6D5BC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0">
                <a:solidFill>
                  <a:srgbClr val="A6D5BC"/>
                </a:solidFill>
                <a:latin typeface="Noto Sans KR"/>
                <a:ea typeface="Noto Sans KR"/>
                <a:cs typeface="Noto Sans KR"/>
              </a:rPr>
              <a:t>계약별 주문·결제·포인트 규칙을</a:t>
            </a:r>
          </a:p>
          <a:p xmlns:a="http://schemas.openxmlformats.org/drawingml/2006/main">
            <a:pPr algn="l">
              <a:lnSpc>
                <a:spcPct val="125000"/>
              </a:lnSpc>
              <a:buNone/>
              <a:defRPr sz="1275" b="0">
                <a:solidFill>
                  <a:srgbClr val="A6D5BC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0">
                <a:solidFill>
                  <a:srgbClr val="A6D5BC"/>
                </a:solidFill>
                <a:latin typeface="Noto Sans KR"/>
                <a:ea typeface="Noto Sans KR"/>
                <a:cs typeface="Noto Sans KR"/>
              </a:rPr>
              <a:t>운영자가 설정하고 확인하는 구조로 바꿨습니다.</a:t>
            </a:r>
          </a:p>
        </p:txBody>
      </p:sp>
      <p:sp>
        <p:nvSpPr>
          <p:cNvPr id="6" name="text-5">
            <a:extLst xmlns:a="http://schemas.openxmlformats.org/drawingml/2006/main">
              <a:ext uri="{FF2B5EF4-FFF2-40B4-BE49-F238E27FC236}">
                <a16:creationId xmlns:a16="http://schemas.microsoft.com/office/drawing/2014/main" id="{92959424-44D5-4E99-AE9F-4A124261FB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3028950"/>
            <a:ext cx="857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125" b="1">
                <a:solidFill>
                  <a:srgbClr val="A6D5BC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1">
                <a:solidFill>
                  <a:srgbClr val="A6D5BC"/>
                </a:solidFill>
                <a:latin typeface="Noto Sans KR"/>
                <a:ea typeface="Noto Sans KR"/>
                <a:cs typeface="Noto Sans KR"/>
              </a:rPr>
              <a:t>문제</a:t>
            </a:r>
          </a:p>
        </p:txBody>
      </p:sp>
      <p:sp>
        <p:nvSpPr>
          <p:cNvPr id="7" name="text-6">
            <a:extLst xmlns:a="http://schemas.openxmlformats.org/drawingml/2006/main">
              <a:ext uri="{FF2B5EF4-FFF2-40B4-BE49-F238E27FC236}">
                <a16:creationId xmlns:a16="http://schemas.microsoft.com/office/drawing/2014/main" id="{D75A4740-9751-46ED-AA9F-79A8ED99E5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3314700"/>
            <a:ext cx="57531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163" b="0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163" b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계정별 상품·결제 조건을 사람이 매번 다시 판단</a:t>
            </a:r>
          </a:p>
        </p:txBody>
      </p:sp>
      <p:sp>
        <p:nvSpPr>
          <p:cNvPr id="8" name="text-7">
            <a:extLst xmlns:a="http://schemas.openxmlformats.org/drawingml/2006/main">
              <a:ext uri="{FF2B5EF4-FFF2-40B4-BE49-F238E27FC236}">
                <a16:creationId xmlns:a16="http://schemas.microsoft.com/office/drawing/2014/main" id="{4A8F32DA-56FC-4F44-8AA3-00EDC574CA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3781425"/>
            <a:ext cx="857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125" b="1">
                <a:solidFill>
                  <a:srgbClr val="A6D5BC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1">
                <a:solidFill>
                  <a:srgbClr val="A6D5BC"/>
                </a:solidFill>
                <a:latin typeface="Noto Sans KR"/>
                <a:ea typeface="Noto Sans KR"/>
                <a:cs typeface="Noto Sans KR"/>
              </a:rPr>
              <a:t>대상</a:t>
            </a:r>
          </a:p>
        </p:txBody>
      </p:sp>
      <p:sp>
        <p:nvSpPr>
          <p:cNvPr id="9" name="text-8">
            <a:extLst xmlns:a="http://schemas.openxmlformats.org/drawingml/2006/main">
              <a:ext uri="{FF2B5EF4-FFF2-40B4-BE49-F238E27FC236}">
                <a16:creationId xmlns:a16="http://schemas.microsoft.com/office/drawing/2014/main" id="{D2D4C030-019B-4BB3-BBCC-B96C61F74E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4067175"/>
            <a:ext cx="57531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163" b="0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163" b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계약 조리원 담당자, 내부 운영팀, 공급사</a:t>
            </a:r>
          </a:p>
        </p:txBody>
      </p:sp>
      <p:sp>
        <p:nvSpPr>
          <p:cNvPr id="10" name="text-9">
            <a:extLst xmlns:a="http://schemas.openxmlformats.org/drawingml/2006/main">
              <a:ext uri="{FF2B5EF4-FFF2-40B4-BE49-F238E27FC236}">
                <a16:creationId xmlns:a16="http://schemas.microsoft.com/office/drawing/2014/main" id="{E7544839-815A-4195-9FED-CF8A01EFDF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4533900"/>
            <a:ext cx="857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125" b="1">
                <a:solidFill>
                  <a:srgbClr val="A6D5BC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1">
                <a:solidFill>
                  <a:srgbClr val="A6D5BC"/>
                </a:solidFill>
                <a:latin typeface="Noto Sans KR"/>
                <a:ea typeface="Noto Sans KR"/>
                <a:cs typeface="Noto Sans KR"/>
              </a:rPr>
              <a:t>목표</a:t>
            </a:r>
          </a:p>
        </p:txBody>
      </p:sp>
      <p:sp>
        <p:nvSpPr>
          <p:cNvPr id="11" name="text-10">
            <a:extLst xmlns:a="http://schemas.openxmlformats.org/drawingml/2006/main">
              <a:ext uri="{FF2B5EF4-FFF2-40B4-BE49-F238E27FC236}">
                <a16:creationId xmlns:a16="http://schemas.microsoft.com/office/drawing/2014/main" id="{46F798A2-8E8B-4D26-8480-49EE911345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4819650"/>
            <a:ext cx="57531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163" b="0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163" b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오출고 예방과 주문 확인 부담 감소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A9EF27F-256A-4307-9787-B44DBB0E9B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1600200"/>
            <a:ext cx="3848100" cy="3038475"/>
          </a:xfrm>
          <a:prstGeom xmlns:a="http://schemas.openxmlformats.org/drawingml/2006/main" prst="roundRect">
            <a:avLst>
              <a:gd name="adj" fmla="val 3448"/>
            </a:avLst>
          </a:prstGeom>
          <a:solidFill xmlns:a="http://schemas.openxmlformats.org/drawingml/2006/main">
            <a:srgbClr val="19583C"/>
          </a:solidFill>
          <a:ln xmlns:a="http://schemas.openxmlformats.org/drawingml/2006/main" w="0">
            <a:noFill/>
          </a:ln>
        </p:spPr>
      </p:sp>
      <p:sp>
        <p:nvSpPr>
          <p:cNvPr id="13" name="text-12">
            <a:extLst xmlns:a="http://schemas.openxmlformats.org/drawingml/2006/main">
              <a:ext uri="{FF2B5EF4-FFF2-40B4-BE49-F238E27FC236}">
                <a16:creationId xmlns:a16="http://schemas.microsoft.com/office/drawing/2014/main" id="{40D3F2AA-1376-4AD1-BF98-5E2128E2AC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1838325"/>
            <a:ext cx="32670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050" b="1">
                <a:solidFill>
                  <a:srgbClr val="A6D5BC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1">
                <a:solidFill>
                  <a:srgbClr val="A6D5BC"/>
                </a:solidFill>
                <a:latin typeface="Noto Sans KR"/>
                <a:ea typeface="Noto Sans KR"/>
                <a:cs typeface="Noto Sans KR"/>
              </a:rPr>
              <a:t>운영 예외를 정책으로 정리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A7D3BA1-8E99-4F58-9577-AA0ED1999C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2190750"/>
            <a:ext cx="3238500" cy="51435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206D4A"/>
          </a:solidFill>
          <a:ln xmlns:a="http://schemas.openxmlformats.org/drawingml/2006/main" w="0">
            <a:noFill/>
          </a:ln>
        </p:spPr>
      </p:sp>
      <p:sp>
        <p:nvSpPr>
          <p:cNvPr id="15" name="text-14">
            <a:extLst xmlns:a="http://schemas.openxmlformats.org/drawingml/2006/main">
              <a:ext uri="{FF2B5EF4-FFF2-40B4-BE49-F238E27FC236}">
                <a16:creationId xmlns:a16="http://schemas.microsoft.com/office/drawing/2014/main" id="{5E9A2F12-67FA-44B3-804C-6F36C84490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247900"/>
            <a:ext cx="2838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0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회원 등급</a:t>
            </a:r>
          </a:p>
        </p:txBody>
      </p:sp>
      <p:sp>
        <p:nvSpPr>
          <p:cNvPr id="16" name="text-15">
            <a:extLst xmlns:a="http://schemas.openxmlformats.org/drawingml/2006/main">
              <a:ext uri="{FF2B5EF4-FFF2-40B4-BE49-F238E27FC236}">
                <a16:creationId xmlns:a16="http://schemas.microsoft.com/office/drawing/2014/main" id="{75F24B53-BB6C-4FB6-9FB7-44C35A2C38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466975"/>
            <a:ext cx="2838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863" b="0">
                <a:solidFill>
                  <a:srgbClr val="A6D5BC"/>
                </a:solidFill>
                <a:latin typeface="Noto Sans KR"/>
                <a:ea typeface="Noto Sans KR"/>
                <a:cs typeface="Noto Sans KR"/>
              </a:defRPr>
            </a:pPr>
            <a:r>
              <a:rPr sz="863" b="0">
                <a:solidFill>
                  <a:srgbClr val="A6D5BC"/>
                </a:solidFill>
                <a:latin typeface="Noto Sans KR"/>
                <a:ea typeface="Noto Sans KR"/>
                <a:cs typeface="Noto Sans KR"/>
              </a:rPr>
              <a:t>상품·결제수단 분기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9EA24B1-02B1-451E-B3DA-CC81D2C910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2762250"/>
            <a:ext cx="3238500" cy="51435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206D4A"/>
          </a:solidFill>
          <a:ln xmlns:a="http://schemas.openxmlformats.org/drawingml/2006/main" w="0">
            <a:noFill/>
          </a:ln>
        </p:spPr>
      </p:sp>
      <p:sp>
        <p:nvSpPr>
          <p:cNvPr id="18" name="text-17">
            <a:extLst xmlns:a="http://schemas.openxmlformats.org/drawingml/2006/main">
              <a:ext uri="{FF2B5EF4-FFF2-40B4-BE49-F238E27FC236}">
                <a16:creationId xmlns:a16="http://schemas.microsoft.com/office/drawing/2014/main" id="{BD4DF818-8D74-4AB9-82F1-A3079A3E09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819400"/>
            <a:ext cx="2838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0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혼합주문</a:t>
            </a:r>
          </a:p>
        </p:txBody>
      </p:sp>
      <p:sp>
        <p:nvSpPr>
          <p:cNvPr id="19" name="text-18">
            <a:extLst xmlns:a="http://schemas.openxmlformats.org/drawingml/2006/main">
              <a:ext uri="{FF2B5EF4-FFF2-40B4-BE49-F238E27FC236}">
                <a16:creationId xmlns:a16="http://schemas.microsoft.com/office/drawing/2014/main" id="{65EA8DA0-B621-4CB9-85A7-EE2A76745C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038475"/>
            <a:ext cx="2838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863" b="0">
                <a:solidFill>
                  <a:srgbClr val="A6D5BC"/>
                </a:solidFill>
                <a:latin typeface="Noto Sans KR"/>
                <a:ea typeface="Noto Sans KR"/>
                <a:cs typeface="Noto Sans KR"/>
              </a:defRPr>
            </a:pPr>
            <a:r>
              <a:rPr sz="863" b="0">
                <a:solidFill>
                  <a:srgbClr val="A6D5BC"/>
                </a:solidFill>
                <a:latin typeface="Noto Sans KR"/>
                <a:ea typeface="Noto Sans KR"/>
                <a:cs typeface="Noto Sans KR"/>
              </a:rPr>
              <a:t>분유와 물품 분리 주문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0AE4B56-F9E0-4A4D-952C-242B4B74C1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3333750"/>
            <a:ext cx="3238500" cy="51435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206D4A"/>
          </a:solidFill>
          <a:ln xmlns:a="http://schemas.openxmlformats.org/drawingml/2006/main" w="0">
            <a:noFill/>
          </a:ln>
        </p:spPr>
      </p:sp>
      <p:sp>
        <p:nvSpPr>
          <p:cNvPr id="21" name="text-20">
            <a:extLst xmlns:a="http://schemas.openxmlformats.org/drawingml/2006/main">
              <a:ext uri="{FF2B5EF4-FFF2-40B4-BE49-F238E27FC236}">
                <a16:creationId xmlns:a16="http://schemas.microsoft.com/office/drawing/2014/main" id="{66360D95-DD7B-429C-AF51-F64DD80F71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390900"/>
            <a:ext cx="2838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0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포인트 정리</a:t>
            </a:r>
          </a:p>
        </p:txBody>
      </p:sp>
      <p:sp>
        <p:nvSpPr>
          <p:cNvPr id="22" name="text-21">
            <a:extLst xmlns:a="http://schemas.openxmlformats.org/drawingml/2006/main">
              <a:ext uri="{FF2B5EF4-FFF2-40B4-BE49-F238E27FC236}">
                <a16:creationId xmlns:a16="http://schemas.microsoft.com/office/drawing/2014/main" id="{441B0B78-D525-4FE1-92D5-C97F803C03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609975"/>
            <a:ext cx="2838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863" b="0">
                <a:solidFill>
                  <a:srgbClr val="A6D5BC"/>
                </a:solidFill>
                <a:latin typeface="Noto Sans KR"/>
                <a:ea typeface="Noto Sans KR"/>
                <a:cs typeface="Noto Sans KR"/>
              </a:defRPr>
            </a:pPr>
            <a:r>
              <a:rPr sz="863" b="0">
                <a:solidFill>
                  <a:srgbClr val="A6D5BC"/>
                </a:solidFill>
                <a:latin typeface="Noto Sans KR"/>
                <a:ea typeface="Noto Sans KR"/>
                <a:cs typeface="Noto Sans KR"/>
              </a:rPr>
              <a:t>담당자 확인 후 실행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ED0A7E4-0A8F-47F0-B332-9D4DC4B568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3905250"/>
            <a:ext cx="3238500" cy="51435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206D4A"/>
          </a:solidFill>
          <a:ln xmlns:a="http://schemas.openxmlformats.org/drawingml/2006/main" w="0">
            <a:noFill/>
          </a:ln>
        </p:spPr>
      </p:sp>
      <p:sp>
        <p:nvSpPr>
          <p:cNvPr id="24" name="text-23">
            <a:extLst xmlns:a="http://schemas.openxmlformats.org/drawingml/2006/main">
              <a:ext uri="{FF2B5EF4-FFF2-40B4-BE49-F238E27FC236}">
                <a16:creationId xmlns:a16="http://schemas.microsoft.com/office/drawing/2014/main" id="{1079F066-9917-4D92-A909-1F162FACB4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962400"/>
            <a:ext cx="2838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0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운영 QA</a:t>
            </a:r>
          </a:p>
        </p:txBody>
      </p:sp>
      <p:sp>
        <p:nvSpPr>
          <p:cNvPr id="25" name="text-24">
            <a:extLst xmlns:a="http://schemas.openxmlformats.org/drawingml/2006/main">
              <a:ext uri="{FF2B5EF4-FFF2-40B4-BE49-F238E27FC236}">
                <a16:creationId xmlns:a16="http://schemas.microsoft.com/office/drawing/2014/main" id="{B15A0E18-C2FA-41D4-9EF6-31771ED614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4181475"/>
            <a:ext cx="2838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863" b="0">
                <a:solidFill>
                  <a:srgbClr val="A6D5BC"/>
                </a:solidFill>
                <a:latin typeface="Noto Sans KR"/>
                <a:ea typeface="Noto Sans KR"/>
                <a:cs typeface="Noto Sans KR"/>
              </a:defRPr>
            </a:pPr>
            <a:r>
              <a:rPr sz="863" b="0">
                <a:solidFill>
                  <a:srgbClr val="A6D5BC"/>
                </a:solidFill>
                <a:latin typeface="Noto Sans KR"/>
                <a:ea typeface="Noto Sans KR"/>
                <a:cs typeface="Noto Sans KR"/>
              </a:rPr>
              <a:t>고객 화면에서 기대 결과 확인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438205C-9393-48CD-B42B-36DD43BD9B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62550"/>
            <a:ext cx="10972800" cy="0"/>
          </a:xfrm>
          <a:prstGeom xmlns:a="http://schemas.openxmlformats.org/drawingml/2006/main" prst="line">
            <a:avLst/>
          </a:prstGeom>
          <a:ln xmlns:a="http://schemas.openxmlformats.org/drawingml/2006/main" w="7620">
            <a:solidFill>
              <a:srgbClr val="A6D5BC"/>
            </a:solidFill>
          </a:ln>
        </p:spPr>
      </p:sp>
      <p:sp>
        <p:nvSpPr>
          <p:cNvPr id="27" name="text-26">
            <a:extLst xmlns:a="http://schemas.openxmlformats.org/drawingml/2006/main">
              <a:ext uri="{FF2B5EF4-FFF2-40B4-BE49-F238E27FC236}">
                <a16:creationId xmlns:a16="http://schemas.microsoft.com/office/drawing/2014/main" id="{A7A9AE68-3178-47F7-B854-AE7F0D3E39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91150"/>
            <a:ext cx="7143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938" b="1">
                <a:solidFill>
                  <a:srgbClr val="A6D5BC"/>
                </a:solidFill>
                <a:latin typeface="Noto Sans KR"/>
                <a:ea typeface="Noto Sans KR"/>
                <a:cs typeface="Noto Sans KR"/>
              </a:defRPr>
            </a:pPr>
            <a:r>
              <a:rPr sz="938" b="1">
                <a:solidFill>
                  <a:srgbClr val="A6D5BC"/>
                </a:solidFill>
                <a:latin typeface="Noto Sans KR"/>
                <a:ea typeface="Noto Sans KR"/>
                <a:cs typeface="Noto Sans KR"/>
              </a:rPr>
              <a:t>기간</a:t>
            </a:r>
          </a:p>
        </p:txBody>
      </p:sp>
      <p:sp>
        <p:nvSpPr>
          <p:cNvPr id="28" name="text-27">
            <a:extLst xmlns:a="http://schemas.openxmlformats.org/drawingml/2006/main">
              <a:ext uri="{FF2B5EF4-FFF2-40B4-BE49-F238E27FC236}">
                <a16:creationId xmlns:a16="http://schemas.microsoft.com/office/drawing/2014/main" id="{F5B065D3-F92E-46EC-BD4D-6AB946120C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9225" y="5391150"/>
            <a:ext cx="100774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938" b="0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938" b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2026-06 기획 / 07-02 개발 착수 / 07-16 핵심 흐름 가동 / 08-31 최종 검수</a:t>
            </a:r>
          </a:p>
        </p:txBody>
      </p:sp>
      <p:sp>
        <p:nvSpPr>
          <p:cNvPr id="29" name="text-28">
            <a:extLst xmlns:a="http://schemas.openxmlformats.org/drawingml/2006/main">
              <a:ext uri="{FF2B5EF4-FFF2-40B4-BE49-F238E27FC236}">
                <a16:creationId xmlns:a16="http://schemas.microsoft.com/office/drawing/2014/main" id="{037CB305-DEBE-453B-A848-6399198BAF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67375"/>
            <a:ext cx="7143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938" b="1">
                <a:solidFill>
                  <a:srgbClr val="A6D5BC"/>
                </a:solidFill>
                <a:latin typeface="Noto Sans KR"/>
                <a:ea typeface="Noto Sans KR"/>
                <a:cs typeface="Noto Sans KR"/>
              </a:defRPr>
            </a:pPr>
            <a:r>
              <a:rPr sz="938" b="1">
                <a:solidFill>
                  <a:srgbClr val="A6D5BC"/>
                </a:solidFill>
                <a:latin typeface="Noto Sans KR"/>
                <a:ea typeface="Noto Sans KR"/>
                <a:cs typeface="Noto Sans KR"/>
              </a:rPr>
              <a:t>역할</a:t>
            </a:r>
          </a:p>
        </p:txBody>
      </p:sp>
      <p:sp>
        <p:nvSpPr>
          <p:cNvPr id="30" name="text-29">
            <a:extLst xmlns:a="http://schemas.openxmlformats.org/drawingml/2006/main">
              <a:ext uri="{FF2B5EF4-FFF2-40B4-BE49-F238E27FC236}">
                <a16:creationId xmlns:a16="http://schemas.microsoft.com/office/drawing/2014/main" id="{24D23A3F-CD34-48C9-843F-518890A9C6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9225" y="5667375"/>
            <a:ext cx="100774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938" b="0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938" b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문제 정의, 정책·요구사항 작성, 외주 개발사 조율, 운영 QA</a:t>
            </a:r>
          </a:p>
        </p:txBody>
      </p:sp>
      <p:sp>
        <p:nvSpPr>
          <p:cNvPr id="31" name="text-30">
            <a:extLst xmlns:a="http://schemas.openxmlformats.org/drawingml/2006/main">
              <a:ext uri="{FF2B5EF4-FFF2-40B4-BE49-F238E27FC236}">
                <a16:creationId xmlns:a16="http://schemas.microsoft.com/office/drawing/2014/main" id="{D203645B-6447-4B62-BA69-B6FD9053BA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43600"/>
            <a:ext cx="7143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938" b="1">
                <a:solidFill>
                  <a:srgbClr val="A6D5BC"/>
                </a:solidFill>
                <a:latin typeface="Noto Sans KR"/>
                <a:ea typeface="Noto Sans KR"/>
                <a:cs typeface="Noto Sans KR"/>
              </a:defRPr>
            </a:pPr>
            <a:r>
              <a:rPr sz="938" b="1">
                <a:solidFill>
                  <a:srgbClr val="A6D5BC"/>
                </a:solidFill>
                <a:latin typeface="Noto Sans KR"/>
                <a:ea typeface="Noto Sans KR"/>
                <a:cs typeface="Noto Sans KR"/>
              </a:rPr>
              <a:t>협업</a:t>
            </a:r>
          </a:p>
        </p:txBody>
      </p:sp>
      <p:sp>
        <p:nvSpPr>
          <p:cNvPr id="32" name="text-31">
            <a:extLst xmlns:a="http://schemas.openxmlformats.org/drawingml/2006/main">
              <a:ext uri="{FF2B5EF4-FFF2-40B4-BE49-F238E27FC236}">
                <a16:creationId xmlns:a16="http://schemas.microsoft.com/office/drawing/2014/main" id="{2BBDCCE2-915D-4860-8C3C-0F6B252C72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9225" y="5943600"/>
            <a:ext cx="100774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938" b="0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938" b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커머스 솔루션 개발사, 내부 운영팀, 영업매니저, 공급사</a:t>
            </a:r>
          </a:p>
        </p:txBody>
      </p:sp>
      <p:sp>
        <p:nvSpPr>
          <p:cNvPr id="33" name="text-32">
            <a:extLst xmlns:a="http://schemas.openxmlformats.org/drawingml/2006/main">
              <a:ext uri="{FF2B5EF4-FFF2-40B4-BE49-F238E27FC236}">
                <a16:creationId xmlns:a16="http://schemas.microsoft.com/office/drawing/2014/main" id="{067CAA31-EFC1-4148-9AEA-11909E8A0B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19825"/>
            <a:ext cx="7143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938" b="1">
                <a:solidFill>
                  <a:srgbClr val="A6D5BC"/>
                </a:solidFill>
                <a:latin typeface="Noto Sans KR"/>
                <a:ea typeface="Noto Sans KR"/>
                <a:cs typeface="Noto Sans KR"/>
              </a:defRPr>
            </a:pPr>
            <a:r>
              <a:rPr sz="938" b="1">
                <a:solidFill>
                  <a:srgbClr val="A6D5BC"/>
                </a:solidFill>
                <a:latin typeface="Noto Sans KR"/>
                <a:ea typeface="Noto Sans KR"/>
                <a:cs typeface="Noto Sans KR"/>
              </a:rPr>
              <a:t>산출물</a:t>
            </a:r>
          </a:p>
        </p:txBody>
      </p:sp>
      <p:sp>
        <p:nvSpPr>
          <p:cNvPr id="34" name="text-33">
            <a:extLst xmlns:a="http://schemas.openxmlformats.org/drawingml/2006/main">
              <a:ext uri="{FF2B5EF4-FFF2-40B4-BE49-F238E27FC236}">
                <a16:creationId xmlns:a16="http://schemas.microsoft.com/office/drawing/2014/main" id="{1C1E8676-F310-454B-B393-D02D6EC448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9225" y="6219825"/>
            <a:ext cx="100774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938" b="0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938" b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요구사항 대장, 계정 정책표, 사용자 흐름, QA 시나리오, 운영 안내</a:t>
            </a:r>
          </a:p>
        </p:txBody>
      </p:sp>
      <p:sp>
        <p:nvSpPr>
          <p:cNvPr id="35" name="text-34">
            <a:extLst xmlns:a="http://schemas.openxmlformats.org/drawingml/2006/main">
              <a:ext uri="{FF2B5EF4-FFF2-40B4-BE49-F238E27FC236}">
                <a16:creationId xmlns:a16="http://schemas.microsoft.com/office/drawing/2014/main" id="{A8470276-BC54-4324-83BD-69C353622C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7143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938" b="1">
                <a:solidFill>
                  <a:srgbClr val="A6D5BC"/>
                </a:solidFill>
                <a:latin typeface="Noto Sans KR"/>
                <a:ea typeface="Noto Sans KR"/>
                <a:cs typeface="Noto Sans KR"/>
              </a:defRPr>
            </a:pPr>
            <a:r>
              <a:rPr sz="938" b="1">
                <a:solidFill>
                  <a:srgbClr val="A6D5BC"/>
                </a:solidFill>
                <a:latin typeface="Noto Sans KR"/>
                <a:ea typeface="Noto Sans KR"/>
                <a:cs typeface="Noto Sans KR"/>
              </a:rPr>
              <a:t>규모</a:t>
            </a:r>
          </a:p>
        </p:txBody>
      </p:sp>
      <p:sp>
        <p:nvSpPr>
          <p:cNvPr id="36" name="text-35">
            <a:extLst xmlns:a="http://schemas.openxmlformats.org/drawingml/2006/main">
              <a:ext uri="{FF2B5EF4-FFF2-40B4-BE49-F238E27FC236}">
                <a16:creationId xmlns:a16="http://schemas.microsoft.com/office/drawing/2014/main" id="{9CD2B0FC-4BE2-4734-91CE-95BB783266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9225" y="6496050"/>
            <a:ext cx="100774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938" b="0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938" b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계약 조리원 약 140개소 / 물품 지원 계약 약 77개소 / 공급사 5곳</a:t>
            </a:r>
          </a:p>
        </p:txBody>
      </p:sp>
    </p:spTree>
    <p:extLst>
      <p:ext uri="{BB962C8B-B14F-4D97-AF65-F5344CB8AC3E}">
        <p14:creationId xmlns:p14="http://schemas.microsoft.com/office/powerpoint/2010/main" val="1819326418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0" name="text-0">
            <a:extLst xmlns:a="http://schemas.openxmlformats.org/drawingml/2006/main">
              <a:ext uri="{FF2B5EF4-FFF2-40B4-BE49-F238E27FC236}">
                <a16:creationId xmlns:a16="http://schemas.microsoft.com/office/drawing/2014/main" id="{24FC555A-2A90-4532-A578-FFA25FA23C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87075" y="285750"/>
            <a:ext cx="6953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25000"/>
              </a:lnSpc>
              <a:buNone/>
              <a:defRPr sz="788" b="0">
                <a:solidFill>
                  <a:srgbClr val="92929A"/>
                </a:solidFill>
                <a:latin typeface="Noto Sans KR"/>
                <a:ea typeface="Noto Sans KR"/>
                <a:cs typeface="Noto Sans KR"/>
              </a:defRPr>
            </a:pPr>
            <a:r>
              <a:rPr sz="788" b="0">
                <a:solidFill>
                  <a:srgbClr val="92929A"/>
                </a:solidFill>
                <a:latin typeface="Noto Sans KR"/>
                <a:ea typeface="Noto Sans KR"/>
                <a:cs typeface="Noto Sans KR"/>
              </a:rPr>
              <a:t>13 / 22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0CFB8FAE-0615-470E-8091-83F8BDB4EA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3905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950" b="1">
                <a:solidFill>
                  <a:srgbClr val="206D4A"/>
                </a:solidFill>
                <a:latin typeface="Noto Sans KR"/>
                <a:ea typeface="Noto Sans KR"/>
                <a:cs typeface="Noto Sans KR"/>
              </a:defRPr>
            </a:pPr>
            <a:r>
              <a:rPr sz="1950" b="1">
                <a:solidFill>
                  <a:srgbClr val="206D4A"/>
                </a:solidFill>
                <a:latin typeface="Noto Sans KR"/>
                <a:ea typeface="Noto Sans KR"/>
                <a:cs typeface="Noto Sans KR"/>
              </a:rPr>
              <a:t>01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FF70C426-009A-4294-866F-38F2F968E4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742950"/>
            <a:ext cx="10287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950" b="1">
                <a:solidFill>
                  <a:srgbClr val="1A1A1A"/>
                </a:solidFill>
                <a:latin typeface="Noto Sans KR"/>
                <a:ea typeface="Noto Sans KR"/>
                <a:cs typeface="Noto Sans KR"/>
              </a:defRPr>
            </a:pPr>
            <a:r>
              <a:rPr sz="1950" b="1">
                <a:solidFill>
                  <a:srgbClr val="1A1A1A"/>
                </a:solidFill>
                <a:latin typeface="Noto Sans KR"/>
                <a:ea typeface="Noto Sans KR"/>
                <a:cs typeface="Noto Sans KR"/>
              </a:rPr>
              <a:t>배경과 AS-IS 업무 흐름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862369C6-D705-4BF3-B851-FC43D85395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906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050" b="0">
                <a:solidFill>
                  <a:srgbClr val="77777E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0">
                <a:solidFill>
                  <a:srgbClr val="77777E"/>
                </a:solidFill>
                <a:latin typeface="Noto Sans KR"/>
                <a:ea typeface="Noto Sans KR"/>
                <a:cs typeface="Noto Sans KR"/>
              </a:rPr>
              <a:t>같은 주문을 여러 곳에 옮겨 적고, 계약 조건을 사람이 다시 확인하는 일이 반복됐습니다.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5A3DCE7-F830-4A1D-BDE5-B7868D6308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04975"/>
            <a:ext cx="1724025" cy="704850"/>
          </a:xfrm>
          <a:prstGeom xmlns:a="http://schemas.openxmlformats.org/drawingml/2006/main" prst="roundRect">
            <a:avLst>
              <a:gd name="adj" fmla="val 675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9E0"/>
            </a:solidFill>
          </a:ln>
        </p:spPr>
      </p:sp>
      <p:sp>
        <p:nvSpPr>
          <p:cNvPr id="6" name="text-5">
            <a:extLst xmlns:a="http://schemas.openxmlformats.org/drawingml/2006/main">
              <a:ext uri="{FF2B5EF4-FFF2-40B4-BE49-F238E27FC236}">
                <a16:creationId xmlns:a16="http://schemas.microsoft.com/office/drawing/2014/main" id="{636D525D-A891-47FA-9D8D-EC5CC06619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819275"/>
            <a:ext cx="14573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200" b="1">
                <a:solidFill>
                  <a:srgbClr val="1A1A1A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1">
                <a:solidFill>
                  <a:srgbClr val="1A1A1A"/>
                </a:solidFill>
                <a:latin typeface="Noto Sans KR"/>
                <a:ea typeface="Noto Sans KR"/>
                <a:cs typeface="Noto Sans KR"/>
              </a:rPr>
              <a:t>구글 폼 주문</a:t>
            </a:r>
          </a:p>
        </p:txBody>
      </p:sp>
      <p:sp>
        <p:nvSpPr>
          <p:cNvPr id="7" name="text-6">
            <a:extLst xmlns:a="http://schemas.openxmlformats.org/drawingml/2006/main">
              <a:ext uri="{FF2B5EF4-FFF2-40B4-BE49-F238E27FC236}">
                <a16:creationId xmlns:a16="http://schemas.microsoft.com/office/drawing/2014/main" id="{04941983-0FA4-44D8-99B9-EFA48BD4D5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085975"/>
            <a:ext cx="14573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938" b="0">
                <a:solidFill>
                  <a:srgbClr val="77777E"/>
                </a:solidFill>
                <a:latin typeface="Noto Sans KR"/>
                <a:ea typeface="Noto Sans KR"/>
                <a:cs typeface="Noto Sans KR"/>
              </a:defRPr>
            </a:pPr>
            <a:r>
              <a:rPr sz="938" b="0">
                <a:solidFill>
                  <a:srgbClr val="77777E"/>
                </a:solidFill>
                <a:latin typeface="Noto Sans KR"/>
                <a:ea typeface="Noto Sans KR"/>
                <a:cs typeface="Noto Sans KR"/>
              </a:rPr>
              <a:t>조리원 담당자 작성</a:t>
            </a:r>
          </a:p>
        </p:txBody>
      </p:sp>
      <p:sp>
        <p:nvSpPr>
          <p:cNvPr id="8" name="text-7">
            <a:extLst xmlns:a="http://schemas.openxmlformats.org/drawingml/2006/main">
              <a:ext uri="{FF2B5EF4-FFF2-40B4-BE49-F238E27FC236}">
                <a16:creationId xmlns:a16="http://schemas.microsoft.com/office/drawing/2014/main" id="{06282A5E-D282-4F62-A9EB-06289F9F61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1924050"/>
            <a:ext cx="1238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5000"/>
              </a:lnSpc>
              <a:buNone/>
              <a:defRPr sz="1575" b="0">
                <a:solidFill>
                  <a:srgbClr val="92929A"/>
                </a:solidFill>
                <a:latin typeface="Noto Sans KR"/>
                <a:ea typeface="Noto Sans KR"/>
                <a:cs typeface="Noto Sans KR"/>
              </a:defRPr>
            </a:pPr>
            <a:r>
              <a:rPr sz="1575" b="0">
                <a:solidFill>
                  <a:srgbClr val="92929A"/>
                </a:solidFill>
                <a:latin typeface="Noto Sans KR"/>
                <a:ea typeface="Noto Sans KR"/>
                <a:cs typeface="Noto Sans KR"/>
              </a:rPr>
              <a:t>›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77B5698-5338-439B-AD9D-6DF7AA178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66975" y="1704975"/>
            <a:ext cx="1724025" cy="704850"/>
          </a:xfrm>
          <a:prstGeom xmlns:a="http://schemas.openxmlformats.org/drawingml/2006/main" prst="roundRect">
            <a:avLst>
              <a:gd name="adj" fmla="val 675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9E0"/>
            </a:solidFill>
          </a:ln>
        </p:spPr>
      </p:sp>
      <p:sp>
        <p:nvSpPr>
          <p:cNvPr id="10" name="text-9">
            <a:extLst xmlns:a="http://schemas.openxmlformats.org/drawingml/2006/main">
              <a:ext uri="{FF2B5EF4-FFF2-40B4-BE49-F238E27FC236}">
                <a16:creationId xmlns:a16="http://schemas.microsoft.com/office/drawing/2014/main" id="{8F64075B-5596-4EFD-B683-3597F0F38D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0325" y="1819275"/>
            <a:ext cx="14573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200" b="1">
                <a:solidFill>
                  <a:srgbClr val="1A1A1A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1">
                <a:solidFill>
                  <a:srgbClr val="1A1A1A"/>
                </a:solidFill>
                <a:latin typeface="Noto Sans KR"/>
                <a:ea typeface="Noto Sans KR"/>
                <a:cs typeface="Noto Sans KR"/>
              </a:rPr>
              <a:t>시트 취합</a:t>
            </a:r>
          </a:p>
        </p:txBody>
      </p:sp>
      <p:sp>
        <p:nvSpPr>
          <p:cNvPr id="11" name="text-10">
            <a:extLst xmlns:a="http://schemas.openxmlformats.org/drawingml/2006/main">
              <a:ext uri="{FF2B5EF4-FFF2-40B4-BE49-F238E27FC236}">
                <a16:creationId xmlns:a16="http://schemas.microsoft.com/office/drawing/2014/main" id="{92925F13-A906-454F-9EF4-0ECF592DF5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0325" y="2085975"/>
            <a:ext cx="14573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938" b="0">
                <a:solidFill>
                  <a:srgbClr val="77777E"/>
                </a:solidFill>
                <a:latin typeface="Noto Sans KR"/>
                <a:ea typeface="Noto Sans KR"/>
                <a:cs typeface="Noto Sans KR"/>
              </a:defRPr>
            </a:pPr>
            <a:r>
              <a:rPr sz="938" b="0">
                <a:solidFill>
                  <a:srgbClr val="77777E"/>
                </a:solidFill>
                <a:latin typeface="Noto Sans KR"/>
                <a:ea typeface="Noto Sans KR"/>
                <a:cs typeface="Noto Sans KR"/>
              </a:rPr>
              <a:t>운영팀 수기 정리</a:t>
            </a:r>
          </a:p>
        </p:txBody>
      </p:sp>
      <p:sp>
        <p:nvSpPr>
          <p:cNvPr id="12" name="text-11">
            <a:extLst xmlns:a="http://schemas.openxmlformats.org/drawingml/2006/main">
              <a:ext uri="{FF2B5EF4-FFF2-40B4-BE49-F238E27FC236}">
                <a16:creationId xmlns:a16="http://schemas.microsoft.com/office/drawing/2014/main" id="{D252640B-0662-4B41-B1F3-D1C6B02940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1924050"/>
            <a:ext cx="1238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5000"/>
              </a:lnSpc>
              <a:buNone/>
              <a:defRPr sz="1575" b="0">
                <a:solidFill>
                  <a:srgbClr val="92929A"/>
                </a:solidFill>
                <a:latin typeface="Noto Sans KR"/>
                <a:ea typeface="Noto Sans KR"/>
                <a:cs typeface="Noto Sans KR"/>
              </a:defRPr>
            </a:pPr>
            <a:r>
              <a:rPr sz="1575" b="0">
                <a:solidFill>
                  <a:srgbClr val="92929A"/>
                </a:solidFill>
                <a:latin typeface="Noto Sans KR"/>
                <a:ea typeface="Noto Sans KR"/>
                <a:cs typeface="Noto Sans KR"/>
              </a:rPr>
              <a:t>›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76CAD71-4918-4775-89EF-4564340ACF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1704975"/>
            <a:ext cx="1724025" cy="704850"/>
          </a:xfrm>
          <a:prstGeom xmlns:a="http://schemas.openxmlformats.org/drawingml/2006/main" prst="roundRect">
            <a:avLst>
              <a:gd name="adj" fmla="val 675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9E0"/>
            </a:solidFill>
          </a:ln>
        </p:spPr>
      </p:sp>
      <p:sp>
        <p:nvSpPr>
          <p:cNvPr id="14" name="text-13">
            <a:extLst xmlns:a="http://schemas.openxmlformats.org/drawingml/2006/main">
              <a:ext uri="{FF2B5EF4-FFF2-40B4-BE49-F238E27FC236}">
                <a16:creationId xmlns:a16="http://schemas.microsoft.com/office/drawing/2014/main" id="{95CC13BF-3D04-479C-B151-7E3ABABE66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1819275"/>
            <a:ext cx="14573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200" b="1">
                <a:solidFill>
                  <a:srgbClr val="1A1A1A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1">
                <a:solidFill>
                  <a:srgbClr val="1A1A1A"/>
                </a:solidFill>
                <a:latin typeface="Noto Sans KR"/>
                <a:ea typeface="Noto Sans KR"/>
                <a:cs typeface="Noto Sans KR"/>
              </a:rPr>
              <a:t>입금 대조</a:t>
            </a:r>
          </a:p>
        </p:txBody>
      </p:sp>
      <p:sp>
        <p:nvSpPr>
          <p:cNvPr id="15" name="text-14">
            <a:extLst xmlns:a="http://schemas.openxmlformats.org/drawingml/2006/main">
              <a:ext uri="{FF2B5EF4-FFF2-40B4-BE49-F238E27FC236}">
                <a16:creationId xmlns:a16="http://schemas.microsoft.com/office/drawing/2014/main" id="{40BD4B11-0B74-4615-AAD8-666A467565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2085975"/>
            <a:ext cx="14573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938" b="0">
                <a:solidFill>
                  <a:srgbClr val="77777E"/>
                </a:solidFill>
                <a:latin typeface="Noto Sans KR"/>
                <a:ea typeface="Noto Sans KR"/>
                <a:cs typeface="Noto Sans KR"/>
              </a:defRPr>
            </a:pPr>
            <a:r>
              <a:rPr sz="938" b="0">
                <a:solidFill>
                  <a:srgbClr val="77777E"/>
                </a:solidFill>
                <a:latin typeface="Noto Sans KR"/>
                <a:ea typeface="Noto Sans KR"/>
                <a:cs typeface="Noto Sans KR"/>
              </a:rPr>
              <a:t>계좌와 주문 확인</a:t>
            </a:r>
          </a:p>
        </p:txBody>
      </p:sp>
      <p:sp>
        <p:nvSpPr>
          <p:cNvPr id="16" name="text-15">
            <a:extLst xmlns:a="http://schemas.openxmlformats.org/drawingml/2006/main">
              <a:ext uri="{FF2B5EF4-FFF2-40B4-BE49-F238E27FC236}">
                <a16:creationId xmlns:a16="http://schemas.microsoft.com/office/drawing/2014/main" id="{F2C446CD-5A0C-4491-A7E3-FB4063A4BD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1924050"/>
            <a:ext cx="1238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5000"/>
              </a:lnSpc>
              <a:buNone/>
              <a:defRPr sz="1575" b="0">
                <a:solidFill>
                  <a:srgbClr val="92929A"/>
                </a:solidFill>
                <a:latin typeface="Noto Sans KR"/>
                <a:ea typeface="Noto Sans KR"/>
                <a:cs typeface="Noto Sans KR"/>
              </a:defRPr>
            </a:pPr>
            <a:r>
              <a:rPr sz="1575" b="0">
                <a:solidFill>
                  <a:srgbClr val="92929A"/>
                </a:solidFill>
                <a:latin typeface="Noto Sans KR"/>
                <a:ea typeface="Noto Sans KR"/>
                <a:cs typeface="Noto Sans KR"/>
              </a:rPr>
              <a:t>›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F667181-DF1E-4A05-BF9B-A0E07B030E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1725" y="1704975"/>
            <a:ext cx="1724025" cy="704850"/>
          </a:xfrm>
          <a:prstGeom xmlns:a="http://schemas.openxmlformats.org/drawingml/2006/main" prst="roundRect">
            <a:avLst>
              <a:gd name="adj" fmla="val 675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9E0"/>
            </a:solidFill>
          </a:ln>
        </p:spPr>
      </p:sp>
      <p:sp>
        <p:nvSpPr>
          <p:cNvPr id="18" name="text-17">
            <a:extLst xmlns:a="http://schemas.openxmlformats.org/drawingml/2006/main">
              <a:ext uri="{FF2B5EF4-FFF2-40B4-BE49-F238E27FC236}">
                <a16:creationId xmlns:a16="http://schemas.microsoft.com/office/drawing/2014/main" id="{7DF18E97-7DC7-48F4-9E86-B44AF97942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5075" y="1819275"/>
            <a:ext cx="14573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200" b="1">
                <a:solidFill>
                  <a:srgbClr val="1A1A1A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1">
                <a:solidFill>
                  <a:srgbClr val="1A1A1A"/>
                </a:solidFill>
                <a:latin typeface="Noto Sans KR"/>
                <a:ea typeface="Noto Sans KR"/>
                <a:cs typeface="Noto Sans KR"/>
              </a:rPr>
              <a:t>거래명세서</a:t>
            </a:r>
          </a:p>
        </p:txBody>
      </p:sp>
      <p:sp>
        <p:nvSpPr>
          <p:cNvPr id="19" name="text-18">
            <a:extLst xmlns:a="http://schemas.openxmlformats.org/drawingml/2006/main">
              <a:ext uri="{FF2B5EF4-FFF2-40B4-BE49-F238E27FC236}">
                <a16:creationId xmlns:a16="http://schemas.microsoft.com/office/drawing/2014/main" id="{2832E02A-31B5-4A83-84B2-D03319303B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5075" y="2085975"/>
            <a:ext cx="14573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938" b="0">
                <a:solidFill>
                  <a:srgbClr val="77777E"/>
                </a:solidFill>
                <a:latin typeface="Noto Sans KR"/>
                <a:ea typeface="Noto Sans KR"/>
                <a:cs typeface="Noto Sans KR"/>
              </a:defRPr>
            </a:pPr>
            <a:r>
              <a:rPr sz="938" b="0">
                <a:solidFill>
                  <a:srgbClr val="77777E"/>
                </a:solidFill>
                <a:latin typeface="Noto Sans KR"/>
                <a:ea typeface="Noto Sans KR"/>
                <a:cs typeface="Noto Sans KR"/>
              </a:rPr>
              <a:t>건별 메일 발송</a:t>
            </a:r>
          </a:p>
        </p:txBody>
      </p:sp>
      <p:sp>
        <p:nvSpPr>
          <p:cNvPr id="20" name="text-19">
            <a:extLst xmlns:a="http://schemas.openxmlformats.org/drawingml/2006/main">
              <a:ext uri="{FF2B5EF4-FFF2-40B4-BE49-F238E27FC236}">
                <a16:creationId xmlns:a16="http://schemas.microsoft.com/office/drawing/2014/main" id="{7DCD179A-DAF2-4912-95E6-409F7EC55D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1924050"/>
            <a:ext cx="1238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5000"/>
              </a:lnSpc>
              <a:buNone/>
              <a:defRPr sz="1575" b="0">
                <a:solidFill>
                  <a:srgbClr val="92929A"/>
                </a:solidFill>
                <a:latin typeface="Noto Sans KR"/>
                <a:ea typeface="Noto Sans KR"/>
                <a:cs typeface="Noto Sans KR"/>
              </a:defRPr>
            </a:pPr>
            <a:r>
              <a:rPr sz="1575" b="0">
                <a:solidFill>
                  <a:srgbClr val="92929A"/>
                </a:solidFill>
                <a:latin typeface="Noto Sans KR"/>
                <a:ea typeface="Noto Sans KR"/>
                <a:cs typeface="Noto Sans KR"/>
              </a:rPr>
              <a:t>›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88346F6-6FA6-4675-A89A-B843D5B736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1704975"/>
            <a:ext cx="1724025" cy="704850"/>
          </a:xfrm>
          <a:prstGeom xmlns:a="http://schemas.openxmlformats.org/drawingml/2006/main" prst="roundRect">
            <a:avLst>
              <a:gd name="adj" fmla="val 675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9E0"/>
            </a:solidFill>
          </a:ln>
        </p:spPr>
      </p:sp>
      <p:sp>
        <p:nvSpPr>
          <p:cNvPr id="22" name="text-21">
            <a:extLst xmlns:a="http://schemas.openxmlformats.org/drawingml/2006/main">
              <a:ext uri="{FF2B5EF4-FFF2-40B4-BE49-F238E27FC236}">
                <a16:creationId xmlns:a16="http://schemas.microsoft.com/office/drawing/2014/main" id="{9796C060-93DD-4594-844A-05FDC3C1CC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1819275"/>
            <a:ext cx="14573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200" b="1">
                <a:solidFill>
                  <a:srgbClr val="1A1A1A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1">
                <a:solidFill>
                  <a:srgbClr val="1A1A1A"/>
                </a:solidFill>
                <a:latin typeface="Noto Sans KR"/>
                <a:ea typeface="Noto Sans KR"/>
                <a:cs typeface="Noto Sans KR"/>
              </a:rPr>
              <a:t>ERP 등록</a:t>
            </a:r>
          </a:p>
        </p:txBody>
      </p:sp>
      <p:sp>
        <p:nvSpPr>
          <p:cNvPr id="23" name="text-22">
            <a:extLst xmlns:a="http://schemas.openxmlformats.org/drawingml/2006/main">
              <a:ext uri="{FF2B5EF4-FFF2-40B4-BE49-F238E27FC236}">
                <a16:creationId xmlns:a16="http://schemas.microsoft.com/office/drawing/2014/main" id="{C7473085-9D58-46FA-997C-1AB70E3B53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085975"/>
            <a:ext cx="14573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938" b="0">
                <a:solidFill>
                  <a:srgbClr val="77777E"/>
                </a:solidFill>
                <a:latin typeface="Noto Sans KR"/>
                <a:ea typeface="Noto Sans KR"/>
                <a:cs typeface="Noto Sans KR"/>
              </a:defRPr>
            </a:pPr>
            <a:r>
              <a:rPr sz="938" b="0">
                <a:solidFill>
                  <a:srgbClr val="77777E"/>
                </a:solidFill>
                <a:latin typeface="Noto Sans KR"/>
                <a:ea typeface="Noto Sans KR"/>
                <a:cs typeface="Noto Sans KR"/>
              </a:rPr>
              <a:t>주문 재입력</a:t>
            </a:r>
          </a:p>
        </p:txBody>
      </p:sp>
      <p:sp>
        <p:nvSpPr>
          <p:cNvPr id="24" name="text-23">
            <a:extLst xmlns:a="http://schemas.openxmlformats.org/drawingml/2006/main">
              <a:ext uri="{FF2B5EF4-FFF2-40B4-BE49-F238E27FC236}">
                <a16:creationId xmlns:a16="http://schemas.microsoft.com/office/drawing/2014/main" id="{BA10A052-F7B6-455B-BA29-70E4CA2E9F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63125" y="1924050"/>
            <a:ext cx="1238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5000"/>
              </a:lnSpc>
              <a:buNone/>
              <a:defRPr sz="1575" b="0">
                <a:solidFill>
                  <a:srgbClr val="92929A"/>
                </a:solidFill>
                <a:latin typeface="Noto Sans KR"/>
                <a:ea typeface="Noto Sans KR"/>
                <a:cs typeface="Noto Sans KR"/>
              </a:defRPr>
            </a:pPr>
            <a:r>
              <a:rPr sz="1575" b="0">
                <a:solidFill>
                  <a:srgbClr val="92929A"/>
                </a:solidFill>
                <a:latin typeface="Noto Sans KR"/>
                <a:ea typeface="Noto Sans KR"/>
                <a:cs typeface="Noto Sans KR"/>
              </a:rPr>
              <a:t>›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83F6EE4-6CB2-451A-A875-E38E51742B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96475" y="1704975"/>
            <a:ext cx="1724025" cy="704850"/>
          </a:xfrm>
          <a:prstGeom xmlns:a="http://schemas.openxmlformats.org/drawingml/2006/main" prst="roundRect">
            <a:avLst>
              <a:gd name="adj" fmla="val 675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9E0"/>
            </a:solidFill>
          </a:ln>
        </p:spPr>
      </p:sp>
      <p:sp>
        <p:nvSpPr>
          <p:cNvPr id="26" name="text-25">
            <a:extLst xmlns:a="http://schemas.openxmlformats.org/drawingml/2006/main">
              <a:ext uri="{FF2B5EF4-FFF2-40B4-BE49-F238E27FC236}">
                <a16:creationId xmlns:a16="http://schemas.microsoft.com/office/drawing/2014/main" id="{2716A620-DA2B-4698-8E42-556317618A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9825" y="1819275"/>
            <a:ext cx="14573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200" b="1">
                <a:solidFill>
                  <a:srgbClr val="1A1A1A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1">
                <a:solidFill>
                  <a:srgbClr val="1A1A1A"/>
                </a:solidFill>
                <a:latin typeface="Noto Sans KR"/>
                <a:ea typeface="Noto Sans KR"/>
                <a:cs typeface="Noto Sans KR"/>
              </a:rPr>
              <a:t>월말 정산</a:t>
            </a:r>
          </a:p>
        </p:txBody>
      </p:sp>
      <p:sp>
        <p:nvSpPr>
          <p:cNvPr id="27" name="text-26">
            <a:extLst xmlns:a="http://schemas.openxmlformats.org/drawingml/2006/main">
              <a:ext uri="{FF2B5EF4-FFF2-40B4-BE49-F238E27FC236}">
                <a16:creationId xmlns:a16="http://schemas.microsoft.com/office/drawing/2014/main" id="{2358A9D9-7004-462E-BD00-96ACB4F8D0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9825" y="2085975"/>
            <a:ext cx="14573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938" b="0">
                <a:solidFill>
                  <a:srgbClr val="77777E"/>
                </a:solidFill>
                <a:latin typeface="Noto Sans KR"/>
                <a:ea typeface="Noto Sans KR"/>
                <a:cs typeface="Noto Sans KR"/>
              </a:defRPr>
            </a:pPr>
            <a:r>
              <a:rPr sz="938" b="0">
                <a:solidFill>
                  <a:srgbClr val="77777E"/>
                </a:solidFill>
                <a:latin typeface="Noto Sans KR"/>
                <a:ea typeface="Noto Sans KR"/>
                <a:cs typeface="Noto Sans KR"/>
              </a:rPr>
              <a:t>자료 대조</a:t>
            </a:r>
          </a:p>
        </p:txBody>
      </p:sp>
      <p:sp>
        <p:nvSpPr>
          <p:cNvPr id="28" name="text-27">
            <a:extLst xmlns:a="http://schemas.openxmlformats.org/drawingml/2006/main">
              <a:ext uri="{FF2B5EF4-FFF2-40B4-BE49-F238E27FC236}">
                <a16:creationId xmlns:a16="http://schemas.microsoft.com/office/drawing/2014/main" id="{3209EEBA-740C-4643-A757-71CB0121C5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0"/>
            <a:ext cx="5257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350" b="1">
                <a:solidFill>
                  <a:srgbClr val="206D4A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1">
                <a:solidFill>
                  <a:srgbClr val="206D4A"/>
                </a:solidFill>
                <a:latin typeface="Noto Sans KR"/>
                <a:ea typeface="Noto Sans KR"/>
                <a:cs typeface="Noto Sans KR"/>
              </a:rPr>
              <a:t>운영에서 확인한 부담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18521B8-ADED-4EB2-9143-5B7AC0F959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76600"/>
            <a:ext cx="5257800" cy="552450"/>
          </a:xfrm>
          <a:prstGeom xmlns:a="http://schemas.openxmlformats.org/drawingml/2006/main" prst="roundRect">
            <a:avLst>
              <a:gd name="adj" fmla="val 8621"/>
            </a:avLst>
          </a:prstGeom>
          <a:solidFill xmlns:a="http://schemas.openxmlformats.org/drawingml/2006/main">
            <a:srgbClr val="F4F4F6"/>
          </a:solidFill>
          <a:ln xmlns:a="http://schemas.openxmlformats.org/drawingml/2006/main" w="0">
            <a:noFill/>
          </a:ln>
        </p:spPr>
      </p:sp>
      <p:sp>
        <p:nvSpPr>
          <p:cNvPr id="30" name="text-29">
            <a:extLst xmlns:a="http://schemas.openxmlformats.org/drawingml/2006/main">
              <a:ext uri="{FF2B5EF4-FFF2-40B4-BE49-F238E27FC236}">
                <a16:creationId xmlns:a16="http://schemas.microsoft.com/office/drawing/2014/main" id="{82969BDC-36EC-4DC6-A2A9-A013E2B4CD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419475"/>
            <a:ext cx="16859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088" b="1">
                <a:solidFill>
                  <a:srgbClr val="1A1A1A"/>
                </a:solidFill>
                <a:latin typeface="Noto Sans KR"/>
                <a:ea typeface="Noto Sans KR"/>
                <a:cs typeface="Noto Sans KR"/>
              </a:defRPr>
            </a:pPr>
            <a:r>
              <a:rPr sz="1088" b="1">
                <a:solidFill>
                  <a:srgbClr val="1A1A1A"/>
                </a:solidFill>
                <a:latin typeface="Noto Sans KR"/>
                <a:ea typeface="Noto Sans KR"/>
                <a:cs typeface="Noto Sans KR"/>
              </a:rPr>
              <a:t>매일 입금 대조</a:t>
            </a:r>
          </a:p>
        </p:txBody>
      </p:sp>
      <p:sp>
        <p:nvSpPr>
          <p:cNvPr id="31" name="text-30">
            <a:extLst xmlns:a="http://schemas.openxmlformats.org/drawingml/2006/main">
              <a:ext uri="{FF2B5EF4-FFF2-40B4-BE49-F238E27FC236}">
                <a16:creationId xmlns:a16="http://schemas.microsoft.com/office/drawing/2014/main" id="{CB021BF6-5B0B-411A-9BEE-233756FE9A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3419475"/>
            <a:ext cx="134302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275" b="1">
                <a:solidFill>
                  <a:srgbClr val="206D4A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1">
                <a:solidFill>
                  <a:srgbClr val="206D4A"/>
                </a:solidFill>
                <a:latin typeface="Noto Sans KR"/>
                <a:ea typeface="Noto Sans KR"/>
                <a:cs typeface="Noto Sans KR"/>
              </a:rPr>
              <a:t>15~30분</a:t>
            </a:r>
          </a:p>
        </p:txBody>
      </p:sp>
      <p:sp>
        <p:nvSpPr>
          <p:cNvPr id="32" name="text-31">
            <a:extLst xmlns:a="http://schemas.openxmlformats.org/drawingml/2006/main">
              <a:ext uri="{FF2B5EF4-FFF2-40B4-BE49-F238E27FC236}">
                <a16:creationId xmlns:a16="http://schemas.microsoft.com/office/drawing/2014/main" id="{D508D593-20AA-41FE-A328-69B8064599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05275" y="3352800"/>
            <a:ext cx="16002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825" b="0">
                <a:solidFill>
                  <a:srgbClr val="77777E"/>
                </a:solidFill>
                <a:latin typeface="Noto Sans KR"/>
                <a:ea typeface="Noto Sans KR"/>
                <a:cs typeface="Noto Sans KR"/>
              </a:defRPr>
            </a:pPr>
            <a:r>
              <a:rPr sz="825" b="0">
                <a:solidFill>
                  <a:srgbClr val="77777E"/>
                </a:solidFill>
                <a:latin typeface="Noto Sans KR"/>
                <a:ea typeface="Noto Sans KR"/>
                <a:cs typeface="Noto Sans KR"/>
              </a:rPr>
              <a:t>입금자명·금액을 주문과 확인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8EC72EC9-D3B1-41B6-9CA3-E00A6E16F0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81450"/>
            <a:ext cx="5257800" cy="552450"/>
          </a:xfrm>
          <a:prstGeom xmlns:a="http://schemas.openxmlformats.org/drawingml/2006/main" prst="roundRect">
            <a:avLst>
              <a:gd name="adj" fmla="val 8621"/>
            </a:avLst>
          </a:prstGeom>
          <a:solidFill xmlns:a="http://schemas.openxmlformats.org/drawingml/2006/main">
            <a:srgbClr val="F4F4F6"/>
          </a:solidFill>
          <a:ln xmlns:a="http://schemas.openxmlformats.org/drawingml/2006/main" w="0">
            <a:noFill/>
          </a:ln>
        </p:spPr>
      </p:sp>
      <p:sp>
        <p:nvSpPr>
          <p:cNvPr id="34" name="text-33">
            <a:extLst xmlns:a="http://schemas.openxmlformats.org/drawingml/2006/main">
              <a:ext uri="{FF2B5EF4-FFF2-40B4-BE49-F238E27FC236}">
                <a16:creationId xmlns:a16="http://schemas.microsoft.com/office/drawing/2014/main" id="{9E997DE9-FFAD-4110-AAED-2BF85FCBA3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124325"/>
            <a:ext cx="16859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088" b="1">
                <a:solidFill>
                  <a:srgbClr val="1A1A1A"/>
                </a:solidFill>
                <a:latin typeface="Noto Sans KR"/>
                <a:ea typeface="Noto Sans KR"/>
                <a:cs typeface="Noto Sans KR"/>
              </a:defRPr>
            </a:pPr>
            <a:r>
              <a:rPr sz="1088" b="1">
                <a:solidFill>
                  <a:srgbClr val="1A1A1A"/>
                </a:solidFill>
                <a:latin typeface="Noto Sans KR"/>
                <a:ea typeface="Noto Sans KR"/>
                <a:cs typeface="Noto Sans KR"/>
              </a:rPr>
              <a:t>오출고</a:t>
            </a:r>
          </a:p>
        </p:txBody>
      </p:sp>
      <p:sp>
        <p:nvSpPr>
          <p:cNvPr id="35" name="text-34">
            <a:extLst xmlns:a="http://schemas.openxmlformats.org/drawingml/2006/main">
              <a:ext uri="{FF2B5EF4-FFF2-40B4-BE49-F238E27FC236}">
                <a16:creationId xmlns:a16="http://schemas.microsoft.com/office/drawing/2014/main" id="{C9545234-C0CF-4892-BBDA-C89D7DC6FC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4124325"/>
            <a:ext cx="134302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275" b="1">
                <a:solidFill>
                  <a:srgbClr val="206D4A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1">
                <a:solidFill>
                  <a:srgbClr val="206D4A"/>
                </a:solidFill>
                <a:latin typeface="Noto Sans KR"/>
                <a:ea typeface="Noto Sans KR"/>
                <a:cs typeface="Noto Sans KR"/>
              </a:rPr>
              <a:t>월 2~3건</a:t>
            </a:r>
          </a:p>
        </p:txBody>
      </p:sp>
      <p:sp>
        <p:nvSpPr>
          <p:cNvPr id="36" name="text-35">
            <a:extLst xmlns:a="http://schemas.openxmlformats.org/drawingml/2006/main">
              <a:ext uri="{FF2B5EF4-FFF2-40B4-BE49-F238E27FC236}">
                <a16:creationId xmlns:a16="http://schemas.microsoft.com/office/drawing/2014/main" id="{354CC168-DF44-4C9E-9173-E24DCE2C6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05275" y="4057650"/>
            <a:ext cx="16002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825" b="0">
                <a:solidFill>
                  <a:srgbClr val="77777E"/>
                </a:solidFill>
                <a:latin typeface="Noto Sans KR"/>
                <a:ea typeface="Noto Sans KR"/>
                <a:cs typeface="Noto Sans KR"/>
              </a:defRPr>
            </a:pPr>
            <a:r>
              <a:rPr sz="825" b="0">
                <a:solidFill>
                  <a:srgbClr val="77777E"/>
                </a:solidFill>
                <a:latin typeface="Noto Sans KR"/>
                <a:ea typeface="Noto Sans KR"/>
                <a:cs typeface="Noto Sans KR"/>
              </a:rPr>
              <a:t>직전 6개월 월평균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E1543E50-D031-4986-AEF9-9C75D6E6C6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86300"/>
            <a:ext cx="5257800" cy="552450"/>
          </a:xfrm>
          <a:prstGeom xmlns:a="http://schemas.openxmlformats.org/drawingml/2006/main" prst="roundRect">
            <a:avLst>
              <a:gd name="adj" fmla="val 8621"/>
            </a:avLst>
          </a:prstGeom>
          <a:solidFill xmlns:a="http://schemas.openxmlformats.org/drawingml/2006/main">
            <a:srgbClr val="F4F4F6"/>
          </a:solidFill>
          <a:ln xmlns:a="http://schemas.openxmlformats.org/drawingml/2006/main" w="0">
            <a:noFill/>
          </a:ln>
        </p:spPr>
      </p:sp>
      <p:sp>
        <p:nvSpPr>
          <p:cNvPr id="38" name="text-37">
            <a:extLst xmlns:a="http://schemas.openxmlformats.org/drawingml/2006/main">
              <a:ext uri="{FF2B5EF4-FFF2-40B4-BE49-F238E27FC236}">
                <a16:creationId xmlns:a16="http://schemas.microsoft.com/office/drawing/2014/main" id="{EAE0FE83-44FE-416D-9FC1-84D9EB2099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829175"/>
            <a:ext cx="16859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088" b="1">
                <a:solidFill>
                  <a:srgbClr val="1A1A1A"/>
                </a:solidFill>
                <a:latin typeface="Noto Sans KR"/>
                <a:ea typeface="Noto Sans KR"/>
                <a:cs typeface="Noto Sans KR"/>
              </a:defRPr>
            </a:pPr>
            <a:r>
              <a:rPr sz="1088" b="1">
                <a:solidFill>
                  <a:srgbClr val="1A1A1A"/>
                </a:solidFill>
                <a:latin typeface="Noto Sans KR"/>
                <a:ea typeface="Noto Sans KR"/>
                <a:cs typeface="Noto Sans KR"/>
              </a:rPr>
              <a:t>CS 문의</a:t>
            </a:r>
          </a:p>
        </p:txBody>
      </p:sp>
      <p:sp>
        <p:nvSpPr>
          <p:cNvPr id="39" name="text-38">
            <a:extLst xmlns:a="http://schemas.openxmlformats.org/drawingml/2006/main">
              <a:ext uri="{FF2B5EF4-FFF2-40B4-BE49-F238E27FC236}">
                <a16:creationId xmlns:a16="http://schemas.microsoft.com/office/drawing/2014/main" id="{741764D3-D3D4-449D-AC86-F5DCCCE394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4829175"/>
            <a:ext cx="134302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275" b="1">
                <a:solidFill>
                  <a:srgbClr val="206D4A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1">
                <a:solidFill>
                  <a:srgbClr val="206D4A"/>
                </a:solidFill>
                <a:latin typeface="Noto Sans KR"/>
                <a:ea typeface="Noto Sans KR"/>
                <a:cs typeface="Noto Sans KR"/>
              </a:rPr>
              <a:t>2주 환산 32건</a:t>
            </a:r>
          </a:p>
        </p:txBody>
      </p:sp>
      <p:sp>
        <p:nvSpPr>
          <p:cNvPr id="40" name="text-39">
            <a:extLst xmlns:a="http://schemas.openxmlformats.org/drawingml/2006/main">
              <a:ext uri="{FF2B5EF4-FFF2-40B4-BE49-F238E27FC236}">
                <a16:creationId xmlns:a16="http://schemas.microsoft.com/office/drawing/2014/main" id="{62FAF6D8-CA83-4105-A027-A5580D1E1F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05275" y="4762500"/>
            <a:ext cx="16002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825" b="0">
                <a:solidFill>
                  <a:srgbClr val="77777E"/>
                </a:solidFill>
                <a:latin typeface="Noto Sans KR"/>
                <a:ea typeface="Noto Sans KR"/>
                <a:cs typeface="Noto Sans KR"/>
              </a:defRPr>
            </a:pPr>
            <a:r>
              <a:rPr sz="825" b="0">
                <a:solidFill>
                  <a:srgbClr val="77777E"/>
                </a:solidFill>
                <a:latin typeface="Noto Sans KR"/>
                <a:ea typeface="Noto Sans KR"/>
                <a:cs typeface="Noto Sans KR"/>
              </a:rPr>
              <a:t>2026-01~06 인입 이력 기준</a:t>
            </a:r>
          </a:p>
        </p:txBody>
      </p:sp>
      <p:sp>
        <p:nvSpPr>
          <p:cNvPr id="41" name="text-40">
            <a:extLst xmlns:a="http://schemas.openxmlformats.org/drawingml/2006/main">
              <a:ext uri="{FF2B5EF4-FFF2-40B4-BE49-F238E27FC236}">
                <a16:creationId xmlns:a16="http://schemas.microsoft.com/office/drawing/2014/main" id="{74153BA8-B90D-4B8E-82DD-C3C6B4732C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57825"/>
            <a:ext cx="5276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013" b="0">
                <a:solidFill>
                  <a:srgbClr val="77777E"/>
                </a:solidFill>
                <a:latin typeface="Noto Sans KR"/>
                <a:ea typeface="Noto Sans KR"/>
                <a:cs typeface="Noto Sans KR"/>
              </a:defRPr>
            </a:pPr>
            <a:r>
              <a:rPr sz="1013" b="0">
                <a:solidFill>
                  <a:srgbClr val="77777E"/>
                </a:solidFill>
                <a:latin typeface="Noto Sans KR"/>
                <a:ea typeface="Noto Sans KR"/>
                <a:cs typeface="Noto Sans KR"/>
              </a:rPr>
              <a:t>입금 대조는 도입 전 소요시간 / 오출고·문의는 운영팀 출고·CS 이력</a:t>
            </a:r>
          </a:p>
        </p:txBody>
      </p:sp>
      <p:sp>
        <p:nvSpPr>
          <p:cNvPr id="42" name="text-41">
            <a:extLst xmlns:a="http://schemas.openxmlformats.org/drawingml/2006/main">
              <a:ext uri="{FF2B5EF4-FFF2-40B4-BE49-F238E27FC236}">
                <a16:creationId xmlns:a16="http://schemas.microsoft.com/office/drawing/2014/main" id="{9AD87C95-DC8F-49FE-ACCF-5818DB77BE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2857500"/>
            <a:ext cx="5257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350" b="1">
                <a:solidFill>
                  <a:srgbClr val="206D4A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1">
                <a:solidFill>
                  <a:srgbClr val="206D4A"/>
                </a:solidFill>
                <a:latin typeface="Noto Sans KR"/>
                <a:ea typeface="Noto Sans KR"/>
                <a:cs typeface="Noto Sans KR"/>
              </a:rPr>
              <a:t>문제 정의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E24F8862-8523-4AA1-80E1-7E47059787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3276600"/>
            <a:ext cx="5324475" cy="1009650"/>
          </a:xfrm>
          <a:prstGeom xmlns:a="http://schemas.openxmlformats.org/drawingml/2006/main" prst="roundRect">
            <a:avLst>
              <a:gd name="adj" fmla="val 6604"/>
            </a:avLst>
          </a:prstGeom>
          <a:solidFill xmlns:a="http://schemas.openxmlformats.org/drawingml/2006/main">
            <a:srgbClr val="E7F4ED"/>
          </a:solidFill>
          <a:ln xmlns:a="http://schemas.openxmlformats.org/drawingml/2006/main" w="0">
            <a:noFill/>
          </a:ln>
        </p:spPr>
      </p:sp>
      <p:sp>
        <p:nvSpPr>
          <p:cNvPr id="44" name="text-43">
            <a:extLst xmlns:a="http://schemas.openxmlformats.org/drawingml/2006/main">
              <a:ext uri="{FF2B5EF4-FFF2-40B4-BE49-F238E27FC236}">
                <a16:creationId xmlns:a16="http://schemas.microsoft.com/office/drawing/2014/main" id="{910B4278-68F7-4140-A0D3-A9C8BDB650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3476625"/>
            <a:ext cx="485775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650" b="1">
                <a:solidFill>
                  <a:srgbClr val="206D4A"/>
                </a:solidFill>
                <a:latin typeface="Noto Sans KR"/>
                <a:ea typeface="Noto Sans KR"/>
                <a:cs typeface="Noto Sans KR"/>
              </a:defRPr>
            </a:pPr>
            <a:r>
              <a:rPr sz="1650" b="1">
                <a:solidFill>
                  <a:srgbClr val="206D4A"/>
                </a:solidFill>
                <a:latin typeface="Noto Sans KR"/>
                <a:ea typeface="Noto Sans KR"/>
                <a:cs typeface="Noto Sans KR"/>
              </a:rPr>
              <a:t>계약·결제·주문 상태를</a:t>
            </a:r>
          </a:p>
          <a:p xmlns:a="http://schemas.openxmlformats.org/drawingml/2006/main">
            <a:pPr algn="l">
              <a:lnSpc>
                <a:spcPct val="125000"/>
              </a:lnSpc>
              <a:buNone/>
              <a:defRPr sz="1650" b="1">
                <a:solidFill>
                  <a:srgbClr val="206D4A"/>
                </a:solidFill>
                <a:latin typeface="Noto Sans KR"/>
                <a:ea typeface="Noto Sans KR"/>
                <a:cs typeface="Noto Sans KR"/>
              </a:defRPr>
            </a:pPr>
            <a:r>
              <a:rPr sz="1650" b="1">
                <a:solidFill>
                  <a:srgbClr val="206D4A"/>
                </a:solidFill>
                <a:latin typeface="Noto Sans KR"/>
                <a:ea typeface="Noto Sans KR"/>
                <a:cs typeface="Noto Sans KR"/>
              </a:rPr>
              <a:t>사람의 기억으로 매번 판단하는 구조</a:t>
            </a:r>
          </a:p>
        </p:txBody>
      </p:sp>
      <p:sp>
        <p:nvSpPr>
          <p:cNvPr id="45" name="text-44">
            <a:extLst xmlns:a="http://schemas.openxmlformats.org/drawingml/2006/main">
              <a:ext uri="{FF2B5EF4-FFF2-40B4-BE49-F238E27FC236}">
                <a16:creationId xmlns:a16="http://schemas.microsoft.com/office/drawing/2014/main" id="{D3895448-331B-4AB8-8CB2-F1322B688F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4562475"/>
            <a:ext cx="3429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125" b="1">
                <a:solidFill>
                  <a:srgbClr val="206D4A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1">
                <a:solidFill>
                  <a:srgbClr val="206D4A"/>
                </a:solidFill>
                <a:latin typeface="Noto Sans KR"/>
                <a:ea typeface="Noto Sans KR"/>
                <a:cs typeface="Noto Sans KR"/>
              </a:rPr>
              <a:t>01</a:t>
            </a:r>
          </a:p>
        </p:txBody>
      </p:sp>
      <p:sp>
        <p:nvSpPr>
          <p:cNvPr id="46" name="text-45">
            <a:extLst xmlns:a="http://schemas.openxmlformats.org/drawingml/2006/main">
              <a:ext uri="{FF2B5EF4-FFF2-40B4-BE49-F238E27FC236}">
                <a16:creationId xmlns:a16="http://schemas.microsoft.com/office/drawing/2014/main" id="{90C1991A-9845-4C85-BC67-060D3F8A8F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38925" y="4562475"/>
            <a:ext cx="48387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125" b="0">
                <a:solidFill>
                  <a:srgbClr val="4E4E53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0">
                <a:solidFill>
                  <a:srgbClr val="4E4E53"/>
                </a:solidFill>
                <a:latin typeface="Noto Sans KR"/>
                <a:ea typeface="Noto Sans KR"/>
                <a:cs typeface="Noto Sans KR"/>
              </a:rPr>
              <a:t>등급별 상품과 결제 조건이 화면·서버에서 일치해야 함</a:t>
            </a:r>
          </a:p>
        </p:txBody>
      </p:sp>
      <p:sp>
        <p:nvSpPr>
          <p:cNvPr id="47" name="text-46">
            <a:extLst xmlns:a="http://schemas.openxmlformats.org/drawingml/2006/main">
              <a:ext uri="{FF2B5EF4-FFF2-40B4-BE49-F238E27FC236}">
                <a16:creationId xmlns:a16="http://schemas.microsoft.com/office/drawing/2014/main" id="{9537554C-64F7-4535-811C-4085A62CCC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5305425"/>
            <a:ext cx="3429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125" b="1">
                <a:solidFill>
                  <a:srgbClr val="206D4A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1">
                <a:solidFill>
                  <a:srgbClr val="206D4A"/>
                </a:solidFill>
                <a:latin typeface="Noto Sans KR"/>
                <a:ea typeface="Noto Sans KR"/>
                <a:cs typeface="Noto Sans KR"/>
              </a:rPr>
              <a:t>02</a:t>
            </a:r>
          </a:p>
        </p:txBody>
      </p:sp>
      <p:sp>
        <p:nvSpPr>
          <p:cNvPr id="48" name="text-47">
            <a:extLst xmlns:a="http://schemas.openxmlformats.org/drawingml/2006/main">
              <a:ext uri="{FF2B5EF4-FFF2-40B4-BE49-F238E27FC236}">
                <a16:creationId xmlns:a16="http://schemas.microsoft.com/office/drawing/2014/main" id="{2C3FD799-5102-4EE9-836B-7AB4456F74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38925" y="5305425"/>
            <a:ext cx="48387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125" b="0">
                <a:solidFill>
                  <a:srgbClr val="4E4E53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0">
                <a:solidFill>
                  <a:srgbClr val="4E4E53"/>
                </a:solidFill>
                <a:latin typeface="Noto Sans KR"/>
                <a:ea typeface="Noto Sans KR"/>
                <a:cs typeface="Noto Sans KR"/>
              </a:rPr>
              <a:t>잘못된 조합은 주문 전에 막고 고객이 다음 행동을 알 수 있어야 함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9F27EB40-662B-4509-B3BE-23F6CD2531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34100"/>
            <a:ext cx="10972800" cy="457200"/>
          </a:xfrm>
          <a:prstGeom xmlns:a="http://schemas.openxmlformats.org/drawingml/2006/main" prst="roundRect">
            <a:avLst>
              <a:gd name="adj" fmla="val 10417"/>
            </a:avLst>
          </a:prstGeom>
          <a:solidFill xmlns:a="http://schemas.openxmlformats.org/drawingml/2006/main">
            <a:srgbClr val="206D4A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114300" tIns="47625" rIns="114300" bIns="476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127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우선 해결할 문제를 주문 오류 예방과 반복 확인 업무의 감소로 정했습니다.</a:t>
            </a:r>
          </a:p>
        </p:txBody>
      </p:sp>
    </p:spTree>
    <p:extLst>
      <p:ext uri="{BB962C8B-B14F-4D97-AF65-F5344CB8AC3E}">
        <p14:creationId xmlns:p14="http://schemas.microsoft.com/office/powerpoint/2010/main" val="1228368405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text-0">
            <a:extLst xmlns:a="http://schemas.openxmlformats.org/drawingml/2006/main">
              <a:ext uri="{FF2B5EF4-FFF2-40B4-BE49-F238E27FC236}">
                <a16:creationId xmlns:a16="http://schemas.microsoft.com/office/drawing/2014/main" id="{5F18638D-B1F0-4865-8310-B5C5DC8E6D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87075" y="285750"/>
            <a:ext cx="6953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25000"/>
              </a:lnSpc>
              <a:buNone/>
              <a:defRPr sz="788" b="0">
                <a:solidFill>
                  <a:srgbClr val="92929A"/>
                </a:solidFill>
                <a:latin typeface="Noto Sans KR"/>
                <a:ea typeface="Noto Sans KR"/>
                <a:cs typeface="Noto Sans KR"/>
              </a:defRPr>
            </a:pPr>
            <a:r>
              <a:rPr sz="788" b="0">
                <a:solidFill>
                  <a:srgbClr val="92929A"/>
                </a:solidFill>
                <a:latin typeface="Noto Sans KR"/>
                <a:ea typeface="Noto Sans KR"/>
                <a:cs typeface="Noto Sans KR"/>
              </a:rPr>
              <a:t>14 / 22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6BBE6032-FE00-44A8-B392-29FBF828AA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3905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950" b="1">
                <a:solidFill>
                  <a:srgbClr val="206D4A"/>
                </a:solidFill>
                <a:latin typeface="Noto Sans KR"/>
                <a:ea typeface="Noto Sans KR"/>
                <a:cs typeface="Noto Sans KR"/>
              </a:defRPr>
            </a:pPr>
            <a:r>
              <a:rPr sz="1950" b="1">
                <a:solidFill>
                  <a:srgbClr val="206D4A"/>
                </a:solidFill>
                <a:latin typeface="Noto Sans KR"/>
                <a:ea typeface="Noto Sans KR"/>
                <a:cs typeface="Noto Sans KR"/>
              </a:rPr>
              <a:t>02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4E273A2D-2405-4495-B632-2CDB9D3F31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742950"/>
            <a:ext cx="10287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950" b="1">
                <a:solidFill>
                  <a:srgbClr val="1A1A1A"/>
                </a:solidFill>
                <a:latin typeface="Noto Sans KR"/>
                <a:ea typeface="Noto Sans KR"/>
                <a:cs typeface="Noto Sans KR"/>
              </a:defRPr>
            </a:pPr>
            <a:r>
              <a:rPr sz="1950" b="1">
                <a:solidFill>
                  <a:srgbClr val="1A1A1A"/>
                </a:solidFill>
                <a:latin typeface="Noto Sans KR"/>
                <a:ea typeface="Noto Sans KR"/>
                <a:cs typeface="Noto Sans KR"/>
              </a:rPr>
              <a:t>대안 비교와 오픈 범위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377AEBA7-813C-4EC0-B9CF-AE2D7298E5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906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050" b="0">
                <a:solidFill>
                  <a:srgbClr val="77777E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0">
                <a:solidFill>
                  <a:srgbClr val="77777E"/>
                </a:solidFill>
                <a:latin typeface="Noto Sans KR"/>
                <a:ea typeface="Noto Sans KR"/>
                <a:cs typeface="Noto Sans KR"/>
              </a:rPr>
              <a:t>운영팀이 익숙한 플랫폼 위에 계약별 정책을 추가하는 방식을 선택했습니다.</a:t>
            </a:r>
          </a:p>
        </p:txBody>
      </p:sp>
      <p:graphicFrame>
        <p:nvGraphicFramePr>
          <p:cNvPr id="18" name=""/>
          <p:cNvGraphicFramePr/>
          <p:nvPr/>
        </p:nvGraphicFramePr>
        <p:xfrm>
          <a:off xmlns:a="http://schemas.openxmlformats.org/drawingml/2006/main" x="609600" y="1695450"/>
          <a:ext xmlns:a="http://schemas.openxmlformats.org/drawingml/2006/main" cx="10972800" cy="22288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238375"/>
                <a:gridCol w="2457450"/>
                <a:gridCol w="4686300"/>
                <a:gridCol w="1590675"/>
              </a:tblGrid>
              <a:tr h="342900">
                <a:tc>
                  <a:txBody>
                    <a:bodyPr lIns="95250" tIns="57150" rIns="95250" bIns="57150"/>
                    <a:lstStyle/>
                    <a:p>
                      <a:pPr algn="l">
                        <a:lnSpc>
                          <a:spcPct val="122000"/>
                        </a:lnSpc>
                        <a:buNone/>
                      </a:pPr>
                      <a:r>
                        <a:rPr sz="1065" b="1">
                          <a:solidFill>
                            <a:srgbClr val="77777E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대안</a:t>
                      </a:r>
                    </a:p>
                  </a:txBody>
                  <a:tcPr marL="95250" marR="95250" marT="57150" marB="5715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57150" rIns="95250" bIns="57150"/>
                    <a:lstStyle/>
                    <a:p>
                      <a:pPr algn="l">
                        <a:lnSpc>
                          <a:spcPct val="122000"/>
                        </a:lnSpc>
                        <a:buNone/>
                      </a:pPr>
                      <a:r>
                        <a:rPr sz="1065" b="1">
                          <a:solidFill>
                            <a:srgbClr val="77777E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장점</a:t>
                      </a:r>
                    </a:p>
                  </a:txBody>
                  <a:tcPr marL="95250" marR="95250" marT="57150" marB="5715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57150" rIns="95250" bIns="57150"/>
                    <a:lstStyle/>
                    <a:p>
                      <a:pPr algn="l">
                        <a:lnSpc>
                          <a:spcPct val="122000"/>
                        </a:lnSpc>
                        <a:buNone/>
                      </a:pPr>
                      <a:r>
                        <a:rPr sz="1065" b="1">
                          <a:solidFill>
                            <a:srgbClr val="77777E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판단한 제약</a:t>
                      </a:r>
                    </a:p>
                  </a:txBody>
                  <a:tcPr marL="95250" marR="95250" marT="57150" marB="5715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57150" rIns="95250" bIns="57150"/>
                    <a:lstStyle/>
                    <a:p>
                      <a:pPr algn="l">
                        <a:lnSpc>
                          <a:spcPct val="122000"/>
                        </a:lnSpc>
                        <a:buNone/>
                      </a:pPr>
                      <a:r>
                        <a:rPr sz="1065" b="1">
                          <a:solidFill>
                            <a:srgbClr val="77777E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결정</a:t>
                      </a:r>
                    </a:p>
                  </a:txBody>
                  <a:tcPr marL="95250" marR="95250" marT="57150" marB="5715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28650">
                <a:tc>
                  <a:txBody>
                    <a:bodyPr lIns="95250" tIns="57150" rIns="95250" bIns="57150"/>
                    <a:lstStyle/>
                    <a:p>
                      <a:pPr algn="l">
                        <a:lnSpc>
                          <a:spcPct val="122000"/>
                        </a:lnSpc>
                        <a:buNone/>
                      </a:pPr>
                      <a:r>
                        <a:rPr sz="1065" b="1">
                          <a:solidFill>
                            <a:srgbClr val="206D4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맞춤형 웹서비스 개발</a:t>
                      </a:r>
                    </a:p>
                  </a:txBody>
                  <a:tcPr marL="95250" marR="95250" marT="57150" marB="5715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57150" rIns="95250" bIns="57150"/>
                    <a:lstStyle/>
                    <a:p>
                      <a:pPr algn="l">
                        <a:lnSpc>
                          <a:spcPct val="122000"/>
                        </a:lnSpc>
                        <a:buNone/>
                      </a:pPr>
                      <a:r>
                        <a:rPr sz="1065" b="0">
                          <a:solidFill>
                            <a:srgbClr val="4E4E5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요구사항을 자유롭게 구현</a:t>
                      </a:r>
                    </a:p>
                  </a:txBody>
                  <a:tcPr marL="95250" marR="95250" marT="57150" marB="5715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57150" rIns="95250" bIns="57150"/>
                    <a:lstStyle/>
                    <a:p>
                      <a:pPr algn="l">
                        <a:lnSpc>
                          <a:spcPct val="122000"/>
                        </a:lnSpc>
                        <a:buNone/>
                      </a:pPr>
                      <a:r>
                        <a:rPr sz="1065" b="0">
                          <a:solidFill>
                            <a:srgbClr val="4E4E5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서버 운영과 유지보수 책임이 내부로 확대</a:t>
                      </a:r>
                    </a:p>
                  </a:txBody>
                  <a:tcPr marL="95250" marR="95250" marT="57150" marB="5715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57150" rIns="95250" bIns="57150"/>
                    <a:lstStyle/>
                    <a:p>
                      <a:pPr algn="l">
                        <a:lnSpc>
                          <a:spcPct val="122000"/>
                        </a:lnSpc>
                        <a:buNone/>
                      </a:pPr>
                      <a:r>
                        <a:rPr sz="1065" b="0">
                          <a:solidFill>
                            <a:srgbClr val="4E4E5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제외</a:t>
                      </a:r>
                    </a:p>
                  </a:txBody>
                  <a:tcPr marL="95250" marR="95250" marT="57150" marB="5715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28650">
                <a:tc>
                  <a:txBody>
                    <a:bodyPr lIns="95250" tIns="57150" rIns="95250" bIns="57150"/>
                    <a:lstStyle/>
                    <a:p>
                      <a:pPr algn="l">
                        <a:lnSpc>
                          <a:spcPct val="122000"/>
                        </a:lnSpc>
                        <a:buNone/>
                      </a:pPr>
                      <a:r>
                        <a:rPr sz="1065" b="1">
                          <a:solidFill>
                            <a:srgbClr val="206D4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다른 쇼핑몰 솔루션</a:t>
                      </a:r>
                    </a:p>
                  </a:txBody>
                  <a:tcPr marL="95250" marR="95250" marT="57150" marB="5715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57150" rIns="95250" bIns="57150"/>
                    <a:lstStyle/>
                    <a:p>
                      <a:pPr algn="l">
                        <a:lnSpc>
                          <a:spcPct val="122000"/>
                        </a:lnSpc>
                        <a:buNone/>
                      </a:pPr>
                      <a:r>
                        <a:rPr sz="1065" b="0">
                          <a:solidFill>
                            <a:srgbClr val="4E4E5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기본 기능을 빠르게 활용</a:t>
                      </a:r>
                    </a:p>
                  </a:txBody>
                  <a:tcPr marL="95250" marR="95250" marT="57150" marB="5715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57150" rIns="95250" bIns="57150"/>
                    <a:lstStyle/>
                    <a:p>
                      <a:pPr algn="l">
                        <a:lnSpc>
                          <a:spcPct val="122000"/>
                        </a:lnSpc>
                        <a:buNone/>
                      </a:pPr>
                      <a:r>
                        <a:rPr sz="1065" b="0">
                          <a:solidFill>
                            <a:srgbClr val="4E4E5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운영팀이 새 환경을 학습하고 기존 인프라와 이원화</a:t>
                      </a:r>
                    </a:p>
                  </a:txBody>
                  <a:tcPr marL="95250" marR="95250" marT="57150" marB="5715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57150" rIns="95250" bIns="57150"/>
                    <a:lstStyle/>
                    <a:p>
                      <a:pPr algn="l">
                        <a:lnSpc>
                          <a:spcPct val="122000"/>
                        </a:lnSpc>
                        <a:buNone/>
                      </a:pPr>
                      <a:r>
                        <a:rPr sz="1065" b="0">
                          <a:solidFill>
                            <a:srgbClr val="4E4E5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제외</a:t>
                      </a:r>
                    </a:p>
                  </a:txBody>
                  <a:tcPr marL="95250" marR="95250" marT="57150" marB="5715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28650">
                <a:tc>
                  <a:txBody>
                    <a:bodyPr lIns="95250" tIns="57150" rIns="95250" bIns="57150"/>
                    <a:lstStyle/>
                    <a:p>
                      <a:pPr algn="l">
                        <a:lnSpc>
                          <a:spcPct val="122000"/>
                        </a:lnSpc>
                        <a:buNone/>
                      </a:pPr>
                      <a:r>
                        <a:rPr sz="1065" b="1">
                          <a:solidFill>
                            <a:srgbClr val="206D4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기존 솔루션 + 정책 맞춤</a:t>
                      </a:r>
                    </a:p>
                  </a:txBody>
                  <a:tcPr marL="95250" marR="95250" marT="57150" marB="5715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E0"/>
                      </a:solidFill>
                      <a:prstDash val="solid"/>
                    </a:lnB>
                    <a:solidFill>
                      <a:srgbClr val="E7F4ED"/>
                    </a:solidFill>
                  </a:tcPr>
                </a:tc>
                <a:tc>
                  <a:txBody>
                    <a:bodyPr lIns="95250" tIns="57150" rIns="95250" bIns="57150"/>
                    <a:lstStyle/>
                    <a:p>
                      <a:pPr algn="l">
                        <a:lnSpc>
                          <a:spcPct val="122000"/>
                        </a:lnSpc>
                        <a:buNone/>
                      </a:pPr>
                      <a:r>
                        <a:rPr sz="1065" b="1">
                          <a:solidFill>
                            <a:srgbClr val="206D4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기존 인프라와 운영 방식 유지</a:t>
                      </a:r>
                    </a:p>
                  </a:txBody>
                  <a:tcPr marL="95250" marR="95250" marT="57150" marB="5715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E0"/>
                      </a:solidFill>
                      <a:prstDash val="solid"/>
                    </a:lnB>
                    <a:solidFill>
                      <a:srgbClr val="E7F4ED"/>
                    </a:solidFill>
                  </a:tcPr>
                </a:tc>
                <a:tc>
                  <a:txBody>
                    <a:bodyPr lIns="95250" tIns="57150" rIns="95250" bIns="57150"/>
                    <a:lstStyle/>
                    <a:p>
                      <a:pPr algn="l">
                        <a:lnSpc>
                          <a:spcPct val="122000"/>
                        </a:lnSpc>
                        <a:buNone/>
                      </a:pPr>
                      <a:r>
                        <a:rPr sz="1065" b="1">
                          <a:solidFill>
                            <a:srgbClr val="206D4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정책 예외를 구체화하고 별도 개발 범위를 관리</a:t>
                      </a:r>
                    </a:p>
                  </a:txBody>
                  <a:tcPr marL="95250" marR="95250" marT="57150" marB="5715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E0"/>
                      </a:solidFill>
                      <a:prstDash val="solid"/>
                    </a:lnB>
                    <a:solidFill>
                      <a:srgbClr val="E7F4ED"/>
                    </a:solidFill>
                  </a:tcPr>
                </a:tc>
                <a:tc>
                  <a:txBody>
                    <a:bodyPr lIns="95250" tIns="57150" rIns="95250" bIns="57150"/>
                    <a:lstStyle/>
                    <a:p>
                      <a:pPr algn="l">
                        <a:lnSpc>
                          <a:spcPct val="122000"/>
                        </a:lnSpc>
                        <a:buNone/>
                      </a:pPr>
                      <a:r>
                        <a:rPr sz="1065" b="1">
                          <a:solidFill>
                            <a:srgbClr val="206D4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채택</a:t>
                      </a:r>
                    </a:p>
                  </a:txBody>
                  <a:tcPr marL="95250" marR="95250" marT="57150" marB="5715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E0"/>
                      </a:solidFill>
                      <a:prstDash val="solid"/>
                    </a:lnB>
                    <a:solidFill>
                      <a:srgbClr val="E7F4ED"/>
                    </a:solidFill>
                  </a:tcPr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B37C2AB-22D4-4616-B855-3ABCB6300E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05275"/>
            <a:ext cx="10972800" cy="371475"/>
          </a:xfrm>
          <a:prstGeom xmlns:a="http://schemas.openxmlformats.org/drawingml/2006/main" prst="roundRect">
            <a:avLst>
              <a:gd name="adj" fmla="val 12821"/>
            </a:avLst>
          </a:prstGeom>
          <a:solidFill xmlns:a="http://schemas.openxmlformats.org/drawingml/2006/main">
            <a:srgbClr val="F4F4F6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114300" tIns="47625" rIns="114300" bIns="476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1050" b="1">
                <a:solidFill>
                  <a:srgbClr val="1A1A1A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1">
                <a:solidFill>
                  <a:srgbClr val="1A1A1A"/>
                </a:solidFill>
                <a:latin typeface="Noto Sans KR"/>
                <a:ea typeface="Noto Sans KR"/>
                <a:cs typeface="Noto Sans KR"/>
              </a:rPr>
              <a:t>결정 기준  ① 운영팀 학습 부담    ② 기존 인프라    ③ 유지보수 책임    ④ 구축비용</a:t>
            </a:r>
          </a:p>
        </p:txBody>
      </p:sp>
      <p:sp>
        <p:nvSpPr>
          <p:cNvPr id="7" name="text-5">
            <a:extLst xmlns:a="http://schemas.openxmlformats.org/drawingml/2006/main">
              <a:ext uri="{FF2B5EF4-FFF2-40B4-BE49-F238E27FC236}">
                <a16:creationId xmlns:a16="http://schemas.microsoft.com/office/drawing/2014/main" id="{A2FDB9B3-FEF3-4FB1-8EA3-EC69E4B39D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48225"/>
            <a:ext cx="10972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350" b="1">
                <a:solidFill>
                  <a:srgbClr val="206D4A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1">
                <a:solidFill>
                  <a:srgbClr val="206D4A"/>
                </a:solidFill>
                <a:latin typeface="Noto Sans KR"/>
                <a:ea typeface="Noto Sans KR"/>
                <a:cs typeface="Noto Sans KR"/>
              </a:rPr>
              <a:t>범위에서 뺀 기능과 이유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38C1991-5C50-405B-85E7-94A46FA1AC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67325"/>
            <a:ext cx="3524250" cy="361950"/>
          </a:xfrm>
          <a:prstGeom xmlns:a="http://schemas.openxmlformats.org/drawingml/2006/main" prst="roundRect">
            <a:avLst>
              <a:gd name="adj" fmla="val 13158"/>
            </a:avLst>
          </a:prstGeom>
          <a:solidFill xmlns:a="http://schemas.openxmlformats.org/drawingml/2006/main">
            <a:srgbClr val="FFF6E5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114300" tIns="47625" rIns="114300" bIns="476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1200" b="1">
                <a:solidFill>
                  <a:srgbClr val="9C650A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1">
                <a:solidFill>
                  <a:srgbClr val="9C650A"/>
                </a:solidFill>
                <a:latin typeface="Noto Sans KR"/>
                <a:ea typeface="Noto Sans KR"/>
                <a:cs typeface="Noto Sans KR"/>
              </a:rPr>
              <a:t>PG 결제</a:t>
            </a:r>
          </a:p>
        </p:txBody>
      </p:sp>
      <p:sp>
        <p:nvSpPr>
          <p:cNvPr id="9" name="text-7">
            <a:extLst xmlns:a="http://schemas.openxmlformats.org/drawingml/2006/main">
              <a:ext uri="{FF2B5EF4-FFF2-40B4-BE49-F238E27FC236}">
                <a16:creationId xmlns:a16="http://schemas.microsoft.com/office/drawing/2014/main" id="{F87E8D49-65E5-4DF4-B933-4243981117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791200"/>
            <a:ext cx="325755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5000"/>
              </a:lnSpc>
              <a:buNone/>
              <a:defRPr sz="1125" b="0">
                <a:solidFill>
                  <a:srgbClr val="4E4E53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0">
                <a:solidFill>
                  <a:srgbClr val="4E4E53"/>
                </a:solidFill>
                <a:latin typeface="Noto Sans KR"/>
                <a:ea typeface="Noto Sans KR"/>
                <a:cs typeface="Noto Sans KR"/>
              </a:rPr>
              <a:t>B2B 마진 대비 수수료 부담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6E58401-005A-47FA-A5D8-B08A78F19C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5267325"/>
            <a:ext cx="3524250" cy="361950"/>
          </a:xfrm>
          <a:prstGeom xmlns:a="http://schemas.openxmlformats.org/drawingml/2006/main" prst="roundRect">
            <a:avLst>
              <a:gd name="adj" fmla="val 13158"/>
            </a:avLst>
          </a:prstGeom>
          <a:solidFill xmlns:a="http://schemas.openxmlformats.org/drawingml/2006/main">
            <a:srgbClr val="FFF6E5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114300" tIns="47625" rIns="114300" bIns="476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1200" b="1">
                <a:solidFill>
                  <a:srgbClr val="9C650A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1">
                <a:solidFill>
                  <a:srgbClr val="9C650A"/>
                </a:solidFill>
                <a:latin typeface="Noto Sans KR"/>
                <a:ea typeface="Noto Sans KR"/>
                <a:cs typeface="Noto Sans KR"/>
              </a:rPr>
              <a:t>견적서 신규 개발</a:t>
            </a:r>
          </a:p>
        </p:txBody>
      </p:sp>
      <p:sp>
        <p:nvSpPr>
          <p:cNvPr id="11" name="text-9">
            <a:extLst xmlns:a="http://schemas.openxmlformats.org/drawingml/2006/main">
              <a:ext uri="{FF2B5EF4-FFF2-40B4-BE49-F238E27FC236}">
                <a16:creationId xmlns:a16="http://schemas.microsoft.com/office/drawing/2014/main" id="{48981E89-AC58-44B8-BD4F-FDF8586DE5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5791200"/>
            <a:ext cx="325755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5000"/>
              </a:lnSpc>
              <a:buNone/>
              <a:defRPr sz="1125" b="0">
                <a:solidFill>
                  <a:srgbClr val="4E4E53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0">
                <a:solidFill>
                  <a:srgbClr val="4E4E53"/>
                </a:solidFill>
                <a:latin typeface="Noto Sans KR"/>
                <a:ea typeface="Noto Sans KR"/>
                <a:cs typeface="Noto Sans KR"/>
              </a:rPr>
              <a:t>기존 거래명세서로 대체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FFAA69D-30D6-4AC6-9808-44961AD25A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5267325"/>
            <a:ext cx="3524250" cy="361950"/>
          </a:xfrm>
          <a:prstGeom xmlns:a="http://schemas.openxmlformats.org/drawingml/2006/main" prst="roundRect">
            <a:avLst>
              <a:gd name="adj" fmla="val 13158"/>
            </a:avLst>
          </a:prstGeom>
          <a:solidFill xmlns:a="http://schemas.openxmlformats.org/drawingml/2006/main">
            <a:srgbClr val="FFF6E5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114300" tIns="47625" rIns="114300" bIns="476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1200" b="1">
                <a:solidFill>
                  <a:srgbClr val="9C650A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1">
                <a:solidFill>
                  <a:srgbClr val="9C650A"/>
                </a:solidFill>
                <a:latin typeface="Noto Sans KR"/>
                <a:ea typeface="Noto Sans KR"/>
                <a:cs typeface="Noto Sans KR"/>
              </a:rPr>
              <a:t>포인트 완전 자동화</a:t>
            </a:r>
          </a:p>
        </p:txBody>
      </p:sp>
      <p:sp>
        <p:nvSpPr>
          <p:cNvPr id="13" name="text-11">
            <a:extLst xmlns:a="http://schemas.openxmlformats.org/drawingml/2006/main">
              <a:ext uri="{FF2B5EF4-FFF2-40B4-BE49-F238E27FC236}">
                <a16:creationId xmlns:a16="http://schemas.microsoft.com/office/drawing/2014/main" id="{16CB18DA-CB62-48AC-B923-5DF0960C20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5791200"/>
            <a:ext cx="325755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5000"/>
              </a:lnSpc>
              <a:buNone/>
              <a:defRPr sz="1125" b="0">
                <a:solidFill>
                  <a:srgbClr val="4E4E53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0">
                <a:solidFill>
                  <a:srgbClr val="4E4E53"/>
                </a:solidFill>
                <a:latin typeface="Noto Sans KR"/>
                <a:ea typeface="Noto Sans KR"/>
                <a:cs typeface="Noto Sans KR"/>
              </a:rPr>
              <a:t>계약 변경과 비가역 차감 위험</a:t>
            </a:r>
          </a:p>
          <a:p xmlns:a="http://schemas.openxmlformats.org/drawingml/2006/main">
            <a:pPr algn="ctr">
              <a:lnSpc>
                <a:spcPct val="125000"/>
              </a:lnSpc>
              <a:buNone/>
              <a:defRPr sz="1125" b="0">
                <a:solidFill>
                  <a:srgbClr val="4E4E53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0">
                <a:solidFill>
                  <a:srgbClr val="4E4E53"/>
                </a:solidFill>
                <a:latin typeface="Noto Sans KR"/>
                <a:ea typeface="Noto Sans KR"/>
                <a:cs typeface="Noto Sans KR"/>
              </a:rPr>
              <a:t>담당자 확인 후 실행</a:t>
            </a:r>
          </a:p>
        </p:txBody>
      </p:sp>
    </p:spTree>
    <p:extLst>
      <p:ext uri="{BB962C8B-B14F-4D97-AF65-F5344CB8AC3E}">
        <p14:creationId xmlns:p14="http://schemas.microsoft.com/office/powerpoint/2010/main" val="1425832930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text-0">
            <a:extLst xmlns:a="http://schemas.openxmlformats.org/drawingml/2006/main">
              <a:ext uri="{FF2B5EF4-FFF2-40B4-BE49-F238E27FC236}">
                <a16:creationId xmlns:a16="http://schemas.microsoft.com/office/drawing/2014/main" id="{2E59B9E4-EF7F-4E1A-B0FD-706FCB8A08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87075" y="285750"/>
            <a:ext cx="6953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25000"/>
              </a:lnSpc>
              <a:buNone/>
              <a:defRPr sz="788" b="0">
                <a:solidFill>
                  <a:srgbClr val="92929A"/>
                </a:solidFill>
                <a:latin typeface="Noto Sans KR"/>
                <a:ea typeface="Noto Sans KR"/>
                <a:cs typeface="Noto Sans KR"/>
              </a:defRPr>
            </a:pPr>
            <a:r>
              <a:rPr sz="788" b="0">
                <a:solidFill>
                  <a:srgbClr val="92929A"/>
                </a:solidFill>
                <a:latin typeface="Noto Sans KR"/>
                <a:ea typeface="Noto Sans KR"/>
                <a:cs typeface="Noto Sans KR"/>
              </a:rPr>
              <a:t>15 / 22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2226D11E-1055-4668-81BF-4BDE100A78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3905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950" b="1">
                <a:solidFill>
                  <a:srgbClr val="206D4A"/>
                </a:solidFill>
                <a:latin typeface="Noto Sans KR"/>
                <a:ea typeface="Noto Sans KR"/>
                <a:cs typeface="Noto Sans KR"/>
              </a:defRPr>
            </a:pPr>
            <a:r>
              <a:rPr sz="1950" b="1">
                <a:solidFill>
                  <a:srgbClr val="206D4A"/>
                </a:solidFill>
                <a:latin typeface="Noto Sans KR"/>
                <a:ea typeface="Noto Sans KR"/>
                <a:cs typeface="Noto Sans KR"/>
              </a:rPr>
              <a:t>03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DC37ECE6-AF06-4ADB-947F-1DF96ED7D9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742950"/>
            <a:ext cx="10287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950" b="1">
                <a:solidFill>
                  <a:srgbClr val="1A1A1A"/>
                </a:solidFill>
                <a:latin typeface="Noto Sans KR"/>
                <a:ea typeface="Noto Sans KR"/>
                <a:cs typeface="Noto Sans KR"/>
              </a:defRPr>
            </a:pPr>
            <a:r>
              <a:rPr sz="1950" b="1">
                <a:solidFill>
                  <a:srgbClr val="1A1A1A"/>
                </a:solidFill>
                <a:latin typeface="Noto Sans KR"/>
                <a:ea typeface="Noto Sans KR"/>
                <a:cs typeface="Noto Sans KR"/>
              </a:rPr>
              <a:t>계정 정책을 설정표로 고정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D2750716-1E1F-45FD-88DF-143F1CB601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906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050" b="0">
                <a:solidFill>
                  <a:srgbClr val="77777E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0">
                <a:solidFill>
                  <a:srgbClr val="77777E"/>
                </a:solidFill>
                <a:latin typeface="Noto Sans KR"/>
                <a:ea typeface="Noto Sans KR"/>
                <a:cs typeface="Noto Sans KR"/>
              </a:rPr>
              <a:t>회원 등급과 상품 카테고리를 조합해, 고객 화면과 서버가 같은 결제 규칙을 쓰도록 했습니다.</a:t>
            </a:r>
          </a:p>
        </p:txBody>
      </p:sp>
      <p:sp>
        <p:nvSpPr>
          <p:cNvPr id="5" name="text-4">
            <a:extLst xmlns:a="http://schemas.openxmlformats.org/drawingml/2006/main">
              <a:ext uri="{FF2B5EF4-FFF2-40B4-BE49-F238E27FC236}">
                <a16:creationId xmlns:a16="http://schemas.microsoft.com/office/drawing/2014/main" id="{B51B6BA7-D03B-4026-8247-CAA699805B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95450"/>
            <a:ext cx="6991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350" b="1">
                <a:solidFill>
                  <a:srgbClr val="206D4A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1">
                <a:solidFill>
                  <a:srgbClr val="206D4A"/>
                </a:solidFill>
                <a:latin typeface="Noto Sans KR"/>
                <a:ea typeface="Noto Sans KR"/>
                <a:cs typeface="Noto Sans KR"/>
              </a:rPr>
              <a:t>회원 등급 × 상품 카테고리</a:t>
            </a:r>
          </a:p>
        </p:txBody>
      </p:sp>
      <p:graphicFrame>
        <p:nvGraphicFramePr>
          <p:cNvPr id="18" name=""/>
          <p:cNvGraphicFramePr/>
          <p:nvPr/>
        </p:nvGraphicFramePr>
        <p:xfrm>
          <a:off xmlns:a="http://schemas.openxmlformats.org/drawingml/2006/main" x="609600" y="2105025"/>
          <a:ext xmlns:a="http://schemas.openxmlformats.org/drawingml/2006/main" cx="7334250" cy="20574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247900"/>
                <a:gridCol w="1790700"/>
                <a:gridCol w="1628775"/>
                <a:gridCol w="1666875"/>
              </a:tblGrid>
              <a:tr h="342900">
                <a:tc>
                  <a:txBody>
                    <a:bodyPr lIns="95250" tIns="57150" rIns="95250" bIns="57150"/>
                    <a:lstStyle/>
                    <a:p>
                      <a:pPr algn="l">
                        <a:lnSpc>
                          <a:spcPct val="122000"/>
                        </a:lnSpc>
                        <a:buNone/>
                      </a:pPr>
                      <a:r>
                        <a:rPr sz="1088" b="1">
                          <a:solidFill>
                            <a:srgbClr val="77777E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회원 등급</a:t>
                      </a:r>
                    </a:p>
                  </a:txBody>
                  <a:tcPr marL="95250" marR="95250" marT="57150" marB="5715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57150" rIns="95250" bIns="57150"/>
                    <a:lstStyle/>
                    <a:p>
                      <a:pPr algn="l">
                        <a:lnSpc>
                          <a:spcPct val="122000"/>
                        </a:lnSpc>
                        <a:buNone/>
                      </a:pPr>
                      <a:r>
                        <a:rPr sz="1088" b="1">
                          <a:solidFill>
                            <a:srgbClr val="77777E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분유</a:t>
                      </a:r>
                    </a:p>
                  </a:txBody>
                  <a:tcPr marL="95250" marR="95250" marT="57150" marB="5715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57150" rIns="95250" bIns="57150"/>
                    <a:lstStyle/>
                    <a:p>
                      <a:pPr algn="l">
                        <a:lnSpc>
                          <a:spcPct val="122000"/>
                        </a:lnSpc>
                        <a:buNone/>
                      </a:pPr>
                      <a:r>
                        <a:rPr sz="1088" b="1">
                          <a:solidFill>
                            <a:srgbClr val="77777E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물품</a:t>
                      </a:r>
                    </a:p>
                  </a:txBody>
                  <a:tcPr marL="95250" marR="95250" marT="57150" marB="5715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57150" rIns="95250" bIns="57150"/>
                    <a:lstStyle/>
                    <a:p>
                      <a:pPr algn="l">
                        <a:lnSpc>
                          <a:spcPct val="122000"/>
                        </a:lnSpc>
                        <a:buNone/>
                      </a:pPr>
                      <a:r>
                        <a:rPr sz="1088" b="1">
                          <a:solidFill>
                            <a:srgbClr val="77777E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미분류</a:t>
                      </a:r>
                    </a:p>
                  </a:txBody>
                  <a:tcPr marL="95250" marR="95250" marT="57150" marB="5715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28625">
                <a:tc>
                  <a:txBody>
                    <a:bodyPr lIns="95250" tIns="57150" rIns="95250" bIns="57150"/>
                    <a:lstStyle/>
                    <a:p>
                      <a:pPr algn="l">
                        <a:lnSpc>
                          <a:spcPct val="122000"/>
                        </a:lnSpc>
                        <a:buNone/>
                      </a:pPr>
                      <a:r>
                        <a:rPr sz="1088" b="1">
                          <a:solidFill>
                            <a:srgbClr val="206D4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물품계약(선불)</a:t>
                      </a:r>
                    </a:p>
                  </a:txBody>
                  <a:tcPr marL="95250" marR="95250" marT="57150" marB="5715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57150" rIns="95250" bIns="57150"/>
                    <a:lstStyle/>
                    <a:p>
                      <a:pPr algn="l">
                        <a:lnSpc>
                          <a:spcPct val="122000"/>
                        </a:lnSpc>
                        <a:buNone/>
                      </a:pPr>
                      <a:r>
                        <a:rPr sz="1088" b="0">
                          <a:solidFill>
                            <a:srgbClr val="4E4E5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무통장 입금</a:t>
                      </a:r>
                    </a:p>
                  </a:txBody>
                  <a:tcPr marL="95250" marR="95250" marT="57150" marB="5715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57150" rIns="95250" bIns="57150"/>
                    <a:lstStyle/>
                    <a:p>
                      <a:pPr algn="l">
                        <a:lnSpc>
                          <a:spcPct val="122000"/>
                        </a:lnSpc>
                        <a:buNone/>
                      </a:pPr>
                      <a:r>
                        <a:rPr sz="1088" b="0">
                          <a:solidFill>
                            <a:srgbClr val="4E4E5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포인트</a:t>
                      </a:r>
                    </a:p>
                  </a:txBody>
                  <a:tcPr marL="95250" marR="95250" marT="57150" marB="5715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57150" rIns="95250" bIns="57150"/>
                    <a:lstStyle/>
                    <a:p>
                      <a:pPr algn="l">
                        <a:lnSpc>
                          <a:spcPct val="122000"/>
                        </a:lnSpc>
                        <a:buNone/>
                      </a:pPr>
                      <a:r>
                        <a:rPr sz="1088" b="0">
                          <a:solidFill>
                            <a:srgbClr val="4E4E5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무통장 입금</a:t>
                      </a:r>
                    </a:p>
                  </a:txBody>
                  <a:tcPr marL="95250" marR="95250" marT="57150" marB="5715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28625">
                <a:tc>
                  <a:txBody>
                    <a:bodyPr lIns="95250" tIns="57150" rIns="95250" bIns="57150"/>
                    <a:lstStyle/>
                    <a:p>
                      <a:pPr algn="l">
                        <a:lnSpc>
                          <a:spcPct val="122000"/>
                        </a:lnSpc>
                        <a:buNone/>
                      </a:pPr>
                      <a:r>
                        <a:rPr sz="1088" b="1">
                          <a:solidFill>
                            <a:srgbClr val="206D4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물품계약(후불)</a:t>
                      </a:r>
                    </a:p>
                  </a:txBody>
                  <a:tcPr marL="95250" marR="95250" marT="57150" marB="5715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57150" rIns="95250" bIns="57150"/>
                    <a:lstStyle/>
                    <a:p>
                      <a:pPr algn="l">
                        <a:lnSpc>
                          <a:spcPct val="122000"/>
                        </a:lnSpc>
                        <a:buNone/>
                      </a:pPr>
                      <a:r>
                        <a:rPr sz="1088" b="0">
                          <a:solidFill>
                            <a:srgbClr val="4E4E5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후불(선출고)</a:t>
                      </a:r>
                    </a:p>
                  </a:txBody>
                  <a:tcPr marL="95250" marR="95250" marT="57150" marB="5715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57150" rIns="95250" bIns="57150"/>
                    <a:lstStyle/>
                    <a:p>
                      <a:pPr algn="l">
                        <a:lnSpc>
                          <a:spcPct val="122000"/>
                        </a:lnSpc>
                        <a:buNone/>
                      </a:pPr>
                      <a:r>
                        <a:rPr sz="1088" b="0">
                          <a:solidFill>
                            <a:srgbClr val="4E4E5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포인트</a:t>
                      </a:r>
                    </a:p>
                  </a:txBody>
                  <a:tcPr marL="95250" marR="95250" marT="57150" marB="5715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57150" rIns="95250" bIns="57150"/>
                    <a:lstStyle/>
                    <a:p>
                      <a:pPr algn="l">
                        <a:lnSpc>
                          <a:spcPct val="122000"/>
                        </a:lnSpc>
                        <a:buNone/>
                      </a:pPr>
                      <a:r>
                        <a:rPr sz="1088" b="0">
                          <a:solidFill>
                            <a:srgbClr val="4E4E5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무통장 입금</a:t>
                      </a:r>
                    </a:p>
                  </a:txBody>
                  <a:tcPr marL="95250" marR="95250" marT="57150" marB="5715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28625">
                <a:tc>
                  <a:txBody>
                    <a:bodyPr lIns="95250" tIns="57150" rIns="95250" bIns="57150"/>
                    <a:lstStyle/>
                    <a:p>
                      <a:pPr algn="l">
                        <a:lnSpc>
                          <a:spcPct val="122000"/>
                        </a:lnSpc>
                        <a:buNone/>
                      </a:pPr>
                      <a:r>
                        <a:rPr sz="1088" b="1">
                          <a:solidFill>
                            <a:srgbClr val="206D4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선불입금</a:t>
                      </a:r>
                    </a:p>
                  </a:txBody>
                  <a:tcPr marL="95250" marR="95250" marT="57150" marB="5715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57150" rIns="95250" bIns="57150"/>
                    <a:lstStyle/>
                    <a:p>
                      <a:pPr algn="l">
                        <a:lnSpc>
                          <a:spcPct val="122000"/>
                        </a:lnSpc>
                        <a:buNone/>
                      </a:pPr>
                      <a:r>
                        <a:rPr sz="1088" b="0">
                          <a:solidFill>
                            <a:srgbClr val="4E4E5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무통장 입금</a:t>
                      </a:r>
                    </a:p>
                  </a:txBody>
                  <a:tcPr marL="95250" marR="95250" marT="57150" marB="5715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57150" rIns="95250" bIns="57150"/>
                    <a:lstStyle/>
                    <a:p>
                      <a:pPr algn="l">
                        <a:lnSpc>
                          <a:spcPct val="122000"/>
                        </a:lnSpc>
                        <a:buNone/>
                      </a:pPr>
                      <a:r>
                        <a:rPr sz="1088" b="0">
                          <a:solidFill>
                            <a:srgbClr val="4E4E5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무통장 입금</a:t>
                      </a:r>
                    </a:p>
                  </a:txBody>
                  <a:tcPr marL="95250" marR="95250" marT="57150" marB="5715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57150" rIns="95250" bIns="57150"/>
                    <a:lstStyle/>
                    <a:p>
                      <a:pPr algn="l">
                        <a:lnSpc>
                          <a:spcPct val="122000"/>
                        </a:lnSpc>
                        <a:buNone/>
                      </a:pPr>
                      <a:r>
                        <a:rPr sz="1088" b="0">
                          <a:solidFill>
                            <a:srgbClr val="4E4E5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무통장 입금</a:t>
                      </a:r>
                    </a:p>
                  </a:txBody>
                  <a:tcPr marL="95250" marR="95250" marT="57150" marB="5715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28625">
                <a:tc>
                  <a:txBody>
                    <a:bodyPr lIns="95250" tIns="57150" rIns="95250" bIns="57150"/>
                    <a:lstStyle/>
                    <a:p>
                      <a:pPr algn="l">
                        <a:lnSpc>
                          <a:spcPct val="122000"/>
                        </a:lnSpc>
                        <a:buNone/>
                      </a:pPr>
                      <a:r>
                        <a:rPr sz="1088" b="1">
                          <a:solidFill>
                            <a:srgbClr val="206D4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후불입금</a:t>
                      </a:r>
                    </a:p>
                  </a:txBody>
                  <a:tcPr marL="95250" marR="95250" marT="57150" marB="5715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57150" rIns="95250" bIns="57150"/>
                    <a:lstStyle/>
                    <a:p>
                      <a:pPr algn="l">
                        <a:lnSpc>
                          <a:spcPct val="122000"/>
                        </a:lnSpc>
                        <a:buNone/>
                      </a:pPr>
                      <a:r>
                        <a:rPr sz="1088" b="0">
                          <a:solidFill>
                            <a:srgbClr val="4E4E5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후불(선출고)</a:t>
                      </a:r>
                    </a:p>
                  </a:txBody>
                  <a:tcPr marL="95250" marR="95250" marT="57150" marB="5715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57150" rIns="95250" bIns="57150"/>
                    <a:lstStyle/>
                    <a:p>
                      <a:pPr algn="l">
                        <a:lnSpc>
                          <a:spcPct val="122000"/>
                        </a:lnSpc>
                        <a:buNone/>
                      </a:pPr>
                      <a:r>
                        <a:rPr sz="1088" b="0">
                          <a:solidFill>
                            <a:srgbClr val="4E4E5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후불(선출고)</a:t>
                      </a:r>
                    </a:p>
                  </a:txBody>
                  <a:tcPr marL="95250" marR="95250" marT="57150" marB="5715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57150" rIns="95250" bIns="57150"/>
                    <a:lstStyle/>
                    <a:p>
                      <a:pPr algn="l">
                        <a:lnSpc>
                          <a:spcPct val="122000"/>
                        </a:lnSpc>
                        <a:buNone/>
                      </a:pPr>
                      <a:r>
                        <a:rPr sz="1088" b="0">
                          <a:solidFill>
                            <a:srgbClr val="4E4E5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무통장 입금</a:t>
                      </a:r>
                    </a:p>
                  </a:txBody>
                  <a:tcPr marL="95250" marR="95250" marT="57150" marB="5715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C15F40E-D5C4-4E2C-88C9-E224BD246C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9725" y="2105025"/>
            <a:ext cx="2352675" cy="2057400"/>
          </a:xfrm>
          <a:prstGeom xmlns:a="http://schemas.openxmlformats.org/drawingml/2006/main" prst="roundRect">
            <a:avLst>
              <a:gd name="adj" fmla="val 2778"/>
            </a:avLst>
          </a:prstGeom>
          <a:solidFill xmlns:a="http://schemas.openxmlformats.org/drawingml/2006/main">
            <a:srgbClr val="E7F4ED"/>
          </a:solidFill>
          <a:ln xmlns:a="http://schemas.openxmlformats.org/drawingml/2006/main" w="0">
            <a:noFill/>
          </a:ln>
        </p:spPr>
      </p:sp>
      <p:sp>
        <p:nvSpPr>
          <p:cNvPr id="8" name="text-6">
            <a:extLst xmlns:a="http://schemas.openxmlformats.org/drawingml/2006/main">
              <a:ext uri="{FF2B5EF4-FFF2-40B4-BE49-F238E27FC236}">
                <a16:creationId xmlns:a16="http://schemas.microsoft.com/office/drawing/2014/main" id="{D497DA74-6BB2-4929-957A-0618DE0DEB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39275" y="2266950"/>
            <a:ext cx="1933575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275" b="1">
                <a:solidFill>
                  <a:srgbClr val="206D4A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1">
                <a:solidFill>
                  <a:srgbClr val="206D4A"/>
                </a:solidFill>
                <a:latin typeface="Noto Sans KR"/>
                <a:ea typeface="Noto Sans KR"/>
                <a:cs typeface="Noto Sans KR"/>
              </a:rPr>
              <a:t>설계한 규칙</a:t>
            </a:r>
          </a:p>
        </p:txBody>
      </p:sp>
      <p:sp>
        <p:nvSpPr>
          <p:cNvPr id="9" name="text-7">
            <a:extLst xmlns:a="http://schemas.openxmlformats.org/drawingml/2006/main">
              <a:ext uri="{FF2B5EF4-FFF2-40B4-BE49-F238E27FC236}">
                <a16:creationId xmlns:a16="http://schemas.microsoft.com/office/drawing/2014/main" id="{59174B72-8521-4982-BCFF-097D4C6273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39275" y="2705100"/>
            <a:ext cx="1943100" cy="1304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088" b="0">
                <a:solidFill>
                  <a:srgbClr val="4E4E53"/>
                </a:solidFill>
                <a:latin typeface="Noto Sans KR"/>
                <a:ea typeface="Noto Sans KR"/>
                <a:cs typeface="Noto Sans KR"/>
              </a:defRPr>
            </a:pPr>
            <a:r>
              <a:rPr sz="1088" b="0">
                <a:solidFill>
                  <a:srgbClr val="4E4E53"/>
                </a:solidFill>
                <a:latin typeface="Noto Sans KR"/>
                <a:ea typeface="Noto Sans KR"/>
                <a:cs typeface="Noto Sans KR"/>
              </a:rPr>
              <a:t>새 등급·카테고리 설정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25000"/>
              </a:lnSpc>
              <a:buNone/>
              <a:defRPr sz="1088" b="0">
                <a:solidFill>
                  <a:srgbClr val="4E4E53"/>
                </a:solidFill>
                <a:latin typeface="Noto Sans KR"/>
                <a:ea typeface="Noto Sans KR"/>
                <a:cs typeface="Noto Sans KR"/>
              </a:defRPr>
            </a:pPr>
            <a:r>
              <a:rPr sz="1088" b="0">
                <a:solidFill>
                  <a:srgbClr val="4E4E53"/>
                </a:solidFill>
                <a:latin typeface="Noto Sans KR"/>
                <a:ea typeface="Noto Sans KR"/>
                <a:cs typeface="Noto Sans KR"/>
              </a:rPr>
              <a:t>미분류 상품의 기본값 관리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25000"/>
              </a:lnSpc>
              <a:buNone/>
              <a:defRPr sz="1088" b="0">
                <a:solidFill>
                  <a:srgbClr val="4E4E53"/>
                </a:solidFill>
                <a:latin typeface="Noto Sans KR"/>
                <a:ea typeface="Noto Sans KR"/>
                <a:cs typeface="Noto Sans KR"/>
              </a:defRPr>
            </a:pPr>
            <a:r>
              <a:rPr sz="1088" b="0">
                <a:solidFill>
                  <a:srgbClr val="4E4E53"/>
                </a:solidFill>
                <a:latin typeface="Noto Sans KR"/>
                <a:ea typeface="Noto Sans KR"/>
                <a:cs typeface="Noto Sans KR"/>
              </a:rPr>
              <a:t>서버에서 결제수단 재검증</a:t>
            </a:r>
          </a:p>
        </p:txBody>
      </p:sp>
      <p:sp>
        <p:nvSpPr>
          <p:cNvPr id="10" name="text-8">
            <a:extLst xmlns:a="http://schemas.openxmlformats.org/drawingml/2006/main">
              <a:ext uri="{FF2B5EF4-FFF2-40B4-BE49-F238E27FC236}">
                <a16:creationId xmlns:a16="http://schemas.microsoft.com/office/drawing/2014/main" id="{D53CCEE8-A1B2-4709-B690-CB75F12A43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19600"/>
            <a:ext cx="10972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350" b="1">
                <a:solidFill>
                  <a:srgbClr val="206D4A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1">
                <a:solidFill>
                  <a:srgbClr val="206D4A"/>
                </a:solidFill>
                <a:latin typeface="Noto Sans KR"/>
                <a:ea typeface="Noto Sans KR"/>
                <a:cs typeface="Noto Sans KR"/>
              </a:rPr>
              <a:t>운영자가 직접 수정하는 설정 화면 · 핵심 2개 등급 발췌</a:t>
            </a:r>
          </a:p>
        </p:txBody>
      </p:sp>
      <p:pic>
        <p:nvPicPr>
          <p:cNvPr id="2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d2c16bfc3b14491"/>
          <a:stretch xmlns:a="http://schemas.openxmlformats.org/drawingml/2006/main"/>
        </p:blipFill>
        <p:spPr>
          <a:xfrm xmlns:a="http://schemas.openxmlformats.org/drawingml/2006/main">
            <a:off x="728412" y="4838700"/>
            <a:ext cx="10735176" cy="1638300"/>
          </a:xfrm>
          <a:prstGeom xmlns:a="http://schemas.openxmlformats.org/drawingml/2006/main" prst="rect">
            <a:avLst/>
          </a:prstGeom>
        </p:spPr>
      </p:pic>
      <p:sp>
        <p:nvSpPr>
          <p:cNvPr id="12" name="text-9">
            <a:extLst xmlns:a="http://schemas.openxmlformats.org/drawingml/2006/main">
              <a:ext uri="{FF2B5EF4-FFF2-40B4-BE49-F238E27FC236}">
                <a16:creationId xmlns:a16="http://schemas.microsoft.com/office/drawing/2014/main" id="{B743F789-19CA-4456-A1AC-14E2AF44C8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43675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013" b="0">
                <a:solidFill>
                  <a:srgbClr val="77777E"/>
                </a:solidFill>
                <a:latin typeface="Noto Sans KR"/>
                <a:ea typeface="Noto Sans KR"/>
                <a:cs typeface="Noto Sans KR"/>
              </a:defRPr>
            </a:pPr>
            <a:r>
              <a:rPr sz="1013" b="0">
                <a:solidFill>
                  <a:srgbClr val="77777E"/>
                </a:solidFill>
                <a:latin typeface="Noto Sans KR"/>
                <a:ea typeface="Noto Sans KR"/>
                <a:cs typeface="Noto Sans KR"/>
              </a:rPr>
              <a:t>개발사 처리결과 문서 캡처 · 실제 운영 화면 직접 캡처 아님 · 회원 수·상품 수 제거</a:t>
            </a:r>
          </a:p>
        </p:txBody>
      </p:sp>
    </p:spTree>
    <p:extLst>
      <p:ext uri="{BB962C8B-B14F-4D97-AF65-F5344CB8AC3E}">
        <p14:creationId xmlns:p14="http://schemas.microsoft.com/office/powerpoint/2010/main" val="206263074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text-0">
            <a:extLst xmlns:a="http://schemas.openxmlformats.org/drawingml/2006/main">
              <a:ext uri="{FF2B5EF4-FFF2-40B4-BE49-F238E27FC236}">
                <a16:creationId xmlns:a16="http://schemas.microsoft.com/office/drawing/2014/main" id="{093B2E12-DB8C-487F-A58D-812CDC20A7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87075" y="285750"/>
            <a:ext cx="6953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25000"/>
              </a:lnSpc>
              <a:buNone/>
              <a:defRPr sz="788" b="0">
                <a:solidFill>
                  <a:srgbClr val="92929A"/>
                </a:solidFill>
                <a:latin typeface="Noto Sans KR"/>
                <a:ea typeface="Noto Sans KR"/>
                <a:cs typeface="Noto Sans KR"/>
              </a:defRPr>
            </a:pPr>
            <a:r>
              <a:rPr sz="788" b="0">
                <a:solidFill>
                  <a:srgbClr val="92929A"/>
                </a:solidFill>
                <a:latin typeface="Noto Sans KR"/>
                <a:ea typeface="Noto Sans KR"/>
                <a:cs typeface="Noto Sans KR"/>
              </a:rPr>
              <a:t>16 / 22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73F0A573-4BBB-4F5E-9840-6FB2D65B1A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3905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950" b="1">
                <a:solidFill>
                  <a:srgbClr val="206D4A"/>
                </a:solidFill>
                <a:latin typeface="Noto Sans KR"/>
                <a:ea typeface="Noto Sans KR"/>
                <a:cs typeface="Noto Sans KR"/>
              </a:defRPr>
            </a:pPr>
            <a:r>
              <a:rPr sz="1950" b="1">
                <a:solidFill>
                  <a:srgbClr val="206D4A"/>
                </a:solidFill>
                <a:latin typeface="Noto Sans KR"/>
                <a:ea typeface="Noto Sans KR"/>
                <a:cs typeface="Noto Sans KR"/>
              </a:rPr>
              <a:t>04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5309BCD4-BFA0-4DDA-8F90-AC4C77DE90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742950"/>
            <a:ext cx="10287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950" b="1">
                <a:solidFill>
                  <a:srgbClr val="1A1A1A"/>
                </a:solidFill>
                <a:latin typeface="Noto Sans KR"/>
                <a:ea typeface="Noto Sans KR"/>
                <a:cs typeface="Noto Sans KR"/>
              </a:defRPr>
            </a:pPr>
            <a:r>
              <a:rPr sz="1950" b="1">
                <a:solidFill>
                  <a:srgbClr val="1A1A1A"/>
                </a:solidFill>
                <a:latin typeface="Noto Sans KR"/>
                <a:ea typeface="Noto Sans KR"/>
                <a:cs typeface="Noto Sans KR"/>
              </a:rPr>
              <a:t>사용자 여정과 운영의 연결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AD9332F2-84C7-46C9-B61B-229D30F668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906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050" b="0">
                <a:solidFill>
                  <a:srgbClr val="77777E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0">
                <a:solidFill>
                  <a:srgbClr val="77777E"/>
                </a:solidFill>
                <a:latin typeface="Noto Sans KR"/>
                <a:ea typeface="Noto Sans KR"/>
                <a:cs typeface="Noto Sans KR"/>
              </a:rPr>
              <a:t>고객의 주문·확인 행동과 운영팀의 설정·검수 행동을 같은 흐름에 배치했습니다.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6E3761D-1830-4D86-9105-21290EFEC8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24025"/>
            <a:ext cx="1276350" cy="323850"/>
          </a:xfrm>
          <a:prstGeom xmlns:a="http://schemas.openxmlformats.org/drawingml/2006/main" prst="roundRect">
            <a:avLst>
              <a:gd name="adj" fmla="val 14706"/>
            </a:avLst>
          </a:prstGeom>
          <a:solidFill xmlns:a="http://schemas.openxmlformats.org/drawingml/2006/main">
            <a:srgbClr val="E7F4ED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114300" tIns="47625" rIns="114300" bIns="476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1088" b="1">
                <a:solidFill>
                  <a:srgbClr val="206D4A"/>
                </a:solidFill>
                <a:latin typeface="Noto Sans KR"/>
                <a:ea typeface="Noto Sans KR"/>
                <a:cs typeface="Noto Sans KR"/>
              </a:defRPr>
            </a:pPr>
            <a:r>
              <a:rPr sz="1088" b="1">
                <a:solidFill>
                  <a:srgbClr val="206D4A"/>
                </a:solidFill>
                <a:latin typeface="Noto Sans KR"/>
                <a:ea typeface="Noto Sans KR"/>
                <a:cs typeface="Noto Sans KR"/>
              </a:rPr>
              <a:t>역할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97368B8-31D1-404F-A3F5-CB28CE5066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1724025"/>
            <a:ext cx="2276475" cy="323850"/>
          </a:xfrm>
          <a:prstGeom xmlns:a="http://schemas.openxmlformats.org/drawingml/2006/main" prst="roundRect">
            <a:avLst>
              <a:gd name="adj" fmla="val 14706"/>
            </a:avLst>
          </a:prstGeom>
          <a:solidFill xmlns:a="http://schemas.openxmlformats.org/drawingml/2006/main">
            <a:srgbClr val="1A1A1A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114300" tIns="47625" rIns="114300" bIns="476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1088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088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주문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5020B54-CECC-4CAC-AC0E-ECB5DADE57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91025" y="1724025"/>
            <a:ext cx="2276475" cy="323850"/>
          </a:xfrm>
          <a:prstGeom xmlns:a="http://schemas.openxmlformats.org/drawingml/2006/main" prst="roundRect">
            <a:avLst>
              <a:gd name="adj" fmla="val 14706"/>
            </a:avLst>
          </a:prstGeom>
          <a:solidFill xmlns:a="http://schemas.openxmlformats.org/drawingml/2006/main">
            <a:srgbClr val="1A1A1A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114300" tIns="47625" rIns="114300" bIns="476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1088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088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결제·접수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5CD34E0-F668-4FA0-A218-1007389732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1724025"/>
            <a:ext cx="2276475" cy="323850"/>
          </a:xfrm>
          <a:prstGeom xmlns:a="http://schemas.openxmlformats.org/drawingml/2006/main" prst="roundRect">
            <a:avLst>
              <a:gd name="adj" fmla="val 14706"/>
            </a:avLst>
          </a:prstGeom>
          <a:solidFill xmlns:a="http://schemas.openxmlformats.org/drawingml/2006/main">
            <a:srgbClr val="1A1A1A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114300" tIns="47625" rIns="114300" bIns="476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1088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088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주문 확인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2348AD9-37D3-4477-8333-64951D57E5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72575" y="1724025"/>
            <a:ext cx="2409825" cy="323850"/>
          </a:xfrm>
          <a:prstGeom xmlns:a="http://schemas.openxmlformats.org/drawingml/2006/main" prst="roundRect">
            <a:avLst>
              <a:gd name="adj" fmla="val 14706"/>
            </a:avLst>
          </a:prstGeom>
          <a:solidFill xmlns:a="http://schemas.openxmlformats.org/drawingml/2006/main">
            <a:srgbClr val="1A1A1A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114300" tIns="47625" rIns="114300" bIns="476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1088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088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출고 이후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1C20980-69FB-420C-B28A-DF7945FB1F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90750"/>
            <a:ext cx="1276350" cy="771525"/>
          </a:xfrm>
          <a:prstGeom xmlns:a="http://schemas.openxmlformats.org/drawingml/2006/main" prst="roundRect">
            <a:avLst>
              <a:gd name="adj" fmla="val 6173"/>
            </a:avLst>
          </a:prstGeom>
          <a:solidFill xmlns:a="http://schemas.openxmlformats.org/drawingml/2006/main">
            <a:srgbClr val="E7F4ED"/>
          </a:solidFill>
          <a:ln xmlns:a="http://schemas.openxmlformats.org/drawingml/2006/main" w="9525">
            <a:solidFill>
              <a:srgbClr val="D9D9E0"/>
            </a:solidFill>
          </a:ln>
        </p:spPr>
        <p:txBody>
          <a:bodyPr xmlns:a="http://schemas.openxmlformats.org/drawingml/2006/main" wrap="square" lIns="114300" tIns="76200" rIns="11430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0000"/>
              </a:lnSpc>
              <a:buNone/>
              <a:defRPr sz="1088" b="1">
                <a:solidFill>
                  <a:srgbClr val="206D4A"/>
                </a:solidFill>
                <a:latin typeface="Noto Sans KR"/>
                <a:ea typeface="Noto Sans KR"/>
                <a:cs typeface="Noto Sans KR"/>
              </a:defRPr>
            </a:pPr>
            <a:r>
              <a:rPr sz="1088" b="1">
                <a:solidFill>
                  <a:srgbClr val="206D4A"/>
                </a:solidFill>
                <a:latin typeface="Noto Sans KR"/>
                <a:ea typeface="Noto Sans KR"/>
                <a:cs typeface="Noto Sans KR"/>
              </a:rPr>
              <a:t>조리원 담당자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AADA8FE-D166-428F-8EB5-53C3629047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2190750"/>
            <a:ext cx="2276475" cy="771525"/>
          </a:xfrm>
          <a:prstGeom xmlns:a="http://schemas.openxmlformats.org/drawingml/2006/main" prst="roundRect">
            <a:avLst>
              <a:gd name="adj" fmla="val 617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9E0"/>
            </a:solidFill>
          </a:ln>
        </p:spPr>
        <p:txBody>
          <a:bodyPr xmlns:a="http://schemas.openxmlformats.org/drawingml/2006/main" wrap="square" lIns="114300" tIns="76200" rIns="11430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0000"/>
              </a:lnSpc>
              <a:buNone/>
              <a:defRPr sz="1088" b="0">
                <a:solidFill>
                  <a:srgbClr val="4E4E53"/>
                </a:solidFill>
                <a:latin typeface="Noto Sans KR"/>
                <a:ea typeface="Noto Sans KR"/>
                <a:cs typeface="Noto Sans KR"/>
              </a:defRPr>
            </a:pPr>
            <a:r>
              <a:rPr sz="1088" b="0">
                <a:solidFill>
                  <a:srgbClr val="4E4E53"/>
                </a:solidFill>
                <a:latin typeface="Noto Sans KR"/>
                <a:ea typeface="Noto Sans KR"/>
                <a:cs typeface="Noto Sans KR"/>
              </a:rPr>
              <a:t>허용 상품 확인</a:t>
            </a:r>
          </a:p>
          <a:p xmlns:a="http://schemas.openxmlformats.org/drawingml/2006/main">
            <a:pPr algn="ctr">
              <a:lnSpc>
                <a:spcPct val="120000"/>
              </a:lnSpc>
              <a:buNone/>
              <a:defRPr sz="1088" b="0">
                <a:solidFill>
                  <a:srgbClr val="4E4E53"/>
                </a:solidFill>
                <a:latin typeface="Noto Sans KR"/>
                <a:ea typeface="Noto Sans KR"/>
                <a:cs typeface="Noto Sans KR"/>
              </a:defRPr>
            </a:pPr>
            <a:r>
              <a:rPr sz="1088" b="0">
                <a:solidFill>
                  <a:srgbClr val="4E4E53"/>
                </a:solidFill>
                <a:latin typeface="Noto Sans KR"/>
                <a:ea typeface="Noto Sans KR"/>
                <a:cs typeface="Noto Sans KR"/>
              </a:rPr>
              <a:t>분류별로 주문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D6CA69E-8F8E-47B9-ACDA-0A83925DF6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91025" y="2190750"/>
            <a:ext cx="2276475" cy="771525"/>
          </a:xfrm>
          <a:prstGeom xmlns:a="http://schemas.openxmlformats.org/drawingml/2006/main" prst="roundRect">
            <a:avLst>
              <a:gd name="adj" fmla="val 617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9E0"/>
            </a:solidFill>
          </a:ln>
        </p:spPr>
        <p:txBody>
          <a:bodyPr xmlns:a="http://schemas.openxmlformats.org/drawingml/2006/main" wrap="square" lIns="114300" tIns="76200" rIns="11430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0000"/>
              </a:lnSpc>
              <a:buNone/>
              <a:defRPr sz="1088" b="0">
                <a:solidFill>
                  <a:srgbClr val="4E4E53"/>
                </a:solidFill>
                <a:latin typeface="Noto Sans KR"/>
                <a:ea typeface="Noto Sans KR"/>
                <a:cs typeface="Noto Sans KR"/>
              </a:defRPr>
            </a:pPr>
            <a:r>
              <a:rPr sz="1088" b="0">
                <a:solidFill>
                  <a:srgbClr val="4E4E53"/>
                </a:solidFill>
                <a:latin typeface="Noto Sans KR"/>
                <a:ea typeface="Noto Sans KR"/>
                <a:cs typeface="Noto Sans KR"/>
              </a:rPr>
              <a:t>계정 정책에 맞는</a:t>
            </a:r>
          </a:p>
          <a:p xmlns:a="http://schemas.openxmlformats.org/drawingml/2006/main">
            <a:pPr algn="ctr">
              <a:lnSpc>
                <a:spcPct val="120000"/>
              </a:lnSpc>
              <a:buNone/>
              <a:defRPr sz="1088" b="0">
                <a:solidFill>
                  <a:srgbClr val="4E4E53"/>
                </a:solidFill>
                <a:latin typeface="Noto Sans KR"/>
                <a:ea typeface="Noto Sans KR"/>
                <a:cs typeface="Noto Sans KR"/>
              </a:defRPr>
            </a:pPr>
            <a:r>
              <a:rPr sz="1088" b="0">
                <a:solidFill>
                  <a:srgbClr val="4E4E53"/>
                </a:solidFill>
                <a:latin typeface="Noto Sans KR"/>
                <a:ea typeface="Noto Sans KR"/>
                <a:cs typeface="Noto Sans KR"/>
              </a:rPr>
              <a:t>결제수단 선택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E367C20-984B-4C8A-BCC9-9954081614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2190750"/>
            <a:ext cx="2276475" cy="771525"/>
          </a:xfrm>
          <a:prstGeom xmlns:a="http://schemas.openxmlformats.org/drawingml/2006/main" prst="roundRect">
            <a:avLst>
              <a:gd name="adj" fmla="val 617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9E0"/>
            </a:solidFill>
          </a:ln>
        </p:spPr>
        <p:txBody>
          <a:bodyPr xmlns:a="http://schemas.openxmlformats.org/drawingml/2006/main" wrap="square" lIns="114300" tIns="76200" rIns="11430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0000"/>
              </a:lnSpc>
              <a:buNone/>
              <a:defRPr sz="1088" b="0">
                <a:solidFill>
                  <a:srgbClr val="4E4E53"/>
                </a:solidFill>
                <a:latin typeface="Noto Sans KR"/>
                <a:ea typeface="Noto Sans KR"/>
                <a:cs typeface="Noto Sans KR"/>
              </a:defRPr>
            </a:pPr>
            <a:r>
              <a:rPr sz="1088" b="0">
                <a:solidFill>
                  <a:srgbClr val="4E4E53"/>
                </a:solidFill>
                <a:latin typeface="Noto Sans KR"/>
                <a:ea typeface="Noto Sans KR"/>
                <a:cs typeface="Noto Sans KR"/>
              </a:rPr>
              <a:t>마이페이지에서</a:t>
            </a:r>
          </a:p>
          <a:p xmlns:a="http://schemas.openxmlformats.org/drawingml/2006/main">
            <a:pPr algn="ctr">
              <a:lnSpc>
                <a:spcPct val="120000"/>
              </a:lnSpc>
              <a:buNone/>
              <a:defRPr sz="1088" b="0">
                <a:solidFill>
                  <a:srgbClr val="4E4E53"/>
                </a:solidFill>
                <a:latin typeface="Noto Sans KR"/>
                <a:ea typeface="Noto Sans KR"/>
                <a:cs typeface="Noto Sans KR"/>
              </a:defRPr>
            </a:pPr>
            <a:r>
              <a:rPr sz="1088" b="0">
                <a:solidFill>
                  <a:srgbClr val="4E4E53"/>
                </a:solidFill>
                <a:latin typeface="Noto Sans KR"/>
                <a:ea typeface="Noto Sans KR"/>
                <a:cs typeface="Noto Sans KR"/>
              </a:rPr>
              <a:t>진행 상태 조회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4E44115-B44E-4CE2-BF1B-D2640E1BA6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72575" y="2190750"/>
            <a:ext cx="2409825" cy="771525"/>
          </a:xfrm>
          <a:prstGeom xmlns:a="http://schemas.openxmlformats.org/drawingml/2006/main" prst="roundRect">
            <a:avLst>
              <a:gd name="adj" fmla="val 617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9E0"/>
            </a:solidFill>
          </a:ln>
        </p:spPr>
        <p:txBody>
          <a:bodyPr xmlns:a="http://schemas.openxmlformats.org/drawingml/2006/main" wrap="square" lIns="114300" tIns="76200" rIns="11430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0000"/>
              </a:lnSpc>
              <a:buNone/>
              <a:defRPr sz="1088" b="0">
                <a:solidFill>
                  <a:srgbClr val="4E4E53"/>
                </a:solidFill>
                <a:latin typeface="Noto Sans KR"/>
                <a:ea typeface="Noto Sans KR"/>
                <a:cs typeface="Noto Sans KR"/>
              </a:defRPr>
            </a:pPr>
            <a:r>
              <a:rPr sz="1088" b="0">
                <a:solidFill>
                  <a:srgbClr val="4E4E53"/>
                </a:solidFill>
                <a:latin typeface="Noto Sans KR"/>
                <a:ea typeface="Noto Sans KR"/>
                <a:cs typeface="Noto Sans KR"/>
              </a:rPr>
              <a:t>거래명세서 출력</a:t>
            </a:r>
          </a:p>
          <a:p xmlns:a="http://schemas.openxmlformats.org/drawingml/2006/main">
            <a:pPr algn="ctr">
              <a:lnSpc>
                <a:spcPct val="120000"/>
              </a:lnSpc>
              <a:buNone/>
              <a:defRPr sz="1088" b="0">
                <a:solidFill>
                  <a:srgbClr val="4E4E53"/>
                </a:solidFill>
                <a:latin typeface="Noto Sans KR"/>
                <a:ea typeface="Noto Sans KR"/>
                <a:cs typeface="Noto Sans KR"/>
              </a:defRPr>
            </a:pPr>
            <a:r>
              <a:rPr sz="1088" b="0">
                <a:solidFill>
                  <a:srgbClr val="4E4E53"/>
                </a:solidFill>
                <a:latin typeface="Noto Sans KR"/>
                <a:ea typeface="Noto Sans KR"/>
                <a:cs typeface="Noto Sans KR"/>
              </a:rPr>
              <a:t>배송 요청 확인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5CF9D95-4847-46B3-BAB4-83284894D1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05150"/>
            <a:ext cx="1276350" cy="771525"/>
          </a:xfrm>
          <a:prstGeom xmlns:a="http://schemas.openxmlformats.org/drawingml/2006/main" prst="roundRect">
            <a:avLst>
              <a:gd name="adj" fmla="val 6173"/>
            </a:avLst>
          </a:prstGeom>
          <a:solidFill xmlns:a="http://schemas.openxmlformats.org/drawingml/2006/main">
            <a:srgbClr val="E7F4ED"/>
          </a:solidFill>
          <a:ln xmlns:a="http://schemas.openxmlformats.org/drawingml/2006/main" w="9525">
            <a:solidFill>
              <a:srgbClr val="D9D9E0"/>
            </a:solidFill>
          </a:ln>
        </p:spPr>
        <p:txBody>
          <a:bodyPr xmlns:a="http://schemas.openxmlformats.org/drawingml/2006/main" wrap="square" lIns="114300" tIns="76200" rIns="11430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0000"/>
              </a:lnSpc>
              <a:buNone/>
              <a:defRPr sz="1088" b="1">
                <a:solidFill>
                  <a:srgbClr val="206D4A"/>
                </a:solidFill>
                <a:latin typeface="Noto Sans KR"/>
                <a:ea typeface="Noto Sans KR"/>
                <a:cs typeface="Noto Sans KR"/>
              </a:defRPr>
            </a:pPr>
            <a:r>
              <a:rPr sz="1088" b="1">
                <a:solidFill>
                  <a:srgbClr val="206D4A"/>
                </a:solidFill>
                <a:latin typeface="Noto Sans KR"/>
                <a:ea typeface="Noto Sans KR"/>
                <a:cs typeface="Noto Sans KR"/>
              </a:rPr>
              <a:t>내부 운영팀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D121586-638B-4030-9D65-2B7E2B68BB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3105150"/>
            <a:ext cx="2276475" cy="771525"/>
          </a:xfrm>
          <a:prstGeom xmlns:a="http://schemas.openxmlformats.org/drawingml/2006/main" prst="roundRect">
            <a:avLst>
              <a:gd name="adj" fmla="val 617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9E0"/>
            </a:solidFill>
          </a:ln>
        </p:spPr>
        <p:txBody>
          <a:bodyPr xmlns:a="http://schemas.openxmlformats.org/drawingml/2006/main" wrap="square" lIns="114300" tIns="76200" rIns="11430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0000"/>
              </a:lnSpc>
              <a:buNone/>
              <a:defRPr sz="1088" b="0">
                <a:solidFill>
                  <a:srgbClr val="4E4E53"/>
                </a:solidFill>
                <a:latin typeface="Noto Sans KR"/>
                <a:ea typeface="Noto Sans KR"/>
                <a:cs typeface="Noto Sans KR"/>
              </a:defRPr>
            </a:pPr>
            <a:r>
              <a:rPr sz="1088" b="0">
                <a:solidFill>
                  <a:srgbClr val="4E4E53"/>
                </a:solidFill>
                <a:latin typeface="Noto Sans KR"/>
                <a:ea typeface="Noto Sans KR"/>
                <a:cs typeface="Noto Sans KR"/>
              </a:rPr>
              <a:t>계약별 계정·</a:t>
            </a:r>
          </a:p>
          <a:p xmlns:a="http://schemas.openxmlformats.org/drawingml/2006/main">
            <a:pPr algn="ctr">
              <a:lnSpc>
                <a:spcPct val="120000"/>
              </a:lnSpc>
              <a:buNone/>
              <a:defRPr sz="1088" b="0">
                <a:solidFill>
                  <a:srgbClr val="4E4E53"/>
                </a:solidFill>
                <a:latin typeface="Noto Sans KR"/>
                <a:ea typeface="Noto Sans KR"/>
                <a:cs typeface="Noto Sans KR"/>
              </a:defRPr>
            </a:pPr>
            <a:r>
              <a:rPr sz="1088" b="0">
                <a:solidFill>
                  <a:srgbClr val="4E4E53"/>
                </a:solidFill>
                <a:latin typeface="Noto Sans KR"/>
                <a:ea typeface="Noto Sans KR"/>
                <a:cs typeface="Noto Sans KR"/>
              </a:rPr>
              <a:t>정책 값 설정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D09DE8C-CD99-41E9-9369-A8A0FEC8CE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91025" y="3105150"/>
            <a:ext cx="2276475" cy="771525"/>
          </a:xfrm>
          <a:prstGeom xmlns:a="http://schemas.openxmlformats.org/drawingml/2006/main" prst="roundRect">
            <a:avLst>
              <a:gd name="adj" fmla="val 617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9E0"/>
            </a:solidFill>
          </a:ln>
        </p:spPr>
        <p:txBody>
          <a:bodyPr xmlns:a="http://schemas.openxmlformats.org/drawingml/2006/main" wrap="square" lIns="114300" tIns="76200" rIns="11430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0000"/>
              </a:lnSpc>
              <a:buNone/>
              <a:defRPr sz="1088" b="0">
                <a:solidFill>
                  <a:srgbClr val="4E4E53"/>
                </a:solidFill>
                <a:latin typeface="Noto Sans KR"/>
                <a:ea typeface="Noto Sans KR"/>
                <a:cs typeface="Noto Sans KR"/>
              </a:defRPr>
            </a:pPr>
            <a:r>
              <a:rPr sz="1088" b="0">
                <a:solidFill>
                  <a:srgbClr val="4E4E53"/>
                </a:solidFill>
                <a:latin typeface="Noto Sans KR"/>
                <a:ea typeface="Noto Sans KR"/>
                <a:cs typeface="Noto Sans KR"/>
              </a:rPr>
              <a:t>입금·후불 상태를</a:t>
            </a:r>
          </a:p>
          <a:p xmlns:a="http://schemas.openxmlformats.org/drawingml/2006/main">
            <a:pPr algn="ctr">
              <a:lnSpc>
                <a:spcPct val="120000"/>
              </a:lnSpc>
              <a:buNone/>
              <a:defRPr sz="1088" b="0">
                <a:solidFill>
                  <a:srgbClr val="4E4E53"/>
                </a:solidFill>
                <a:latin typeface="Noto Sans KR"/>
                <a:ea typeface="Noto Sans KR"/>
                <a:cs typeface="Noto Sans KR"/>
              </a:defRPr>
            </a:pPr>
            <a:r>
              <a:rPr sz="1088" b="0">
                <a:solidFill>
                  <a:srgbClr val="4E4E53"/>
                </a:solidFill>
                <a:latin typeface="Noto Sans KR"/>
                <a:ea typeface="Noto Sans KR"/>
                <a:cs typeface="Noto Sans KR"/>
              </a:rPr>
              <a:t>구분해 확인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BA35841-7D70-4539-B2A2-9A8983B8AC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3105150"/>
            <a:ext cx="2276475" cy="771525"/>
          </a:xfrm>
          <a:prstGeom xmlns:a="http://schemas.openxmlformats.org/drawingml/2006/main" prst="roundRect">
            <a:avLst>
              <a:gd name="adj" fmla="val 617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9E0"/>
            </a:solidFill>
          </a:ln>
        </p:spPr>
        <p:txBody>
          <a:bodyPr xmlns:a="http://schemas.openxmlformats.org/drawingml/2006/main" wrap="square" lIns="114300" tIns="76200" rIns="11430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0000"/>
              </a:lnSpc>
              <a:buNone/>
              <a:defRPr sz="1088" b="0">
                <a:solidFill>
                  <a:srgbClr val="4E4E53"/>
                </a:solidFill>
                <a:latin typeface="Noto Sans KR"/>
                <a:ea typeface="Noto Sans KR"/>
                <a:cs typeface="Noto Sans KR"/>
              </a:defRPr>
            </a:pPr>
            <a:r>
              <a:rPr sz="1088" b="0">
                <a:solidFill>
                  <a:srgbClr val="4E4E53"/>
                </a:solidFill>
                <a:latin typeface="Noto Sans KR"/>
                <a:ea typeface="Noto Sans KR"/>
                <a:cs typeface="Noto Sans KR"/>
              </a:rPr>
              <a:t>운영 화면과</a:t>
            </a:r>
          </a:p>
          <a:p xmlns:a="http://schemas.openxmlformats.org/drawingml/2006/main">
            <a:pPr algn="ctr">
              <a:lnSpc>
                <a:spcPct val="120000"/>
              </a:lnSpc>
              <a:buNone/>
              <a:defRPr sz="1088" b="0">
                <a:solidFill>
                  <a:srgbClr val="4E4E53"/>
                </a:solidFill>
                <a:latin typeface="Noto Sans KR"/>
                <a:ea typeface="Noto Sans KR"/>
                <a:cs typeface="Noto Sans KR"/>
              </a:defRPr>
            </a:pPr>
            <a:r>
              <a:rPr sz="1088" b="0">
                <a:solidFill>
                  <a:srgbClr val="4E4E53"/>
                </a:solidFill>
                <a:latin typeface="Noto Sans KR"/>
                <a:ea typeface="Noto Sans KR"/>
                <a:cs typeface="Noto Sans KR"/>
              </a:rPr>
              <a:t>예외 주문 점검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599399E-8DC3-4CFE-BCDD-85AFC40F18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72575" y="3105150"/>
            <a:ext cx="2409825" cy="771525"/>
          </a:xfrm>
          <a:prstGeom xmlns:a="http://schemas.openxmlformats.org/drawingml/2006/main" prst="roundRect">
            <a:avLst>
              <a:gd name="adj" fmla="val 617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9E0"/>
            </a:solidFill>
          </a:ln>
        </p:spPr>
        <p:txBody>
          <a:bodyPr xmlns:a="http://schemas.openxmlformats.org/drawingml/2006/main" wrap="square" lIns="114300" tIns="76200" rIns="11430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0000"/>
              </a:lnSpc>
              <a:buNone/>
              <a:defRPr sz="1088" b="0">
                <a:solidFill>
                  <a:srgbClr val="4E4E53"/>
                </a:solidFill>
                <a:latin typeface="Noto Sans KR"/>
                <a:ea typeface="Noto Sans KR"/>
                <a:cs typeface="Noto Sans KR"/>
              </a:defRPr>
            </a:pPr>
            <a:r>
              <a:rPr sz="1088" b="0">
                <a:solidFill>
                  <a:srgbClr val="4E4E53"/>
                </a:solidFill>
                <a:latin typeface="Noto Sans KR"/>
                <a:ea typeface="Noto Sans KR"/>
                <a:cs typeface="Noto Sans KR"/>
              </a:rPr>
              <a:t>포인트 정리</a:t>
            </a:r>
          </a:p>
          <a:p xmlns:a="http://schemas.openxmlformats.org/drawingml/2006/main">
            <a:pPr algn="ctr">
              <a:lnSpc>
                <a:spcPct val="120000"/>
              </a:lnSpc>
              <a:buNone/>
              <a:defRPr sz="1088" b="0">
                <a:solidFill>
                  <a:srgbClr val="4E4E53"/>
                </a:solidFill>
                <a:latin typeface="Noto Sans KR"/>
                <a:ea typeface="Noto Sans KR"/>
                <a:cs typeface="Noto Sans KR"/>
              </a:defRPr>
            </a:pPr>
            <a:r>
              <a:rPr sz="1088" b="0">
                <a:solidFill>
                  <a:srgbClr val="4E4E53"/>
                </a:solidFill>
                <a:latin typeface="Noto Sans KR"/>
                <a:ea typeface="Noto Sans KR"/>
                <a:cs typeface="Noto Sans KR"/>
              </a:rPr>
              <a:t>운영 피드백 반영</a:t>
            </a:r>
          </a:p>
        </p:txBody>
      </p:sp>
      <p:sp>
        <p:nvSpPr>
          <p:cNvPr id="20" name="text-19">
            <a:extLst xmlns:a="http://schemas.openxmlformats.org/drawingml/2006/main">
              <a:ext uri="{FF2B5EF4-FFF2-40B4-BE49-F238E27FC236}">
                <a16:creationId xmlns:a16="http://schemas.microsoft.com/office/drawing/2014/main" id="{4D5242A9-3AA4-499F-9952-437D805AA3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00550"/>
            <a:ext cx="52863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350" b="1">
                <a:solidFill>
                  <a:srgbClr val="206D4A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1">
                <a:solidFill>
                  <a:srgbClr val="206D4A"/>
                </a:solidFill>
                <a:latin typeface="Noto Sans KR"/>
                <a:ea typeface="Noto Sans KR"/>
                <a:cs typeface="Noto Sans KR"/>
              </a:rPr>
              <a:t>고객에게 보이는 운영 안내</a:t>
            </a:r>
          </a:p>
        </p:txBody>
      </p:sp>
      <p:pic>
        <p:nvPicPr>
          <p:cNvPr id="4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39058b01a2f48c9"/>
          <a:stretch xmlns:a="http://schemas.openxmlformats.org/drawingml/2006/main"/>
        </p:blipFill>
        <p:spPr>
          <a:xfrm xmlns:a="http://schemas.openxmlformats.org/drawingml/2006/main">
            <a:off x="1045822" y="4848225"/>
            <a:ext cx="4385355" cy="1162050"/>
          </a:xfrm>
          <a:prstGeom xmlns:a="http://schemas.openxmlformats.org/drawingml/2006/main" prst="rect">
            <a:avLst/>
          </a:prstGeom>
        </p:spPr>
      </p:pic>
      <p:sp>
        <p:nvSpPr>
          <p:cNvPr id="22" name="text-20">
            <a:extLst xmlns:a="http://schemas.openxmlformats.org/drawingml/2006/main">
              <a:ext uri="{FF2B5EF4-FFF2-40B4-BE49-F238E27FC236}">
                <a16:creationId xmlns:a16="http://schemas.microsoft.com/office/drawing/2014/main" id="{197D06C5-F8FD-4A83-8CA8-BF5E03C05B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400550"/>
            <a:ext cx="5295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350" b="1">
                <a:solidFill>
                  <a:srgbClr val="206D4A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1">
                <a:solidFill>
                  <a:srgbClr val="206D4A"/>
                </a:solidFill>
                <a:latin typeface="Noto Sans KR"/>
                <a:ea typeface="Noto Sans KR"/>
                <a:cs typeface="Noto Sans KR"/>
              </a:rPr>
              <a:t>고객이 직접 확인하는 주문 상태</a:t>
            </a:r>
          </a:p>
        </p:txBody>
      </p:sp>
      <p:pic>
        <p:nvPicPr>
          <p:cNvPr id="4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021d5c3ce0342ad"/>
          <a:stretch xmlns:a="http://schemas.openxmlformats.org/drawingml/2006/main"/>
        </p:blipFill>
        <p:spPr>
          <a:xfrm xmlns:a="http://schemas.openxmlformats.org/drawingml/2006/main">
            <a:off x="6286500" y="4891400"/>
            <a:ext cx="5295900" cy="1085225"/>
          </a:xfrm>
          <a:prstGeom xmlns:a="http://schemas.openxmlformats.org/drawingml/2006/main" prst="rect">
            <a:avLst/>
          </a:prstGeom>
        </p:spPr>
      </p:pic>
      <p:sp>
        <p:nvSpPr>
          <p:cNvPr id="24" name="text-21">
            <a:extLst xmlns:a="http://schemas.openxmlformats.org/drawingml/2006/main">
              <a:ext uri="{FF2B5EF4-FFF2-40B4-BE49-F238E27FC236}">
                <a16:creationId xmlns:a16="http://schemas.microsoft.com/office/drawing/2014/main" id="{705DADF9-1965-4052-8BC9-309A1A409E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34125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013" b="0">
                <a:solidFill>
                  <a:srgbClr val="77777E"/>
                </a:solidFill>
                <a:latin typeface="Noto Sans KR"/>
                <a:ea typeface="Noto Sans KR"/>
                <a:cs typeface="Noto Sans KR"/>
              </a:defRPr>
            </a:pPr>
            <a:r>
              <a:rPr sz="1013" b="0">
                <a:solidFill>
                  <a:srgbClr val="77777E"/>
                </a:solidFill>
                <a:latin typeface="Noto Sans KR"/>
                <a:ea typeface="Noto Sans KR"/>
                <a:cs typeface="Noto Sans KR"/>
              </a:rPr>
              <a:t>실제 운영 화면 발췌 · 2026-08-28 · 고객정보·가격·주문번호·상태 건수 제거</a:t>
            </a:r>
          </a:p>
        </p:txBody>
      </p:sp>
    </p:spTree>
    <p:extLst>
      <p:ext uri="{BB962C8B-B14F-4D97-AF65-F5344CB8AC3E}">
        <p14:creationId xmlns:p14="http://schemas.microsoft.com/office/powerpoint/2010/main" val="1717813057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text-0">
            <a:extLst xmlns:a="http://schemas.openxmlformats.org/drawingml/2006/main">
              <a:ext uri="{FF2B5EF4-FFF2-40B4-BE49-F238E27FC236}">
                <a16:creationId xmlns:a16="http://schemas.microsoft.com/office/drawing/2014/main" id="{283E7D23-E6B8-452A-A995-6B59654322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87075" y="285750"/>
            <a:ext cx="6953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25000"/>
              </a:lnSpc>
              <a:buNone/>
              <a:defRPr sz="788" b="0">
                <a:solidFill>
                  <a:srgbClr val="92929A"/>
                </a:solidFill>
                <a:latin typeface="Noto Sans KR"/>
                <a:ea typeface="Noto Sans KR"/>
                <a:cs typeface="Noto Sans KR"/>
              </a:defRPr>
            </a:pPr>
            <a:r>
              <a:rPr sz="788" b="0">
                <a:solidFill>
                  <a:srgbClr val="92929A"/>
                </a:solidFill>
                <a:latin typeface="Noto Sans KR"/>
                <a:ea typeface="Noto Sans KR"/>
                <a:cs typeface="Noto Sans KR"/>
              </a:rPr>
              <a:t>17 / 22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8831A65E-8FCB-4605-AD2C-751B641285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3905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950" b="1">
                <a:solidFill>
                  <a:srgbClr val="206D4A"/>
                </a:solidFill>
                <a:latin typeface="Noto Sans KR"/>
                <a:ea typeface="Noto Sans KR"/>
                <a:cs typeface="Noto Sans KR"/>
              </a:defRPr>
            </a:pPr>
            <a:r>
              <a:rPr sz="1950" b="1">
                <a:solidFill>
                  <a:srgbClr val="206D4A"/>
                </a:solidFill>
                <a:latin typeface="Noto Sans KR"/>
                <a:ea typeface="Noto Sans KR"/>
                <a:cs typeface="Noto Sans KR"/>
              </a:rPr>
              <a:t>05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F262E09C-447E-4118-A3E0-5EA3A244A5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742950"/>
            <a:ext cx="10287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950" b="1">
                <a:solidFill>
                  <a:srgbClr val="1A1A1A"/>
                </a:solidFill>
                <a:latin typeface="Noto Sans KR"/>
                <a:ea typeface="Noto Sans KR"/>
                <a:cs typeface="Noto Sans KR"/>
              </a:defRPr>
            </a:pPr>
            <a:r>
              <a:rPr sz="1950" b="1">
                <a:solidFill>
                  <a:srgbClr val="1A1A1A"/>
                </a:solidFill>
                <a:latin typeface="Noto Sans KR"/>
                <a:ea typeface="Noto Sans KR"/>
                <a:cs typeface="Noto Sans KR"/>
              </a:rPr>
              <a:t>결제방식이 같아도 혼합주문을 차단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71BA933C-8682-4ECB-B240-D7C2FA049E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906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050" b="0">
                <a:solidFill>
                  <a:srgbClr val="77777E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0">
                <a:solidFill>
                  <a:srgbClr val="77777E"/>
                </a:solidFill>
                <a:latin typeface="Noto Sans KR"/>
                <a:ea typeface="Noto Sans KR"/>
                <a:cs typeface="Noto Sans KR"/>
              </a:rPr>
              <a:t>결제방식이 같은 경우에도 분유와 물품은 나눠 주문해야 한다는 운영 규칙을 반영했습니다.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C39DB0E-4A72-47B7-9386-E7897F42BE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14500"/>
            <a:ext cx="5229225" cy="333375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E7F4ED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114300" tIns="47625" rIns="114300" bIns="476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1125" b="1">
                <a:solidFill>
                  <a:srgbClr val="206D4A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1">
                <a:solidFill>
                  <a:srgbClr val="206D4A"/>
                </a:solidFill>
                <a:latin typeface="Noto Sans KR"/>
                <a:ea typeface="Noto Sans KR"/>
                <a:cs typeface="Noto Sans KR"/>
              </a:rPr>
              <a:t>가상 예시: 선불입금 회원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DBC9143-2C1A-44FD-BA81-3A998BA245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28850"/>
            <a:ext cx="2409825" cy="752475"/>
          </a:xfrm>
          <a:prstGeom xmlns:a="http://schemas.openxmlformats.org/drawingml/2006/main" prst="roundRect">
            <a:avLst>
              <a:gd name="adj" fmla="val 63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9E0"/>
            </a:solidFill>
          </a:ln>
        </p:spPr>
        <p:txBody>
          <a:bodyPr xmlns:a="http://schemas.openxmlformats.org/drawingml/2006/main" wrap="square" lIns="114300" tIns="76200" rIns="11430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0000"/>
              </a:lnSpc>
              <a:buNone/>
              <a:defRPr sz="1350" b="1">
                <a:solidFill>
                  <a:srgbClr val="206D4A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1">
                <a:solidFill>
                  <a:srgbClr val="206D4A"/>
                </a:solidFill>
                <a:latin typeface="Noto Sans KR"/>
                <a:ea typeface="Noto Sans KR"/>
                <a:cs typeface="Noto Sans KR"/>
              </a:rPr>
              <a:t>분유</a:t>
            </a:r>
          </a:p>
          <a:p xmlns:a="http://schemas.openxmlformats.org/drawingml/2006/main">
            <a:pPr algn="ctr">
              <a:lnSpc>
                <a:spcPct val="120000"/>
              </a:lnSpc>
              <a:buNone/>
              <a:defRPr sz="1350" b="1">
                <a:solidFill>
                  <a:srgbClr val="206D4A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1">
                <a:solidFill>
                  <a:srgbClr val="206D4A"/>
                </a:solidFill>
                <a:latin typeface="Noto Sans KR"/>
                <a:ea typeface="Noto Sans KR"/>
                <a:cs typeface="Noto Sans KR"/>
              </a:rPr>
              <a:t>무통장 입금</a:t>
            </a:r>
          </a:p>
        </p:txBody>
      </p:sp>
      <p:sp>
        <p:nvSpPr>
          <p:cNvPr id="7" name="text-6">
            <a:extLst xmlns:a="http://schemas.openxmlformats.org/drawingml/2006/main">
              <a:ext uri="{FF2B5EF4-FFF2-40B4-BE49-F238E27FC236}">
                <a16:creationId xmlns:a16="http://schemas.microsoft.com/office/drawing/2014/main" id="{C01E91E5-C40D-4111-A816-EFB696E349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2400300"/>
            <a:ext cx="342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5000"/>
              </a:lnSpc>
              <a:buNone/>
              <a:defRPr sz="1950" b="0">
                <a:solidFill>
                  <a:srgbClr val="77777E"/>
                </a:solidFill>
                <a:latin typeface="Noto Sans KR"/>
                <a:ea typeface="Noto Sans KR"/>
                <a:cs typeface="Noto Sans KR"/>
              </a:defRPr>
            </a:pPr>
            <a:r>
              <a:rPr sz="1950" b="0">
                <a:solidFill>
                  <a:srgbClr val="77777E"/>
                </a:solidFill>
                <a:latin typeface="Noto Sans KR"/>
                <a:ea typeface="Noto Sans KR"/>
                <a:cs typeface="Noto Sans KR"/>
              </a:rPr>
              <a:t>+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4540612-8385-4047-9345-E288DA0395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228850"/>
            <a:ext cx="2314575" cy="752475"/>
          </a:xfrm>
          <a:prstGeom xmlns:a="http://schemas.openxmlformats.org/drawingml/2006/main" prst="roundRect">
            <a:avLst>
              <a:gd name="adj" fmla="val 63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9E0"/>
            </a:solidFill>
          </a:ln>
        </p:spPr>
        <p:txBody>
          <a:bodyPr xmlns:a="http://schemas.openxmlformats.org/drawingml/2006/main" wrap="square" lIns="114300" tIns="76200" rIns="11430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0000"/>
              </a:lnSpc>
              <a:buNone/>
              <a:defRPr sz="1350" b="1">
                <a:solidFill>
                  <a:srgbClr val="206D4A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1">
                <a:solidFill>
                  <a:srgbClr val="206D4A"/>
                </a:solidFill>
                <a:latin typeface="Noto Sans KR"/>
                <a:ea typeface="Noto Sans KR"/>
                <a:cs typeface="Noto Sans KR"/>
              </a:rPr>
              <a:t>물품</a:t>
            </a:r>
          </a:p>
          <a:p xmlns:a="http://schemas.openxmlformats.org/drawingml/2006/main">
            <a:pPr algn="ctr">
              <a:lnSpc>
                <a:spcPct val="120000"/>
              </a:lnSpc>
              <a:buNone/>
              <a:defRPr sz="1350" b="1">
                <a:solidFill>
                  <a:srgbClr val="206D4A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1">
                <a:solidFill>
                  <a:srgbClr val="206D4A"/>
                </a:solidFill>
                <a:latin typeface="Noto Sans KR"/>
                <a:ea typeface="Noto Sans KR"/>
                <a:cs typeface="Noto Sans KR"/>
              </a:rPr>
              <a:t>무통장 입금</a:t>
            </a:r>
          </a:p>
        </p:txBody>
      </p:sp>
      <p:graphicFrame>
        <p:nvGraphicFramePr>
          <p:cNvPr id="23" name=""/>
          <p:cNvGraphicFramePr/>
          <p:nvPr/>
        </p:nvGraphicFramePr>
        <p:xfrm>
          <a:off xmlns:a="http://schemas.openxmlformats.org/drawingml/2006/main" x="609600" y="3390900"/>
          <a:ext xmlns:a="http://schemas.openxmlformats.org/drawingml/2006/main" cx="5838825" cy="15240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095500"/>
                <a:gridCol w="3743325"/>
              </a:tblGrid>
              <a:tr h="323850">
                <a:tc>
                  <a:txBody>
                    <a:bodyPr lIns="95250" tIns="57150" rIns="95250" bIns="57150"/>
                    <a:lstStyle/>
                    <a:p>
                      <a:pPr algn="l">
                        <a:lnSpc>
                          <a:spcPct val="122000"/>
                        </a:lnSpc>
                        <a:buNone/>
                      </a:pPr>
                      <a:r>
                        <a:rPr sz="1088" b="1">
                          <a:solidFill>
                            <a:srgbClr val="77777E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판단 기준</a:t>
                      </a:r>
                    </a:p>
                  </a:txBody>
                  <a:tcPr marL="95250" marR="95250" marT="57150" marB="5715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57150" rIns="95250" bIns="57150"/>
                    <a:lstStyle/>
                    <a:p>
                      <a:pPr algn="l">
                        <a:lnSpc>
                          <a:spcPct val="122000"/>
                        </a:lnSpc>
                        <a:buNone/>
                      </a:pPr>
                      <a:r>
                        <a:rPr sz="1088" b="1">
                          <a:solidFill>
                            <a:srgbClr val="77777E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처리 결과</a:t>
                      </a:r>
                    </a:p>
                  </a:txBody>
                  <a:tcPr marL="95250" marR="95250" marT="57150" marB="5715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52450">
                <a:tc>
                  <a:txBody>
                    <a:bodyPr lIns="95250" tIns="57150" rIns="95250" bIns="57150"/>
                    <a:lstStyle/>
                    <a:p>
                      <a:pPr algn="l">
                        <a:lnSpc>
                          <a:spcPct val="122000"/>
                        </a:lnSpc>
                        <a:buNone/>
                      </a:pPr>
                      <a:r>
                        <a:rPr sz="1088" b="1">
                          <a:solidFill>
                            <a:srgbClr val="206D4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이전: 결제방식 비교</a:t>
                      </a:r>
                    </a:p>
                  </a:txBody>
                  <a:tcPr marL="95250" marR="95250" marT="57150" marB="5715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57150" rIns="95250" bIns="57150"/>
                    <a:lstStyle/>
                    <a:p>
                      <a:pPr algn="l">
                        <a:lnSpc>
                          <a:spcPct val="122000"/>
                        </a:lnSpc>
                        <a:buNone/>
                      </a:pPr>
                      <a:r>
                        <a:rPr sz="1088" b="0">
                          <a:solidFill>
                            <a:srgbClr val="4E4E5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둘 다 무통장이므로 혼합주문 통과</a:t>
                      </a:r>
                    </a:p>
                  </a:txBody>
                  <a:tcPr marL="95250" marR="95250" marT="57150" marB="5715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47700">
                <a:tc>
                  <a:txBody>
                    <a:bodyPr lIns="95250" tIns="57150" rIns="95250" bIns="57150"/>
                    <a:lstStyle/>
                    <a:p>
                      <a:pPr algn="l">
                        <a:lnSpc>
                          <a:spcPct val="122000"/>
                        </a:lnSpc>
                        <a:buNone/>
                      </a:pPr>
                      <a:r>
                        <a:rPr sz="1088" b="1">
                          <a:solidFill>
                            <a:srgbClr val="206D4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보완: 카테고리 비교</a:t>
                      </a:r>
                    </a:p>
                  </a:txBody>
                  <a:tcPr marL="95250" marR="95250" marT="57150" marB="5715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E0"/>
                      </a:solidFill>
                      <a:prstDash val="solid"/>
                    </a:lnB>
                    <a:solidFill>
                      <a:srgbClr val="E7F4ED"/>
                    </a:solidFill>
                  </a:tcPr>
                </a:tc>
                <a:tc>
                  <a:txBody>
                    <a:bodyPr lIns="95250" tIns="57150" rIns="95250" bIns="57150"/>
                    <a:lstStyle/>
                    <a:p>
                      <a:pPr algn="l">
                        <a:lnSpc>
                          <a:spcPct val="122000"/>
                        </a:lnSpc>
                        <a:buNone/>
                      </a:pPr>
                      <a:r>
                        <a:rPr sz="1088" b="1">
                          <a:solidFill>
                            <a:srgbClr val="206D4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분류가 다르면 차단하고 분리 주문 안내</a:t>
                      </a:r>
                    </a:p>
                  </a:txBody>
                  <a:tcPr marL="95250" marR="95250" marT="57150" marB="5715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E0"/>
                      </a:solidFill>
                      <a:prstDash val="solid"/>
                    </a:lnB>
                    <a:solidFill>
                      <a:srgbClr val="E7F4ED"/>
                    </a:solidFill>
                  </a:tcPr>
                </a:tc>
              </a:tr>
            </a:tbl>
          </a:graphicData>
        </a:graphic>
      </p:graphicFrame>
      <p:sp>
        <p:nvSpPr>
          <p:cNvPr id="10" name="text-8">
            <a:extLst xmlns:a="http://schemas.openxmlformats.org/drawingml/2006/main">
              <a:ext uri="{FF2B5EF4-FFF2-40B4-BE49-F238E27FC236}">
                <a16:creationId xmlns:a16="http://schemas.microsoft.com/office/drawing/2014/main" id="{3A2053C0-AD86-416D-9A66-67B9F6494A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1714500"/>
            <a:ext cx="533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350" b="1">
                <a:solidFill>
                  <a:srgbClr val="206D4A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1">
                <a:solidFill>
                  <a:srgbClr val="206D4A"/>
                </a:solidFill>
                <a:latin typeface="Noto Sans KR"/>
                <a:ea typeface="Noto Sans KR"/>
                <a:cs typeface="Noto Sans KR"/>
              </a:rPr>
              <a:t>고객에게 보여준 다음 행동</a:t>
            </a:r>
          </a:p>
        </p:txBody>
      </p:sp>
      <p:pic>
        <p:nvPicPr>
          <p:cNvPr id="2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0c6e123ca614588"/>
          <a:stretch xmlns:a="http://schemas.openxmlformats.org/drawingml/2006/main"/>
        </p:blipFill>
        <p:spPr>
          <a:xfrm xmlns:a="http://schemas.openxmlformats.org/drawingml/2006/main">
            <a:off x="7050626" y="2171700"/>
            <a:ext cx="3567622" cy="2324100"/>
          </a:xfrm>
          <a:prstGeom xmlns:a="http://schemas.openxmlformats.org/drawingml/2006/main" prst="rect">
            <a:avLst/>
          </a:prstGeom>
        </p:spPr>
      </p:pic>
      <p:sp>
        <p:nvSpPr>
          <p:cNvPr id="12" name="text-9">
            <a:extLst xmlns:a="http://schemas.openxmlformats.org/drawingml/2006/main">
              <a:ext uri="{FF2B5EF4-FFF2-40B4-BE49-F238E27FC236}">
                <a16:creationId xmlns:a16="http://schemas.microsoft.com/office/drawing/2014/main" id="{CEF08852-118A-4331-9D21-0F433E5811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4772025"/>
            <a:ext cx="5334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5000"/>
              </a:lnSpc>
              <a:buNone/>
              <a:defRPr sz="1275" b="1">
                <a:solidFill>
                  <a:srgbClr val="206D4A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1">
                <a:solidFill>
                  <a:srgbClr val="206D4A"/>
                </a:solidFill>
                <a:latin typeface="Noto Sans KR"/>
                <a:ea typeface="Noto Sans KR"/>
                <a:cs typeface="Noto Sans KR"/>
              </a:rPr>
              <a:t>막힌 이유와 분류별 주문 방법을 함께 안내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AE229B7-F496-40D9-85ED-81FAE97729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67375"/>
            <a:ext cx="10972800" cy="457200"/>
          </a:xfrm>
          <a:prstGeom xmlns:a="http://schemas.openxmlformats.org/drawingml/2006/main" prst="roundRect">
            <a:avLst>
              <a:gd name="adj" fmla="val 10417"/>
            </a:avLst>
          </a:prstGeom>
          <a:solidFill xmlns:a="http://schemas.openxmlformats.org/drawingml/2006/main">
            <a:srgbClr val="206D4A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114300" tIns="47625" rIns="114300" bIns="476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127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정책의 기준을 결제수단에서 상품 분류로 옮겨, 같은 결제수단의 예외까지 막았습니다.</a:t>
            </a:r>
          </a:p>
        </p:txBody>
      </p:sp>
      <p:sp>
        <p:nvSpPr>
          <p:cNvPr id="14" name="text-11">
            <a:extLst xmlns:a="http://schemas.openxmlformats.org/drawingml/2006/main">
              <a:ext uri="{FF2B5EF4-FFF2-40B4-BE49-F238E27FC236}">
                <a16:creationId xmlns:a16="http://schemas.microsoft.com/office/drawing/2014/main" id="{A95B17BB-ABD4-4523-B679-EB67F41F59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96025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013" b="0">
                <a:solidFill>
                  <a:srgbClr val="77777E"/>
                </a:solidFill>
                <a:latin typeface="Noto Sans KR"/>
                <a:ea typeface="Noto Sans KR"/>
                <a:cs typeface="Noto Sans KR"/>
              </a:defRPr>
            </a:pPr>
            <a:r>
              <a:rPr sz="1013" b="0">
                <a:solidFill>
                  <a:srgbClr val="77777E"/>
                </a:solidFill>
                <a:latin typeface="Noto Sans KR"/>
                <a:ea typeface="Noto Sans KR"/>
                <a:cs typeface="Noto Sans KR"/>
              </a:rPr>
              <a:t>좌측: 정책 기반 가상 예시 / 우측: 개발사 문서 캡처(분유·미지정 테스트 상품) · 실운영 직접 캡처 아님</a:t>
            </a:r>
          </a:p>
        </p:txBody>
      </p:sp>
    </p:spTree>
    <p:extLst>
      <p:ext uri="{BB962C8B-B14F-4D97-AF65-F5344CB8AC3E}">
        <p14:creationId xmlns:p14="http://schemas.microsoft.com/office/powerpoint/2010/main" val="1684331845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text-0">
            <a:extLst xmlns:a="http://schemas.openxmlformats.org/drawingml/2006/main">
              <a:ext uri="{FF2B5EF4-FFF2-40B4-BE49-F238E27FC236}">
                <a16:creationId xmlns:a16="http://schemas.microsoft.com/office/drawing/2014/main" id="{E83DEC50-3C5E-4BB3-8156-C6DB7F6CBB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87075" y="285750"/>
            <a:ext cx="6953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25000"/>
              </a:lnSpc>
              <a:buNone/>
              <a:defRPr sz="788" b="0">
                <a:solidFill>
                  <a:srgbClr val="92929A"/>
                </a:solidFill>
                <a:latin typeface="Noto Sans KR"/>
                <a:ea typeface="Noto Sans KR"/>
                <a:cs typeface="Noto Sans KR"/>
              </a:defRPr>
            </a:pPr>
            <a:r>
              <a:rPr sz="788" b="0">
                <a:solidFill>
                  <a:srgbClr val="92929A"/>
                </a:solidFill>
                <a:latin typeface="Noto Sans KR"/>
                <a:ea typeface="Noto Sans KR"/>
                <a:cs typeface="Noto Sans KR"/>
              </a:rPr>
              <a:t>18 / 22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4CFA91CA-02DF-4559-A2BA-BFFC2F1E6F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3905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950" b="1">
                <a:solidFill>
                  <a:srgbClr val="206D4A"/>
                </a:solidFill>
                <a:latin typeface="Noto Sans KR"/>
                <a:ea typeface="Noto Sans KR"/>
                <a:cs typeface="Noto Sans KR"/>
              </a:defRPr>
            </a:pPr>
            <a:r>
              <a:rPr sz="1950" b="1">
                <a:solidFill>
                  <a:srgbClr val="206D4A"/>
                </a:solidFill>
                <a:latin typeface="Noto Sans KR"/>
                <a:ea typeface="Noto Sans KR"/>
                <a:cs typeface="Noto Sans KR"/>
              </a:rPr>
              <a:t>06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F205B371-38B2-4674-83B5-487871C98F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742950"/>
            <a:ext cx="10287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950" b="1">
                <a:solidFill>
                  <a:srgbClr val="1A1A1A"/>
                </a:solidFill>
                <a:latin typeface="Noto Sans KR"/>
                <a:ea typeface="Noto Sans KR"/>
                <a:cs typeface="Noto Sans KR"/>
              </a:defRPr>
            </a:pPr>
            <a:r>
              <a:rPr sz="1950" b="1">
                <a:solidFill>
                  <a:srgbClr val="1A1A1A"/>
                </a:solidFill>
                <a:latin typeface="Noto Sans KR"/>
                <a:ea typeface="Noto Sans KR"/>
                <a:cs typeface="Noto Sans KR"/>
              </a:rPr>
              <a:t>포인트 정리의 실행 안전장치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2114ADA8-C6CD-4EDF-A55E-DE9686710B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906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050" b="0">
                <a:solidFill>
                  <a:srgbClr val="77777E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0">
                <a:solidFill>
                  <a:srgbClr val="77777E"/>
                </a:solidFill>
                <a:latin typeface="Noto Sans KR"/>
                <a:ea typeface="Noto Sans KR"/>
                <a:cs typeface="Noto Sans KR"/>
              </a:rPr>
              <a:t>월 1회 발생하는 비가역 작업이어서, 대상과 차감 결과를 확인한 뒤 실행하도록 범위를 조정했습니다.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F49C0F5-9A12-4811-950B-E340885076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33550"/>
            <a:ext cx="2628900" cy="704850"/>
          </a:xfrm>
          <a:prstGeom xmlns:a="http://schemas.openxmlformats.org/drawingml/2006/main" prst="roundRect">
            <a:avLst>
              <a:gd name="adj" fmla="val 675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9E0"/>
            </a:solidFill>
          </a:ln>
        </p:spPr>
      </p:sp>
      <p:sp>
        <p:nvSpPr>
          <p:cNvPr id="6" name="text-5">
            <a:extLst xmlns:a="http://schemas.openxmlformats.org/drawingml/2006/main">
              <a:ext uri="{FF2B5EF4-FFF2-40B4-BE49-F238E27FC236}">
                <a16:creationId xmlns:a16="http://schemas.microsoft.com/office/drawing/2014/main" id="{70D459CA-4266-40AC-A239-26421EED93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847850"/>
            <a:ext cx="23622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200" b="1">
                <a:solidFill>
                  <a:srgbClr val="1A1A1A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1">
                <a:solidFill>
                  <a:srgbClr val="1A1A1A"/>
                </a:solidFill>
                <a:latin typeface="Noto Sans KR"/>
                <a:ea typeface="Noto Sans KR"/>
                <a:cs typeface="Noto Sans KR"/>
              </a:rPr>
              <a:t>미리보기</a:t>
            </a:r>
          </a:p>
        </p:txBody>
      </p:sp>
      <p:sp>
        <p:nvSpPr>
          <p:cNvPr id="7" name="text-6">
            <a:extLst xmlns:a="http://schemas.openxmlformats.org/drawingml/2006/main">
              <a:ext uri="{FF2B5EF4-FFF2-40B4-BE49-F238E27FC236}">
                <a16:creationId xmlns:a16="http://schemas.microsoft.com/office/drawing/2014/main" id="{5193ACA5-0437-402A-9938-C6DD90C8A0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114550"/>
            <a:ext cx="23622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938" b="0">
                <a:solidFill>
                  <a:srgbClr val="77777E"/>
                </a:solidFill>
                <a:latin typeface="Noto Sans KR"/>
                <a:ea typeface="Noto Sans KR"/>
                <a:cs typeface="Noto Sans KR"/>
              </a:defRPr>
            </a:pPr>
            <a:r>
              <a:rPr sz="938" b="0">
                <a:solidFill>
                  <a:srgbClr val="77777E"/>
                </a:solidFill>
                <a:latin typeface="Noto Sans KR"/>
                <a:ea typeface="Noto Sans KR"/>
                <a:cs typeface="Noto Sans KR"/>
              </a:rPr>
              <a:t>현재·차감·잔여 확인</a:t>
            </a:r>
          </a:p>
        </p:txBody>
      </p:sp>
      <p:sp>
        <p:nvSpPr>
          <p:cNvPr id="8" name="text-7">
            <a:extLst xmlns:a="http://schemas.openxmlformats.org/drawingml/2006/main">
              <a:ext uri="{FF2B5EF4-FFF2-40B4-BE49-F238E27FC236}">
                <a16:creationId xmlns:a16="http://schemas.microsoft.com/office/drawing/2014/main" id="{1EF99D44-6E75-4883-9067-6B9266D800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8025" y="1943100"/>
            <a:ext cx="133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5000"/>
              </a:lnSpc>
              <a:buNone/>
              <a:defRPr sz="1575" b="0">
                <a:solidFill>
                  <a:srgbClr val="206D4A"/>
                </a:solidFill>
                <a:latin typeface="Noto Sans KR"/>
                <a:ea typeface="Noto Sans KR"/>
                <a:cs typeface="Noto Sans KR"/>
              </a:defRPr>
            </a:pPr>
            <a:r>
              <a:rPr sz="1575" b="0">
                <a:solidFill>
                  <a:srgbClr val="206D4A"/>
                </a:solidFill>
                <a:latin typeface="Noto Sans KR"/>
                <a:ea typeface="Noto Sans KR"/>
                <a:cs typeface="Noto Sans KR"/>
              </a:rPr>
              <a:t>›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D763B8A-7237-463C-8669-205D3CA7E8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1733550"/>
            <a:ext cx="2628900" cy="704850"/>
          </a:xfrm>
          <a:prstGeom xmlns:a="http://schemas.openxmlformats.org/drawingml/2006/main" prst="roundRect">
            <a:avLst>
              <a:gd name="adj" fmla="val 675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9E0"/>
            </a:solidFill>
          </a:ln>
        </p:spPr>
      </p:sp>
      <p:sp>
        <p:nvSpPr>
          <p:cNvPr id="10" name="text-9">
            <a:extLst xmlns:a="http://schemas.openxmlformats.org/drawingml/2006/main">
              <a:ext uri="{FF2B5EF4-FFF2-40B4-BE49-F238E27FC236}">
                <a16:creationId xmlns:a16="http://schemas.microsoft.com/office/drawing/2014/main" id="{3D4FE294-C663-4D35-BEB0-A86A3F99DE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1847850"/>
            <a:ext cx="23622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200" b="1">
                <a:solidFill>
                  <a:srgbClr val="1A1A1A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1">
                <a:solidFill>
                  <a:srgbClr val="1A1A1A"/>
                </a:solidFill>
                <a:latin typeface="Noto Sans KR"/>
                <a:ea typeface="Noto Sans KR"/>
                <a:cs typeface="Noto Sans KR"/>
              </a:rPr>
              <a:t>대상 선택</a:t>
            </a:r>
          </a:p>
        </p:txBody>
      </p:sp>
      <p:sp>
        <p:nvSpPr>
          <p:cNvPr id="11" name="text-10">
            <a:extLst xmlns:a="http://schemas.openxmlformats.org/drawingml/2006/main">
              <a:ext uri="{FF2B5EF4-FFF2-40B4-BE49-F238E27FC236}">
                <a16:creationId xmlns:a16="http://schemas.microsoft.com/office/drawing/2014/main" id="{A65AF0AC-F5AA-464D-AE22-A782A69B44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114550"/>
            <a:ext cx="23622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938" b="0">
                <a:solidFill>
                  <a:srgbClr val="77777E"/>
                </a:solidFill>
                <a:latin typeface="Noto Sans KR"/>
                <a:ea typeface="Noto Sans KR"/>
                <a:cs typeface="Noto Sans KR"/>
              </a:defRPr>
            </a:pPr>
            <a:r>
              <a:rPr sz="938" b="0">
                <a:solidFill>
                  <a:srgbClr val="77777E"/>
                </a:solidFill>
                <a:latin typeface="Noto Sans KR"/>
                <a:ea typeface="Noto Sans KR"/>
                <a:cs typeface="Noto Sans KR"/>
              </a:rPr>
              <a:t>처리할 회원 선택</a:t>
            </a:r>
          </a:p>
        </p:txBody>
      </p:sp>
      <p:sp>
        <p:nvSpPr>
          <p:cNvPr id="12" name="text-11">
            <a:extLst xmlns:a="http://schemas.openxmlformats.org/drawingml/2006/main">
              <a:ext uri="{FF2B5EF4-FFF2-40B4-BE49-F238E27FC236}">
                <a16:creationId xmlns:a16="http://schemas.microsoft.com/office/drawing/2014/main" id="{4B5FD714-0BB4-4415-87B1-389AC155F8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29325" y="1943100"/>
            <a:ext cx="133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5000"/>
              </a:lnSpc>
              <a:buNone/>
              <a:defRPr sz="1575" b="0">
                <a:solidFill>
                  <a:srgbClr val="206D4A"/>
                </a:solidFill>
                <a:latin typeface="Noto Sans KR"/>
                <a:ea typeface="Noto Sans KR"/>
                <a:cs typeface="Noto Sans KR"/>
              </a:defRPr>
            </a:pPr>
            <a:r>
              <a:rPr sz="1575" b="0">
                <a:solidFill>
                  <a:srgbClr val="206D4A"/>
                </a:solidFill>
                <a:latin typeface="Noto Sans KR"/>
                <a:ea typeface="Noto Sans KR"/>
                <a:cs typeface="Noto Sans KR"/>
              </a:rPr>
              <a:t>›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E80AAA9-AB19-4CE2-B7E7-DE93DBC10E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1733550"/>
            <a:ext cx="2628900" cy="704850"/>
          </a:xfrm>
          <a:prstGeom xmlns:a="http://schemas.openxmlformats.org/drawingml/2006/main" prst="roundRect">
            <a:avLst>
              <a:gd name="adj" fmla="val 675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9E0"/>
            </a:solidFill>
          </a:ln>
        </p:spPr>
      </p:sp>
      <p:sp>
        <p:nvSpPr>
          <p:cNvPr id="14" name="text-13">
            <a:extLst xmlns:a="http://schemas.openxmlformats.org/drawingml/2006/main">
              <a:ext uri="{FF2B5EF4-FFF2-40B4-BE49-F238E27FC236}">
                <a16:creationId xmlns:a16="http://schemas.microsoft.com/office/drawing/2014/main" id="{9F9A0017-2815-42DF-94C0-E29568B71D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1847850"/>
            <a:ext cx="23622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200" b="1">
                <a:solidFill>
                  <a:srgbClr val="1A1A1A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1">
                <a:solidFill>
                  <a:srgbClr val="1A1A1A"/>
                </a:solidFill>
                <a:latin typeface="Noto Sans KR"/>
                <a:ea typeface="Noto Sans KR"/>
                <a:cs typeface="Noto Sans KR"/>
              </a:rPr>
              <a:t>최종 확인</a:t>
            </a:r>
          </a:p>
        </p:txBody>
      </p:sp>
      <p:sp>
        <p:nvSpPr>
          <p:cNvPr id="15" name="text-14">
            <a:extLst xmlns:a="http://schemas.openxmlformats.org/drawingml/2006/main">
              <a:ext uri="{FF2B5EF4-FFF2-40B4-BE49-F238E27FC236}">
                <a16:creationId xmlns:a16="http://schemas.microsoft.com/office/drawing/2014/main" id="{CCDC3C39-6847-4622-B865-A0FAF17E4C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114550"/>
            <a:ext cx="23622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938" b="0">
                <a:solidFill>
                  <a:srgbClr val="77777E"/>
                </a:solidFill>
                <a:latin typeface="Noto Sans KR"/>
                <a:ea typeface="Noto Sans KR"/>
                <a:cs typeface="Noto Sans KR"/>
              </a:defRPr>
            </a:pPr>
            <a:r>
              <a:rPr sz="938" b="0">
                <a:solidFill>
                  <a:srgbClr val="77777E"/>
                </a:solidFill>
                <a:latin typeface="Noto Sans KR"/>
                <a:ea typeface="Noto Sans KR"/>
                <a:cs typeface="Noto Sans KR"/>
              </a:rPr>
              <a:t>대상과 합계를 재확인</a:t>
            </a:r>
          </a:p>
        </p:txBody>
      </p:sp>
      <p:sp>
        <p:nvSpPr>
          <p:cNvPr id="16" name="text-15">
            <a:extLst xmlns:a="http://schemas.openxmlformats.org/drawingml/2006/main">
              <a:ext uri="{FF2B5EF4-FFF2-40B4-BE49-F238E27FC236}">
                <a16:creationId xmlns:a16="http://schemas.microsoft.com/office/drawing/2014/main" id="{51653402-5A5F-4873-B133-884B98F50E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1943100"/>
            <a:ext cx="133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5000"/>
              </a:lnSpc>
              <a:buNone/>
              <a:defRPr sz="1575" b="0">
                <a:solidFill>
                  <a:srgbClr val="206D4A"/>
                </a:solidFill>
                <a:latin typeface="Noto Sans KR"/>
                <a:ea typeface="Noto Sans KR"/>
                <a:cs typeface="Noto Sans KR"/>
              </a:defRPr>
            </a:pPr>
            <a:r>
              <a:rPr sz="1575" b="0">
                <a:solidFill>
                  <a:srgbClr val="206D4A"/>
                </a:solidFill>
                <a:latin typeface="Noto Sans KR"/>
                <a:ea typeface="Noto Sans KR"/>
                <a:cs typeface="Noto Sans KR"/>
              </a:rPr>
              <a:t>›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CDEA5C1-916E-447E-A81B-FAE753B231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1733550"/>
            <a:ext cx="2628900" cy="704850"/>
          </a:xfrm>
          <a:prstGeom xmlns:a="http://schemas.openxmlformats.org/drawingml/2006/main" prst="roundRect">
            <a:avLst>
              <a:gd name="adj" fmla="val 675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9E0"/>
            </a:solidFill>
          </a:ln>
        </p:spPr>
      </p:sp>
      <p:sp>
        <p:nvSpPr>
          <p:cNvPr id="18" name="text-17">
            <a:extLst xmlns:a="http://schemas.openxmlformats.org/drawingml/2006/main">
              <a:ext uri="{FF2B5EF4-FFF2-40B4-BE49-F238E27FC236}">
                <a16:creationId xmlns:a16="http://schemas.microsoft.com/office/drawing/2014/main" id="{DC3316CD-C938-4B3C-8850-D472492FFC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1847850"/>
            <a:ext cx="23622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200" b="1">
                <a:solidFill>
                  <a:srgbClr val="1A1A1A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1">
                <a:solidFill>
                  <a:srgbClr val="1A1A1A"/>
                </a:solidFill>
                <a:latin typeface="Noto Sans KR"/>
                <a:ea typeface="Noto Sans KR"/>
                <a:cs typeface="Noto Sans KR"/>
              </a:rPr>
              <a:t>실행·기록</a:t>
            </a:r>
          </a:p>
        </p:txBody>
      </p:sp>
      <p:sp>
        <p:nvSpPr>
          <p:cNvPr id="19" name="text-18">
            <a:extLst xmlns:a="http://schemas.openxmlformats.org/drawingml/2006/main">
              <a:ext uri="{FF2B5EF4-FFF2-40B4-BE49-F238E27FC236}">
                <a16:creationId xmlns:a16="http://schemas.microsoft.com/office/drawing/2014/main" id="{10605DDE-5518-4F0F-B342-BFF23B3936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2114550"/>
            <a:ext cx="23622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938" b="0">
                <a:solidFill>
                  <a:srgbClr val="77777E"/>
                </a:solidFill>
                <a:latin typeface="Noto Sans KR"/>
                <a:ea typeface="Noto Sans KR"/>
                <a:cs typeface="Noto Sans KR"/>
              </a:defRPr>
            </a:pPr>
            <a:r>
              <a:rPr sz="938" b="0">
                <a:solidFill>
                  <a:srgbClr val="77777E"/>
                </a:solidFill>
                <a:latin typeface="Noto Sans KR"/>
                <a:ea typeface="Noto Sans KR"/>
                <a:cs typeface="Noto Sans KR"/>
              </a:rPr>
              <a:t>현재 상태 재검증</a:t>
            </a:r>
          </a:p>
        </p:txBody>
      </p:sp>
      <p:sp>
        <p:nvSpPr>
          <p:cNvPr id="20" name="text-19">
            <a:extLst xmlns:a="http://schemas.openxmlformats.org/drawingml/2006/main">
              <a:ext uri="{FF2B5EF4-FFF2-40B4-BE49-F238E27FC236}">
                <a16:creationId xmlns:a16="http://schemas.microsoft.com/office/drawing/2014/main" id="{83F01000-1FFB-4FEB-B111-D23E946531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05125"/>
            <a:ext cx="10972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350" b="1">
                <a:solidFill>
                  <a:srgbClr val="206D4A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1">
                <a:solidFill>
                  <a:srgbClr val="206D4A"/>
                </a:solidFill>
                <a:latin typeface="Noto Sans KR"/>
                <a:ea typeface="Noto Sans KR"/>
                <a:cs typeface="Noto Sans KR"/>
              </a:rPr>
              <a:t>조회한 뒤 회원 상태가 바뀐다면</a:t>
            </a:r>
          </a:p>
        </p:txBody>
      </p:sp>
      <p:graphicFrame>
        <p:nvGraphicFramePr>
          <p:cNvPr id="46" name=""/>
          <p:cNvGraphicFramePr/>
          <p:nvPr/>
        </p:nvGraphicFramePr>
        <p:xfrm>
          <a:off xmlns:a="http://schemas.openxmlformats.org/drawingml/2006/main" x="609600" y="3333750"/>
          <a:ext xmlns:a="http://schemas.openxmlformats.org/drawingml/2006/main" cx="10972800" cy="2190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524000"/>
                <a:gridCol w="3048000"/>
                <a:gridCol w="3048000"/>
                <a:gridCol w="3352800"/>
              </a:tblGrid>
              <a:tr h="361950">
                <a:tc>
                  <a:txBody>
                    <a:bodyPr lIns="95250" tIns="57150" rIns="95250" bIns="57150"/>
                    <a:lstStyle/>
                    <a:p>
                      <a:pPr algn="l">
                        <a:lnSpc>
                          <a:spcPct val="122000"/>
                        </a:lnSpc>
                        <a:buNone/>
                      </a:pPr>
                      <a:r>
                        <a:rPr sz="1088" b="1">
                          <a:solidFill>
                            <a:srgbClr val="77777E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가상 대상</a:t>
                      </a:r>
                    </a:p>
                  </a:txBody>
                  <a:tcPr marL="95250" marR="95250" marT="57150" marB="5715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57150" rIns="95250" bIns="57150"/>
                    <a:lstStyle/>
                    <a:p>
                      <a:pPr algn="l">
                        <a:lnSpc>
                          <a:spcPct val="122000"/>
                        </a:lnSpc>
                        <a:buNone/>
                      </a:pPr>
                      <a:r>
                        <a:rPr sz="1088" b="1">
                          <a:solidFill>
                            <a:srgbClr val="77777E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조회 후 상황</a:t>
                      </a:r>
                    </a:p>
                  </a:txBody>
                  <a:tcPr marL="95250" marR="95250" marT="57150" marB="5715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57150" rIns="95250" bIns="57150"/>
                    <a:lstStyle/>
                    <a:p>
                      <a:pPr algn="l">
                        <a:lnSpc>
                          <a:spcPct val="122000"/>
                        </a:lnSpc>
                        <a:buNone/>
                      </a:pPr>
                      <a:r>
                        <a:rPr sz="1088" b="1">
                          <a:solidFill>
                            <a:srgbClr val="77777E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실행 시 처리</a:t>
                      </a:r>
                    </a:p>
                  </a:txBody>
                  <a:tcPr marL="95250" marR="95250" marT="57150" marB="5715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57150" rIns="95250" bIns="57150"/>
                    <a:lstStyle/>
                    <a:p>
                      <a:pPr algn="l">
                        <a:lnSpc>
                          <a:spcPct val="122000"/>
                        </a:lnSpc>
                        <a:buNone/>
                      </a:pPr>
                      <a:r>
                        <a:rPr sz="1088" b="1">
                          <a:solidFill>
                            <a:srgbClr val="77777E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막으려는 문제</a:t>
                      </a:r>
                    </a:p>
                  </a:txBody>
                  <a:tcPr marL="95250" marR="95250" marT="57150" marB="5715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09600">
                <a:tc>
                  <a:txBody>
                    <a:bodyPr lIns="95250" tIns="57150" rIns="95250" bIns="57150"/>
                    <a:lstStyle/>
                    <a:p>
                      <a:pPr algn="l">
                        <a:lnSpc>
                          <a:spcPct val="122000"/>
                        </a:lnSpc>
                        <a:buNone/>
                      </a:pPr>
                      <a:r>
                        <a:rPr sz="1088" b="1">
                          <a:solidFill>
                            <a:srgbClr val="206D4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회원 A</a:t>
                      </a:r>
                    </a:p>
                  </a:txBody>
                  <a:tcPr marL="95250" marR="95250" marT="57150" marB="5715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57150" rIns="95250" bIns="57150"/>
                    <a:lstStyle/>
                    <a:p>
                      <a:pPr algn="l">
                        <a:lnSpc>
                          <a:spcPct val="122000"/>
                        </a:lnSpc>
                        <a:buNone/>
                      </a:pPr>
                      <a:r>
                        <a:rPr sz="1088" b="0">
                          <a:solidFill>
                            <a:srgbClr val="4E4E5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상태 변동 없음</a:t>
                      </a:r>
                    </a:p>
                  </a:txBody>
                  <a:tcPr marL="95250" marR="95250" marT="57150" marB="5715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57150" rIns="95250" bIns="57150"/>
                    <a:lstStyle/>
                    <a:p>
                      <a:pPr algn="l">
                        <a:lnSpc>
                          <a:spcPct val="122000"/>
                        </a:lnSpc>
                        <a:buNone/>
                      </a:pPr>
                      <a:r>
                        <a:rPr sz="1088" b="0">
                          <a:solidFill>
                            <a:srgbClr val="4E4E5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선택한 대상만 정리</a:t>
                      </a:r>
                    </a:p>
                  </a:txBody>
                  <a:tcPr marL="95250" marR="95250" marT="57150" marB="5715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57150" rIns="95250" bIns="57150"/>
                    <a:lstStyle/>
                    <a:p>
                      <a:pPr algn="l">
                        <a:lnSpc>
                          <a:spcPct val="122000"/>
                        </a:lnSpc>
                        <a:buNone/>
                      </a:pPr>
                      <a:r>
                        <a:rPr sz="1088" b="0">
                          <a:solidFill>
                            <a:srgbClr val="4E4E5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대상 외 회원의 임의 차감</a:t>
                      </a:r>
                    </a:p>
                  </a:txBody>
                  <a:tcPr marL="95250" marR="95250" marT="57150" marB="5715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09600">
                <a:tc>
                  <a:txBody>
                    <a:bodyPr lIns="95250" tIns="57150" rIns="95250" bIns="57150"/>
                    <a:lstStyle/>
                    <a:p>
                      <a:pPr algn="l">
                        <a:lnSpc>
                          <a:spcPct val="122000"/>
                        </a:lnSpc>
                        <a:buNone/>
                      </a:pPr>
                      <a:r>
                        <a:rPr sz="1088" b="1">
                          <a:solidFill>
                            <a:srgbClr val="206D4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회원 B</a:t>
                      </a:r>
                    </a:p>
                  </a:txBody>
                  <a:tcPr marL="95250" marR="95250" marT="57150" marB="5715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E0"/>
                      </a:solidFill>
                      <a:prstDash val="solid"/>
                    </a:lnB>
                    <a:solidFill>
                      <a:srgbClr val="E7F4ED"/>
                    </a:solidFill>
                  </a:tcPr>
                </a:tc>
                <a:tc>
                  <a:txBody>
                    <a:bodyPr lIns="95250" tIns="57150" rIns="95250" bIns="57150"/>
                    <a:lstStyle/>
                    <a:p>
                      <a:pPr algn="l">
                        <a:lnSpc>
                          <a:spcPct val="122000"/>
                        </a:lnSpc>
                        <a:buNone/>
                      </a:pPr>
                      <a:r>
                        <a:rPr sz="1088" b="1">
                          <a:solidFill>
                            <a:srgbClr val="206D4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포인트 사용 또는 등급 변경</a:t>
                      </a:r>
                    </a:p>
                  </a:txBody>
                  <a:tcPr marL="95250" marR="95250" marT="57150" marB="5715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E0"/>
                      </a:solidFill>
                      <a:prstDash val="solid"/>
                    </a:lnB>
                    <a:solidFill>
                      <a:srgbClr val="E7F4ED"/>
                    </a:solidFill>
                  </a:tcPr>
                </a:tc>
                <a:tc>
                  <a:txBody>
                    <a:bodyPr lIns="95250" tIns="57150" rIns="95250" bIns="57150"/>
                    <a:lstStyle/>
                    <a:p>
                      <a:pPr algn="l">
                        <a:lnSpc>
                          <a:spcPct val="122000"/>
                        </a:lnSpc>
                        <a:buNone/>
                      </a:pPr>
                      <a:r>
                        <a:rPr sz="1088" b="1">
                          <a:solidFill>
                            <a:srgbClr val="206D4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변경 회원 자동 제외</a:t>
                      </a:r>
                    </a:p>
                  </a:txBody>
                  <a:tcPr marL="95250" marR="95250" marT="57150" marB="5715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E0"/>
                      </a:solidFill>
                      <a:prstDash val="solid"/>
                    </a:lnB>
                    <a:solidFill>
                      <a:srgbClr val="E7F4ED"/>
                    </a:solidFill>
                  </a:tcPr>
                </a:tc>
                <a:tc>
                  <a:txBody>
                    <a:bodyPr lIns="95250" tIns="57150" rIns="95250" bIns="57150"/>
                    <a:lstStyle/>
                    <a:p>
                      <a:pPr algn="l">
                        <a:lnSpc>
                          <a:spcPct val="122000"/>
                        </a:lnSpc>
                        <a:buNone/>
                      </a:pPr>
                      <a:r>
                        <a:rPr sz="1088" b="1">
                          <a:solidFill>
                            <a:srgbClr val="206D4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오래된 화면 값으로 과다 차감</a:t>
                      </a:r>
                    </a:p>
                  </a:txBody>
                  <a:tcPr marL="95250" marR="95250" marT="57150" marB="5715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E0"/>
                      </a:solidFill>
                      <a:prstDash val="solid"/>
                    </a:lnB>
                    <a:solidFill>
                      <a:srgbClr val="E7F4ED"/>
                    </a:solidFill>
                  </a:tcPr>
                </a:tc>
              </a:tr>
              <a:tr h="609600">
                <a:tc>
                  <a:txBody>
                    <a:bodyPr lIns="95250" tIns="57150" rIns="95250" bIns="57150"/>
                    <a:lstStyle/>
                    <a:p>
                      <a:pPr algn="l">
                        <a:lnSpc>
                          <a:spcPct val="122000"/>
                        </a:lnSpc>
                        <a:buNone/>
                      </a:pPr>
                      <a:r>
                        <a:rPr sz="1088" b="1">
                          <a:solidFill>
                            <a:srgbClr val="206D4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같은 조건 재실행</a:t>
                      </a:r>
                    </a:p>
                  </a:txBody>
                  <a:tcPr marL="95250" marR="95250" marT="57150" marB="5715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57150" rIns="95250" bIns="57150"/>
                    <a:lstStyle/>
                    <a:p>
                      <a:pPr algn="l">
                        <a:lnSpc>
                          <a:spcPct val="122000"/>
                        </a:lnSpc>
                        <a:buNone/>
                      </a:pPr>
                      <a:r>
                        <a:rPr sz="1088" b="0">
                          <a:solidFill>
                            <a:srgbClr val="4E4E5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운영자가 실행을 다시 누름</a:t>
                      </a:r>
                    </a:p>
                  </a:txBody>
                  <a:tcPr marL="95250" marR="95250" marT="57150" marB="5715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57150" rIns="95250" bIns="57150"/>
                    <a:lstStyle/>
                    <a:p>
                      <a:pPr algn="l">
                        <a:lnSpc>
                          <a:spcPct val="122000"/>
                        </a:lnSpc>
                        <a:buNone/>
                      </a:pPr>
                      <a:r>
                        <a:rPr sz="1088" b="0">
                          <a:solidFill>
                            <a:srgbClr val="4E4E5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추가 차감하지 않음</a:t>
                      </a:r>
                    </a:p>
                  </a:txBody>
                  <a:tcPr marL="95250" marR="95250" marT="57150" marB="5715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57150" rIns="95250" bIns="57150"/>
                    <a:lstStyle/>
                    <a:p>
                      <a:pPr algn="l">
                        <a:lnSpc>
                          <a:spcPct val="122000"/>
                        </a:lnSpc>
                        <a:buNone/>
                      </a:pPr>
                      <a:r>
                        <a:rPr sz="1088" b="0">
                          <a:solidFill>
                            <a:srgbClr val="4E4E5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중복 실행으로 반복 차감</a:t>
                      </a:r>
                    </a:p>
                  </a:txBody>
                  <a:tcPr marL="95250" marR="95250" marT="57150" marB="5715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C7BBBB0-E9A0-4A62-A7FF-CBC443C5C1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57875"/>
            <a:ext cx="10972800" cy="485775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E7F4ED"/>
          </a:solidFill>
          <a:ln xmlns:a="http://schemas.openxmlformats.org/drawingml/2006/main" w="0">
            <a:noFill/>
          </a:ln>
        </p:spPr>
      </p:sp>
      <p:sp>
        <p:nvSpPr>
          <p:cNvPr id="23" name="text-21">
            <a:extLst xmlns:a="http://schemas.openxmlformats.org/drawingml/2006/main">
              <a:ext uri="{FF2B5EF4-FFF2-40B4-BE49-F238E27FC236}">
                <a16:creationId xmlns:a16="http://schemas.microsoft.com/office/drawing/2014/main" id="{1C26C4D1-EFF7-4ABD-A4CE-3E4DA985D2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991225"/>
            <a:ext cx="6953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125" b="1">
                <a:solidFill>
                  <a:srgbClr val="206D4A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1">
                <a:solidFill>
                  <a:srgbClr val="206D4A"/>
                </a:solidFill>
                <a:latin typeface="Noto Sans KR"/>
                <a:ea typeface="Noto Sans KR"/>
                <a:cs typeface="Noto Sans KR"/>
              </a:rPr>
              <a:t>판단</a:t>
            </a:r>
          </a:p>
        </p:txBody>
      </p:sp>
      <p:sp>
        <p:nvSpPr>
          <p:cNvPr id="24" name="text-22">
            <a:extLst xmlns:a="http://schemas.openxmlformats.org/drawingml/2006/main">
              <a:ext uri="{FF2B5EF4-FFF2-40B4-BE49-F238E27FC236}">
                <a16:creationId xmlns:a16="http://schemas.microsoft.com/office/drawing/2014/main" id="{9FA61850-4331-4A85-9AAA-111BBF482A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5981700"/>
            <a:ext cx="97536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163" b="1">
                <a:solidFill>
                  <a:srgbClr val="206D4A"/>
                </a:solidFill>
                <a:latin typeface="Noto Sans KR"/>
                <a:ea typeface="Noto Sans KR"/>
                <a:cs typeface="Noto Sans KR"/>
              </a:defRPr>
            </a:pPr>
            <a:r>
              <a:rPr sz="1163" b="1">
                <a:solidFill>
                  <a:srgbClr val="206D4A"/>
                </a:solidFill>
                <a:latin typeface="Noto Sans KR"/>
                <a:ea typeface="Noto Sans KR"/>
                <a:cs typeface="Noto Sans KR"/>
              </a:rPr>
              <a:t>정기 자동 실행의 추가 운영 부담과 잘못된 회수 위험을 비교해, 담당자 확인 방식으로 조정했습니다.</a:t>
            </a:r>
          </a:p>
        </p:txBody>
      </p:sp>
      <p:sp>
        <p:nvSpPr>
          <p:cNvPr id="25" name="text-23">
            <a:extLst xmlns:a="http://schemas.openxmlformats.org/drawingml/2006/main">
              <a:ext uri="{FF2B5EF4-FFF2-40B4-BE49-F238E27FC236}">
                <a16:creationId xmlns:a16="http://schemas.microsoft.com/office/drawing/2014/main" id="{438709AD-8980-473A-AEF4-E6B0DE3801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013" b="0">
                <a:solidFill>
                  <a:srgbClr val="77777E"/>
                </a:solidFill>
                <a:latin typeface="Noto Sans KR"/>
                <a:ea typeface="Noto Sans KR"/>
                <a:cs typeface="Noto Sans KR"/>
              </a:defRPr>
            </a:pPr>
            <a:r>
              <a:rPr sz="1013" b="0">
                <a:solidFill>
                  <a:srgbClr val="77777E"/>
                </a:solidFill>
                <a:latin typeface="Noto Sans KR"/>
                <a:ea typeface="Noto Sans KR"/>
                <a:cs typeface="Noto Sans KR"/>
              </a:rPr>
              <a:t>정책 기반 시뮬레이션 · 회원 A/B는 가상 예시이며 포인트 금액·고객정보는 포함하지 않음</a:t>
            </a:r>
          </a:p>
        </p:txBody>
      </p:sp>
    </p:spTree>
    <p:extLst>
      <p:ext uri="{BB962C8B-B14F-4D97-AF65-F5344CB8AC3E}">
        <p14:creationId xmlns:p14="http://schemas.microsoft.com/office/powerpoint/2010/main" val="1164448910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text-0">
            <a:extLst xmlns:a="http://schemas.openxmlformats.org/drawingml/2006/main">
              <a:ext uri="{FF2B5EF4-FFF2-40B4-BE49-F238E27FC236}">
                <a16:creationId xmlns:a16="http://schemas.microsoft.com/office/drawing/2014/main" id="{D9C6C183-EAD4-4AF5-889F-8912C3AB95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87075" y="285750"/>
            <a:ext cx="6953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25000"/>
              </a:lnSpc>
              <a:buNone/>
              <a:defRPr sz="788" b="0">
                <a:solidFill>
                  <a:srgbClr val="92929A"/>
                </a:solidFill>
                <a:latin typeface="Noto Sans KR"/>
                <a:ea typeface="Noto Sans KR"/>
                <a:cs typeface="Noto Sans KR"/>
              </a:defRPr>
            </a:pPr>
            <a:r>
              <a:rPr sz="788" b="0">
                <a:solidFill>
                  <a:srgbClr val="92929A"/>
                </a:solidFill>
                <a:latin typeface="Noto Sans KR"/>
                <a:ea typeface="Noto Sans KR"/>
                <a:cs typeface="Noto Sans KR"/>
              </a:rPr>
              <a:t>19 / 22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0E6485F2-AD3C-46A9-96B6-49A2E47233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3905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950" b="1">
                <a:solidFill>
                  <a:srgbClr val="206D4A"/>
                </a:solidFill>
                <a:latin typeface="Noto Sans KR"/>
                <a:ea typeface="Noto Sans KR"/>
                <a:cs typeface="Noto Sans KR"/>
              </a:defRPr>
            </a:pPr>
            <a:r>
              <a:rPr sz="1950" b="1">
                <a:solidFill>
                  <a:srgbClr val="206D4A"/>
                </a:solidFill>
                <a:latin typeface="Noto Sans KR"/>
                <a:ea typeface="Noto Sans KR"/>
                <a:cs typeface="Noto Sans KR"/>
              </a:rPr>
              <a:t>07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7B682516-0BDB-411C-A738-F5AFFE3DEA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742950"/>
            <a:ext cx="10287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950" b="1">
                <a:solidFill>
                  <a:srgbClr val="1A1A1A"/>
                </a:solidFill>
                <a:latin typeface="Noto Sans KR"/>
                <a:ea typeface="Noto Sans KR"/>
                <a:cs typeface="Noto Sans KR"/>
              </a:defRPr>
            </a:pPr>
            <a:r>
              <a:rPr sz="1950" b="1">
                <a:solidFill>
                  <a:srgbClr val="1A1A1A"/>
                </a:solidFill>
                <a:latin typeface="Noto Sans KR"/>
                <a:ea typeface="Noto Sans KR"/>
                <a:cs typeface="Noto Sans KR"/>
              </a:rPr>
              <a:t>완료 통보를 운영 검수 기준으로 바꿈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8A50B85A-61DA-4582-B6DB-691492664B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906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050" b="0">
                <a:solidFill>
                  <a:srgbClr val="77777E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0">
                <a:solidFill>
                  <a:srgbClr val="77777E"/>
                </a:solidFill>
                <a:latin typeface="Noto Sans KR"/>
                <a:ea typeface="Noto Sans KR"/>
                <a:cs typeface="Noto Sans KR"/>
              </a:rPr>
              <a:t>정보 수정 화면에 들어갈 수 없었던 사례에서, 배포와 기능 동작을 따로 확인했습니다.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1A430CD-9E07-4F81-8AB1-3111E0246B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43075"/>
            <a:ext cx="1123950" cy="581025"/>
          </a:xfrm>
          <a:prstGeom xmlns:a="http://schemas.openxmlformats.org/drawingml/2006/main" prst="roundRect">
            <a:avLst>
              <a:gd name="adj" fmla="val 8197"/>
            </a:avLst>
          </a:prstGeom>
          <a:solidFill xmlns:a="http://schemas.openxmlformats.org/drawingml/2006/main">
            <a:srgbClr val="E7F4ED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114300" tIns="47625" rIns="114300" bIns="476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1125" b="1">
                <a:solidFill>
                  <a:srgbClr val="206D4A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1">
                <a:solidFill>
                  <a:srgbClr val="206D4A"/>
                </a:solidFill>
                <a:latin typeface="Noto Sans KR"/>
                <a:ea typeface="Noto Sans KR"/>
                <a:cs typeface="Noto Sans KR"/>
              </a:rPr>
              <a:t>현상</a:t>
            </a:r>
          </a:p>
        </p:txBody>
      </p:sp>
      <p:sp>
        <p:nvSpPr>
          <p:cNvPr id="6" name="text-5">
            <a:extLst xmlns:a="http://schemas.openxmlformats.org/drawingml/2006/main">
              <a:ext uri="{FF2B5EF4-FFF2-40B4-BE49-F238E27FC236}">
                <a16:creationId xmlns:a16="http://schemas.microsoft.com/office/drawing/2014/main" id="{31251E3C-E4D7-4FDE-8494-322C1BBAD4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71675" y="1838325"/>
            <a:ext cx="461962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275" b="0">
                <a:solidFill>
                  <a:srgbClr val="4E4E53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0">
                <a:solidFill>
                  <a:srgbClr val="4E4E53"/>
                </a:solidFill>
                <a:latin typeface="Noto Sans KR"/>
                <a:ea typeface="Noto Sans KR"/>
                <a:cs typeface="Noto Sans KR"/>
              </a:rPr>
              <a:t>마이페이지의 정보 수정에 진입 불가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056EA3B-CA7B-4169-93A0-8C8DDD1260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47950"/>
            <a:ext cx="1123950" cy="581025"/>
          </a:xfrm>
          <a:prstGeom xmlns:a="http://schemas.openxmlformats.org/drawingml/2006/main" prst="roundRect">
            <a:avLst>
              <a:gd name="adj" fmla="val 8197"/>
            </a:avLst>
          </a:prstGeom>
          <a:solidFill xmlns:a="http://schemas.openxmlformats.org/drawingml/2006/main">
            <a:srgbClr val="E7F4ED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114300" tIns="47625" rIns="114300" bIns="476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1125" b="1">
                <a:solidFill>
                  <a:srgbClr val="206D4A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1">
                <a:solidFill>
                  <a:srgbClr val="206D4A"/>
                </a:solidFill>
                <a:latin typeface="Noto Sans KR"/>
                <a:ea typeface="Noto Sans KR"/>
                <a:cs typeface="Noto Sans KR"/>
              </a:rPr>
              <a:t>확인</a:t>
            </a:r>
          </a:p>
        </p:txBody>
      </p:sp>
      <p:sp>
        <p:nvSpPr>
          <p:cNvPr id="8" name="text-7">
            <a:extLst xmlns:a="http://schemas.openxmlformats.org/drawingml/2006/main">
              <a:ext uri="{FF2B5EF4-FFF2-40B4-BE49-F238E27FC236}">
                <a16:creationId xmlns:a16="http://schemas.microsoft.com/office/drawing/2014/main" id="{11A1C0F8-7922-436A-925F-81614D1049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71675" y="2743200"/>
            <a:ext cx="461962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275" b="0">
                <a:solidFill>
                  <a:srgbClr val="4E4E53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0">
                <a:solidFill>
                  <a:srgbClr val="4E4E53"/>
                </a:solidFill>
                <a:latin typeface="Noto Sans KR"/>
                <a:ea typeface="Noto Sans KR"/>
                <a:cs typeface="Noto Sans KR"/>
              </a:rPr>
              <a:t>운영 서버 미반영과 이전 차단 로직 잔존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CFD1A61-8D8C-460A-ABCA-B231BDDF0E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52825"/>
            <a:ext cx="1123950" cy="581025"/>
          </a:xfrm>
          <a:prstGeom xmlns:a="http://schemas.openxmlformats.org/drawingml/2006/main" prst="roundRect">
            <a:avLst>
              <a:gd name="adj" fmla="val 8197"/>
            </a:avLst>
          </a:prstGeom>
          <a:solidFill xmlns:a="http://schemas.openxmlformats.org/drawingml/2006/main">
            <a:srgbClr val="206D4A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114300" tIns="47625" rIns="114300" bIns="476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11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검수 기준</a:t>
            </a:r>
          </a:p>
        </p:txBody>
      </p:sp>
      <p:sp>
        <p:nvSpPr>
          <p:cNvPr id="10" name="text-9">
            <a:extLst xmlns:a="http://schemas.openxmlformats.org/drawingml/2006/main">
              <a:ext uri="{FF2B5EF4-FFF2-40B4-BE49-F238E27FC236}">
                <a16:creationId xmlns:a16="http://schemas.microsoft.com/office/drawing/2014/main" id="{8E925047-B3EB-44CF-B8FE-9642A92BF8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71675" y="3648075"/>
            <a:ext cx="461962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275" b="1">
                <a:solidFill>
                  <a:srgbClr val="206D4A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1">
                <a:solidFill>
                  <a:srgbClr val="206D4A"/>
                </a:solidFill>
                <a:latin typeface="Noto Sans KR"/>
                <a:ea typeface="Noto Sans KR"/>
                <a:cs typeface="Noto Sans KR"/>
              </a:rPr>
              <a:t>메뉴 노출·실제 진입·수정 가능한 항목을 확인</a:t>
            </a:r>
          </a:p>
        </p:txBody>
      </p:sp>
      <p:sp>
        <p:nvSpPr>
          <p:cNvPr id="11" name="text-10">
            <a:extLst xmlns:a="http://schemas.openxmlformats.org/drawingml/2006/main">
              <a:ext uri="{FF2B5EF4-FFF2-40B4-BE49-F238E27FC236}">
                <a16:creationId xmlns:a16="http://schemas.microsoft.com/office/drawing/2014/main" id="{D609E0A2-D112-45C0-8EE5-0910CF6F94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1704975"/>
            <a:ext cx="44862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350" b="1">
                <a:solidFill>
                  <a:srgbClr val="206D4A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1">
                <a:solidFill>
                  <a:srgbClr val="206D4A"/>
                </a:solidFill>
                <a:latin typeface="Noto Sans KR"/>
                <a:ea typeface="Noto Sans KR"/>
                <a:cs typeface="Noto Sans KR"/>
              </a:rPr>
              <a:t>정보 수정 메뉴의 추가 여부를 확인</a:t>
            </a:r>
          </a:p>
        </p:txBody>
      </p:sp>
      <p:pic>
        <p:nvPicPr>
          <p:cNvPr id="3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eb2316695c3424f"/>
          <a:stretch xmlns:a="http://schemas.openxmlformats.org/drawingml/2006/main"/>
        </p:blipFill>
        <p:spPr>
          <a:xfrm xmlns:a="http://schemas.openxmlformats.org/drawingml/2006/main">
            <a:off x="7096125" y="2397034"/>
            <a:ext cx="2171700" cy="1892481"/>
          </a:xfrm>
          <a:prstGeom xmlns:a="http://schemas.openxmlformats.org/drawingml/2006/main" prst="rect">
            <a:avLst/>
          </a:prstGeom>
        </p:spPr>
      </p:pic>
      <p:pic>
        <p:nvPicPr>
          <p:cNvPr id="3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ebb664e2f464e67"/>
          <a:stretch xmlns:a="http://schemas.openxmlformats.org/drawingml/2006/main"/>
        </p:blipFill>
        <p:spPr>
          <a:xfrm xmlns:a="http://schemas.openxmlformats.org/drawingml/2006/main">
            <a:off x="9420225" y="2397034"/>
            <a:ext cx="2171700" cy="1892481"/>
          </a:xfrm>
          <a:prstGeom xmlns:a="http://schemas.openxmlformats.org/drawingml/2006/main" prst="rect">
            <a:avLst/>
          </a:prstGeom>
        </p:spPr>
      </p:pic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ED7F4C1-346E-4D5F-A734-870421855B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591050"/>
            <a:ext cx="1905000" cy="266700"/>
          </a:xfrm>
          <a:prstGeom xmlns:a="http://schemas.openxmlformats.org/drawingml/2006/main" prst="roundRect">
            <a:avLst>
              <a:gd name="adj" fmla="val 17857"/>
            </a:avLst>
          </a:prstGeom>
          <a:solidFill xmlns:a="http://schemas.openxmlformats.org/drawingml/2006/main">
            <a:srgbClr val="F4F4F6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114300" tIns="47625" rIns="114300" bIns="476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900" b="1">
                <a:solidFill>
                  <a:srgbClr val="77777E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1">
                <a:solidFill>
                  <a:srgbClr val="77777E"/>
                </a:solidFill>
                <a:latin typeface="Noto Sans KR"/>
                <a:ea typeface="Noto Sans KR"/>
                <a:cs typeface="Noto Sans KR"/>
              </a:rPr>
              <a:t>확인 전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FF1CE9A-3EA8-48FA-9EFE-23B0917E5B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53575" y="4591050"/>
            <a:ext cx="1905000" cy="266700"/>
          </a:xfrm>
          <a:prstGeom xmlns:a="http://schemas.openxmlformats.org/drawingml/2006/main" prst="roundRect">
            <a:avLst>
              <a:gd name="adj" fmla="val 17857"/>
            </a:avLst>
          </a:prstGeom>
          <a:solidFill xmlns:a="http://schemas.openxmlformats.org/drawingml/2006/main">
            <a:srgbClr val="E7F4ED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114300" tIns="47625" rIns="114300" bIns="476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900" b="1">
                <a:solidFill>
                  <a:srgbClr val="206D4A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1">
                <a:solidFill>
                  <a:srgbClr val="206D4A"/>
                </a:solidFill>
                <a:latin typeface="Noto Sans KR"/>
                <a:ea typeface="Noto Sans KR"/>
                <a:cs typeface="Noto Sans KR"/>
              </a:rPr>
              <a:t>반영 후</a:t>
            </a:r>
          </a:p>
        </p:txBody>
      </p:sp>
      <p:sp>
        <p:nvSpPr>
          <p:cNvPr id="16" name="text-13">
            <a:extLst xmlns:a="http://schemas.openxmlformats.org/drawingml/2006/main">
              <a:ext uri="{FF2B5EF4-FFF2-40B4-BE49-F238E27FC236}">
                <a16:creationId xmlns:a16="http://schemas.microsoft.com/office/drawing/2014/main" id="{1E295514-8500-4794-BFC2-6048B8A817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33950"/>
            <a:ext cx="1047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350" b="1">
                <a:solidFill>
                  <a:srgbClr val="206D4A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1">
                <a:solidFill>
                  <a:srgbClr val="206D4A"/>
                </a:solidFill>
                <a:latin typeface="Noto Sans KR"/>
                <a:ea typeface="Noto Sans KR"/>
                <a:cs typeface="Noto Sans KR"/>
              </a:rPr>
              <a:t>같은 기능을 다른 조건에서도 확인</a:t>
            </a:r>
          </a:p>
        </p:txBody>
      </p:sp>
      <p:graphicFrame>
        <p:nvGraphicFramePr>
          <p:cNvPr id="35" name=""/>
          <p:cNvGraphicFramePr/>
          <p:nvPr/>
        </p:nvGraphicFramePr>
        <p:xfrm>
          <a:off xmlns:a="http://schemas.openxmlformats.org/drawingml/2006/main" x="609600" y="5324475"/>
          <a:ext xmlns:a="http://schemas.openxmlformats.org/drawingml/2006/main" cx="10972800" cy="11430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857500"/>
                <a:gridCol w="3790950"/>
                <a:gridCol w="4324350"/>
              </a:tblGrid>
              <a:tr h="304800">
                <a:tc>
                  <a:txBody>
                    <a:bodyPr lIns="95250" tIns="57150" rIns="95250" bIns="57150"/>
                    <a:lstStyle/>
                    <a:p>
                      <a:pPr algn="l">
                        <a:lnSpc>
                          <a:spcPct val="122000"/>
                        </a:lnSpc>
                        <a:buNone/>
                      </a:pPr>
                      <a:r>
                        <a:rPr sz="1050" b="1">
                          <a:solidFill>
                            <a:srgbClr val="77777E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조건</a:t>
                      </a:r>
                    </a:p>
                  </a:txBody>
                  <a:tcPr marL="95250" marR="95250" marT="57150" marB="5715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57150" rIns="95250" bIns="57150"/>
                    <a:lstStyle/>
                    <a:p>
                      <a:pPr algn="l">
                        <a:lnSpc>
                          <a:spcPct val="122000"/>
                        </a:lnSpc>
                        <a:buNone/>
                      </a:pPr>
                      <a:r>
                        <a:rPr sz="1050" b="1">
                          <a:solidFill>
                            <a:srgbClr val="77777E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사용자 행동</a:t>
                      </a:r>
                    </a:p>
                  </a:txBody>
                  <a:tcPr marL="95250" marR="95250" marT="57150" marB="5715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57150" rIns="95250" bIns="57150"/>
                    <a:lstStyle/>
                    <a:p>
                      <a:pPr algn="l">
                        <a:lnSpc>
                          <a:spcPct val="122000"/>
                        </a:lnSpc>
                        <a:buNone/>
                      </a:pPr>
                      <a:r>
                        <a:rPr sz="1050" b="1">
                          <a:solidFill>
                            <a:srgbClr val="77777E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기대 결과</a:t>
                      </a:r>
                    </a:p>
                  </a:txBody>
                  <a:tcPr marL="95250" marR="95250" marT="57150" marB="5715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19100">
                <a:tc>
                  <a:txBody>
                    <a:bodyPr lIns="95250" tIns="57150" rIns="95250" bIns="57150"/>
                    <a:lstStyle/>
                    <a:p>
                      <a:pPr algn="l">
                        <a:lnSpc>
                          <a:spcPct val="122000"/>
                        </a:lnSpc>
                        <a:buNone/>
                      </a:pPr>
                      <a:r>
                        <a:rPr sz="1050" b="1">
                          <a:solidFill>
                            <a:srgbClr val="206D4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운영 서버·실제 계정</a:t>
                      </a:r>
                    </a:p>
                  </a:txBody>
                  <a:tcPr marL="95250" marR="95250" marT="57150" marB="5715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57150" rIns="95250" bIns="57150"/>
                    <a:lstStyle/>
                    <a:p>
                      <a:pPr algn="l">
                        <a:lnSpc>
                          <a:spcPct val="122000"/>
                        </a:lnSpc>
                        <a:buNone/>
                      </a:pPr>
                      <a:r>
                        <a:rPr sz="1050" b="0">
                          <a:solidFill>
                            <a:srgbClr val="4E4E5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정보 수정 메뉴 클릭</a:t>
                      </a:r>
                    </a:p>
                  </a:txBody>
                  <a:tcPr marL="95250" marR="95250" marT="57150" marB="5715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57150" rIns="95250" bIns="57150"/>
                    <a:lstStyle/>
                    <a:p>
                      <a:pPr algn="l">
                        <a:lnSpc>
                          <a:spcPct val="122000"/>
                        </a:lnSpc>
                        <a:buNone/>
                      </a:pPr>
                      <a:r>
                        <a:rPr sz="1050" b="0">
                          <a:solidFill>
                            <a:srgbClr val="4E4E5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비밀번호 확인 후 화면 진입</a:t>
                      </a:r>
                    </a:p>
                  </a:txBody>
                  <a:tcPr marL="95250" marR="95250" marT="57150" marB="5715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19100">
                <a:tc>
                  <a:txBody>
                    <a:bodyPr lIns="95250" tIns="57150" rIns="95250" bIns="57150"/>
                    <a:lstStyle/>
                    <a:p>
                      <a:pPr algn="l">
                        <a:lnSpc>
                          <a:spcPct val="122000"/>
                        </a:lnSpc>
                        <a:buNone/>
                      </a:pPr>
                      <a:r>
                        <a:rPr sz="1050" b="1">
                          <a:solidFill>
                            <a:srgbClr val="206D4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고정 항목과 변경 가능 항목</a:t>
                      </a:r>
                    </a:p>
                  </a:txBody>
                  <a:tcPr marL="95250" marR="95250" marT="57150" marB="5715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57150" rIns="95250" bIns="57150"/>
                    <a:lstStyle/>
                    <a:p>
                      <a:pPr algn="l">
                        <a:lnSpc>
                          <a:spcPct val="122000"/>
                        </a:lnSpc>
                        <a:buNone/>
                      </a:pPr>
                      <a:r>
                        <a:rPr sz="1050" b="0">
                          <a:solidFill>
                            <a:srgbClr val="4E4E5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아이디·주소 / 연락처 확인</a:t>
                      </a:r>
                    </a:p>
                  </a:txBody>
                  <a:tcPr marL="95250" marR="95250" marT="57150" marB="5715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57150" rIns="95250" bIns="57150"/>
                    <a:lstStyle/>
                    <a:p>
                      <a:pPr algn="l">
                        <a:lnSpc>
                          <a:spcPct val="122000"/>
                        </a:lnSpc>
                        <a:buNone/>
                      </a:pPr>
                      <a:r>
                        <a:rPr sz="1050" b="0">
                          <a:solidFill>
                            <a:srgbClr val="4E4E5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고정값은 보호, 허용 항목만 수정</a:t>
                      </a:r>
                    </a:p>
                  </a:txBody>
                  <a:tcPr marL="95250" marR="95250" marT="57150" marB="5715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8" name="text-14">
            <a:extLst xmlns:a="http://schemas.openxmlformats.org/drawingml/2006/main">
              <a:ext uri="{FF2B5EF4-FFF2-40B4-BE49-F238E27FC236}">
                <a16:creationId xmlns:a16="http://schemas.microsoft.com/office/drawing/2014/main" id="{9BCD078B-7C6C-4051-B235-D20008A465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43675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013" b="0">
                <a:solidFill>
                  <a:srgbClr val="77777E"/>
                </a:solidFill>
                <a:latin typeface="Noto Sans KR"/>
                <a:ea typeface="Noto Sans KR"/>
                <a:cs typeface="Noto Sans KR"/>
              </a:defRPr>
            </a:pPr>
            <a:r>
              <a:rPr sz="1013" b="0">
                <a:solidFill>
                  <a:srgbClr val="77777E"/>
                </a:solidFill>
                <a:latin typeface="Noto Sans KR"/>
                <a:ea typeface="Noto Sans KR"/>
                <a:cs typeface="Noto Sans KR"/>
              </a:rPr>
              <a:t>개발사 처리결과 문서 캡처 · 실제 운영 화면 직접 캡처 아님 · 고객정보 영역 제외</a:t>
            </a:r>
          </a:p>
        </p:txBody>
      </p:sp>
    </p:spTree>
    <p:extLst>
      <p:ext uri="{BB962C8B-B14F-4D97-AF65-F5344CB8AC3E}">
        <p14:creationId xmlns:p14="http://schemas.microsoft.com/office/powerpoint/2010/main" val="660741644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text-0">
            <a:extLst xmlns:a="http://schemas.openxmlformats.org/drawingml/2006/main">
              <a:ext uri="{FF2B5EF4-FFF2-40B4-BE49-F238E27FC236}">
                <a16:creationId xmlns:a16="http://schemas.microsoft.com/office/drawing/2014/main" id="{7DDD57D6-9A79-4340-A046-168D0637E0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87075" y="285750"/>
            <a:ext cx="6953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25000"/>
              </a:lnSpc>
              <a:buNone/>
              <a:defRPr sz="788" b="0">
                <a:solidFill>
                  <a:srgbClr val="92929A"/>
                </a:solidFill>
                <a:latin typeface="Noto Sans KR"/>
                <a:ea typeface="Noto Sans KR"/>
                <a:cs typeface="Noto Sans KR"/>
              </a:defRPr>
            </a:pPr>
            <a:r>
              <a:rPr sz="788" b="0">
                <a:solidFill>
                  <a:srgbClr val="92929A"/>
                </a:solidFill>
                <a:latin typeface="Noto Sans KR"/>
                <a:ea typeface="Noto Sans KR"/>
                <a:cs typeface="Noto Sans KR"/>
              </a:rPr>
              <a:t>20 / 22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72228281-22B5-4A73-97B9-D2B7FB9D37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3905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950" b="1">
                <a:solidFill>
                  <a:srgbClr val="206D4A"/>
                </a:solidFill>
                <a:latin typeface="Noto Sans KR"/>
                <a:ea typeface="Noto Sans KR"/>
                <a:cs typeface="Noto Sans KR"/>
              </a:defRPr>
            </a:pPr>
            <a:r>
              <a:rPr sz="1950" b="1">
                <a:solidFill>
                  <a:srgbClr val="206D4A"/>
                </a:solidFill>
                <a:latin typeface="Noto Sans KR"/>
                <a:ea typeface="Noto Sans KR"/>
                <a:cs typeface="Noto Sans KR"/>
              </a:rPr>
              <a:t>08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91BD71DC-6F4C-4D79-AC7C-C5468C92AA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742950"/>
            <a:ext cx="10287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950" b="1">
                <a:solidFill>
                  <a:srgbClr val="1A1A1A"/>
                </a:solidFill>
                <a:latin typeface="Noto Sans KR"/>
                <a:ea typeface="Noto Sans KR"/>
                <a:cs typeface="Noto Sans KR"/>
              </a:defRPr>
            </a:pPr>
            <a:r>
              <a:rPr sz="1950" b="1">
                <a:solidFill>
                  <a:srgbClr val="1A1A1A"/>
                </a:solidFill>
                <a:latin typeface="Noto Sans KR"/>
                <a:ea typeface="Noto Sans KR"/>
                <a:cs typeface="Noto Sans KR"/>
              </a:rPr>
              <a:t>운영 피드백으로 화면을 다시 조정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E5A34D3A-05A7-45C2-BF3F-C4ABD51D42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906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050" b="0">
                <a:solidFill>
                  <a:srgbClr val="77777E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0">
                <a:solidFill>
                  <a:srgbClr val="77777E"/>
                </a:solidFill>
                <a:latin typeface="Noto Sans KR"/>
                <a:ea typeface="Noto Sans KR"/>
                <a:cs typeface="Noto Sans KR"/>
              </a:rPr>
              <a:t>2026-08-13 운영 반영: 반복해서 하는 행동과 누락된 현장 요청을 화면에 반영했습니다.</a:t>
            </a:r>
          </a:p>
        </p:txBody>
      </p:sp>
      <p:sp>
        <p:nvSpPr>
          <p:cNvPr id="5" name="text-4">
            <a:extLst xmlns:a="http://schemas.openxmlformats.org/drawingml/2006/main">
              <a:ext uri="{FF2B5EF4-FFF2-40B4-BE49-F238E27FC236}">
                <a16:creationId xmlns:a16="http://schemas.microsoft.com/office/drawing/2014/main" id="{0A1033D3-7D44-4385-8E23-9945D6D03E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14500"/>
            <a:ext cx="5257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350" b="1">
                <a:solidFill>
                  <a:srgbClr val="206D4A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1">
                <a:solidFill>
                  <a:srgbClr val="206D4A"/>
                </a:solidFill>
                <a:latin typeface="Noto Sans KR"/>
                <a:ea typeface="Noto Sans KR"/>
                <a:cs typeface="Noto Sans KR"/>
              </a:rPr>
              <a:t>거래명세서를 주문내역에서 바로 출력</a:t>
            </a:r>
          </a:p>
        </p:txBody>
      </p:sp>
      <p:pic>
        <p:nvPicPr>
          <p:cNvPr id="2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f2c7744c9634817"/>
          <a:stretch xmlns:a="http://schemas.openxmlformats.org/drawingml/2006/main"/>
        </p:blipFill>
        <p:spPr>
          <a:xfrm xmlns:a="http://schemas.openxmlformats.org/drawingml/2006/main">
            <a:off x="907761" y="2190750"/>
            <a:ext cx="1765877" cy="1533525"/>
          </a:xfrm>
          <a:prstGeom xmlns:a="http://schemas.openxmlformats.org/drawingml/2006/main" prst="rect">
            <a:avLst/>
          </a:prstGeom>
        </p:spPr>
      </p:pic>
      <p:pic>
        <p:nvPicPr>
          <p:cNvPr id="2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43da39d8b33404c"/>
          <a:stretch xmlns:a="http://schemas.openxmlformats.org/drawingml/2006/main"/>
        </p:blipFill>
        <p:spPr>
          <a:xfrm xmlns:a="http://schemas.openxmlformats.org/drawingml/2006/main">
            <a:off x="3784311" y="2190750"/>
            <a:ext cx="1765877" cy="1533525"/>
          </a:xfrm>
          <a:prstGeom xmlns:a="http://schemas.openxmlformats.org/drawingml/2006/main" prst="rect">
            <a:avLst/>
          </a:prstGeom>
        </p:spPr>
      </p:pic>
      <p:sp>
        <p:nvSpPr>
          <p:cNvPr id="8" name="text-5">
            <a:extLst xmlns:a="http://schemas.openxmlformats.org/drawingml/2006/main">
              <a:ext uri="{FF2B5EF4-FFF2-40B4-BE49-F238E27FC236}">
                <a16:creationId xmlns:a16="http://schemas.microsoft.com/office/drawing/2014/main" id="{E4EED6E2-5928-457B-AFE6-A27BD4B199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5625" y="2771775"/>
            <a:ext cx="266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5000"/>
              </a:lnSpc>
              <a:buNone/>
              <a:defRPr sz="1575" b="0">
                <a:solidFill>
                  <a:srgbClr val="206D4A"/>
                </a:solidFill>
                <a:latin typeface="Noto Sans KR"/>
                <a:ea typeface="Noto Sans KR"/>
                <a:cs typeface="Noto Sans KR"/>
              </a:defRPr>
            </a:pPr>
            <a:r>
              <a:rPr sz="1575" b="0">
                <a:solidFill>
                  <a:srgbClr val="206D4A"/>
                </a:solidFill>
                <a:latin typeface="Noto Sans KR"/>
                <a:ea typeface="Noto Sans KR"/>
                <a:cs typeface="Noto Sans KR"/>
              </a:rPr>
              <a:t>›</a:t>
            </a:r>
          </a:p>
        </p:txBody>
      </p:sp>
      <p:sp>
        <p:nvSpPr>
          <p:cNvPr id="9" name="text-6">
            <a:extLst xmlns:a="http://schemas.openxmlformats.org/drawingml/2006/main">
              <a:ext uri="{FF2B5EF4-FFF2-40B4-BE49-F238E27FC236}">
                <a16:creationId xmlns:a16="http://schemas.microsoft.com/office/drawing/2014/main" id="{C55411A2-F0D7-4026-821C-4F0CB8FE7B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38575"/>
            <a:ext cx="2362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013" b="0">
                <a:solidFill>
                  <a:srgbClr val="77777E"/>
                </a:solidFill>
                <a:latin typeface="Noto Sans KR"/>
                <a:ea typeface="Noto Sans KR"/>
                <a:cs typeface="Noto Sans KR"/>
              </a:defRPr>
            </a:pPr>
            <a:r>
              <a:rPr sz="1013" b="0">
                <a:solidFill>
                  <a:srgbClr val="77777E"/>
                </a:solidFill>
                <a:latin typeface="Noto Sans KR"/>
                <a:ea typeface="Noto Sans KR"/>
                <a:cs typeface="Noto Sans KR"/>
              </a:rPr>
              <a:t>요청 전</a:t>
            </a:r>
          </a:p>
        </p:txBody>
      </p:sp>
      <p:sp>
        <p:nvSpPr>
          <p:cNvPr id="10" name="text-7">
            <a:extLst xmlns:a="http://schemas.openxmlformats.org/drawingml/2006/main">
              <a:ext uri="{FF2B5EF4-FFF2-40B4-BE49-F238E27FC236}">
                <a16:creationId xmlns:a16="http://schemas.microsoft.com/office/drawing/2014/main" id="{90B5C23C-1ECC-4D2E-A84D-C81785B3AB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3838575"/>
            <a:ext cx="2362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013" b="0">
                <a:solidFill>
                  <a:srgbClr val="77777E"/>
                </a:solidFill>
                <a:latin typeface="Noto Sans KR"/>
                <a:ea typeface="Noto Sans KR"/>
                <a:cs typeface="Noto Sans KR"/>
              </a:defRPr>
            </a:pPr>
            <a:r>
              <a:rPr sz="1013" b="0">
                <a:solidFill>
                  <a:srgbClr val="77777E"/>
                </a:solidFill>
                <a:latin typeface="Noto Sans KR"/>
                <a:ea typeface="Noto Sans KR"/>
                <a:cs typeface="Noto Sans KR"/>
              </a:rPr>
              <a:t>반영 후</a:t>
            </a:r>
          </a:p>
        </p:txBody>
      </p:sp>
      <p:sp>
        <p:nvSpPr>
          <p:cNvPr id="11" name="text-8">
            <a:extLst xmlns:a="http://schemas.openxmlformats.org/drawingml/2006/main">
              <a:ext uri="{FF2B5EF4-FFF2-40B4-BE49-F238E27FC236}">
                <a16:creationId xmlns:a16="http://schemas.microsoft.com/office/drawing/2014/main" id="{E693EE14-2222-4A3E-BF8D-5F3250E262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24350"/>
            <a:ext cx="52578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200" b="0">
                <a:solidFill>
                  <a:srgbClr val="4E4E53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0">
                <a:solidFill>
                  <a:srgbClr val="4E4E53"/>
                </a:solidFill>
                <a:latin typeface="Noto Sans KR"/>
                <a:ea typeface="Noto Sans KR"/>
                <a:cs typeface="Noto Sans KR"/>
              </a:rPr>
              <a:t>주문당 버튼 1개, 취소·환불 주문은 제외</a:t>
            </a:r>
          </a:p>
          <a:p xmlns:a="http://schemas.openxmlformats.org/drawingml/2006/main">
            <a:pPr algn="l">
              <a:lnSpc>
                <a:spcPct val="125000"/>
              </a:lnSpc>
              <a:buNone/>
              <a:defRPr sz="1200" b="0">
                <a:solidFill>
                  <a:srgbClr val="4E4E53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0">
                <a:solidFill>
                  <a:srgbClr val="4E4E53"/>
                </a:solidFill>
                <a:latin typeface="Noto Sans KR"/>
                <a:ea typeface="Noto Sans KR"/>
                <a:cs typeface="Noto Sans KR"/>
              </a:rPr>
              <a:t>구매확정·리뷰 기능은 주문상세에 유지</a:t>
            </a:r>
          </a:p>
        </p:txBody>
      </p:sp>
      <p:sp>
        <p:nvSpPr>
          <p:cNvPr id="12" name="text-9">
            <a:extLst xmlns:a="http://schemas.openxmlformats.org/drawingml/2006/main">
              <a:ext uri="{FF2B5EF4-FFF2-40B4-BE49-F238E27FC236}">
                <a16:creationId xmlns:a16="http://schemas.microsoft.com/office/drawing/2014/main" id="{8981EED7-D57D-4D09-A820-EAAD2B7C62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714500"/>
            <a:ext cx="5314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350" b="1">
                <a:solidFill>
                  <a:srgbClr val="206D4A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1">
                <a:solidFill>
                  <a:srgbClr val="206D4A"/>
                </a:solidFill>
                <a:latin typeface="Noto Sans KR"/>
                <a:ea typeface="Noto Sans KR"/>
                <a:cs typeface="Noto Sans KR"/>
              </a:rPr>
              <a:t>삭제했던 배송 메시지 입력칸 복원</a:t>
            </a:r>
          </a:p>
        </p:txBody>
      </p:sp>
      <p:pic>
        <p:nvPicPr>
          <p:cNvPr id="3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fb576e2c6c34dcc"/>
          <a:stretch xmlns:a="http://schemas.openxmlformats.org/drawingml/2006/main"/>
        </p:blipFill>
        <p:spPr>
          <a:xfrm xmlns:a="http://schemas.openxmlformats.org/drawingml/2006/main">
            <a:off x="6267450" y="2356982"/>
            <a:ext cx="5314950" cy="1324886"/>
          </a:xfrm>
          <a:prstGeom xmlns:a="http://schemas.openxmlformats.org/drawingml/2006/main" prst="rect">
            <a:avLst/>
          </a:prstGeom>
        </p:spPr>
      </p:pic>
      <p:sp>
        <p:nvSpPr>
          <p:cNvPr id="14" name="text-10">
            <a:extLst xmlns:a="http://schemas.openxmlformats.org/drawingml/2006/main">
              <a:ext uri="{FF2B5EF4-FFF2-40B4-BE49-F238E27FC236}">
                <a16:creationId xmlns:a16="http://schemas.microsoft.com/office/drawing/2014/main" id="{59B3D509-D005-481F-A734-62F31DACF1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324350"/>
            <a:ext cx="531495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200" b="0">
                <a:solidFill>
                  <a:srgbClr val="4E4E53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0">
                <a:solidFill>
                  <a:srgbClr val="4E4E53"/>
                </a:solidFill>
                <a:latin typeface="Noto Sans KR"/>
                <a:ea typeface="Noto Sans KR"/>
                <a:cs typeface="Noto Sans KR"/>
              </a:rPr>
              <a:t>1차 QA에서 제거했던 입력칸을</a:t>
            </a:r>
          </a:p>
          <a:p xmlns:a="http://schemas.openxmlformats.org/drawingml/2006/main">
            <a:pPr algn="l">
              <a:lnSpc>
                <a:spcPct val="125000"/>
              </a:lnSpc>
              <a:buNone/>
              <a:defRPr sz="1200" b="0">
                <a:solidFill>
                  <a:srgbClr val="4E4E53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0">
                <a:solidFill>
                  <a:srgbClr val="4E4E53"/>
                </a:solidFill>
                <a:latin typeface="Noto Sans KR"/>
                <a:ea typeface="Noto Sans KR"/>
                <a:cs typeface="Noto Sans KR"/>
              </a:rPr>
              <a:t>배송 시 요청을 받는 용도로 다시 반영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DF8A3D0-5EE2-4440-A9CF-8128292AB7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24475"/>
            <a:ext cx="10972800" cy="981075"/>
          </a:xfrm>
          <a:prstGeom xmlns:a="http://schemas.openxmlformats.org/drawingml/2006/main" prst="roundRect">
            <a:avLst>
              <a:gd name="adj" fmla="val 6796"/>
            </a:avLst>
          </a:prstGeom>
          <a:solidFill xmlns:a="http://schemas.openxmlformats.org/drawingml/2006/main">
            <a:srgbClr val="E7F4ED"/>
          </a:solidFill>
          <a:ln xmlns:a="http://schemas.openxmlformats.org/drawingml/2006/main" w="0">
            <a:noFill/>
          </a:ln>
        </p:spPr>
      </p:sp>
      <p:sp>
        <p:nvSpPr>
          <p:cNvPr id="16" name="text-12">
            <a:extLst xmlns:a="http://schemas.openxmlformats.org/drawingml/2006/main">
              <a:ext uri="{FF2B5EF4-FFF2-40B4-BE49-F238E27FC236}">
                <a16:creationId xmlns:a16="http://schemas.microsoft.com/office/drawing/2014/main" id="{B266A476-284B-434E-AF3C-FE4BA2A0C8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505450"/>
            <a:ext cx="21336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200" b="1">
                <a:solidFill>
                  <a:srgbClr val="206D4A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1">
                <a:solidFill>
                  <a:srgbClr val="206D4A"/>
                </a:solidFill>
                <a:latin typeface="Noto Sans KR"/>
                <a:ea typeface="Noto Sans KR"/>
                <a:cs typeface="Noto Sans KR"/>
              </a:rPr>
              <a:t>운영에서 확인한 것</a:t>
            </a:r>
          </a:p>
        </p:txBody>
      </p:sp>
      <p:sp>
        <p:nvSpPr>
          <p:cNvPr id="17" name="text-13">
            <a:extLst xmlns:a="http://schemas.openxmlformats.org/drawingml/2006/main">
              <a:ext uri="{FF2B5EF4-FFF2-40B4-BE49-F238E27FC236}">
                <a16:creationId xmlns:a16="http://schemas.microsoft.com/office/drawing/2014/main" id="{ADB78B75-2779-4E87-BF0D-4AA5A029B6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2775" y="5495925"/>
            <a:ext cx="822007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425" b="1">
                <a:solidFill>
                  <a:srgbClr val="206D4A"/>
                </a:solidFill>
                <a:latin typeface="Noto Sans KR"/>
                <a:ea typeface="Noto Sans KR"/>
                <a:cs typeface="Noto Sans KR"/>
              </a:defRPr>
            </a:pPr>
            <a:r>
              <a:rPr sz="1425" b="1">
                <a:solidFill>
                  <a:srgbClr val="206D4A"/>
                </a:solidFill>
                <a:latin typeface="Noto Sans KR"/>
                <a:ea typeface="Noto Sans KR"/>
                <a:cs typeface="Noto Sans KR"/>
              </a:rPr>
              <a:t>화면을 단순하게 만드는 것만으로 업무가 끝나지 않았습니다.</a:t>
            </a:r>
          </a:p>
          <a:p xmlns:a="http://schemas.openxmlformats.org/drawingml/2006/main">
            <a:pPr algn="l">
              <a:lnSpc>
                <a:spcPct val="125000"/>
              </a:lnSpc>
              <a:buNone/>
              <a:defRPr sz="1425" b="1">
                <a:solidFill>
                  <a:srgbClr val="206D4A"/>
                </a:solidFill>
                <a:latin typeface="Noto Sans KR"/>
                <a:ea typeface="Noto Sans KR"/>
                <a:cs typeface="Noto Sans KR"/>
              </a:defRPr>
            </a:pPr>
            <a:r>
              <a:rPr sz="1425" b="1">
                <a:solidFill>
                  <a:srgbClr val="206D4A"/>
                </a:solidFill>
                <a:latin typeface="Noto Sans KR"/>
                <a:ea typeface="Noto Sans KR"/>
                <a:cs typeface="Noto Sans KR"/>
              </a:rPr>
              <a:t>자주 쓰는 행동은 앞에 두고, 실제로 필요한 입력은 다시 남겼습니다.</a:t>
            </a:r>
          </a:p>
        </p:txBody>
      </p:sp>
      <p:sp>
        <p:nvSpPr>
          <p:cNvPr id="18" name="text-14">
            <a:extLst xmlns:a="http://schemas.openxmlformats.org/drawingml/2006/main">
              <a:ext uri="{FF2B5EF4-FFF2-40B4-BE49-F238E27FC236}">
                <a16:creationId xmlns:a16="http://schemas.microsoft.com/office/drawing/2014/main" id="{EDCC1CE4-A0F9-4E4A-8520-2734E6F538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86525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013" b="0">
                <a:solidFill>
                  <a:srgbClr val="77777E"/>
                </a:solidFill>
                <a:latin typeface="Noto Sans KR"/>
                <a:ea typeface="Noto Sans KR"/>
                <a:cs typeface="Noto Sans KR"/>
              </a:defRPr>
            </a:pPr>
            <a:r>
              <a:rPr sz="1013" b="0">
                <a:solidFill>
                  <a:srgbClr val="77777E"/>
                </a:solidFill>
                <a:latin typeface="Noto Sans KR"/>
                <a:ea typeface="Noto Sans KR"/>
                <a:cs typeface="Noto Sans KR"/>
              </a:rPr>
              <a:t>개발사 처리결과 문서 캡처 · 실제 운영 화면 직접 캡처 아님 · 고객정보·주문·가격 영역 제외</a:t>
            </a:r>
          </a:p>
        </p:txBody>
      </p:sp>
    </p:spTree>
    <p:extLst>
      <p:ext uri="{BB962C8B-B14F-4D97-AF65-F5344CB8AC3E}">
        <p14:creationId xmlns:p14="http://schemas.microsoft.com/office/powerpoint/2010/main" val="2096859964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text-0">
            <a:extLst xmlns:a="http://schemas.openxmlformats.org/drawingml/2006/main">
              <a:ext uri="{FF2B5EF4-FFF2-40B4-BE49-F238E27FC236}">
                <a16:creationId xmlns:a16="http://schemas.microsoft.com/office/drawing/2014/main" id="{217D92B1-EA3D-4BC7-9E42-E0F59213FF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87075" y="285750"/>
            <a:ext cx="6953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25000"/>
              </a:lnSpc>
              <a:buNone/>
              <a:defRPr sz="788" b="0">
                <a:solidFill>
                  <a:srgbClr val="92929A"/>
                </a:solidFill>
                <a:latin typeface="Noto Sans KR"/>
                <a:ea typeface="Noto Sans KR"/>
                <a:cs typeface="Noto Sans KR"/>
              </a:defRPr>
            </a:pPr>
            <a:r>
              <a:rPr sz="788" b="0">
                <a:solidFill>
                  <a:srgbClr val="92929A"/>
                </a:solidFill>
                <a:latin typeface="Noto Sans KR"/>
                <a:ea typeface="Noto Sans KR"/>
                <a:cs typeface="Noto Sans KR"/>
              </a:rPr>
              <a:t>21 / 22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21E0B271-3182-40D0-A7B4-61D679F593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3905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950" b="1">
                <a:solidFill>
                  <a:srgbClr val="206D4A"/>
                </a:solidFill>
                <a:latin typeface="Noto Sans KR"/>
                <a:ea typeface="Noto Sans KR"/>
                <a:cs typeface="Noto Sans KR"/>
              </a:defRPr>
            </a:pPr>
            <a:r>
              <a:rPr sz="1950" b="1">
                <a:solidFill>
                  <a:srgbClr val="206D4A"/>
                </a:solidFill>
                <a:latin typeface="Noto Sans KR"/>
                <a:ea typeface="Noto Sans KR"/>
                <a:cs typeface="Noto Sans KR"/>
              </a:rPr>
              <a:t>09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038C5738-3870-4809-83BF-F66EE61F70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742950"/>
            <a:ext cx="10287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950" b="1">
                <a:solidFill>
                  <a:srgbClr val="1A1A1A"/>
                </a:solidFill>
                <a:latin typeface="Noto Sans KR"/>
                <a:ea typeface="Noto Sans KR"/>
                <a:cs typeface="Noto Sans KR"/>
              </a:defRPr>
            </a:pPr>
            <a:r>
              <a:rPr sz="1950" b="1">
                <a:solidFill>
                  <a:srgbClr val="1A1A1A"/>
                </a:solidFill>
                <a:latin typeface="Noto Sans KR"/>
                <a:ea typeface="Noto Sans KR"/>
                <a:cs typeface="Noto Sans KR"/>
              </a:rPr>
              <a:t>초기 운영 결과와 측정 범위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03E9D590-F8BB-4C75-ACA8-E64C24BBDD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906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050" b="0">
                <a:solidFill>
                  <a:srgbClr val="77777E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0">
                <a:solidFill>
                  <a:srgbClr val="77777E"/>
                </a:solidFill>
                <a:latin typeface="Noto Sans KR"/>
                <a:ea typeface="Noto Sans KR"/>
                <a:cs typeface="Noto Sans KR"/>
              </a:rPr>
              <a:t>출고·문의 지표의 초기 관찰과, 계약상 전체 개발요구의 검수를 구분했습니다.</a:t>
            </a:r>
          </a:p>
        </p:txBody>
      </p:sp>
      <p:sp>
        <p:nvSpPr>
          <p:cNvPr id="5" name="text-4">
            <a:extLst xmlns:a="http://schemas.openxmlformats.org/drawingml/2006/main">
              <a:ext uri="{FF2B5EF4-FFF2-40B4-BE49-F238E27FC236}">
                <a16:creationId xmlns:a16="http://schemas.microsoft.com/office/drawing/2014/main" id="{77AF908E-1327-46A0-B338-F463E31DF3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52600"/>
            <a:ext cx="5257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350" b="1">
                <a:solidFill>
                  <a:srgbClr val="206D4A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1">
                <a:solidFill>
                  <a:srgbClr val="206D4A"/>
                </a:solidFill>
                <a:latin typeface="Noto Sans KR"/>
                <a:ea typeface="Noto Sans KR"/>
                <a:cs typeface="Noto Sans KR"/>
              </a:rPr>
              <a:t>오출고</a:t>
            </a:r>
          </a:p>
        </p:txBody>
      </p:sp>
      <p:sp>
        <p:nvSpPr>
          <p:cNvPr id="6" name="text-5">
            <a:extLst xmlns:a="http://schemas.openxmlformats.org/drawingml/2006/main">
              <a:ext uri="{FF2B5EF4-FFF2-40B4-BE49-F238E27FC236}">
                <a16:creationId xmlns:a16="http://schemas.microsoft.com/office/drawing/2014/main" id="{854EC673-3BFF-4191-B5C0-AEDB99738F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81225"/>
            <a:ext cx="30384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875" b="0">
                <a:solidFill>
                  <a:srgbClr val="77777E"/>
                </a:solidFill>
                <a:latin typeface="Noto Sans KR"/>
                <a:ea typeface="Noto Sans KR"/>
                <a:cs typeface="Noto Sans KR"/>
              </a:defRPr>
            </a:pPr>
            <a:r>
              <a:rPr sz="1875" b="0">
                <a:solidFill>
                  <a:srgbClr val="77777E"/>
                </a:solidFill>
                <a:latin typeface="Noto Sans KR"/>
                <a:ea typeface="Noto Sans KR"/>
                <a:cs typeface="Noto Sans KR"/>
              </a:rPr>
              <a:t>월평균 2~3건</a:t>
            </a:r>
          </a:p>
        </p:txBody>
      </p:sp>
      <p:sp>
        <p:nvSpPr>
          <p:cNvPr id="7" name="text-6">
            <a:extLst xmlns:a="http://schemas.openxmlformats.org/drawingml/2006/main">
              <a:ext uri="{FF2B5EF4-FFF2-40B4-BE49-F238E27FC236}">
                <a16:creationId xmlns:a16="http://schemas.microsoft.com/office/drawing/2014/main" id="{4E725E29-D7C2-4633-89DD-F0A6836353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2114550"/>
            <a:ext cx="1828800" cy="676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25000"/>
              </a:lnSpc>
              <a:buNone/>
              <a:defRPr sz="3900" b="1">
                <a:solidFill>
                  <a:srgbClr val="206D4A"/>
                </a:solidFill>
                <a:latin typeface="Noto Sans KR"/>
                <a:ea typeface="Noto Sans KR"/>
                <a:cs typeface="Noto Sans KR"/>
              </a:defRPr>
            </a:pPr>
            <a:r>
              <a:rPr sz="3900" b="1">
                <a:solidFill>
                  <a:srgbClr val="206D4A"/>
                </a:solidFill>
                <a:latin typeface="Noto Sans KR"/>
                <a:ea typeface="Noto Sans KR"/>
                <a:cs typeface="Noto Sans KR"/>
              </a:rPr>
              <a:t>0건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75165D9-7A2A-4A58-A540-42601C07CA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90850"/>
            <a:ext cx="5257800" cy="0"/>
          </a:xfrm>
          <a:prstGeom xmlns:a="http://schemas.openxmlformats.org/drawingml/2006/main" prst="line">
            <a:avLst/>
          </a:prstGeom>
          <a:ln xmlns:a="http://schemas.openxmlformats.org/drawingml/2006/main" w="7620">
            <a:solidFill>
              <a:srgbClr val="D9D9E0"/>
            </a:solidFill>
          </a:ln>
        </p:spPr>
      </p:sp>
      <p:sp>
        <p:nvSpPr>
          <p:cNvPr id="9" name="text-8">
            <a:extLst xmlns:a="http://schemas.openxmlformats.org/drawingml/2006/main">
              <a:ext uri="{FF2B5EF4-FFF2-40B4-BE49-F238E27FC236}">
                <a16:creationId xmlns:a16="http://schemas.microsoft.com/office/drawing/2014/main" id="{F1E33F31-501B-49C2-815E-CEF3585BF2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19450"/>
            <a:ext cx="5257800" cy="676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125" b="0">
                <a:solidFill>
                  <a:srgbClr val="4E4E53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0">
                <a:solidFill>
                  <a:srgbClr val="4E4E53"/>
                </a:solidFill>
                <a:latin typeface="Noto Sans KR"/>
                <a:ea typeface="Noto Sans KR"/>
                <a:cs typeface="Noto Sans KR"/>
              </a:rPr>
              <a:t>직전 6개월 월평균과 2026-07-16 전체 가동 후</a:t>
            </a:r>
          </a:p>
          <a:p xmlns:a="http://schemas.openxmlformats.org/drawingml/2006/main">
            <a:pPr algn="l">
              <a:lnSpc>
                <a:spcPct val="125000"/>
              </a:lnSpc>
              <a:buNone/>
              <a:defRPr sz="1125" b="0">
                <a:solidFill>
                  <a:srgbClr val="4E4E53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0">
                <a:solidFill>
                  <a:srgbClr val="4E4E53"/>
                </a:solidFill>
                <a:latin typeface="Noto Sans KR"/>
                <a:ea typeface="Noto Sans KR"/>
                <a:cs typeface="Noto Sans KR"/>
              </a:rPr>
              <a:t>약 1개월을 비교한 전체 측정 범위의 관찰값</a:t>
            </a:r>
          </a:p>
        </p:txBody>
      </p:sp>
      <p:sp>
        <p:nvSpPr>
          <p:cNvPr id="10" name="text-9">
            <a:extLst xmlns:a="http://schemas.openxmlformats.org/drawingml/2006/main">
              <a:ext uri="{FF2B5EF4-FFF2-40B4-BE49-F238E27FC236}">
                <a16:creationId xmlns:a16="http://schemas.microsoft.com/office/drawing/2014/main" id="{DB3CDF83-0CAF-4DB9-A300-ED399631E8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1752600"/>
            <a:ext cx="5257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350" b="1">
                <a:solidFill>
                  <a:srgbClr val="206D4A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1">
                <a:solidFill>
                  <a:srgbClr val="206D4A"/>
                </a:solidFill>
                <a:latin typeface="Noto Sans KR"/>
                <a:ea typeface="Noto Sans KR"/>
                <a:cs typeface="Noto Sans KR"/>
              </a:rPr>
              <a:t>CS 문의</a:t>
            </a:r>
          </a:p>
        </p:txBody>
      </p:sp>
      <p:sp>
        <p:nvSpPr>
          <p:cNvPr id="11" name="text-10">
            <a:extLst xmlns:a="http://schemas.openxmlformats.org/drawingml/2006/main">
              <a:ext uri="{FF2B5EF4-FFF2-40B4-BE49-F238E27FC236}">
                <a16:creationId xmlns:a16="http://schemas.microsoft.com/office/drawing/2014/main" id="{3514CD5E-4C4C-4E7E-B1D7-A12824A1BB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181225"/>
            <a:ext cx="26574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875" b="0">
                <a:solidFill>
                  <a:srgbClr val="77777E"/>
                </a:solidFill>
                <a:latin typeface="Noto Sans KR"/>
                <a:ea typeface="Noto Sans KR"/>
                <a:cs typeface="Noto Sans KR"/>
              </a:defRPr>
            </a:pPr>
            <a:r>
              <a:rPr sz="1875" b="0">
                <a:solidFill>
                  <a:srgbClr val="77777E"/>
                </a:solidFill>
                <a:latin typeface="Noto Sans KR"/>
                <a:ea typeface="Noto Sans KR"/>
                <a:cs typeface="Noto Sans KR"/>
              </a:rPr>
              <a:t>2주 32건</a:t>
            </a:r>
          </a:p>
        </p:txBody>
      </p:sp>
      <p:sp>
        <p:nvSpPr>
          <p:cNvPr id="12" name="text-11">
            <a:extLst xmlns:a="http://schemas.openxmlformats.org/drawingml/2006/main">
              <a:ext uri="{FF2B5EF4-FFF2-40B4-BE49-F238E27FC236}">
                <a16:creationId xmlns:a16="http://schemas.microsoft.com/office/drawing/2014/main" id="{027CAA48-1898-4898-B2CF-1E8360C481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34475" y="2171700"/>
            <a:ext cx="24479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25000"/>
              </a:lnSpc>
              <a:buNone/>
              <a:defRPr sz="2550" b="1">
                <a:solidFill>
                  <a:srgbClr val="206D4A"/>
                </a:solidFill>
                <a:latin typeface="Noto Sans KR"/>
                <a:ea typeface="Noto Sans KR"/>
                <a:cs typeface="Noto Sans KR"/>
              </a:defRPr>
            </a:pPr>
            <a:r>
              <a:rPr sz="2550" b="1">
                <a:solidFill>
                  <a:srgbClr val="206D4A"/>
                </a:solidFill>
                <a:latin typeface="Noto Sans KR"/>
                <a:ea typeface="Noto Sans KR"/>
                <a:cs typeface="Noto Sans KR"/>
              </a:rPr>
              <a:t>2주 19건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0B48FED-E767-4D60-AE26-92E6DFC6FC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990850"/>
            <a:ext cx="5257800" cy="0"/>
          </a:xfrm>
          <a:prstGeom xmlns:a="http://schemas.openxmlformats.org/drawingml/2006/main" prst="line">
            <a:avLst/>
          </a:prstGeom>
          <a:ln xmlns:a="http://schemas.openxmlformats.org/drawingml/2006/main" w="7620">
            <a:solidFill>
              <a:srgbClr val="D9D9E0"/>
            </a:solidFill>
          </a:ln>
        </p:spPr>
      </p:sp>
      <p:sp>
        <p:nvSpPr>
          <p:cNvPr id="14" name="text-13">
            <a:extLst xmlns:a="http://schemas.openxmlformats.org/drawingml/2006/main">
              <a:ext uri="{FF2B5EF4-FFF2-40B4-BE49-F238E27FC236}">
                <a16:creationId xmlns:a16="http://schemas.microsoft.com/office/drawing/2014/main" id="{25A2769D-F87B-4CBF-8D63-59B70272F6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219450"/>
            <a:ext cx="5257800" cy="676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125" b="0">
                <a:solidFill>
                  <a:srgbClr val="4E4E53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0">
                <a:solidFill>
                  <a:srgbClr val="4E4E53"/>
                </a:solidFill>
                <a:latin typeface="Noto Sans KR"/>
                <a:ea typeface="Noto Sans KR"/>
                <a:cs typeface="Noto Sans KR"/>
              </a:rPr>
              <a:t>2026-01~06 CS 인입의 2주 환산치와</a:t>
            </a:r>
          </a:p>
          <a:p xmlns:a="http://schemas.openxmlformats.org/drawingml/2006/main">
            <a:pPr algn="l">
              <a:lnSpc>
                <a:spcPct val="125000"/>
              </a:lnSpc>
              <a:buNone/>
              <a:defRPr sz="1125" b="0">
                <a:solidFill>
                  <a:srgbClr val="4E4E53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0">
                <a:solidFill>
                  <a:srgbClr val="4E4E53"/>
                </a:solidFill>
                <a:latin typeface="Noto Sans KR"/>
                <a:ea typeface="Noto Sans KR"/>
                <a:cs typeface="Noto Sans KR"/>
              </a:rPr>
              <a:t>2026-07~08 배포 구간 2주 집계를 비교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7F2DFCB-8E46-4F05-AC73-3B9E8F653B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71975"/>
            <a:ext cx="10972800" cy="1343025"/>
          </a:xfrm>
          <a:prstGeom xmlns:a="http://schemas.openxmlformats.org/drawingml/2006/main" prst="roundRect">
            <a:avLst>
              <a:gd name="adj" fmla="val 4255"/>
            </a:avLst>
          </a:prstGeom>
          <a:solidFill xmlns:a="http://schemas.openxmlformats.org/drawingml/2006/main">
            <a:srgbClr val="F4F4F6"/>
          </a:solidFill>
          <a:ln xmlns:a="http://schemas.openxmlformats.org/drawingml/2006/main" w="0">
            <a:noFill/>
          </a:ln>
        </p:spPr>
      </p:sp>
      <p:sp>
        <p:nvSpPr>
          <p:cNvPr id="16" name="text-15">
            <a:extLst xmlns:a="http://schemas.openxmlformats.org/drawingml/2006/main">
              <a:ext uri="{FF2B5EF4-FFF2-40B4-BE49-F238E27FC236}">
                <a16:creationId xmlns:a16="http://schemas.microsoft.com/office/drawing/2014/main" id="{183B8E0D-2D30-409A-9C95-F244318DD8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552950"/>
            <a:ext cx="2847975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275" b="1">
                <a:solidFill>
                  <a:srgbClr val="206D4A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1">
                <a:solidFill>
                  <a:srgbClr val="206D4A"/>
                </a:solidFill>
                <a:latin typeface="Noto Sans KR"/>
                <a:ea typeface="Noto Sans KR"/>
                <a:cs typeface="Noto Sans KR"/>
              </a:rPr>
              <a:t>운영과 검수의 경계</a:t>
            </a:r>
          </a:p>
        </p:txBody>
      </p:sp>
      <p:sp>
        <p:nvSpPr>
          <p:cNvPr id="17" name="text-16">
            <a:extLst xmlns:a="http://schemas.openxmlformats.org/drawingml/2006/main">
              <a:ext uri="{FF2B5EF4-FFF2-40B4-BE49-F238E27FC236}">
                <a16:creationId xmlns:a16="http://schemas.microsoft.com/office/drawing/2014/main" id="{0B33AA4A-B010-4D7E-8CE5-783887E368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4543425"/>
            <a:ext cx="78676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163" b="0">
                <a:solidFill>
                  <a:srgbClr val="4E4E53"/>
                </a:solidFill>
                <a:latin typeface="Noto Sans KR"/>
                <a:ea typeface="Noto Sans KR"/>
                <a:cs typeface="Noto Sans KR"/>
              </a:defRPr>
            </a:pPr>
            <a:r>
              <a:rPr sz="1163" b="0">
                <a:solidFill>
                  <a:srgbClr val="4E4E53"/>
                </a:solidFill>
                <a:latin typeface="Noto Sans KR"/>
                <a:ea typeface="Noto Sans KR"/>
                <a:cs typeface="Noto Sans KR"/>
              </a:rPr>
              <a:t>핵심 흐름은 2026-07-16 가동 후 약 1개월 관찰</a:t>
            </a:r>
          </a:p>
          <a:p xmlns:a="http://schemas.openxmlformats.org/drawingml/2006/main">
            <a:pPr algn="l">
              <a:lnSpc>
                <a:spcPct val="125000"/>
              </a:lnSpc>
              <a:buNone/>
              <a:defRPr sz="1163" b="0">
                <a:solidFill>
                  <a:srgbClr val="4E4E53"/>
                </a:solidFill>
                <a:latin typeface="Noto Sans KR"/>
                <a:ea typeface="Noto Sans KR"/>
                <a:cs typeface="Noto Sans KR"/>
              </a:defRPr>
            </a:pPr>
            <a:r>
              <a:rPr sz="1163" b="0">
                <a:solidFill>
                  <a:srgbClr val="4E4E53"/>
                </a:solidFill>
                <a:latin typeface="Noto Sans KR"/>
                <a:ea typeface="Noto Sans KR"/>
                <a:cs typeface="Noto Sans KR"/>
              </a:rPr>
              <a:t>계약상 기본 개발요구 22건은 2026-08-31 최종검수까지 운영 QA 지속</a:t>
            </a:r>
          </a:p>
        </p:txBody>
      </p:sp>
      <p:sp>
        <p:nvSpPr>
          <p:cNvPr id="18" name="text-17">
            <a:extLst xmlns:a="http://schemas.openxmlformats.org/drawingml/2006/main">
              <a:ext uri="{FF2B5EF4-FFF2-40B4-BE49-F238E27FC236}">
                <a16:creationId xmlns:a16="http://schemas.microsoft.com/office/drawing/2014/main" id="{00632E57-3594-4EBD-92D3-AC0C277FE9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5305425"/>
            <a:ext cx="105060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900" b="0">
                <a:solidFill>
                  <a:srgbClr val="77777E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0">
                <a:solidFill>
                  <a:srgbClr val="77777E"/>
                </a:solidFill>
                <a:latin typeface="Noto Sans KR"/>
                <a:ea typeface="Noto Sans KR"/>
                <a:cs typeface="Noto Sans KR"/>
              </a:rPr>
              <a:t>2026-08-13 검수 기록: 배포·QA 필요 17건 / 부분·수정·구현변경 후 QA 각 1건 / 진행 중 계약 항목 2건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B430013-941B-4387-BF65-DEE786137A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19800"/>
            <a:ext cx="10972800" cy="457200"/>
          </a:xfrm>
          <a:prstGeom xmlns:a="http://schemas.openxmlformats.org/drawingml/2006/main" prst="roundRect">
            <a:avLst>
              <a:gd name="adj" fmla="val 10417"/>
            </a:avLst>
          </a:prstGeom>
          <a:solidFill xmlns:a="http://schemas.openxmlformats.org/drawingml/2006/main">
            <a:srgbClr val="206D4A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114300" tIns="47625" rIns="114300" bIns="476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127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다음 측정은 입금 대조 시간과 오출고·CS 문의의 장기 추이입니다.</a:t>
            </a:r>
          </a:p>
        </p:txBody>
      </p:sp>
      <p:sp>
        <p:nvSpPr>
          <p:cNvPr id="20" name="text-19">
            <a:extLst xmlns:a="http://schemas.openxmlformats.org/drawingml/2006/main">
              <a:ext uri="{FF2B5EF4-FFF2-40B4-BE49-F238E27FC236}">
                <a16:creationId xmlns:a16="http://schemas.microsoft.com/office/drawing/2014/main" id="{DAD2232F-6B32-40B6-B249-3072013E15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013" b="0">
                <a:solidFill>
                  <a:srgbClr val="77777E"/>
                </a:solidFill>
                <a:latin typeface="Noto Sans KR"/>
                <a:ea typeface="Noto Sans KR"/>
                <a:cs typeface="Noto Sans KR"/>
              </a:defRPr>
            </a:pPr>
            <a:r>
              <a:rPr sz="1013" b="0">
                <a:solidFill>
                  <a:srgbClr val="77777E"/>
                </a:solidFill>
                <a:latin typeface="Noto Sans KR"/>
                <a:ea typeface="Noto Sans KR"/>
                <a:cs typeface="Noto Sans KR"/>
              </a:rPr>
              <a:t>원천: 운영팀 출고·CS 이력과 사용자 확인 · 초기 관찰이며 장기 지속 효과와 단독 인과는 미검증</a:t>
            </a:r>
          </a:p>
        </p:txBody>
      </p:sp>
    </p:spTree>
    <p:extLst>
      <p:ext uri="{BB962C8B-B14F-4D97-AF65-F5344CB8AC3E}">
        <p14:creationId xmlns:p14="http://schemas.microsoft.com/office/powerpoint/2010/main" val="847759057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AE13C29-5E99-46BD-9BAE-0E0A62A53C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6275" y="0"/>
            <a:ext cx="38957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4F6"/>
          </a:solidFill>
          <a:ln xmlns:a="http://schemas.openxmlformats.org/drawingml/2006/main" w="0">
            <a:noFill/>
          </a:ln>
        </p:spPr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4A4CC474-F6C4-4B22-B5F9-93D13182F4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76300"/>
            <a:ext cx="7058025" cy="752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2100" b="1">
                <a:solidFill>
                  <a:srgbClr val="1A1A1A"/>
                </a:solidFill>
                <a:latin typeface="Noto Sans KR"/>
                <a:ea typeface="Noto Sans KR"/>
                <a:cs typeface="Noto Sans KR"/>
              </a:defRPr>
            </a:pPr>
            <a:r>
              <a:rPr sz="2100" b="1">
                <a:solidFill>
                  <a:srgbClr val="1A1A1A"/>
                </a:solidFill>
                <a:latin typeface="Noto Sans KR"/>
                <a:ea typeface="Noto Sans KR"/>
                <a:cs typeface="Noto Sans KR"/>
              </a:rPr>
              <a:t>현장의 문제를 구조로 바꾸고,</a:t>
            </a:r>
          </a:p>
          <a:p xmlns:a="http://schemas.openxmlformats.org/drawingml/2006/main">
            <a:pPr algn="l">
              <a:lnSpc>
                <a:spcPct val="125000"/>
              </a:lnSpc>
              <a:buNone/>
              <a:defRPr sz="2100" b="1">
                <a:solidFill>
                  <a:srgbClr val="1A1A1A"/>
                </a:solidFill>
                <a:latin typeface="Noto Sans KR"/>
                <a:ea typeface="Noto Sans KR"/>
                <a:cs typeface="Noto Sans KR"/>
              </a:defRPr>
            </a:pPr>
            <a:r>
              <a:rPr sz="2100" b="1">
                <a:solidFill>
                  <a:srgbClr val="1A1A1A"/>
                </a:solidFill>
                <a:latin typeface="Noto Sans KR"/>
                <a:ea typeface="Noto Sans KR"/>
                <a:cs typeface="Noto Sans KR"/>
              </a:rPr>
              <a:t>운영에서 확인하는 PM입니다.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CF8E9AC4-F638-4C6F-AAEC-B4F7501794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409825"/>
            <a:ext cx="66389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425" b="1">
                <a:solidFill>
                  <a:srgbClr val="21549B"/>
                </a:solidFill>
                <a:latin typeface="Noto Sans KR"/>
                <a:ea typeface="Noto Sans KR"/>
                <a:cs typeface="Noto Sans KR"/>
              </a:defRPr>
            </a:pPr>
            <a:r>
              <a:rPr sz="1425" b="1">
                <a:solidFill>
                  <a:srgbClr val="21549B"/>
                </a:solidFill>
                <a:latin typeface="Noto Sans KR"/>
                <a:ea typeface="Noto Sans KR"/>
                <a:cs typeface="Noto Sans KR"/>
              </a:rPr>
              <a:t>두 프로젝트에서 만든 업무 방식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79DDE6BB-C4FD-400D-87D6-26CBEAD477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52775"/>
            <a:ext cx="3524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050" b="1">
                <a:solidFill>
                  <a:srgbClr val="3483E8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1">
                <a:solidFill>
                  <a:srgbClr val="3483E8"/>
                </a:solidFill>
                <a:latin typeface="Noto Sans KR"/>
                <a:ea typeface="Noto Sans KR"/>
                <a:cs typeface="Noto Sans KR"/>
              </a:rPr>
              <a:t>01</a:t>
            </a:r>
          </a:p>
        </p:txBody>
      </p:sp>
      <p:sp>
        <p:nvSpPr>
          <p:cNvPr id="5" name="text-4">
            <a:extLst xmlns:a="http://schemas.openxmlformats.org/drawingml/2006/main">
              <a:ext uri="{FF2B5EF4-FFF2-40B4-BE49-F238E27FC236}">
                <a16:creationId xmlns:a16="http://schemas.microsoft.com/office/drawing/2014/main" id="{6B108A3F-957A-4D8C-BB45-15FC4FB2BC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114675"/>
            <a:ext cx="675322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350" b="1">
                <a:solidFill>
                  <a:srgbClr val="1A1A1A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1">
                <a:solidFill>
                  <a:srgbClr val="1A1A1A"/>
                </a:solidFill>
                <a:latin typeface="Noto Sans KR"/>
                <a:ea typeface="Noto Sans KR"/>
                <a:cs typeface="Noto Sans KR"/>
              </a:rPr>
              <a:t>정책의 기준을 구체적인 예외까지 내려 씁니다</a:t>
            </a:r>
          </a:p>
        </p:txBody>
      </p:sp>
      <p:sp>
        <p:nvSpPr>
          <p:cNvPr id="6" name="text-5">
            <a:extLst xmlns:a="http://schemas.openxmlformats.org/drawingml/2006/main">
              <a:ext uri="{FF2B5EF4-FFF2-40B4-BE49-F238E27FC236}">
                <a16:creationId xmlns:a16="http://schemas.microsoft.com/office/drawing/2014/main" id="{546E90D3-E128-4394-B9B6-1802AE0270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552825"/>
            <a:ext cx="6772275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013" b="0">
                <a:solidFill>
                  <a:srgbClr val="77777E"/>
                </a:solidFill>
                <a:latin typeface="Noto Sans KR"/>
                <a:ea typeface="Noto Sans KR"/>
                <a:cs typeface="Noto Sans KR"/>
              </a:defRPr>
            </a:pPr>
            <a:r>
              <a:rPr sz="1013" b="0">
                <a:solidFill>
                  <a:srgbClr val="77777E"/>
                </a:solidFill>
                <a:latin typeface="Noto Sans KR"/>
                <a:ea typeface="Noto Sans KR"/>
                <a:cs typeface="Noto Sans KR"/>
              </a:rPr>
              <a:t>주문과 포장을 구분하고, 같은 결제수단의 혼합주문 예외를 확인했습니다.</a:t>
            </a:r>
          </a:p>
        </p:txBody>
      </p:sp>
      <p:sp>
        <p:nvSpPr>
          <p:cNvPr id="7" name="text-6">
            <a:extLst xmlns:a="http://schemas.openxmlformats.org/drawingml/2006/main">
              <a:ext uri="{FF2B5EF4-FFF2-40B4-BE49-F238E27FC236}">
                <a16:creationId xmlns:a16="http://schemas.microsoft.com/office/drawing/2014/main" id="{56A834AD-CFED-4064-9D59-6315F2E4C2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81475"/>
            <a:ext cx="3524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050" b="1">
                <a:solidFill>
                  <a:srgbClr val="3483E8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1">
                <a:solidFill>
                  <a:srgbClr val="3483E8"/>
                </a:solidFill>
                <a:latin typeface="Noto Sans KR"/>
                <a:ea typeface="Noto Sans KR"/>
                <a:cs typeface="Noto Sans KR"/>
              </a:rPr>
              <a:t>02</a:t>
            </a:r>
          </a:p>
        </p:txBody>
      </p:sp>
      <p:sp>
        <p:nvSpPr>
          <p:cNvPr id="8" name="text-7">
            <a:extLst xmlns:a="http://schemas.openxmlformats.org/drawingml/2006/main">
              <a:ext uri="{FF2B5EF4-FFF2-40B4-BE49-F238E27FC236}">
                <a16:creationId xmlns:a16="http://schemas.microsoft.com/office/drawing/2014/main" id="{CE8214D9-22CA-4D62-9606-5E2C98F0A1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143375"/>
            <a:ext cx="675322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350" b="1">
                <a:solidFill>
                  <a:srgbClr val="1A1A1A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1">
                <a:solidFill>
                  <a:srgbClr val="1A1A1A"/>
                </a:solidFill>
                <a:latin typeface="Noto Sans KR"/>
                <a:ea typeface="Noto Sans KR"/>
                <a:cs typeface="Noto Sans KR"/>
              </a:rPr>
              <a:t>시스템 제약과 운영 영향을 함께 판단합니다</a:t>
            </a:r>
          </a:p>
        </p:txBody>
      </p:sp>
      <p:sp>
        <p:nvSpPr>
          <p:cNvPr id="9" name="text-8">
            <a:extLst xmlns:a="http://schemas.openxmlformats.org/drawingml/2006/main">
              <a:ext uri="{FF2B5EF4-FFF2-40B4-BE49-F238E27FC236}">
                <a16:creationId xmlns:a16="http://schemas.microsoft.com/office/drawing/2014/main" id="{BD0B45AB-03F8-4530-9A04-78F72CD1D8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581525"/>
            <a:ext cx="6772275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013" b="0">
                <a:solidFill>
                  <a:srgbClr val="77777E"/>
                </a:solidFill>
                <a:latin typeface="Noto Sans KR"/>
                <a:ea typeface="Noto Sans KR"/>
                <a:cs typeface="Noto Sans KR"/>
              </a:defRPr>
            </a:pPr>
            <a:r>
              <a:rPr sz="1013" b="0">
                <a:solidFill>
                  <a:srgbClr val="77777E"/>
                </a:solidFill>
                <a:latin typeface="Noto Sans KR"/>
                <a:ea typeface="Noto Sans KR"/>
                <a:cs typeface="Noto Sans KR"/>
              </a:rPr>
              <a:t>혼재 주문의 내수 지연을 수용하고, 포인트 정리에 담당자 확인을 남겼습니다.</a:t>
            </a:r>
          </a:p>
        </p:txBody>
      </p:sp>
      <p:sp>
        <p:nvSpPr>
          <p:cNvPr id="10" name="text-9">
            <a:extLst xmlns:a="http://schemas.openxmlformats.org/drawingml/2006/main">
              <a:ext uri="{FF2B5EF4-FFF2-40B4-BE49-F238E27FC236}">
                <a16:creationId xmlns:a16="http://schemas.microsoft.com/office/drawing/2014/main" id="{AC712E0F-8A4D-4FAE-A144-599249BCF5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10175"/>
            <a:ext cx="3524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050" b="1">
                <a:solidFill>
                  <a:srgbClr val="3483E8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1">
                <a:solidFill>
                  <a:srgbClr val="3483E8"/>
                </a:solidFill>
                <a:latin typeface="Noto Sans KR"/>
                <a:ea typeface="Noto Sans KR"/>
                <a:cs typeface="Noto Sans KR"/>
              </a:rPr>
              <a:t>03</a:t>
            </a:r>
          </a:p>
        </p:txBody>
      </p:sp>
      <p:sp>
        <p:nvSpPr>
          <p:cNvPr id="11" name="text-10">
            <a:extLst xmlns:a="http://schemas.openxmlformats.org/drawingml/2006/main">
              <a:ext uri="{FF2B5EF4-FFF2-40B4-BE49-F238E27FC236}">
                <a16:creationId xmlns:a16="http://schemas.microsoft.com/office/drawing/2014/main" id="{249305D4-0A4D-4DF1-A517-463B335138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5172075"/>
            <a:ext cx="675322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350" b="1">
                <a:solidFill>
                  <a:srgbClr val="1A1A1A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1">
                <a:solidFill>
                  <a:srgbClr val="1A1A1A"/>
                </a:solidFill>
                <a:latin typeface="Noto Sans KR"/>
                <a:ea typeface="Noto Sans KR"/>
                <a:cs typeface="Noto Sans KR"/>
              </a:rPr>
              <a:t>완료는 실제 운영의 기대 결과로 판단합니다</a:t>
            </a:r>
          </a:p>
        </p:txBody>
      </p:sp>
      <p:sp>
        <p:nvSpPr>
          <p:cNvPr id="12" name="text-11">
            <a:extLst xmlns:a="http://schemas.openxmlformats.org/drawingml/2006/main">
              <a:ext uri="{FF2B5EF4-FFF2-40B4-BE49-F238E27FC236}">
                <a16:creationId xmlns:a16="http://schemas.microsoft.com/office/drawing/2014/main" id="{04A70739-1538-4767-8B64-C2D06BA66B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5610225"/>
            <a:ext cx="6772275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013" b="0">
                <a:solidFill>
                  <a:srgbClr val="77777E"/>
                </a:solidFill>
                <a:latin typeface="Noto Sans KR"/>
                <a:ea typeface="Noto Sans KR"/>
                <a:cs typeface="Noto Sans KR"/>
              </a:defRPr>
            </a:pPr>
            <a:r>
              <a:rPr sz="1013" b="0">
                <a:solidFill>
                  <a:srgbClr val="77777E"/>
                </a:solidFill>
                <a:latin typeface="Noto Sans KR"/>
                <a:ea typeface="Noto Sans KR"/>
                <a:cs typeface="Noto Sans KR"/>
              </a:rPr>
              <a:t>관세청 오류 수정·재제출과 B2B 고객 화면을 검증하고 초기 결과를 관찰했습니다.</a:t>
            </a:r>
          </a:p>
        </p:txBody>
      </p:sp>
      <p:sp>
        <p:nvSpPr>
          <p:cNvPr id="13" name="text-12">
            <a:extLst xmlns:a="http://schemas.openxmlformats.org/drawingml/2006/main">
              <a:ext uri="{FF2B5EF4-FFF2-40B4-BE49-F238E27FC236}">
                <a16:creationId xmlns:a16="http://schemas.microsoft.com/office/drawing/2014/main" id="{4CA1C7E3-F5EC-4939-BB7F-C4D6DE7724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3019425"/>
            <a:ext cx="33718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5000"/>
              </a:lnSpc>
              <a:buNone/>
              <a:defRPr sz="2325" b="1">
                <a:solidFill>
                  <a:srgbClr val="1A1A1A"/>
                </a:solidFill>
                <a:latin typeface="Noto Sans KR"/>
                <a:ea typeface="Noto Sans KR"/>
                <a:cs typeface="Noto Sans KR"/>
              </a:defRPr>
            </a:pPr>
            <a:r>
              <a:rPr sz="2325" b="1">
                <a:solidFill>
                  <a:srgbClr val="1A1A1A"/>
                </a:solidFill>
                <a:latin typeface="Noto Sans KR"/>
                <a:ea typeface="Noto Sans KR"/>
                <a:cs typeface="Noto Sans KR"/>
              </a:rPr>
              <a:t>박종혁</a:t>
            </a:r>
          </a:p>
        </p:txBody>
      </p:sp>
      <p:sp>
        <p:nvSpPr>
          <p:cNvPr id="14" name="text-13">
            <a:extLst xmlns:a="http://schemas.openxmlformats.org/drawingml/2006/main">
              <a:ext uri="{FF2B5EF4-FFF2-40B4-BE49-F238E27FC236}">
                <a16:creationId xmlns:a16="http://schemas.microsoft.com/office/drawing/2014/main" id="{B0662F3F-3102-43AE-88F7-AA7BDCDE5C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5825" y="3638550"/>
            <a:ext cx="33623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5000"/>
              </a:lnSpc>
              <a:buNone/>
              <a:defRPr sz="1125" b="1">
                <a:solidFill>
                  <a:srgbClr val="21549B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1">
                <a:solidFill>
                  <a:srgbClr val="21549B"/>
                </a:solidFill>
                <a:latin typeface="Noto Sans KR"/>
                <a:ea typeface="Noto Sans KR"/>
                <a:cs typeface="Noto Sans KR"/>
              </a:rPr>
              <a:t>PM PORTFOLIO</a:t>
            </a:r>
          </a:p>
        </p:txBody>
      </p:sp>
      <p:sp>
        <p:nvSpPr>
          <p:cNvPr id="15" name="text-14">
            <a:extLst xmlns:a="http://schemas.openxmlformats.org/drawingml/2006/main">
              <a:ext uri="{FF2B5EF4-FFF2-40B4-BE49-F238E27FC236}">
                <a16:creationId xmlns:a16="http://schemas.microsoft.com/office/drawing/2014/main" id="{69B88D68-09C3-491F-AA7C-4100288918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4238625"/>
            <a:ext cx="33528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5000"/>
              </a:lnSpc>
              <a:buNone/>
              <a:defRPr sz="1800" b="1">
                <a:solidFill>
                  <a:srgbClr val="1A1A1A"/>
                </a:solidFill>
                <a:latin typeface="Noto Sans KR"/>
                <a:ea typeface="Noto Sans KR"/>
                <a:cs typeface="Noto Sans KR"/>
              </a:defRPr>
            </a:pPr>
            <a:r>
              <a:rPr sz="1800" b="1">
                <a:solidFill>
                  <a:srgbClr val="1A1A1A"/>
                </a:solidFill>
                <a:latin typeface="Noto Sans KR"/>
                <a:ea typeface="Noto Sans KR"/>
                <a:cs typeface="Noto Sans KR"/>
              </a:rPr>
              <a:t>감사합니다</a:t>
            </a:r>
          </a:p>
        </p:txBody>
      </p:sp>
    </p:spTree>
    <p:extLst>
      <p:ext uri="{BB962C8B-B14F-4D97-AF65-F5344CB8AC3E}">
        <p14:creationId xmlns:p14="http://schemas.microsoft.com/office/powerpoint/2010/main" val="62865710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박종혁</dc:creator>
  <lastModifiedBy>Walnut Exporter</lastModifiedBy>
  <dc:title>박종혁 PM 포트폴리오 v4.3</dc:title>
  <dcterms:created xsi:type="dcterms:W3CDTF">2026-09-17T06:12:23.8760000Z</dcterms:created>
  <dcterms:modified xsi:type="dcterms:W3CDTF">2026-09-17T06:12:23.8760000Z</dcterms:modified>
</coreProperties>
</file>