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d9edaadfdea4ea8" /><Relationship Type="http://schemas.openxmlformats.org/officeDocument/2006/relationships/extended-properties" Target="/docProps/app.xml" Id="R2acf7d06af024e1b" /><Relationship Type="http://schemas.openxmlformats.org/officeDocument/2006/relationships/officeDocument" Target="/ppt/presentation.xml" Id="Rf5602c75e2484d7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87d062f207b4c08"/>
  </p:sldMasterIdLst>
  <p:notesMasterIdLst>
    <p:notesMasterId xmlns:r="http://schemas.openxmlformats.org/officeDocument/2006/relationships" r:id="R25bf7ea8355e4770"/>
  </p:notesMasterIdLst>
  <p:sldIdLst>
    <p:sldId xmlns:r="http://schemas.openxmlformats.org/officeDocument/2006/relationships" id="256" r:id="R63481cae4fb54e73"/>
    <p:sldId xmlns:r="http://schemas.openxmlformats.org/officeDocument/2006/relationships" id="257" r:id="R08a2b4a52e594798"/>
    <p:sldId xmlns:r="http://schemas.openxmlformats.org/officeDocument/2006/relationships" id="258" r:id="Re89f59a70c5f4dc3"/>
    <p:sldId xmlns:r="http://schemas.openxmlformats.org/officeDocument/2006/relationships" id="259" r:id="Rf1e9c5733c3b49e9"/>
    <p:sldId xmlns:r="http://schemas.openxmlformats.org/officeDocument/2006/relationships" id="260" r:id="R314355ae5e4e45ea"/>
    <p:sldId xmlns:r="http://schemas.openxmlformats.org/officeDocument/2006/relationships" id="261" r:id="R210f2f7585314d83"/>
    <p:sldId xmlns:r="http://schemas.openxmlformats.org/officeDocument/2006/relationships" id="262" r:id="R187a199e99944dd6"/>
    <p:sldId xmlns:r="http://schemas.openxmlformats.org/officeDocument/2006/relationships" id="263" r:id="Rd40a1ba835c8491c"/>
    <p:sldId xmlns:r="http://schemas.openxmlformats.org/officeDocument/2006/relationships" id="264" r:id="R9024db4db7924167"/>
    <p:sldId xmlns:r="http://schemas.openxmlformats.org/officeDocument/2006/relationships" id="265" r:id="R5e64197d679643a0"/>
    <p:sldId xmlns:r="http://schemas.openxmlformats.org/officeDocument/2006/relationships" id="266" r:id="Rcae3fdbed3424f48"/>
    <p:sldId xmlns:r="http://schemas.openxmlformats.org/officeDocument/2006/relationships" id="267" r:id="R6e2bfa352f4d4d29"/>
    <p:sldId xmlns:r="http://schemas.openxmlformats.org/officeDocument/2006/relationships" id="268" r:id="R8410884a754a492f"/>
    <p:sldId xmlns:r="http://schemas.openxmlformats.org/officeDocument/2006/relationships" id="269" r:id="Re0df8da1bab1412c"/>
    <p:sldId xmlns:r="http://schemas.openxmlformats.org/officeDocument/2006/relationships" id="270" r:id="Rd6f9a8714e5e489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b71093739064b5a" /><Relationship Type="http://schemas.openxmlformats.org/officeDocument/2006/relationships/slideMaster" Target="/ppt/slideMasters/slideMaster1.xml" Id="R487d062f207b4c08" /><Relationship Type="http://schemas.openxmlformats.org/officeDocument/2006/relationships/notesMaster" Target="/ppt/notesMasters/notesMaster1.xml" Id="R25bf7ea8355e4770" /><Relationship Type="http://schemas.openxmlformats.org/officeDocument/2006/relationships/presProps" Target="/ppt/presProps.xml" Id="Rcbbdce192e8d4c75" /><Relationship Type="http://schemas.openxmlformats.org/officeDocument/2006/relationships/tableStyles" Target="/ppt/tableStyles.xml" Id="Ra878739af06f4585" /><Relationship Type="http://schemas.openxmlformats.org/officeDocument/2006/relationships/slide" Target="/ppt/slides/slide1.xml" Id="R63481cae4fb54e73" /><Relationship Type="http://schemas.openxmlformats.org/officeDocument/2006/relationships/slide" Target="/ppt/slides/slide2.xml" Id="R08a2b4a52e594798" /><Relationship Type="http://schemas.openxmlformats.org/officeDocument/2006/relationships/slide" Target="/ppt/slides/slide3.xml" Id="Re89f59a70c5f4dc3" /><Relationship Type="http://schemas.openxmlformats.org/officeDocument/2006/relationships/slide" Target="/ppt/slides/slide4.xml" Id="Rf1e9c5733c3b49e9" /><Relationship Type="http://schemas.openxmlformats.org/officeDocument/2006/relationships/slide" Target="/ppt/slides/slide5.xml" Id="R314355ae5e4e45ea" /><Relationship Type="http://schemas.openxmlformats.org/officeDocument/2006/relationships/slide" Target="/ppt/slides/slide6.xml" Id="R210f2f7585314d83" /><Relationship Type="http://schemas.openxmlformats.org/officeDocument/2006/relationships/slide" Target="/ppt/slides/slide7.xml" Id="R187a199e99944dd6" /><Relationship Type="http://schemas.openxmlformats.org/officeDocument/2006/relationships/slide" Target="/ppt/slides/slide8.xml" Id="Rd40a1ba835c8491c" /><Relationship Type="http://schemas.openxmlformats.org/officeDocument/2006/relationships/slide" Target="/ppt/slides/slide9.xml" Id="R9024db4db7924167" /><Relationship Type="http://schemas.openxmlformats.org/officeDocument/2006/relationships/slide" Target="/ppt/slides/slide10.xml" Id="R5e64197d679643a0" /><Relationship Type="http://schemas.openxmlformats.org/officeDocument/2006/relationships/slide" Target="/ppt/slides/slide11.xml" Id="Rcae3fdbed3424f48" /><Relationship Type="http://schemas.openxmlformats.org/officeDocument/2006/relationships/slide" Target="/ppt/slides/slide12.xml" Id="R6e2bfa352f4d4d29" /><Relationship Type="http://schemas.openxmlformats.org/officeDocument/2006/relationships/slide" Target="/ppt/slides/slide13.xml" Id="R8410884a754a492f" /><Relationship Type="http://schemas.openxmlformats.org/officeDocument/2006/relationships/slide" Target="/ppt/slides/slide14.xml" Id="Re0df8da1bab1412c" /><Relationship Type="http://schemas.openxmlformats.org/officeDocument/2006/relationships/slide" Target="/ppt/slides/slide15.xml" Id="Rd6f9a8714e5e489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bc48b70b5fb4e6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ed3eb8650034aa3" /><Relationship Type="http://schemas.openxmlformats.org/officeDocument/2006/relationships/notesMaster" Target="/ppt/notesMasters/notesMaster1.xml" Id="R601f0486c7ce4bf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471892eb0e542d8" /><Relationship Type="http://schemas.openxmlformats.org/officeDocument/2006/relationships/notesMaster" Target="/ppt/notesMasters/notesMaster1.xml" Id="R253ced029dc0402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b0f87cfb6284867" /><Relationship Type="http://schemas.openxmlformats.org/officeDocument/2006/relationships/notesMaster" Target="/ppt/notesMasters/notesMaster1.xml" Id="Rcb504064df874dc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344f966f8ce4e01" /><Relationship Type="http://schemas.openxmlformats.org/officeDocument/2006/relationships/notesMaster" Target="/ppt/notesMasters/notesMaster1.xml" Id="Rcc3a9f39af1246e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09c1e5576ae4c42" /><Relationship Type="http://schemas.openxmlformats.org/officeDocument/2006/relationships/notesMaster" Target="/ppt/notesMasters/notesMaster1.xml" Id="Rcb6f5a4460bc4f4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9b327c8b2ce49d1" /><Relationship Type="http://schemas.openxmlformats.org/officeDocument/2006/relationships/notesMaster" Target="/ppt/notesMasters/notesMaster1.xml" Id="R16b9066414144d0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50be53ffb7a4aef" /><Relationship Type="http://schemas.openxmlformats.org/officeDocument/2006/relationships/notesMaster" Target="/ppt/notesMasters/notesMaster1.xml" Id="Re4f9d4bbfc14424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b58bd71af3e4139" /><Relationship Type="http://schemas.openxmlformats.org/officeDocument/2006/relationships/notesMaster" Target="/ppt/notesMasters/notesMaster1.xml" Id="R2d00438ed63940b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df5cd6afdee4059" /><Relationship Type="http://schemas.openxmlformats.org/officeDocument/2006/relationships/notesMaster" Target="/ppt/notesMasters/notesMaster1.xml" Id="Rbf65f422783f4f3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513f1f893c44a62" /><Relationship Type="http://schemas.openxmlformats.org/officeDocument/2006/relationships/notesMaster" Target="/ppt/notesMasters/notesMaster1.xml" Id="R4d6e118a7ffd461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7b408b342c540c0" /><Relationship Type="http://schemas.openxmlformats.org/officeDocument/2006/relationships/notesMaster" Target="/ppt/notesMasters/notesMaster1.xml" Id="Ra2319ea0884c4bc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bd4db10757e40d9" /><Relationship Type="http://schemas.openxmlformats.org/officeDocument/2006/relationships/notesMaster" Target="/ppt/notesMasters/notesMaster1.xml" Id="R03abda22bc84480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e0427f841084e68" /><Relationship Type="http://schemas.openxmlformats.org/officeDocument/2006/relationships/notesMaster" Target="/ppt/notesMasters/notesMaster1.xml" Id="R0d665535c9384c9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9e7ddf448374bef" /><Relationship Type="http://schemas.openxmlformats.org/officeDocument/2006/relationships/notesMaster" Target="/ppt/notesMasters/notesMaster1.xml" Id="Re433a1db2f5d448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77ebed0e2cc452f" /><Relationship Type="http://schemas.openxmlformats.org/officeDocument/2006/relationships/notesMaster" Target="/ppt/notesMasters/notesMaster1.xml" Id="Ra50dd1aef7fb44a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career_facts.md C-025, C-028, C-037~C-039, C-109</a:t>
            </a:r>
          </a:p>
          <a:p xmlns:a="http://schemas.openxmlformats.org/drawingml/2006/main">
            <a:r>
              <a:t>범위: 관세청 전자상거래 통관 연동과 산후조리원 전용 B2B몰 두 사례만 사용.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career_facts.md C-025~C-029, C-037~C-039, C-109</a:t>
            </a:r>
          </a:p>
          <a:p xmlns:a="http://schemas.openxmlformats.org/drawingml/2006/main">
            <a:r>
              <a:t>주의: 대표·이사 회의록, 오프라인 AI 제품, 기술영업 경험은 확인되지 않아 본문에서 제외.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C-020~C-022, C-025, C-028, C-126</a:t>
            </a:r>
          </a:p>
          <a:p xmlns:a="http://schemas.openxmlformats.org/drawingml/2006/main">
            <a:r>
              <a:t>직함은 SCM 담당이며 프로젝트 PM 역할로 연동을 주도. 직접 개발·직접 신고로 표현하지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C-020, C-025, C-028, C-029, C-101</a:t>
            </a:r>
          </a:p>
          <a:p xmlns:a="http://schemas.openxmlformats.org/drawingml/2006/main">
            <a:r>
              <a:t>정보 주체는 역할명으로만 표기. C-023의 4개 데이터 주체와 5개 협업사는 모수가 달라 합산하지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C-025, C-026, C-028</a:t>
            </a:r>
          </a:p>
          <a:p xmlns:a="http://schemas.openxmlformats.org/drawingml/2006/main">
            <a:r>
              <a:t>46은 해결·기준확정 상태이며 P0/P1/P2 전체가 모두 종결됐다는 뜻이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C-025, C-028, C-101, C-126</a:t>
            </a:r>
          </a:p>
          <a:p xmlns:a="http://schemas.openxmlformats.org/drawingml/2006/main">
            <a:r>
              <a:t>판매 채널·ERP/WMS·통관 역할명만 사용하며 관계사 수는 표시하지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C-025, C-028, C-029, C-101, C-102</a:t>
            </a:r>
          </a:p>
          <a:p xmlns:a="http://schemas.openxmlformats.org/drawingml/2006/main">
            <a:r>
              <a:t>원장에 없는 세부 API 필드명, 처리 시각, 무제한 재시도 규칙은 표기하지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C-027, C-100, C-102</a:t>
            </a:r>
          </a:p>
          <a:p xmlns:a="http://schemas.openxmlformats.org/drawingml/2006/main">
            <a:r>
              <a:t>30/30은 테스트 목적 통과. 30건 모두 정상 신고 또는 운영 무오류 보장으로 표현하지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C-030~C-032, C-039, C-109</a:t>
            </a:r>
          </a:p>
          <a:p xmlns:a="http://schemas.openxmlformats.org/drawingml/2006/main">
            <a:r>
              <a:t>07-16은 핵심 흐름 전체 가동, 08-31은 계약상 기본 요구의 최종 검수 기준일.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C-031, C-040, C-042, C-043, C-109</a:t>
            </a:r>
          </a:p>
          <a:p xmlns:a="http://schemas.openxmlformats.org/drawingml/2006/main">
            <a:r>
              <a:t>입금 대조는 AS-IS만 확인. 개선 후 수치는 미측정이라 성과로 사용하지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C-035, C-036</a:t>
            </a:r>
          </a:p>
          <a:p xmlns:a="http://schemas.openxmlformats.org/drawingml/2006/main">
            <a:r>
              <a:t>비용 숫자나 임의 점수는 사용하지 않고 사용자 확인된 채택·제외 사유만 표기.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C-031, C-037, C-038, C-046</a:t>
            </a:r>
          </a:p>
          <a:p xmlns:a="http://schemas.openxmlformats.org/drawingml/2006/main">
            <a:r>
              <a:t>2026-08-13의 22건 스냅샷은 최종 상태가 아니므로 장표 숫자로 재사용하지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C-033, C-034, C-036, C-039, C-047~C-049</a:t>
            </a:r>
          </a:p>
          <a:p xmlns:a="http://schemas.openxmlformats.org/drawingml/2006/main">
            <a:r>
              <a:t>원본 와이어프레임 유실. 오른쪽은 운영 화면 기반 재구성이며 실제 캡처가 아님.</a:t>
            </a:r>
          </a:p>
          <a:p xmlns:a="http://schemas.openxmlformats.org/drawingml/2006/main">
            <a:r>
              <a:t>원본 캡처는 포트폴리오/evidence/b2b/raw_private에 비공개 보관.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C-031, C-040, C-042~C-044</a:t>
            </a:r>
          </a:p>
          <a:p xmlns:a="http://schemas.openxmlformats.org/drawingml/2006/main">
            <a:r>
              <a:t>C-041 정산 시간 비교는 비교 월·동일 범위가 미확인이라 외부 제출본에서 제외.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C-025~C-029, C-037~C-039, C-109</a:t>
            </a:r>
          </a:p>
          <a:p xmlns:a="http://schemas.openxmlformats.org/drawingml/2006/main">
            <a:r>
              <a:t>직접 증거가 없는 회의록·오프라인 AI 제품·기술영업은 학습 영역으로 분리.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b2ee3c20cf408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a2c034d5fd84362" /><Relationship Type="http://schemas.openxmlformats.org/officeDocument/2006/relationships/slideLayout" Target="/ppt/slideLayouts/slideLayout1.xml" Id="Rf825ca56f9b643e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825ca56f9b643e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462dbfa1be483d" /><Relationship Type="http://schemas.openxmlformats.org/officeDocument/2006/relationships/image" Target="/ppt/media/image.png" Id="R38691183adbe46d3" /><Relationship Type="http://schemas.openxmlformats.org/officeDocument/2006/relationships/notesSlide" Target="/ppt/notesSlides/notesSlide1.xml" Id="R0a32bab9c255423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5582560ab3488f" /><Relationship Type="http://schemas.openxmlformats.org/officeDocument/2006/relationships/notesSlide" Target="/ppt/notesSlides/notesSlide2.xml" Id="R261f2ac4689943d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c621a99a094395" /><Relationship Type="http://schemas.openxmlformats.org/officeDocument/2006/relationships/notesSlide" Target="/ppt/notesSlides/notesSlide3.xml" Id="R8236173654754ce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269bcd91d34c7f" /><Relationship Type="http://schemas.openxmlformats.org/officeDocument/2006/relationships/notesSlide" Target="/ppt/notesSlides/notesSlide4.xml" Id="R0e9b2952aac444d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e845b5328f427d" /><Relationship Type="http://schemas.openxmlformats.org/officeDocument/2006/relationships/notesSlide" Target="/ppt/notesSlides/notesSlide5.xml" Id="Rd7c421e1cf294af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7f11253e6b4773" /><Relationship Type="http://schemas.openxmlformats.org/officeDocument/2006/relationships/notesSlide" Target="/ppt/notesSlides/notesSlide6.xml" Id="R60cbc9d39cbb421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891968d81f43bb" /><Relationship Type="http://schemas.openxmlformats.org/officeDocument/2006/relationships/notesSlide" Target="/ppt/notesSlides/notesSlide7.xml" Id="Ra3c230b33ff24a4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d82a6a25084aa5" /><Relationship Type="http://schemas.openxmlformats.org/officeDocument/2006/relationships/notesSlide" Target="/ppt/notesSlides/notesSlide8.xml" Id="Rc27b3a13e46448d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3ab845d89746c0" /><Relationship Type="http://schemas.openxmlformats.org/officeDocument/2006/relationships/notesSlide" Target="/ppt/notesSlides/notesSlide9.xml" Id="R0804aed3dcde487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59d319c21b4f27" /><Relationship Type="http://schemas.openxmlformats.org/officeDocument/2006/relationships/notesSlide" Target="/ppt/notesSlides/notesSlide10.xml" Id="R74a1dc204a94401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8e658d72fe4148" /><Relationship Type="http://schemas.openxmlformats.org/officeDocument/2006/relationships/notesSlide" Target="/ppt/notesSlides/notesSlide11.xml" Id="Ra341866412624f2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03ddf851e64929" /><Relationship Type="http://schemas.openxmlformats.org/officeDocument/2006/relationships/notesSlide" Target="/ppt/notesSlides/notesSlide12.xml" Id="R32ed9175f798479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059e3c5901477c" /><Relationship Type="http://schemas.openxmlformats.org/officeDocument/2006/relationships/notesSlide" Target="/ppt/notesSlides/notesSlide13.xml" Id="R20d85432d39a476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0f3bc38cc54140" /><Relationship Type="http://schemas.openxmlformats.org/officeDocument/2006/relationships/notesSlide" Target="/ppt/notesSlides/notesSlide14.xml" Id="Re4e90de9ee304b1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e9fc0f05824da3" /><Relationship Type="http://schemas.openxmlformats.org/officeDocument/2006/relationships/notesSlide" Target="/ppt/notesSlides/notesSlide15.xml" Id="Re28f68cf36ee4fb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CAE4DF-D468-4EA4-AE67-F9D628C28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F9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036609-DFEF-469E-8E58-2D49E1EE3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PM PORTFOLIO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4861E5-4964-448A-81B3-5F97CA145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6953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운영 요구를 구조화하고</a:t>
            </a:r>
          </a:p>
          <a:p xmlns:a="http://schemas.openxmlformats.org/drawingml/2006/main">
            <a:pPr algn="l">
              <a:defRPr sz="30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검증까지 연결한 두 프로젝트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41E4F2-C372-4A91-96D0-F5AEBA4FD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6619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요청을 문서로 남기고, 역할과 완료 기준을 정한 뒤</a:t>
            </a:r>
          </a:p>
          <a:p xmlns:a="http://schemas.openxmlformats.org/drawingml/2006/main">
            <a:pPr algn="l">
              <a:defRPr sz="150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운영 환경에서 결과를 확인했습니다.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55A2AB-6614-421B-8E18-D7AF64483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38575"/>
            <a:ext cx="3333750" cy="1314450"/>
          </a:xfrm>
          <a:prstGeom xmlns:a="http://schemas.openxmlformats.org/drawingml/2006/main" prst="roundRect">
            <a:avLst>
              <a:gd name="adj" fmla="val 10145"/>
            </a:avLst>
          </a:prstGeom>
          <a:solidFill xmlns:a="http://schemas.openxmlformats.org/drawingml/2006/main">
            <a:srgbClr val="F1F6FC"/>
          </a:solidFill>
          <a:ln xmlns:a="http://schemas.openxmlformats.org/drawingml/2006/main" w="9525">
            <a:solidFill>
              <a:srgbClr val="D2DFF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A331C6-07C3-4A6E-879A-9BA156D19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38600"/>
            <a:ext cx="1066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4F9C"/>
          </a:solidFill>
          <a:ln xmlns:a="http://schemas.openxmlformats.org/drawingml/2006/main" w="0">
            <a:solidFill>
              <a:srgbClr val="1B4F9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2051C1-02F2-44EE-A6C8-76686BE85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86225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PROJECT 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CD54F3-B4D7-4A49-BB90-E99E4CF1C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29125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관세청 통관 연동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C5956B-2999-4ABF-9F2C-C943CD480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19650"/>
            <a:ext cx="278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요건 조율 · 데이터 계약 · 오류 재처리 · QA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3C7E16-EA16-4411-92B4-2E0C6A21A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838575"/>
            <a:ext cx="3333750" cy="1314450"/>
          </a:xfrm>
          <a:prstGeom xmlns:a="http://schemas.openxmlformats.org/drawingml/2006/main" prst="roundRect">
            <a:avLst>
              <a:gd name="adj" fmla="val 10145"/>
            </a:avLst>
          </a:prstGeom>
          <a:solidFill xmlns:a="http://schemas.openxmlformats.org/drawingml/2006/main">
            <a:srgbClr val="F0F9F4"/>
          </a:solidFill>
          <a:ln xmlns:a="http://schemas.openxmlformats.org/drawingml/2006/main" w="9525">
            <a:solidFill>
              <a:srgbClr val="CDEAD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DE4A26-790A-4FD7-8797-1C210E4AE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38600"/>
            <a:ext cx="1066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6B45"/>
          </a:solidFill>
          <a:ln xmlns:a="http://schemas.openxmlformats.org/drawingml/2006/main" w="0">
            <a:solidFill>
              <a:srgbClr val="1E6B4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1AD240-EAEE-4F49-BB27-BE388FACE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086225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PROJECT 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1618E8-5272-448F-B45E-4956E5C6A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429125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산후조리원 B2B몰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DEF6C8-1A8B-4812-BEFF-5EE868582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819650"/>
            <a:ext cx="278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정책 설계 · 요구사항 상태 · 운영 QA · 결과 측정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A1EBF9-C600-4C16-BC48-490CA9823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0"/>
            <a:ext cx="41433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6"/>
          </a:solidFill>
          <a:ln xmlns:a="http://schemas.openxmlformats.org/drawingml/2006/main" w="0">
            <a:solidFill>
              <a:srgbClr val="F4F4F6"/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691183adbe46d3"/>
          <a:srcRect xmlns:a="http://schemas.openxmlformats.org/drawingml/2006/main" l="0" t="14894" r="0" b="148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63075" y="876300"/>
            <a:ext cx="1466850" cy="1466850"/>
          </a:xfrm>
          <a:prstGeom xmlns:a="http://schemas.openxmlformats.org/drawingml/2006/main" prst="ellipse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D219DB-B774-4D6B-A61B-43D811AB5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24150"/>
            <a:ext cx="3095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박종혁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A689DE-1AE5-4264-AD2F-E2302A396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81350"/>
            <a:ext cx="3095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프로젝트 운영 · SCM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459708-D617-4FB4-BE78-ED471051F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62375"/>
            <a:ext cx="3095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335096-8616-49B7-AC9B-10F40581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48125"/>
            <a:ext cx="29051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요구사항 구조화</a:t>
            </a:r>
          </a:p>
          <a:p xmlns:a="http://schemas.openxmlformats.org/drawingml/2006/main">
            <a:pPr algn="ctr">
              <a:defRPr sz="13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이해관계자 조율</a:t>
            </a:r>
          </a:p>
          <a:p xmlns:a="http://schemas.openxmlformats.org/drawingml/2006/main">
            <a:pPr algn="ctr">
              <a:defRPr sz="13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완료 기준과 운영 검증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844FC6-B554-4C56-8AAB-9306BF524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60198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parkjonghyeok2000@gmail.com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08DB46-6313-42B6-A401-E856BD8AB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630555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rPr>
              <a:t>2026.09</a:t>
            </a:r>
          </a:p>
        </p:txBody>
      </p:sp>
    </p:spTree>
    <p:extLst>
      <p:ext uri="{BB962C8B-B14F-4D97-AF65-F5344CB8AC3E}">
        <p14:creationId xmlns:p14="http://schemas.microsoft.com/office/powerpoint/2010/main" val="15963800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417A058-50FF-4F77-8983-6E60788A3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68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00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71AEC3-2FA7-4D25-BEAD-DE6917A7F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52425"/>
            <a:ext cx="866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Business Associate 업무와 연결되는 증거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347073-D29D-4583-8F59-41A3A7C63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409575"/>
            <a:ext cx="80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rPr>
              <a:t>OVERVIEW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1F176D-E90A-47DF-837C-99DBCE9D8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715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ADB536-C41A-41EC-B096-40275C926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334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경험을 직함이 아니라 산출물과 운영 행동으로 정리했습니다.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2BAD43-CFFA-4809-A738-97278739F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097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업무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89958D-B3F0-48C4-9B8C-B7CC57EF6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0972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관세청 통관 연동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5AC8AE-033E-44E6-B603-3F4EE8B9D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09725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산후조리원 B2B몰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43D675-516A-434D-BAE6-86F449C30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609725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공통 증거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6084D4-E186-44A7-BAC5-E13AA21F7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3357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A125EC-7EBF-4DE3-B6AB-C9540E7DE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76450"/>
            <a:ext cx="10858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6"/>
          </a:solidFill>
          <a:ln xmlns:a="http://schemas.openxmlformats.org/drawingml/2006/main" w="0">
            <a:solidFill>
              <a:srgbClr val="F4F4F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59885E-871A-4581-8EE7-4BFE1302F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669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요청·쟁점 기록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6B6509-92F5-4361-90BE-8C9B9791D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669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리스크·질의대장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7893E8-2FC4-450E-BC89-64C05244B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669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요구사항 대장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DB7900-6F4D-44C0-A8AB-35DD6E924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266950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누락 방지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545F76-E3EF-456A-9687-FD44C100C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575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관계자 조율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E58E63-A412-4E40-8A78-69AFD7ECA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575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API 요건·인증·통관 경로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0FF285-A175-487A-ACEB-1E332F424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57525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고객사·공급사 운영 요청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245B98-DE72-41EA-89FD-62A3DCB15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057525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회신 기준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C19839-4F4F-4BA1-B676-E4D09CA17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10858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6"/>
          </a:solidFill>
          <a:ln xmlns:a="http://schemas.openxmlformats.org/drawingml/2006/main" w="0">
            <a:solidFill>
              <a:srgbClr val="F4F4F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E0392B-D709-4B48-8624-C7CB39692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481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상태 추적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C5D747-BAD5-4DF6-A67C-763C97E06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481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우선순위·결정 상태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4A3482-11C0-4CE4-9286-E89AB2F32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481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ID·상태·완료 정의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77D1B3-D023-4EB2-8352-A2CD32D1A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848100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후속 조치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6055A8-5832-446B-9F71-3B6BCCE51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386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기술 문서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D5CE98-8EE6-44D7-9B41-50B98D4BA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386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필드 매핑·분할출고 규칙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B426A6-37D7-43CA-8CC7-3971D5B31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38675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정책 매트릭스·권한표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EE1F1A-D244-4F81-A021-74ED37AB4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638675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전달 가능성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7AC0BF1-05F1-4109-8E11-8387B4A1F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38750"/>
            <a:ext cx="10858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6"/>
          </a:solidFill>
          <a:ln xmlns:a="http://schemas.openxmlformats.org/drawingml/2006/main" w="0">
            <a:solidFill>
              <a:srgbClr val="F4F4F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2CC3B15-9FBE-4F1C-9005-411C55512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292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운영 검증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CA8A565-8A33-420C-BA29-3103F8790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429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운영 환경 30건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A6AC85A-DF73-4D7C-AA84-DFAFAB417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4292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운영 서버 UAT·성과 관찰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BD995E2-ADCD-49C6-91C0-04147F287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429250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증거 기반 완료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D68A556-851C-45CA-8EB8-AFC5A1F32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80C6D68-A174-421B-B66B-8208BBC6F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rPr>
              <a:t>정식 회의록·기술영업 직접 경험은 확인된 경력으로 과장하지 않았습니다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8C98D82-8E09-4166-9B42-075AA1091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rPr>
              <a:t>2 / 15</a:t>
            </a:r>
          </a:p>
        </p:txBody>
      </p:sp>
    </p:spTree>
    <p:extLst>
      <p:ext uri="{BB962C8B-B14F-4D97-AF65-F5344CB8AC3E}">
        <p14:creationId xmlns:p14="http://schemas.microsoft.com/office/powerpoint/2010/main" val="34488829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B4F9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E26C85-BCB0-481B-9F22-5F40EAE4B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Project 01.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B45773-23DC-48FC-A194-564C42C48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9055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D9E6F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D9E6F5"/>
                </a:solidFill>
                <a:latin typeface="Malgun Gothic"/>
                <a:ea typeface="Malgun Gothic"/>
                <a:cs typeface="Malgun Gothic"/>
              </a:rPr>
              <a:t>01 / 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F0ABC2-40A8-48DF-A96A-02A2C1CF8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66850"/>
            <a:ext cx="685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관세청 전자상거래 통관 연동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8E86F9-4AE4-4FF1-A39C-548A32579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676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7EFF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E7EFF8"/>
                </a:solidFill>
                <a:latin typeface="Malgun Gothic"/>
                <a:ea typeface="Malgun Gothic"/>
                <a:cs typeface="Malgun Gothic"/>
              </a:rPr>
              <a:t>법·제도 대응을 시스템 요건, 데이터 계약, 오류 복구와 운영 검증으로 전환했습니다.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B00513-F73A-4B2A-B11A-CA27B6539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333500"/>
            <a:ext cx="3619500" cy="3810000"/>
          </a:xfrm>
          <a:prstGeom xmlns:a="http://schemas.openxmlformats.org/drawingml/2006/main" prst="roundRect">
            <a:avLst>
              <a:gd name="adj" fmla="val 4737"/>
            </a:avLst>
          </a:prstGeom>
          <a:solidFill xmlns:a="http://schemas.openxmlformats.org/drawingml/2006/main">
            <a:srgbClr val="16437F"/>
          </a:solidFill>
          <a:ln xmlns:a="http://schemas.openxmlformats.org/drawingml/2006/main" w="0">
            <a:solidFill>
              <a:srgbClr val="16437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560C24-A021-4180-9001-6E61A0D1B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8592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CE8F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DCE8F5"/>
                </a:solidFill>
                <a:latin typeface="Malgun Gothic"/>
                <a:ea typeface="Malgun Gothic"/>
                <a:cs typeface="Malgun Gothic"/>
              </a:rPr>
              <a:t>확정 일정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F52B7B-88F7-4844-B5BD-AFA7A8B3E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145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2026.02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9CE561-0C68-49E4-879C-97A685FF7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114550"/>
            <a:ext cx="1857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3EDF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E3EDF7"/>
                </a:solidFill>
                <a:latin typeface="Malgun Gothic"/>
                <a:ea typeface="Malgun Gothic"/>
                <a:cs typeface="Malgun Gothic"/>
              </a:rPr>
              <a:t>기획 착수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7287AA-7FCA-4FC2-8E2C-0E49EC4B5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051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2026.08.21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1B55EC-497A-4AEC-B103-328D101F7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705100"/>
            <a:ext cx="1857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3EDF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E3EDF7"/>
                </a:solidFill>
                <a:latin typeface="Malgun Gothic"/>
                <a:ea typeface="Malgun Gothic"/>
                <a:cs typeface="Malgun Gothic"/>
              </a:rPr>
              <a:t>테스트 서버 종료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A058A8-8524-4777-AE05-1B3DC33CD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956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2026.08.28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A37554-D162-4D6E-9944-38103EDBD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295650"/>
            <a:ext cx="1857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3EDF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E3EDF7"/>
                </a:solidFill>
                <a:latin typeface="Malgun Gothic"/>
                <a:ea typeface="Malgun Gothic"/>
                <a:cs typeface="Malgun Gothic"/>
              </a:rPr>
              <a:t>상용 오픈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B3DC83-7330-446A-BBB5-45C9CCB80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8862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2026.09.15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3F9431-368D-453D-BF7A-62BFC437B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886200"/>
            <a:ext cx="1857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3EDF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E3EDF7"/>
                </a:solidFill>
                <a:latin typeface="Malgun Gothic"/>
                <a:ea typeface="Malgun Gothic"/>
                <a:cs typeface="Malgun Gothic"/>
              </a:rPr>
              <a:t>운영 집계 기준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46F270-CC54-4DA9-B813-B3144E142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24400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4F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38C360-C349-4D82-A08E-67A077C74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81575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CE8F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DCE8F5"/>
                </a:solidFill>
                <a:latin typeface="Malgun Gothic"/>
                <a:ea typeface="Malgun Gothic"/>
                <a:cs typeface="Malgun Gothic"/>
              </a:rPr>
              <a:t>담당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07756C-F50F-4AA5-B1E1-1AD091F3F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53000"/>
            <a:ext cx="5791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국내 DB 중심 연동 구조, 본인인증 두 경로, 오류 수정·재제출 정책, 외부 API 요건 조율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B581D8-D52D-456D-B4AF-89F9FA020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5785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CE8F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DCE8F5"/>
                </a:solidFill>
                <a:latin typeface="Malgun Gothic"/>
                <a:ea typeface="Malgun Gothic"/>
                <a:cs typeface="Malgun Gothic"/>
              </a:rPr>
              <a:t>산출물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42FAD5-A253-43B5-8023-74B841FB6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629275"/>
            <a:ext cx="5791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리스크·질의대장 · API 필드 매핑 · 결정 이력 · 분할출고 규칙 · QA 시나리오</a:t>
            </a:r>
          </a:p>
        </p:txBody>
      </p:sp>
    </p:spTree>
    <p:extLst>
      <p:ext uri="{BB962C8B-B14F-4D97-AF65-F5344CB8AC3E}">
        <p14:creationId xmlns:p14="http://schemas.microsoft.com/office/powerpoint/2010/main" val="4123859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BB455B-48DA-43AE-87CE-B4681FAC1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68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FBCBA5-27C0-422B-906C-B78FE1A2D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52425"/>
            <a:ext cx="866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요청을 받기 전에 책임과 데이터 경계부터 정리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E16CD8-2E1D-4E7F-8F0B-6F396BBCE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409575"/>
            <a:ext cx="80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rPr>
              <a:t>02 /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2623C1-DE8A-4F69-BAA6-03B685AA1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715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2BF71E-31FB-4E36-927B-ECFC7A729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334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연동 실패의 원인을 기능 부족보다 정보 주체와 처리 기준의 불일치에서 찾았습니다.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4328E7-5643-45D7-BC2D-35F5B3779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66875"/>
            <a:ext cx="3400425" cy="16383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D6CC6F-BE3C-4CED-90B9-99F63A1E0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66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8AB5B6-319D-4A78-A3C7-6CEF3C4DC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00275"/>
            <a:ext cx="29813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정보 주체 분산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1A5C14-081B-4C3D-A1D1-614BCF7AC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09850"/>
            <a:ext cx="29813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쇼핑몰·본인인증·ERP/WMS·통관 업무가 서로 다른 기준으로 정보를 보유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4BA52E-6928-45CE-B576-FDDDA3A04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1666875"/>
            <a:ext cx="3400425" cy="16383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E9F1FC"/>
          </a:solidFill>
          <a:ln xmlns:a="http://schemas.openxmlformats.org/drawingml/2006/main" w="9525">
            <a:solidFill>
              <a:srgbClr val="8FB2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EBDE60-AB10-481E-BA73-0F71D1CD8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1866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7C12A5-6167-4B2C-B109-1EA73B5A8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200275"/>
            <a:ext cx="29813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분할출고 규칙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53E882-62AF-48BA-8064-EA4B17EB0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09850"/>
            <a:ext cx="29813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주문·포장·HBL·신고 단위를 같은 기준으로 맞춰야 하는 상황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906B44-A62F-43CD-9C1D-53A2FAE3E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666875"/>
            <a:ext cx="3400425" cy="16383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D17889-27FC-46DD-9228-29A57B1E0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66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93F01D-C99C-4421-8E29-996F3DC47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200275"/>
            <a:ext cx="29813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오류 복구 기준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77099C-3CB5-43CA-B77A-6EC1CBFC7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09850"/>
            <a:ext cx="29813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어떤 오류를 어디서 고치고 어떻게 다시 제출할지 운영 합의가 필요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134BF5-ACE4-4662-9F10-013C29FC9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433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프로젝트 목표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6CEDEF-64A4-4788-A10D-06EB2B387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10858500" cy="114300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16437F"/>
          </a:solidFill>
          <a:ln xmlns:a="http://schemas.openxmlformats.org/drawingml/2006/main" w="0">
            <a:solidFill>
              <a:srgbClr val="16437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AFC3D5-E7F1-4C46-8DC7-585D6D7A8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00550"/>
            <a:ext cx="1009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주문 유형 · 데이터 필드 · 처리 상태 · 오류 복구 · 검증 기준을 하나의 운영 계약으로 연결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C53EB3-3A22-4076-9533-3A26FBAF6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911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역할 기준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7ED104-7554-4E99-8DE0-0B2B61F50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534025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구조·정책·요건·검증 기준은 직접 정리하고, 개발 구현과 통관 신고 수행은 관계사 역할로 분리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100815-5E13-45F3-8B09-D908BE09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6E1E9A-EAD0-4A52-AADA-A8A63609C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rPr>
              <a:t>박종혁 PM 포트폴리오 v4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DCD6C2-833B-452A-AC73-597790C0C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rPr>
              <a:t>4 / 15</a:t>
            </a:r>
          </a:p>
        </p:txBody>
      </p:sp>
    </p:spTree>
    <p:extLst>
      <p:ext uri="{BB962C8B-B14F-4D97-AF65-F5344CB8AC3E}">
        <p14:creationId xmlns:p14="http://schemas.microsoft.com/office/powerpoint/2010/main" val="15005159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8741DBE-05E5-47BD-879C-BD6DD7C86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68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FE0386-7078-4FAD-A63C-C0696584B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52425"/>
            <a:ext cx="866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질문·리스크를 결정과 후속 조치까지 추적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4E718F-1423-480F-922C-7F8656095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409575"/>
            <a:ext cx="80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rPr>
              <a:t>03 /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49DF41-D2FD-46FA-97EA-CF397AE6C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715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A743DF-47ED-4B35-AD54-06CA6E62D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334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개별 담당자와 기한을 꾸미지 않고, 확인된 우선순위·상태·근거만 남겼습니다.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FCED97-0CE7-49AA-93BD-CFB594695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09725"/>
            <a:ext cx="19621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ED1CBD-0853-410E-B14A-8E148D724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743075"/>
            <a:ext cx="333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4CB0A3-1C18-44D0-8BC4-DCB2149D2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724025"/>
            <a:ext cx="13430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요청·쟁점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00BDD9-EE61-4BD1-9312-ACF8A58AE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85975"/>
            <a:ext cx="161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질문과 위험을 한 대장에 수집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D7195F-63A6-48D0-8BFA-6B47E3A88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1609725"/>
            <a:ext cx="19621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EC0DEC-3815-4894-84D8-BE9A3CC6C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743075"/>
            <a:ext cx="333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008669-758A-49EF-9156-20C2D407A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1724025"/>
            <a:ext cx="13430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우선순위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A0D688-0AA5-4BA1-8231-207EBC6B9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085975"/>
            <a:ext cx="161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오픈·법규·데이터 영향으로 분류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D66BDD-B441-4E99-A397-60D692BB5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609725"/>
            <a:ext cx="19621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9F1FC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B9070A-5F5C-4D6A-902C-CC0F65CCE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1743075"/>
            <a:ext cx="333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599FC5-57F5-48B7-BC85-DB5224F55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724025"/>
            <a:ext cx="13430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결정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5BDB98-FD29-4343-B050-0855CD5E5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085975"/>
            <a:ext cx="161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선택 기준과 범위를 기록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2D1528-23E5-4963-AC36-157A52364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609725"/>
            <a:ext cx="19621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708D59-6757-4CA6-920E-F72744389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743075"/>
            <a:ext cx="333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02A9C6-35C5-40AA-9375-24610A95F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724025"/>
            <a:ext cx="13430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회신·조치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4C65F7-313F-4509-9987-ADEAE1A71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085975"/>
            <a:ext cx="161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관계자 답변과 후속 작업 연결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D0B87B-1936-4D36-A59F-183314864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609725"/>
            <a:ext cx="19621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C3604F-DE17-4C93-8546-FB886C056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1743075"/>
            <a:ext cx="333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0AD49E-4F29-4A68-9485-16B73151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724025"/>
            <a:ext cx="13430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검증 근거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9DD55D-4CAF-4656-87D3-89CEB60E9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085975"/>
            <a:ext cx="161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문서·테스트 결과로 완료 판단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B221F0-45E2-47C6-9CB2-0A6307FB2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3372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2026-08-26 대장 스냅샷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6363725-6C14-40CE-B0C0-2849F8BF2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33775"/>
            <a:ext cx="2476500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F1F6FC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1DC3D8-A754-469B-90D7-0C7109317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05225"/>
            <a:ext cx="2133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46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8D9BB2-2B30-47E0-91CE-30911B1A6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910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해결 또는 기준 확정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9C07665-A642-4D55-8620-73B6D4BC5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533775"/>
            <a:ext cx="2000250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FBECEB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E3C753-9387-440E-9CE6-3E385E5B4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705225"/>
            <a:ext cx="1657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B42318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B42318"/>
                </a:solidFill>
                <a:latin typeface="Malgun Gothic"/>
                <a:ea typeface="Malgun Gothic"/>
                <a:cs typeface="Malgun Gothic"/>
              </a:rPr>
              <a:t>P0 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5B98620-961B-44C4-906B-C22FD163B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191000"/>
            <a:ext cx="1657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오픈 차단 가능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E88CBFF-6D92-4639-89EA-D2532B558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533775"/>
            <a:ext cx="2000250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F3E5CC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495E818-6485-4EF7-8156-D3C40B03C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705225"/>
            <a:ext cx="1657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9A6400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9A6400"/>
                </a:solidFill>
                <a:latin typeface="Malgun Gothic"/>
                <a:ea typeface="Malgun Gothic"/>
                <a:cs typeface="Malgun Gothic"/>
              </a:rPr>
              <a:t>P1 22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6CB3C15-99E4-4A25-9A1C-31176C72D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191000"/>
            <a:ext cx="1657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핵심 경로 영향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68478C0-05EE-4101-8DE2-F48275369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533775"/>
            <a:ext cx="2000250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E7ED38C-CB5E-4D99-AA57-C63F2D63A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3705225"/>
            <a:ext cx="1657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P2 7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85B3FA3-7B30-41A1-A924-3A9585A65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4191000"/>
            <a:ext cx="1657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후속 보완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7BE496E-A5A4-4996-970C-87E2B6B28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533775"/>
            <a:ext cx="1657350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18DBB08-1E7F-4C8A-8C54-3301809CA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705225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완료 판단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70B1F20-18D1-4A18-9C93-584EF7D8C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057650"/>
            <a:ext cx="1314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답변 수신이 아닌</a:t>
            </a:r>
          </a:p>
          <a:p xmlns:a="http://schemas.openxmlformats.org/drawingml/2006/main">
            <a:pPr algn="ctr">
              <a:def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기준 확정 또는</a:t>
            </a:r>
          </a:p>
          <a:p xmlns:a="http://schemas.openxmlformats.org/drawingml/2006/main">
            <a:pPr algn="ctr">
              <a:def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검증 근거 확보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D2C1BE4-B8A2-4754-B7FA-AE2B092BB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91125"/>
            <a:ext cx="1085850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1F6FC"/>
          </a:solidFill>
          <a:ln xmlns:a="http://schemas.openxmlformats.org/drawingml/2006/main" w="9525">
            <a:solidFill>
              <a:srgbClr val="D2DFF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D5A70C5-09F0-43DD-8B33-624EB7668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911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관리 필드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588108B-C854-465F-A582-BAAA93BBB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362575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쟁점 · 우선순위 · 상태 · 결정 근거 · 검증 자료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1D5534A-4397-45BF-ABD0-F28296D70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5381625"/>
            <a:ext cx="3476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개별 담당자·기한은 확보된 근거가 없어 외부 제출본에서 제외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52EFD7F-C3ED-47B4-B454-A073C60DC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BE73554-0716-4C5F-A622-255F46F55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rPr>
              <a:t>박종혁 PM 포트폴리오 v4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7AB14BC-CF6A-489A-87AA-71C57108A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rPr>
              <a:t>5 / 15</a:t>
            </a:r>
          </a:p>
        </p:txBody>
      </p:sp>
    </p:spTree>
    <p:extLst>
      <p:ext uri="{BB962C8B-B14F-4D97-AF65-F5344CB8AC3E}">
        <p14:creationId xmlns:p14="http://schemas.microsoft.com/office/powerpoint/2010/main" val="77318924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E10063A-0708-4673-948F-2F5FC667D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68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32DC34-C5B7-4D3C-ABAE-E576AC387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52425"/>
            <a:ext cx="866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연동 구조와 책임 범위를 같은 그림에 표시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CF68B1-BA5D-4E53-9B82-CC2E2364D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409575"/>
            <a:ext cx="80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rPr>
              <a:t>04 /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B505D8-42A5-47FE-A356-FE113CA3C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715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11D81F-035A-40CC-9144-0C8B8F1A6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334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데이터가 지나가는 경로와 결정 주체를 분리해 전달 오류를 줄였습니다.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5AA809-20BF-4A0B-9D52-4EEF9C90D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704975"/>
            <a:ext cx="23812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941C94-1FDC-485D-A064-79781D535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924050"/>
            <a:ext cx="20383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판매 채널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D05FB5-D384-42F3-B0F5-BB7BB27CA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333625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주문·상품·수취인 정보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C3D876-950B-4815-A7EB-927973325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1704975"/>
            <a:ext cx="23812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9F1FC"/>
          </a:solidFill>
          <a:ln xmlns:a="http://schemas.openxmlformats.org/drawingml/2006/main" w="19050">
            <a:solidFill>
              <a:srgbClr val="1B4F9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644D8B-C52F-4B0F-A1DA-45891B329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924050"/>
            <a:ext cx="20383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국내 DB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8194BA-CAAF-4A12-981D-7F0248F42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333625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수집·정규화·전송 기준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A6C5F1-8125-4C3A-BF54-C62B103F7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704975"/>
            <a:ext cx="23812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6C0AB0-7918-43DC-A73A-51EA4C247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1924050"/>
            <a:ext cx="20383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ERP / WMS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AE215A-03C2-4426-8268-131757F0F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333625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출고·포장·운송 정보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3E1B9C-2E0C-486A-852E-ADEE061DE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1704975"/>
            <a:ext cx="23812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459E1E-B0C5-4C12-809C-F68790743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1924050"/>
            <a:ext cx="20383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통관 업무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FB50F7-41E2-4EF4-9361-3F8F1C96C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333625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신고 응답·오류 반환</a:t>
            </a:r>
          </a:p>
        </p:txBody>
      </p:sp>
      <p:cxnSp>
        <p:nvCxnSpPr>
          <p:cNvPr id="56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038475" y="2276475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FB2E0"/>
            </a:solidFill>
            <a:prstDash val="solid"/>
            <a:tailEnd type="arrow" w="med" len="med"/>
          </a:ln>
        </p:spPr>
      </p:cxnSp>
      <p:cxnSp>
        <p:nvCxnSpPr>
          <p:cNvPr id="57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781675" y="2276475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FB2E0"/>
            </a:solidFill>
            <a:prstDash val="solid"/>
            <a:tailEnd type="arrow" w="med" len="med"/>
          </a:ln>
        </p:spPr>
      </p:cxnSp>
      <p:cxnSp>
        <p:nvCxnSpPr>
          <p:cNvPr id="58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524875" y="2276475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FB2E0"/>
            </a:solidFill>
            <a:prstDash val="solid"/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1EACF9-99FC-4EBD-88CA-1962793CF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0517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내 책임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0073C4-2073-4A4F-9DB2-1E2DE75A5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14750"/>
            <a:ext cx="521970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1F6FC"/>
          </a:solidFill>
          <a:ln xmlns:a="http://schemas.openxmlformats.org/drawingml/2006/main" w="9525">
            <a:solidFill>
              <a:srgbClr val="D2DFF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040BF3-785C-4449-9457-115D6794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052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연동 구조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46B8B7-1D81-41AF-8F9F-4A19C4EA2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886200"/>
            <a:ext cx="3857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국내 DB 중심의 데이터 흐름과 경계 정리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11A8E2-9CE1-4236-9330-8351C5001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3714750"/>
            <a:ext cx="521970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1F6FC"/>
          </a:solidFill>
          <a:ln xmlns:a="http://schemas.openxmlformats.org/drawingml/2006/main" w="9525">
            <a:solidFill>
              <a:srgbClr val="D2DFF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F989F3-BB9E-4000-960F-5404CC2F9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9052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정책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8D18DA-0493-41A3-A88A-3F4037D55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886200"/>
            <a:ext cx="3857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본인인증 두 경로와 오류 수정·재제출 기준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5C3CD6-702D-477A-8B71-D44E6C8E5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10100"/>
            <a:ext cx="521970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3227B9A-E0DF-46F5-9EA5-115D50FEC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006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문서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8B01F21-B4A4-4127-A16F-F9700EB74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781550"/>
            <a:ext cx="3857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필드 매핑·결정 이력·분할출고 규칙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B630980-493C-4521-876D-6907784AA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4610100"/>
            <a:ext cx="521970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80BF654-814A-4464-BD70-79E12BBA9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8006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검증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CFF72D0-D7C6-49FE-8A55-578971FE4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781550"/>
            <a:ext cx="3857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기대 응답과 운영 환경 테스트 기준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2AF3DA8-578D-4B69-9FA5-A646EC612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150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경계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D0BED3F-EB83-485B-BCC6-AB061D4A1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5676900"/>
            <a:ext cx="10144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개발사는 구현, 통관 대행사는 신고 수행. 박종혁은 요건·정책·상태·QA를 연결했습니다.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FFB8E19-0F97-48B1-A121-D7FF20817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4B424D7-A0CF-45F9-B8E8-82059FE6B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rPr>
              <a:t>박종혁 PM 포트폴리오 v4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AD25615-3B85-4C99-B7DD-CB14E7798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rPr>
              <a:t>6 / 15</a:t>
            </a:r>
          </a:p>
        </p:txBody>
      </p:sp>
    </p:spTree>
    <p:extLst>
      <p:ext uri="{BB962C8B-B14F-4D97-AF65-F5344CB8AC3E}">
        <p14:creationId xmlns:p14="http://schemas.microsoft.com/office/powerpoint/2010/main" val="8692819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AA6614E-A905-417F-9BD0-E2F4ABFEC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68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F88D83-8334-4781-B9EA-40C3A5D79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52425"/>
            <a:ext cx="866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데이터 계약과 오류 복구 기준을 문서화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EB8076-1916-4DA4-9F06-375DD599B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409575"/>
            <a:ext cx="80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rPr>
              <a:t>05 /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50B306-21E0-4C54-B7D1-F480E1B82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715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C58CA4-57C8-4F6D-BABA-53094A330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334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필드 이름보다 주문·포장·신고 단위가 일치하는지 먼저 확인했습니다.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1EB74C-F858-403B-8201-2AF7EFE0A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00200"/>
            <a:ext cx="108585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16437F"/>
          </a:solidFill>
          <a:ln xmlns:a="http://schemas.openxmlformats.org/drawingml/2006/main" w="0">
            <a:solidFill>
              <a:srgbClr val="16437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0696FD-9D97-490C-8662-CD7479CD3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288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2DFF1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D2DFF1"/>
                </a:solidFill>
                <a:latin typeface="Malgun Gothic"/>
                <a:ea typeface="Malgun Gothic"/>
                <a:cs typeface="Malgun Gothic"/>
              </a:rPr>
              <a:t>분할출고 원칙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544A38-784C-4D02-A87F-72972F370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1790700"/>
            <a:ext cx="852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 HBL = USD 150 이하 포장 1건 = TRA001 1건 = HWB 1건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2BCC92-8CBA-49A7-96CE-599A2C6C7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286000"/>
            <a:ext cx="8524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DCE8F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DCE8F5"/>
                </a:solidFill>
                <a:latin typeface="Malgun Gothic"/>
                <a:ea typeface="Malgun Gothic"/>
                <a:cs typeface="Malgun Gothic"/>
              </a:rPr>
              <a:t>주문 수량이 아니라 실제 출고 포장 단위로 신고·운송 식별자를 맞춤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89634A-A8F7-42E1-8567-A0CBBD460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7657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필드 매핑 묶음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9361B8-91E6-49D3-AA89-FD2BCE315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48050"/>
            <a:ext cx="2476500" cy="8382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6FCE66-87E7-421F-ABD1-31D828A5C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19500"/>
            <a:ext cx="2133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주문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0228A0-3DCB-4137-AAAD-864104DAA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33825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채널 주문과 거래 정보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BA3E9D-ECA4-4BA6-B6D3-5C0F30088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448050"/>
            <a:ext cx="2476500" cy="8382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A63CCA-DDC9-415D-B913-57E418395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619500"/>
            <a:ext cx="2133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상품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5031CF-FCAF-461D-95DD-D0144549E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933825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품목·수량·신고 연결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7FAF28-18D7-4D3A-B627-6413A9359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448050"/>
            <a:ext cx="2476500" cy="8382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18E850-9BFE-433B-9DDB-2E44C1686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19500"/>
            <a:ext cx="2133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수취인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21630C-DFEB-469D-A653-16C61021E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933825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통관 식별·본인확인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2A16D3-E2F5-4796-BDB9-00D3406E1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448050"/>
            <a:ext cx="2476500" cy="8382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E9F1FC"/>
          </a:solidFill>
          <a:ln xmlns:a="http://schemas.openxmlformats.org/drawingml/2006/main" w="9525">
            <a:solidFill>
              <a:srgbClr val="8FB2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FE0105-CE37-4320-A739-132BE8A00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619500"/>
            <a:ext cx="2133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출고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498A20-51B8-4815-AEE5-BBA8743CC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933825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포장·HBL/HWB 단위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3AD6F7-65FF-4E8B-8321-1517BB4BD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3867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오류 처리 상태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D14C06-6691-40E6-AA22-035770BF3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48250"/>
            <a:ext cx="1619250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1F6FC"/>
          </a:solidFill>
          <a:ln xmlns:a="http://schemas.openxmlformats.org/drawingml/2006/main" w="9525">
            <a:solidFill>
              <a:srgbClr val="D2DFF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AEB69C-D44A-41F2-A450-17E1E0EA2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57800"/>
            <a:ext cx="1390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주문 유형 확인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15CC71-EE72-4F05-926F-4DA71F630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229225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9A9AA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9A9AA0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3159CDE-E25E-4FBE-A4A8-669FEE92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048250"/>
            <a:ext cx="1619250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1F6FC"/>
          </a:solidFill>
          <a:ln xmlns:a="http://schemas.openxmlformats.org/drawingml/2006/main" w="9525">
            <a:solidFill>
              <a:srgbClr val="D2DFF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16C496-E5D1-4EE1-9480-6285C4A3D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257800"/>
            <a:ext cx="1390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경로 적용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B0B5D20-7986-4069-B767-A6246CF63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229225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9A9AA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9A9AA0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9F1A91-DA4F-47CF-B9AB-BA4817DBE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048250"/>
            <a:ext cx="1619250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1F6FC"/>
          </a:solidFill>
          <a:ln xmlns:a="http://schemas.openxmlformats.org/drawingml/2006/main" w="9525">
            <a:solidFill>
              <a:srgbClr val="D2DFF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203E95E-03A5-47A6-8E7D-717C5A28E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257800"/>
            <a:ext cx="1390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응답 수신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0EA0313-72BD-41A7-8B24-2B503E078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229225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9A9AA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9A9AA0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D1CBF26-93B7-44DC-99CC-DA76A0802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048250"/>
            <a:ext cx="1619250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3E5CC"/>
          </a:solidFill>
          <a:ln xmlns:a="http://schemas.openxmlformats.org/drawingml/2006/main" w="9525">
            <a:solidFill>
              <a:srgbClr val="DFC58E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2F7EA88-6EAB-45C9-B7C5-626A91CEA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57800"/>
            <a:ext cx="1390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9A640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9A6400"/>
                </a:solidFill>
                <a:latin typeface="Malgun Gothic"/>
                <a:ea typeface="Malgun Gothic"/>
                <a:cs typeface="Malgun Gothic"/>
              </a:rPr>
              <a:t>오류 반환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B8AFE29-E66C-44BD-9FF3-7A55FC21B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229225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9A9AA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9A9AA0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BBEF1CB-436E-47C5-98B7-F8F2F50B8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048250"/>
            <a:ext cx="1619250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3E5CC"/>
          </a:solidFill>
          <a:ln xmlns:a="http://schemas.openxmlformats.org/drawingml/2006/main" w="9525">
            <a:solidFill>
              <a:srgbClr val="DFC58E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3E38A59-84AC-460A-990F-711D8A60D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257800"/>
            <a:ext cx="1390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9A640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9A6400"/>
                </a:solidFill>
                <a:latin typeface="Malgun Gothic"/>
                <a:ea typeface="Malgun Gothic"/>
                <a:cs typeface="Malgun Gothic"/>
              </a:rPr>
              <a:t>원천 수정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375D4CE-64DF-4D9F-A79E-02EBF441D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229225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9A9AA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9A9AA0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C3C7012-9AF6-48B4-8C55-4D9119FC4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048250"/>
            <a:ext cx="1619250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3E5CC"/>
          </a:solidFill>
          <a:ln xmlns:a="http://schemas.openxmlformats.org/drawingml/2006/main" w="9525">
            <a:solidFill>
              <a:srgbClr val="DFC58E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05DAF47-BD05-4918-B61E-6E6F78FC3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257800"/>
            <a:ext cx="1390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9A640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9A6400"/>
                </a:solidFill>
                <a:latin typeface="Malgun Gothic"/>
                <a:ea typeface="Malgun Gothic"/>
                <a:cs typeface="Malgun Gothic"/>
              </a:rPr>
              <a:t>재제출·검증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85057B0-0D81-442D-B180-FBE14C9AF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4360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신규 연동과 기존 운영 경로를 병행했으며 자동 처리율은 측정하지 않았습니다.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F1825EE-8D33-40C0-8309-75DAABFBD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218D887-3C94-4782-9572-9ECCB6CCD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rPr>
              <a:t>박종혁 PM 포트폴리오 v4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7F1D2CF-F2A7-4E25-BA56-FE82B7E08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rPr>
              <a:t>7 / 15</a:t>
            </a:r>
          </a:p>
        </p:txBody>
      </p:sp>
    </p:spTree>
    <p:extLst>
      <p:ext uri="{BB962C8B-B14F-4D97-AF65-F5344CB8AC3E}">
        <p14:creationId xmlns:p14="http://schemas.microsoft.com/office/powerpoint/2010/main" val="171204776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76244C4-DCD6-4AB5-9F03-8E23B3434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68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E9021D-F5EB-4147-BD9E-100D27F09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52425"/>
            <a:ext cx="866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테스트 목적과 운영 결과를 분리해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A34246-F82D-426F-B953-A5E58004B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409575"/>
            <a:ext cx="80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rPr>
              <a:t>06 /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B0FA7B-CE63-4654-A09A-1B595F743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715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4C7615-13BA-4444-B1E6-5039F14CB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334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테스트 통과가 자동화율을 뜻하지 않도록 범위와 한계를 함께 적었습니다.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EC6145-A3B8-4470-B8C4-E085A3DAE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811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운영 환경 검증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40CF4A-A837-4A8E-BB19-54D28BDF1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71675"/>
            <a:ext cx="21907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1F6FC"/>
          </a:solidFill>
          <a:ln xmlns:a="http://schemas.openxmlformats.org/drawingml/2006/main" w="9525">
            <a:solidFill>
              <a:srgbClr val="D2DFF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8F8C8E-A18A-46BD-B43E-D38817A65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33600"/>
            <a:ext cx="381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F0CF2C-6187-4E15-B43D-A8A0EF7BA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47925"/>
            <a:ext cx="1847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정상 접수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7220C6-A08C-4928-B85B-19400DC09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00350"/>
            <a:ext cx="18478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기대 형식으로 접수되는지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39086E-984C-4223-AB1E-F27CBB07B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971675"/>
            <a:ext cx="21907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1F6FC"/>
          </a:solidFill>
          <a:ln xmlns:a="http://schemas.openxmlformats.org/drawingml/2006/main" w="9525">
            <a:solidFill>
              <a:srgbClr val="D2DFF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5FDE33-0FB0-478A-B013-32399E67C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133600"/>
            <a:ext cx="381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2B32E3-785F-4389-991E-5A40FA741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447925"/>
            <a:ext cx="1847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의도 오류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1B8DFE-10F2-48E6-B2D8-0B267C423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800350"/>
            <a:ext cx="18478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오류 응답이 기준대로 반환되는지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63D1EF-C4C8-4B2E-A596-29BE147DA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971675"/>
            <a:ext cx="21907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1F6FC"/>
          </a:solidFill>
          <a:ln xmlns:a="http://schemas.openxmlformats.org/drawingml/2006/main" w="9525">
            <a:solidFill>
              <a:srgbClr val="D2DFF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F589A5-1866-4E5E-B0A8-24AF8267C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133600"/>
            <a:ext cx="381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1B3C08-0B2C-4968-929B-64DAFFD5A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447925"/>
            <a:ext cx="1847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수정 재제출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660C98-7B84-4F9B-8ACB-772E223A8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800350"/>
            <a:ext cx="18478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원천 수정 후 다시 처리되는지 확인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72298F-2948-481E-8C19-55B194F8A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486150" cy="1695450"/>
          </a:xfrm>
          <a:prstGeom xmlns:a="http://schemas.openxmlformats.org/drawingml/2006/main" prst="roundRect">
            <a:avLst>
              <a:gd name="adj" fmla="val 7865"/>
            </a:avLst>
          </a:prstGeom>
          <a:solidFill xmlns:a="http://schemas.openxmlformats.org/drawingml/2006/main">
            <a:srgbClr val="16437F"/>
          </a:solidFill>
          <a:ln xmlns:a="http://schemas.openxmlformats.org/drawingml/2006/main" w="0">
            <a:solidFill>
              <a:srgbClr val="16437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BA2C7A-A222-4845-8CF9-036788C8C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066925"/>
            <a:ext cx="2819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30 / 30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5AF67D-F1DA-43D5-B21B-7BFF7B32E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70510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2DFF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D2DFF1"/>
                </a:solidFill>
                <a:latin typeface="Malgun Gothic"/>
                <a:ea typeface="Malgun Gothic"/>
                <a:cs typeface="Malgun Gothic"/>
              </a:rPr>
              <a:t>테스트 목적 통과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61E66B-381D-4000-B724-61391CD81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076575"/>
            <a:ext cx="2819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DCE8F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DCE8F5"/>
                </a:solidFill>
                <a:latin typeface="Malgun Gothic"/>
                <a:ea typeface="Malgun Gothic"/>
                <a:cs typeface="Malgun Gothic"/>
              </a:rPr>
              <a:t>유형별 건수는 별도 공개하지 않음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401A6F-CB06-4797-9927-3B8F726FE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814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2026-08-28~09-15 운영 집계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9CFC26-D47A-4BE0-AA47-EA8F2EF13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71950"/>
            <a:ext cx="26670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1F6FC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7A2145-1A78-4C88-8485-1E6CCFFAA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43400"/>
            <a:ext cx="2324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약 300건 / 일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F68291-23B2-4A59-9436-6B8B4D296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29175"/>
            <a:ext cx="2324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발생 주문 규모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991B5D-5688-478F-B929-2D287C992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171950"/>
            <a:ext cx="22860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419E4D9-F35D-435A-96B7-0110C4E05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343400"/>
            <a:ext cx="1943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3B72C4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3B72C4"/>
                </a:solidFill>
                <a:latin typeface="Malgun Gothic"/>
                <a:ea typeface="Malgun Gothic"/>
                <a:cs typeface="Malgun Gothic"/>
              </a:rPr>
              <a:t>자사몰 약 230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3FF572F-6FC9-4D8B-BE75-09DE0751E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829175"/>
            <a:ext cx="1943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일평균 구성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B9E5F12-8076-48F2-B8FB-AA5A56188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171950"/>
            <a:ext cx="22860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CAAAE47-D90A-462A-9119-929667792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343400"/>
            <a:ext cx="1943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3B72C4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3B72C4"/>
                </a:solidFill>
                <a:latin typeface="Malgun Gothic"/>
                <a:ea typeface="Malgun Gothic"/>
                <a:cs typeface="Malgun Gothic"/>
              </a:rPr>
              <a:t>기타 채널 약 70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47119D8-5B6E-4407-A4BE-62B426035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829175"/>
            <a:ext cx="1943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일평균 구성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D5F177C-A821-470D-9C4D-0DC48A403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171950"/>
            <a:ext cx="30480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6FE6C4B-3894-4F24-A549-9AB7B6C23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3434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결과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D1ABD90-89E5-4B72-9F76-049A8EAB9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629150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집계 대상 주문 전체 통관 완료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3340A75-F25E-48CC-9BA7-D9444739E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019675"/>
            <a:ext cx="2628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신규 연동 + 기존 방식 병행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FEBA0F9-9FE3-4EED-805C-FFB652A4C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67375"/>
            <a:ext cx="10858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3E5CC"/>
          </a:solidFill>
          <a:ln xmlns:a="http://schemas.openxmlformats.org/drawingml/2006/main" w="9525">
            <a:solidFill>
              <a:srgbClr val="DFC58E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75C3206-6DD5-4E5E-AB5B-BC6103B75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9120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9A640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9A6400"/>
                </a:solidFill>
                <a:latin typeface="Malgun Gothic"/>
                <a:ea typeface="Malgun Gothic"/>
                <a:cs typeface="Malgun Gothic"/>
              </a:rPr>
              <a:t>측정 한계  자동 처리율 · 신규 경로 비중 · 처리시간은 미측정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C4393D7-2DD8-4A2A-B003-6982546AF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FAD9E3E-CAAB-4B71-A627-A6820A831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rPr>
              <a:t>박종혁 PM 포트폴리오 v4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7636D09-ABB7-4763-8B30-540923DEC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rPr>
              <a:t>8 / 15</a:t>
            </a:r>
          </a:p>
        </p:txBody>
      </p:sp>
    </p:spTree>
    <p:extLst>
      <p:ext uri="{BB962C8B-B14F-4D97-AF65-F5344CB8AC3E}">
        <p14:creationId xmlns:p14="http://schemas.microsoft.com/office/powerpoint/2010/main" val="130149026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E6B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779EFF-C571-4242-9975-C30DE7699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Project 02.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63E490-0956-4E6A-8D2E-0A37F9DD9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9055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D9E6F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D9E6F5"/>
                </a:solidFill>
                <a:latin typeface="Malgun Gothic"/>
                <a:ea typeface="Malgun Gothic"/>
                <a:cs typeface="Malgun Gothic"/>
              </a:rPr>
              <a:t>01 / 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EB08FE-617B-40A8-959A-3FB8F313F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66850"/>
            <a:ext cx="685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산후조리원 전용 B2B몰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342D79-B710-48C1-B7F8-36D93D35C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676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7EFF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E7EFF8"/>
                </a:solidFill>
                <a:latin typeface="Malgun Gothic"/>
                <a:ea typeface="Malgun Gothic"/>
                <a:cs typeface="Malgun Gothic"/>
              </a:rPr>
              <a:t>고객사와 공급사의 주문·출고·정산 요청을 계정 정책과 운영 QA 체계로 전환했습니다.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8264AB-D3C1-4D62-BDB1-8BB59387D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333500"/>
            <a:ext cx="3619500" cy="3810000"/>
          </a:xfrm>
          <a:prstGeom xmlns:a="http://schemas.openxmlformats.org/drawingml/2006/main" prst="roundRect">
            <a:avLst>
              <a:gd name="adj" fmla="val 4737"/>
            </a:avLst>
          </a:prstGeom>
          <a:solidFill xmlns:a="http://schemas.openxmlformats.org/drawingml/2006/main">
            <a:srgbClr val="17563A"/>
          </a:solidFill>
          <a:ln xmlns:a="http://schemas.openxmlformats.org/drawingml/2006/main" w="0">
            <a:solidFill>
              <a:srgbClr val="17563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A27ABF-789D-43BB-B896-BBF7FAC18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8592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CE8F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DCE8F5"/>
                </a:solidFill>
                <a:latin typeface="Malgun Gothic"/>
                <a:ea typeface="Malgun Gothic"/>
                <a:cs typeface="Malgun Gothic"/>
              </a:rPr>
              <a:t>확정 일정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D3981A-BB51-4B54-8D75-6A55DA208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145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2026.06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8ED0D2-3F55-4F5E-8070-C5F56C2BE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114550"/>
            <a:ext cx="1857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3EDF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E3EDF7"/>
                </a:solidFill>
                <a:latin typeface="Malgun Gothic"/>
                <a:ea typeface="Malgun Gothic"/>
                <a:cs typeface="Malgun Gothic"/>
              </a:rPr>
              <a:t>기획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E7029D-AECE-462C-9691-ED28FB3BB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051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2026.07.02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826D9D-00FA-44EA-B854-946361BDD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705100"/>
            <a:ext cx="1857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3EDF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E3EDF7"/>
                </a:solidFill>
                <a:latin typeface="Malgun Gothic"/>
                <a:ea typeface="Malgun Gothic"/>
                <a:cs typeface="Malgun Gothic"/>
              </a:rPr>
              <a:t>개발 착수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9B2076-6BA0-4ED1-A923-8026AB41D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956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2026.07.16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226365-79CB-4515-96A5-123372FF7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295650"/>
            <a:ext cx="1857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3EDF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E3EDF7"/>
                </a:solidFill>
                <a:latin typeface="Malgun Gothic"/>
                <a:ea typeface="Malgun Gothic"/>
                <a:cs typeface="Malgun Gothic"/>
              </a:rPr>
              <a:t>핵심 흐름 전체 가동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339977-5935-4E56-AC76-2E9D23442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8862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2026.08.31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6C5762-93A0-447D-8F81-D543065C2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886200"/>
            <a:ext cx="1857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3EDF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E3EDF7"/>
                </a:solidFill>
                <a:latin typeface="Malgun Gothic"/>
                <a:ea typeface="Malgun Gothic"/>
                <a:cs typeface="Malgun Gothic"/>
              </a:rPr>
              <a:t>최종 검수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CACEFF-AFE2-4D30-888E-21A5CE4F8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24400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4F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632A0F-351E-40C6-A17C-EFAE9FC14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81575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CE8F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DCE8F5"/>
                </a:solidFill>
                <a:latin typeface="Malgun Gothic"/>
                <a:ea typeface="Malgun Gothic"/>
                <a:cs typeface="Malgun Gothic"/>
              </a:rPr>
              <a:t>담당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3671F0-7688-42FA-8C64-491EA50F8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53000"/>
            <a:ext cx="5791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고객사·공급사 주문/배송/정산 조율, 몰 정책·요구사항·QA·운영 적용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470FAB-C916-406E-99F2-F5BFF3CFC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5785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CE8F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DCE8F5"/>
                </a:solidFill>
                <a:latin typeface="Malgun Gothic"/>
                <a:ea typeface="Malgun Gothic"/>
                <a:cs typeface="Malgun Gothic"/>
              </a:rPr>
              <a:t>산출물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7F3E8D-854A-4D76-B238-D5B79D613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629275"/>
            <a:ext cx="5791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요구사항 대장 · 4계정 정책 매트릭스 · 권한표 · UAT 시나리오 · 운영 매뉴얼</a:t>
            </a:r>
          </a:p>
        </p:txBody>
      </p:sp>
    </p:spTree>
    <p:extLst>
      <p:ext uri="{BB962C8B-B14F-4D97-AF65-F5344CB8AC3E}">
        <p14:creationId xmlns:p14="http://schemas.microsoft.com/office/powerpoint/2010/main" val="46700809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87995C9-750A-48B1-B30A-BCB2725E6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68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C46E4B-AD00-4256-9169-5F7AB0FE3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52425"/>
            <a:ext cx="866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운영 문제를 요청 주체와 검증 수치로 정리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C3FA23-F452-4C28-A2AA-E25859920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409575"/>
            <a:ext cx="80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rPr>
              <a:t>02 /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B802B9-42ED-4557-BA68-BD10315F6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715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783ADB-AFFC-4426-B10B-71FC40CCC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334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고객사·공급사·운영팀의 불편을 주문부터 정산까지의 업무 구간에 연결했습니다.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10A167-DFDC-41CD-9894-75EA0A3F7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785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ED4B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350988-F600-4D7E-AB65-4CA9752DB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43075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6B45"/>
          </a:solidFill>
          <a:ln xmlns:a="http://schemas.openxmlformats.org/drawingml/2006/main" w="0">
            <a:solidFill>
              <a:srgbClr val="1E6B45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24213C-16F8-418D-9623-B91FCFF0A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2038350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912F82-156E-49A7-9414-50AF27E81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295525"/>
            <a:ext cx="1285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기획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433E4F-2490-4C50-8E55-C47D14634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743075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6B45"/>
          </a:solidFill>
          <a:ln xmlns:a="http://schemas.openxmlformats.org/drawingml/2006/main" w="0">
            <a:solidFill>
              <a:srgbClr val="1E6B4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91E69C-869D-42A4-B4CB-EEA4F3768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038350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07.02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E76247-1F1A-4A09-8A69-C9886D864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295525"/>
            <a:ext cx="1285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착수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D2FE9B-F3AA-4536-9FE9-75CE740BF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743075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6B45"/>
          </a:solidFill>
          <a:ln xmlns:a="http://schemas.openxmlformats.org/drawingml/2006/main" w="0">
            <a:solidFill>
              <a:srgbClr val="1E6B4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FC932E-5DFE-4E13-AC42-60DD14280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038350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07.16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2CD50B-BCC4-44B6-90CA-23BA7B66F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2295525"/>
            <a:ext cx="1285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가동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9DD187-2F68-499A-A528-854377FDD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743075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6B45"/>
          </a:solidFill>
          <a:ln xmlns:a="http://schemas.openxmlformats.org/drawingml/2006/main" w="0">
            <a:solidFill>
              <a:srgbClr val="1E6B45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34DBA8-E40B-40F3-AF3D-320148CD4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038350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08.06~13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DE1A6B-0864-4AA6-98CC-47DBCDC2F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2295525"/>
            <a:ext cx="1285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고도화·QA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180AA9-BF1A-4925-9ECE-E1D424F0E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1743075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6B45"/>
          </a:solidFill>
          <a:ln xmlns:a="http://schemas.openxmlformats.org/drawingml/2006/main" w="0">
            <a:solidFill>
              <a:srgbClr val="1E6B45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F41778-84C7-401B-8A49-ED3D0CC56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2038350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08.31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C89C03-2FA1-4FDD-BF2E-3422C3E51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2295525"/>
            <a:ext cx="1285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최종 검수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214C36-96AB-4AF7-9A95-7EBC00B51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62275"/>
            <a:ext cx="340042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819CE2-5694-4BBF-AEE8-A14988921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81350"/>
            <a:ext cx="29432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오출고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C7BD22-D8EA-4684-8F8A-ABFCDC7CC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09975"/>
            <a:ext cx="2943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직전 6개월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69ABD2-48CF-43BE-ABE2-BE7562C6F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71925"/>
            <a:ext cx="29432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월평균 2~3건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3CA5B7-DB48-45BC-B486-A02D8699E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52950"/>
            <a:ext cx="29432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근거 · 출고·CS 로그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6E8BC3-1689-4317-BBC7-A5B3E94AC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962275"/>
            <a:ext cx="340042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9525">
            <a:solidFill>
              <a:srgbClr val="9ED4B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5863990-054A-4A06-A16C-26CB06D0C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181350"/>
            <a:ext cx="29432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배송·주문·입금 문의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8BEF2FC-37DF-4EFC-8778-B5B3ADE4B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609975"/>
            <a:ext cx="2943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1~6월 2주 환산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9345282-38D0-4EEE-979D-698A12A89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971925"/>
            <a:ext cx="29432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32건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9BB5CBD-79EE-4012-A49D-68A441309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552950"/>
            <a:ext cx="29432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근거 · 문의 분류 기준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40140D4-1344-4A3E-A3CD-A78B749E4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62275"/>
            <a:ext cx="340042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8C646DF-B92A-42CA-9E17-B7BA7384B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181350"/>
            <a:ext cx="29432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입금 대조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D164BFF-8440-4E31-BDF6-78FB6326C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609975"/>
            <a:ext cx="2943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매일 반복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A857E6A-74D0-47BF-9DD0-D9AB4B781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971925"/>
            <a:ext cx="29432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15~30분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3529F32-6BF6-4D23-A533-3C0E662EC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552950"/>
            <a:ext cx="29432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근거 · 개선 후 미측정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831B8F8-89C0-4CE8-801A-A4F9809C1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05425"/>
            <a:ext cx="1085850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0F9F4"/>
          </a:solidFill>
          <a:ln xmlns:a="http://schemas.openxmlformats.org/drawingml/2006/main" w="9525">
            <a:solidFill>
              <a:srgbClr val="CDEAD9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42F77B4-C1D5-4501-8D54-B86F1E5A9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1497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설계 질문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66D3E73-D1DA-4B3A-A9BF-73375552D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467350"/>
            <a:ext cx="9286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누가 어떤 계정으로 주문하고, 어떤 결제 방식과 완료 기준을 적용해야 운영 오류를 줄일 수 있는가?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1091848-B46A-4B63-B6D4-AB74A3D2D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61BD32F-B34A-4859-A76D-8F638D4A1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rPr>
              <a:t>박종혁 PM 포트폴리오 v4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70C0CC4-5924-4C3C-9764-21EA3303C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rPr>
              <a:t>10 / 15</a:t>
            </a:r>
          </a:p>
        </p:txBody>
      </p:sp>
    </p:spTree>
    <p:extLst>
      <p:ext uri="{BB962C8B-B14F-4D97-AF65-F5344CB8AC3E}">
        <p14:creationId xmlns:p14="http://schemas.microsoft.com/office/powerpoint/2010/main" val="124458373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1FFC9B7-7E8D-4E67-ADDB-04C786FF9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68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A69463-FED8-43B8-A185-28B1D6C1F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52425"/>
            <a:ext cx="866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기능 수보다 운영팀이 유지할 수 있는 구조를 선택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A16065-9CA4-4C04-B621-DE64D6B10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409575"/>
            <a:ext cx="80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rPr>
              <a:t>03 /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C66AEC-AE42-4783-85C8-80B1BE571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715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904BAF-D9AF-4FA4-A8C8-BEFC9A20D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334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러닝커브·기존 인프라·유지보수 범위·구축비용을 기준으로 세 대안을 비교했습니다.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E913B2-F631-4AD7-9E19-AA038E474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09725"/>
            <a:ext cx="219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대안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B1DD12-EB71-4C09-A74C-7EA441775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609725"/>
            <a:ext cx="1809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운영팀 학습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D053D1-97A2-4A46-92BD-DE0C6EC58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609725"/>
            <a:ext cx="200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기존 인프라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3F1F9C-B24C-4CDD-B417-A1D30084F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609725"/>
            <a:ext cx="2333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유지보수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A919A8-74A0-4586-A138-FBA63C78B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1609725"/>
            <a:ext cx="1571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판정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FDAA36-E0FD-426E-9F82-83D604CE6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431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0F3573-11CC-4E12-8961-595EB8DE9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76450"/>
            <a:ext cx="10858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D568F2-20D4-4C2A-BA95-AF727C2B6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신규 맞춤 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AAF314-4E74-4506-9C6B-46A4108C7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62200"/>
            <a:ext cx="1771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새 업무 습득 필요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7C7020-AF25-415C-A88D-76BDFB088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362200"/>
            <a:ext cx="1962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별도 구축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6616EE-B3DD-4A9F-B480-7D5BBA435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62200"/>
            <a:ext cx="22955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자체 유지 범위 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4DCB85-72D5-432A-BCBB-A8D658FD3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362200"/>
            <a:ext cx="15335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제외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83405D-F0AC-4FA7-B074-F58968AD4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86100"/>
            <a:ext cx="10858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8EA699-5624-41E2-9597-FD0EDD867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71850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타 쇼핑 솔루션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AF056C-4522-4480-85BD-DB727974B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371850"/>
            <a:ext cx="1771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도구 전환 필요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C43FC9-2884-4548-9B66-E94317A25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371850"/>
            <a:ext cx="1962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재설정 필요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918F00-16DD-4490-BECD-F066CA011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71850"/>
            <a:ext cx="22955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솔루션 종속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47B7CB-040A-48B7-A8C1-5B79F893A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371850"/>
            <a:ext cx="15335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제외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6B433D-4160-4E71-85E3-88BF41B85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10858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19050">
            <a:solidFill>
              <a:srgbClr val="9ED4B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496662-766D-4B3A-B853-9E4DDFF29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0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기존 플랫폼 + 정책 커스텀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B96BEC-FB1D-49A3-BE85-F6598FEB9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381500"/>
            <a:ext cx="1771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기존 운영 방식 활용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F7006D-1D24-46AB-AE54-CFBB576BE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381500"/>
            <a:ext cx="1962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현재 환경 유지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B2A325B-8E82-490C-9233-8733D411E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381500"/>
            <a:ext cx="22955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변경 범위 한정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BA0BCC2-CA80-4069-B730-D302A966B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381500"/>
            <a:ext cx="15335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채택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EA0EFDA-F45A-45CB-B6DA-A645119AD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149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범위에서 제외한 기능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4170AD4-A62D-415A-98A6-2E23CE459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95950"/>
            <a:ext cx="3390900" cy="476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3E9827-9F86-4953-87DB-B973265C7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293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PG 결제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22453CA-6020-40F3-A760-20F479EE6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695950"/>
            <a:ext cx="3390900" cy="476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5CDF73A-218B-4DE8-818B-30EB23DFF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8293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견적서 신규 개발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2D48C2F-FF51-437D-8450-A2A5B69B1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695950"/>
            <a:ext cx="3390900" cy="476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E2D960A-ADDC-468B-8AF4-E8D4D341F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8293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포인트 완전 자동화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A64BC54-E1E1-41EB-89D2-FB2441A23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EF2AC80-1DFE-42A8-9621-A933EEED3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rPr>
              <a:t>박종혁 PM 포트폴리오 v4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4690610-6CB6-44B3-A4E3-7DB9963A9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rPr>
              <a:t>11 / 15</a:t>
            </a:r>
          </a:p>
        </p:txBody>
      </p:sp>
    </p:spTree>
    <p:extLst>
      <p:ext uri="{BB962C8B-B14F-4D97-AF65-F5344CB8AC3E}">
        <p14:creationId xmlns:p14="http://schemas.microsoft.com/office/powerpoint/2010/main" val="103401007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9B706DB-65CD-4F91-87D5-9C922EEBC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68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A0238B-2934-447F-87DA-2D066E3DB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52425"/>
            <a:ext cx="866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요구사항 ID·상태·완료 기준을 고정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0689B1-A0B5-4BF2-B7B4-F1F5C641E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409575"/>
            <a:ext cx="80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rPr>
              <a:t>04 /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7A1F26-5CD3-44E0-8D15-91D4C291A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715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28781A-CDAD-467E-841D-F574A3DDE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334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개발 반영 통보와 운영 서버에서의 실제 완료를 분리했습니다.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105604-2249-4D16-B712-57B1CB94E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90675"/>
            <a:ext cx="171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요청 유형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284758-CCE8-4405-945A-F9B95BCBA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71675"/>
            <a:ext cx="196215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0F9F4"/>
          </a:solidFill>
          <a:ln xmlns:a="http://schemas.openxmlformats.org/drawingml/2006/main" w="9525">
            <a:solidFill>
              <a:srgbClr val="CDEAD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70E077-F817-41FD-B6F8-C0F0BA8A0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1145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BR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CFDF09-208C-473A-BF02-CA6361923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114550"/>
            <a:ext cx="0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0338A6-A63B-42D4-BC8C-7744A537A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152650"/>
            <a:ext cx="9810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기본 요구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13CC3A-825A-4D14-8412-32B1C2AEA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971675"/>
            <a:ext cx="196215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0F9F4"/>
          </a:solidFill>
          <a:ln xmlns:a="http://schemas.openxmlformats.org/drawingml/2006/main" w="9525">
            <a:solidFill>
              <a:srgbClr val="CDEAD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B3AF91-0C33-4AEA-806C-9CD23FAB7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1145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A2A2DD-EDC1-4ED3-9622-14DB92D8F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14550"/>
            <a:ext cx="0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1919A7-FF7E-4C68-A846-5ECC4E96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52650"/>
            <a:ext cx="9810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추가 요구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E9B01E-0176-468A-8806-2B0839AC7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71675"/>
            <a:ext cx="196215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0F9F4"/>
          </a:solidFill>
          <a:ln xmlns:a="http://schemas.openxmlformats.org/drawingml/2006/main" w="9525">
            <a:solidFill>
              <a:srgbClr val="CDEAD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86BEE0-AB7B-4228-A0BF-5DB7E287B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1145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OP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6365DF-FE40-4230-B6AB-29E35825B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114550"/>
            <a:ext cx="0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74B4ED-A971-4EAC-85DF-1815A5A3B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152650"/>
            <a:ext cx="9810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운영 정책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F1D217-0FB7-4BEC-8C00-263E6B8AB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971675"/>
            <a:ext cx="196215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BECEB"/>
          </a:solidFill>
          <a:ln xmlns:a="http://schemas.openxmlformats.org/drawingml/2006/main" w="9525">
            <a:solidFill>
              <a:srgbClr val="E3B4B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4F91D5-E527-4912-9383-0B44155DA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145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4231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B42318"/>
                </a:solidFill>
                <a:latin typeface="Malgun Gothic"/>
                <a:ea typeface="Malgun Gothic"/>
                <a:cs typeface="Malgun Gothic"/>
              </a:rPr>
              <a:t>BUG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1E1D17-EFD3-4E65-82B3-8F6996D75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114550"/>
            <a:ext cx="0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1756C0-4352-42D4-8D5C-9AE72D25A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152650"/>
            <a:ext cx="9810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결함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63F1D1-ABB5-46D4-A77A-B3E5CE090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971675"/>
            <a:ext cx="196215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0F9F4"/>
          </a:solidFill>
          <a:ln xmlns:a="http://schemas.openxmlformats.org/drawingml/2006/main" w="9525">
            <a:solidFill>
              <a:srgbClr val="CDEAD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6DFE70-3961-47DB-8459-E5D73FF23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1145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HOLD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957CB5-85F6-4FE1-B17D-F45BA7038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14550"/>
            <a:ext cx="0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D0226F-7D5B-46DF-879B-687B00330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152650"/>
            <a:ext cx="9810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보류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DF5594-FC80-4722-8E84-E507B8D20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38475"/>
            <a:ext cx="171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상태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09A12C-5799-4EB8-94B2-A56AFE980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00425"/>
            <a:ext cx="196215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9525">
            <a:solidFill>
              <a:srgbClr val="9ED4B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69F7CF-3F62-44CF-BDD2-693C8BE0D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33775"/>
            <a:ext cx="1733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완료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74FB852-B9C2-4147-87C5-C102AFEB9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400425"/>
            <a:ext cx="196215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5572777-8CCF-45C6-A673-93B65D8E0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533775"/>
            <a:ext cx="1733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부분완료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31588CD-453A-4BE4-8B67-60FE442C8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400425"/>
            <a:ext cx="196215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9E90715-ACAB-4DA3-86B1-1B8693486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533775"/>
            <a:ext cx="1733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QA대기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8D281F9-C05D-41F3-B302-F9B5D4428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400425"/>
            <a:ext cx="196215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FBECEB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35394A6-72BD-4962-A056-09FE8BA16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533775"/>
            <a:ext cx="1733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4231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B42318"/>
                </a:solidFill>
                <a:latin typeface="Malgun Gothic"/>
                <a:ea typeface="Malgun Gothic"/>
                <a:cs typeface="Malgun Gothic"/>
              </a:rPr>
              <a:t>QA실패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B840734-4810-4189-88C0-500315ABE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400425"/>
            <a:ext cx="196215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FC06707-5AE9-4E88-9B9F-37A378ACC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533775"/>
            <a:ext cx="1733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확인불가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1F73C0F-BD40-4568-A333-16629416F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62450"/>
            <a:ext cx="5191125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7563A"/>
          </a:solidFill>
          <a:ln xmlns:a="http://schemas.openxmlformats.org/drawingml/2006/main" w="0">
            <a:solidFill>
              <a:srgbClr val="17563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692AE90-4ABD-4CCB-9516-12A263AF3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910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DEAD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CDEAD9"/>
                </a:solidFill>
                <a:latin typeface="Malgun Gothic"/>
                <a:ea typeface="Malgun Gothic"/>
                <a:cs typeface="Malgun Gothic"/>
              </a:rPr>
              <a:t>완료 정의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1AF1D7D-87F2-4161-BFC2-E98C21D1B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91100"/>
            <a:ext cx="457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운영 서버에서 기대 결과를</a:t>
            </a:r>
          </a:p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직접 확인한 경우에만 완료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ABB4DB0-1792-4A82-8B6B-897D80D38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4362450"/>
            <a:ext cx="5400675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90F1990-4A6E-4063-A5CB-4FEC106A7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5910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실제 사례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42F792F-7CDE-48DF-B25B-5238DCBCF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97205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마이페이지 수정 기능 진입 실패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9CFE5D8-1468-4078-B503-74773E92E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33400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운영 서버 미반영 + 기존 차단 로직 잔존을 분리해 확인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2F34848-21C6-4492-AE26-B0773D424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29390A9-619E-4C37-A98A-1DF0CE2DE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rPr>
              <a:t>2026-08-31 최종 검수를 프로젝트 완료 기준일로 사용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1D3B30D-C669-4839-932F-685B1A49B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rPr>
              <a:t>12 / 15</a:t>
            </a:r>
          </a:p>
        </p:txBody>
      </p:sp>
    </p:spTree>
    <p:extLst>
      <p:ext uri="{BB962C8B-B14F-4D97-AF65-F5344CB8AC3E}">
        <p14:creationId xmlns:p14="http://schemas.microsoft.com/office/powerpoint/2010/main" val="22232088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2FBBDCC-5535-4AD5-B28D-A2FF66792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68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F7B0CC-90D6-41A1-A5EF-7F379FABA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52425"/>
            <a:ext cx="866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4개 계정 정책과 운영 화면을 같은 기준으로 검수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5C1BEE-0558-4EE4-BACE-0A2E7AB11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409575"/>
            <a:ext cx="80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rPr>
              <a:t>05 /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3754BA-0CF0-45C7-9CB3-AE1214E9D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715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BD019F-71A5-47AD-8F12-EC945CB1C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334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원본 화면은 개인정보·가격이 포함되어 외부 제출본에는 안전한 재구성 화면을 사용했습니다.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1463C6-C8FC-4495-A30B-C2D9E4BF1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71625"/>
            <a:ext cx="1619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계정 정책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C8B011-25E3-43DB-8492-A090E0668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52625"/>
            <a:ext cx="194310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9525">
            <a:solidFill>
              <a:srgbClr val="9ED4B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61598B-6EB5-4018-98A9-FCBB12FB4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24075"/>
            <a:ext cx="781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분유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C0A748-15E8-43E8-A29F-86E99C160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114550"/>
            <a:ext cx="0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F27A12-BF3B-459D-BEAE-2367130D2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21336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선불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7160C0-991E-47AF-8DF9-8768D9B60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952625"/>
            <a:ext cx="194310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9525">
            <a:solidFill>
              <a:srgbClr val="9ED4B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210ED9-6770-4299-B88A-222F62E8A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124075"/>
            <a:ext cx="781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분유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A87968-D0E5-4C78-A46E-9D3E9E27A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114550"/>
            <a:ext cx="0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15081C-A39E-420A-B64C-5FFEBBBDC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21336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후불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2AF19F-DA1C-4D68-A042-728FB842D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38450"/>
            <a:ext cx="194310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DB6404-4021-4380-960B-4CF863425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09900"/>
            <a:ext cx="781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물품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9D07A9-899B-4A9C-AEE0-824C8CABB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000375"/>
            <a:ext cx="0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D3C04E-D36E-4108-88D2-C1AFCBCFD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301942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선불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46401B-1205-4E39-A231-201DED051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838450"/>
            <a:ext cx="194310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5F9547-905E-4724-848E-4A958F7C1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009900"/>
            <a:ext cx="781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물품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5B42FD-3D91-47B8-9082-0140D1DB3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000375"/>
            <a:ext cx="0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147FB4-5CFD-4FE4-AD44-D595E4380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301942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후불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ED95B7-A1CF-4035-9755-2E8087A25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86200"/>
            <a:ext cx="403860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FBECEB"/>
          </a:solidFill>
          <a:ln xmlns:a="http://schemas.openxmlformats.org/drawingml/2006/main" w="9525">
            <a:solidFill>
              <a:srgbClr val="E3B4B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44432B-9C8F-4AFE-8BE6-9498052FD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B4231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B42318"/>
                </a:solidFill>
                <a:latin typeface="Malgun Gothic"/>
                <a:ea typeface="Malgun Gothic"/>
                <a:cs typeface="Malgun Gothic"/>
              </a:rPr>
              <a:t>혼합주문 차단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0A9851-ADF9-40DE-87A7-5C971C7F6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67225"/>
            <a:ext cx="3619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결제 방식이 다른 상품은</a:t>
            </a:r>
          </a:p>
          <a:p xmlns:a="http://schemas.openxmlformats.org/drawingml/2006/main">
            <a:pPr algn="ctr">
              <a:def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양방향으로 같은 주문에 담지 않음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0937AC-D2D9-489A-A5DA-05D8175D8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571625"/>
            <a:ext cx="4953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운영 화면 기반 재구성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227301-C231-4823-B7F8-21EF3E0E1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952625"/>
            <a:ext cx="1885950" cy="30289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C60EC6-C511-4F1E-AC2F-8372BA731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952625"/>
            <a:ext cx="1885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17563A"/>
          </a:solidFill>
          <a:ln xmlns:a="http://schemas.openxmlformats.org/drawingml/2006/main" w="0">
            <a:solidFill>
              <a:srgbClr val="17563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F791BEB-D7F6-494F-AEBF-E92A8C5C3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047875"/>
            <a:ext cx="1600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HOME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15FD7B9-1C02-4E7D-B2C9-47E9056C9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486025"/>
            <a:ext cx="158115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9525">
            <a:solidFill>
              <a:srgbClr val="CDEAD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A7FBE0E-DBD4-4C16-9D42-4F36D0B46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143250"/>
            <a:ext cx="68580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1F413CC-526D-4897-8002-D4F34DF15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143250"/>
            <a:ext cx="800100" cy="2476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C41903C-BC57-4B97-B79B-33C89BAAB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495675"/>
            <a:ext cx="800100" cy="333375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0F9F4"/>
          </a:solidFill>
          <a:ln xmlns:a="http://schemas.openxmlformats.org/drawingml/2006/main" w="9525">
            <a:solidFill>
              <a:srgbClr val="CDEAD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E658EAC-E4B2-46E0-91D8-A176808A1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076700"/>
            <a:ext cx="1504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허용 카테고리</a:t>
            </a:r>
          </a:p>
          <a:p xmlns:a="http://schemas.openxmlformats.org/drawingml/2006/main">
            <a:pPr algn="ctr">
              <a:defRPr sz="10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정책 공지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D5D00ED-6665-4A66-ABB9-EBA609FDA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629150"/>
            <a:ext cx="1504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rPr>
              <a:t>샘플 데이터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8EFBED1-2B8E-4CB3-AB9D-27DFBB7C0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952625"/>
            <a:ext cx="1885950" cy="30289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7105783-8915-416E-B5D3-58627544F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952625"/>
            <a:ext cx="1885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17563A"/>
          </a:solidFill>
          <a:ln xmlns:a="http://schemas.openxmlformats.org/drawingml/2006/main" w="0">
            <a:solidFill>
              <a:srgbClr val="17563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C8FD740-C7C0-412B-A6DF-1391527B3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2047875"/>
            <a:ext cx="1600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MY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29F184A-3B90-481E-8FE1-B9C426983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486025"/>
            <a:ext cx="158115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9525">
            <a:solidFill>
              <a:srgbClr val="CDEAD9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75B0BBA-8BE4-4093-9666-9DB745100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143250"/>
            <a:ext cx="68580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3A1869D-5EFE-4DE6-A689-E93675C54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143250"/>
            <a:ext cx="800100" cy="2476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BBC7553-261A-4BF4-9D0A-1131DEBCD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95675"/>
            <a:ext cx="800100" cy="333375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0F9F4"/>
          </a:solidFill>
          <a:ln xmlns:a="http://schemas.openxmlformats.org/drawingml/2006/main" w="9525">
            <a:solidFill>
              <a:srgbClr val="CDEAD9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47BC0F0-A903-466E-943F-5F6CBAC0B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076700"/>
            <a:ext cx="1504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본인 주문·</a:t>
            </a:r>
          </a:p>
          <a:p xmlns:a="http://schemas.openxmlformats.org/drawingml/2006/main">
            <a:pPr algn="ctr">
              <a:defRPr sz="10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계정 정보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1E8A0F6-972E-44A1-A9B1-84D4C1354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629150"/>
            <a:ext cx="1504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rPr>
              <a:t>샘플 데이터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3C0A94D-C010-4296-8C05-1BB8EC7B6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952625"/>
            <a:ext cx="1885950" cy="30289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A564497-7D79-46D9-907E-D69F5D271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952625"/>
            <a:ext cx="1885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17563A"/>
          </a:solidFill>
          <a:ln xmlns:a="http://schemas.openxmlformats.org/drawingml/2006/main" w="0">
            <a:solidFill>
              <a:srgbClr val="17563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CBAD554-DCFC-4229-AD0D-0ACAEF4BC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2047875"/>
            <a:ext cx="1600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LIST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2DD8050-3887-4A82-9D33-5EB6A7537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486025"/>
            <a:ext cx="158115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9525">
            <a:solidFill>
              <a:srgbClr val="CDEAD9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04EC349-2E8D-42BD-928D-D8AE4709D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143250"/>
            <a:ext cx="68580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590D302-CA64-4FE9-87CB-F60E9BC83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3143250"/>
            <a:ext cx="800100" cy="2476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8B6FC08-4CD5-4E28-8044-B7564A64B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3495675"/>
            <a:ext cx="800100" cy="333375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0F9F4"/>
          </a:solidFill>
          <a:ln xmlns:a="http://schemas.openxmlformats.org/drawingml/2006/main" w="9525">
            <a:solidFill>
              <a:srgbClr val="CDEAD9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8862901-EFBC-4DFC-BDEA-E56208D01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076700"/>
            <a:ext cx="1504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계정별 상품</a:t>
            </a:r>
          </a:p>
          <a:p xmlns:a="http://schemas.openxmlformats.org/drawingml/2006/main">
            <a:pPr algn="ctr">
              <a:defRPr sz="10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노출 구조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B9A448F-46C1-4A53-B494-AD74533F7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629150"/>
            <a:ext cx="1504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rPr>
              <a:t>샘플 데이터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239C007-E20C-4897-8A36-E52E5E229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267325"/>
            <a:ext cx="6076950" cy="628650"/>
          </a:xfrm>
          <a:prstGeom xmlns:a="http://schemas.openxmlformats.org/drawingml/2006/main" prst="roundRect">
            <a:avLst>
              <a:gd name="adj" fmla="val 15152"/>
            </a:avLst>
          </a:prstGeom>
          <a:solidFill xmlns:a="http://schemas.openxmlformats.org/drawingml/2006/main">
            <a:srgbClr val="F3E5CC"/>
          </a:solidFill>
          <a:ln xmlns:a="http://schemas.openxmlformats.org/drawingml/2006/main" w="9525">
            <a:solidFill>
              <a:srgbClr val="DFC58E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32CFDFC-2B44-4AB5-9760-BF5957561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5448300"/>
            <a:ext cx="95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A640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9A6400"/>
                </a:solidFill>
                <a:latin typeface="Malgun Gothic"/>
                <a:ea typeface="Malgun Gothic"/>
                <a:cs typeface="Malgun Gothic"/>
              </a:rPr>
              <a:t>증거 범위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7E90A77-CF96-4246-B358-39D0D767C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410200"/>
            <a:ext cx="466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홈 · 마이페이지 · 물품 목록 / 공급사 전용 화면은 미확보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B2BB0E0-ADE8-4479-A340-1BCB5CF0A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F9252D7-6C36-4606-866C-7B241D1D8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rPr>
              <a:t>박종혁 PM 포트폴리오 v4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EC42436-1434-4EC2-BE95-EC8893BDC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rPr>
              <a:t>13 / 15</a:t>
            </a:r>
          </a:p>
        </p:txBody>
      </p:sp>
    </p:spTree>
    <p:extLst>
      <p:ext uri="{BB962C8B-B14F-4D97-AF65-F5344CB8AC3E}">
        <p14:creationId xmlns:p14="http://schemas.microsoft.com/office/powerpoint/2010/main" val="42201505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32DA8D5-1DCB-4BAA-B675-672D2FBDC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68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E81A89-91BB-4A17-8023-CF831CA91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52425"/>
            <a:ext cx="866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운영 결과와 검수 진행을 구분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512A42-03F1-45AA-8E9B-2B814CEF9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409575"/>
            <a:ext cx="80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rPr>
              <a:t>06 /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0A337C-A6A8-49D9-87FA-D0DDC88F8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715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159FF7-938C-42BD-BF31-320E8B538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334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핵심 흐름의 초기 관찰치와 계약 항목의 QA 상태를 같은 성과로 섞지 않았습니다.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9571A6-F669-40F2-A5F3-7F5F286A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5143500" cy="1752600"/>
          </a:xfrm>
          <a:prstGeom xmlns:a="http://schemas.openxmlformats.org/drawingml/2006/main" prst="roundRect">
            <a:avLst>
              <a:gd name="adj" fmla="val 7609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9525">
            <a:solidFill>
              <a:srgbClr val="9ED4B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DB56A2-D8A4-492C-9375-1EC4655F3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573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오출고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CB2FF0-663E-47A7-8C7D-D46232E1B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0"/>
            <a:ext cx="1866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월평균 2~3건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552DB9-164D-44A5-BA0F-7523254D9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29552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594326-73EC-48F4-9279-272282AA5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286000"/>
            <a:ext cx="2095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0건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F47D86-7F32-4CCA-8CB4-619BAA58D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14650"/>
            <a:ext cx="4552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직전 6개월 월평균 ↔ 2026-07-16 이후 약 1개월 전체 측정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8949CC-2AD5-4B38-A5B9-611E61535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1638300"/>
            <a:ext cx="5495925" cy="1752600"/>
          </a:xfrm>
          <a:prstGeom xmlns:a="http://schemas.openxmlformats.org/drawingml/2006/main" prst="roundRect">
            <a:avLst>
              <a:gd name="adj" fmla="val 7609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8A0FEB-AC9A-4977-B072-7D40082AF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185737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배송·주문·입금 문의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4C1AA8-C507-4A0F-928B-10C498117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286000"/>
            <a:ext cx="14287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32건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24BA1D-5ECC-420B-94B8-424943CAD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29552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FE5CB3-3EAD-4128-A741-A8454AB26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286000"/>
            <a:ext cx="1714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19건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F7E371-BA1D-457B-8321-5C1548CC3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914650"/>
            <a:ext cx="49244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1~6월 2주 환산 ↔ 7~8월 배포 구간의 초기 관찰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99AFCE-AC79-4625-ACE1-179A2A2A9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814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운영과 검수의 경계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255A0F-7A65-4FFA-8B5E-5AC5163AF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71950"/>
            <a:ext cx="108585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17563A"/>
          </a:solidFill>
          <a:ln xmlns:a="http://schemas.openxmlformats.org/drawingml/2006/main" w="0">
            <a:solidFill>
              <a:srgbClr val="17563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E629ED-0509-44CC-AC31-9886C9702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81500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DEAD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CDEAD9"/>
                </a:solidFill>
                <a:latin typeface="Malgun Gothic"/>
                <a:ea typeface="Malgun Gothic"/>
                <a:cs typeface="Malgun Gothic"/>
              </a:rPr>
              <a:t>2026-07-16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F48547-B6F2-423D-BD1B-F0DF4B64E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95825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핵심 주문·입금·정산 흐름 전체 가동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0DA073-2183-41FB-BA93-0BD092E0B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343400"/>
            <a:ext cx="0" cy="638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FB99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8E80C5-3919-4DC7-9D50-5CF407BFD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381500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DEAD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CDEAD9"/>
                </a:solidFill>
                <a:latin typeface="Malgun Gothic"/>
                <a:ea typeface="Malgun Gothic"/>
                <a:cs typeface="Malgun Gothic"/>
              </a:rPr>
              <a:t>2026-08-31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E23D4A-29FC-495C-AF1B-B98059954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69582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계약상 기본 요구의 최종 검수 기준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7CB59E-A5A8-44BD-8F80-B44681D2D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43550"/>
            <a:ext cx="10858500" cy="581025"/>
          </a:xfrm>
          <a:prstGeom xmlns:a="http://schemas.openxmlformats.org/drawingml/2006/main" prst="roundRect">
            <a:avLst>
              <a:gd name="adj" fmla="val 16393"/>
            </a:avLst>
          </a:prstGeom>
          <a:solidFill xmlns:a="http://schemas.openxmlformats.org/drawingml/2006/main">
            <a:srgbClr val="F3E5CC"/>
          </a:solidFill>
          <a:ln xmlns:a="http://schemas.openxmlformats.org/drawingml/2006/main" w="9525">
            <a:solidFill>
              <a:srgbClr val="DFC58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B3877C-DCFE-44AF-9E33-93FD4DFA7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724525"/>
            <a:ext cx="95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A640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9A6400"/>
                </a:solidFill>
                <a:latin typeface="Malgun Gothic"/>
                <a:ea typeface="Malgun Gothic"/>
                <a:cs typeface="Malgun Gothic"/>
              </a:rPr>
              <a:t>측정 한계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02C418-D74C-4941-9088-9361880FD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5676900"/>
            <a:ext cx="938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입금 대조 개선 후 시간은 미측정 · 장기 지속 효과와 전체 CS 감소는 주장하지 않음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16C4FFE-D23B-4D51-9F5A-3B94D29D6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39A7CD-696D-4516-815D-604B35190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rPr>
              <a:t>박종혁 PM 포트폴리오 v4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DD4725B-0074-4D5C-A679-74B56BFAA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rPr>
              <a:t>14 / 15</a:t>
            </a:r>
          </a:p>
        </p:txBody>
      </p:sp>
    </p:spTree>
    <p:extLst>
      <p:ext uri="{BB962C8B-B14F-4D97-AF65-F5344CB8AC3E}">
        <p14:creationId xmlns:p14="http://schemas.microsoft.com/office/powerpoint/2010/main" val="123837970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C4E4B8-1779-47FD-A6E1-B5E8BCB0B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F9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0335A1-940C-4C18-8911-677732A83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"/>
            <a:ext cx="904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Business Associate에서 바로 쓸 수 있는 경험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954EF9-664C-4AD6-9280-C62CA2D64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76325"/>
            <a:ext cx="904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직접 증명할 수 있는 것과 앞으로 배울 영역을 나눠 정리했습니다.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1F9B44-D8AE-40BC-A148-59276F42A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04975"/>
            <a:ext cx="3333750" cy="1571625"/>
          </a:xfrm>
          <a:prstGeom xmlns:a="http://schemas.openxmlformats.org/drawingml/2006/main" prst="roundRect">
            <a:avLst>
              <a:gd name="adj" fmla="val 8485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7FDF3B-3F43-4C23-9E59-04D236A84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050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13F51F-05B8-47E0-81AE-D8F905904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47900"/>
            <a:ext cx="2914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요청을 구조화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61A483-BBCC-4792-8761-C29382D59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76525"/>
            <a:ext cx="2914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질문·리스크·요구사항을</a:t>
            </a:r>
          </a:p>
          <a:p xmlns:a="http://schemas.openxmlformats.org/drawingml/2006/main">
            <a:pPr algn="l">
              <a:defRPr sz="105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상태와 결정 근거로 기록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BA3A02-EEEE-46B6-B90F-D208BFF5F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704975"/>
            <a:ext cx="3333750" cy="1571625"/>
          </a:xfrm>
          <a:prstGeom xmlns:a="http://schemas.openxmlformats.org/drawingml/2006/main" prst="roundRect">
            <a:avLst>
              <a:gd name="adj" fmla="val 8485"/>
            </a:avLst>
          </a:prstGeom>
          <a:solidFill xmlns:a="http://schemas.openxmlformats.org/drawingml/2006/main">
            <a:srgbClr val="E9F1FC"/>
          </a:solidFill>
          <a:ln xmlns:a="http://schemas.openxmlformats.org/drawingml/2006/main" w="9525">
            <a:solidFill>
              <a:srgbClr val="8FB2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3BB889-398B-48EB-9595-F54E42CF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9050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8DA5CE-193F-4B91-A9B5-F7FD3BA67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247900"/>
            <a:ext cx="2914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관계자를 연결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2AB84E-7316-4462-BBFF-34649D184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676525"/>
            <a:ext cx="2914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개발·물류·통관·고객·공급사의</a:t>
            </a:r>
          </a:p>
          <a:p xmlns:a="http://schemas.openxmlformats.org/drawingml/2006/main">
            <a:pPr algn="l">
              <a:defRPr sz="105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요건과 역할 경계를 조율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9937EF-7299-4525-8B48-E0DD7C011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704975"/>
            <a:ext cx="3333750" cy="1571625"/>
          </a:xfrm>
          <a:prstGeom xmlns:a="http://schemas.openxmlformats.org/drawingml/2006/main" prst="roundRect">
            <a:avLst>
              <a:gd name="adj" fmla="val 8485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30CF07-EF27-46D9-85E6-3DF6C2A96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050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7F3CDE-831B-442D-92BA-B0F96CCF2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47900"/>
            <a:ext cx="2914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완료를 검증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EEFD0F-1CDB-408F-AE0F-271F83357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76525"/>
            <a:ext cx="2914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통보가 아니라 운영 화면·응답·</a:t>
            </a:r>
          </a:p>
          <a:p xmlns:a="http://schemas.openxmlformats.org/drawingml/2006/main">
            <a:pPr algn="l">
              <a:defRPr sz="105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테스트 결과로 완료 판단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C1E732-2B1C-482F-88C8-2C1918242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05225"/>
            <a:ext cx="6934200" cy="1762125"/>
          </a:xfrm>
          <a:prstGeom xmlns:a="http://schemas.openxmlformats.org/drawingml/2006/main" prst="roundRect">
            <a:avLst>
              <a:gd name="adj" fmla="val 7568"/>
            </a:avLst>
          </a:prstGeom>
          <a:solidFill xmlns:a="http://schemas.openxmlformats.org/drawingml/2006/main">
            <a:srgbClr val="16437F"/>
          </a:solidFill>
          <a:ln xmlns:a="http://schemas.openxmlformats.org/drawingml/2006/main" w="0">
            <a:solidFill>
              <a:srgbClr val="16437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A92333-01F9-4BAE-8CC4-42AAB3B58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719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2DFF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D2DFF1"/>
                </a:solidFill>
                <a:latin typeface="Malgun Gothic"/>
                <a:ea typeface="Malgun Gothic"/>
                <a:cs typeface="Malgun Gothic"/>
              </a:rPr>
              <a:t>직접 증명 가능한 업무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5F04F6-B9A0-4DC9-89CC-4556B0F07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00550"/>
            <a:ext cx="619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요청·질의 구조화 · 외부 요건 조율 · 상태 추적</a:t>
            </a:r>
          </a:p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정책·기술 문서 · 운영 환경 검증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6CBEB2-79E2-4027-8152-5A5CD3517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705225"/>
            <a:ext cx="3676650" cy="1762125"/>
          </a:xfrm>
          <a:prstGeom xmlns:a="http://schemas.openxmlformats.org/drawingml/2006/main" prst="roundRect">
            <a:avLst>
              <a:gd name="adj" fmla="val 7568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CE0904-1DCF-4462-97D8-6B80F784F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97192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추가 학습 영역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0B13A3-E58A-49EE-96D8-F61433FEE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391025"/>
            <a:ext cx="295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대표·이사 회의록</a:t>
            </a:r>
          </a:p>
          <a:p xmlns:a="http://schemas.openxmlformats.org/drawingml/2006/main">
            <a:pPr algn="l">
              <a:defRPr sz="135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오프라인 공간 AI 제품</a:t>
            </a:r>
          </a:p>
          <a:p xmlns:a="http://schemas.openxmlformats.org/drawingml/2006/main">
            <a:pPr algn="l">
              <a:defRPr sz="135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제안서·기술영업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A1A27D-3BFD-4241-9B1A-0907A49BE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6A1B6F-7CF0-4522-B488-BB7E9DE49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박종혁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FD2A1A-6AF3-4E1F-8544-719073D60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6115050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parkjonghyeok2000@gmail.com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5A800A-87C6-42F1-ACD1-2F42FAA1E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115050"/>
            <a:ext cx="3962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관세청 통관 연동 · 산후조리원 B2B몰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8DE7D7-3EFD-4A2D-BE13-DD4761766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86525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rPr>
              <a:t>15 / 15</a:t>
            </a:r>
          </a:p>
        </p:txBody>
      </p:sp>
    </p:spTree>
    <p:extLst>
      <p:ext uri="{BB962C8B-B14F-4D97-AF65-F5344CB8AC3E}">
        <p14:creationId xmlns:p14="http://schemas.microsoft.com/office/powerpoint/2010/main" val="18229622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2026-09-16T22:45:44.6170000Z</dcterms:created>
  <dcterms:modified xsi:type="dcterms:W3CDTF">2026-09-16T22:45:44.6170000Z</dcterms:modified>
</coreProperties>
</file>