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0c8d1d5f8f4877" /><Relationship Type="http://schemas.openxmlformats.org/officeDocument/2006/relationships/extended-properties" Target="/docProps/app.xml" Id="R3f862f7871df4802" /><Relationship Type="http://schemas.openxmlformats.org/officeDocument/2006/relationships/officeDocument" Target="/ppt/presentation.xml" Id="R44f345425f814f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24e620c5ea4dcf"/>
  </p:sldMasterIdLst>
  <p:notesMasterIdLst>
    <p:notesMasterId xmlns:r="http://schemas.openxmlformats.org/officeDocument/2006/relationships" r:id="Rfda6ebe06bfd4a08"/>
  </p:notesMasterIdLst>
  <p:sldIdLst>
    <p:sldId xmlns:r="http://schemas.openxmlformats.org/officeDocument/2006/relationships" id="256" r:id="R0abcd63471dd407b"/>
    <p:sldId xmlns:r="http://schemas.openxmlformats.org/officeDocument/2006/relationships" id="257" r:id="R7a15146e55834d84"/>
    <p:sldId xmlns:r="http://schemas.openxmlformats.org/officeDocument/2006/relationships" id="258" r:id="R64f0719bdcf14237"/>
    <p:sldId xmlns:r="http://schemas.openxmlformats.org/officeDocument/2006/relationships" id="259" r:id="R21ccf69f4b574d06"/>
    <p:sldId xmlns:r="http://schemas.openxmlformats.org/officeDocument/2006/relationships" id="260" r:id="Re47911b2d7b04d4f"/>
    <p:sldId xmlns:r="http://schemas.openxmlformats.org/officeDocument/2006/relationships" id="261" r:id="R63d19e95de2f43f0"/>
    <p:sldId xmlns:r="http://schemas.openxmlformats.org/officeDocument/2006/relationships" id="262" r:id="R2b2827df3422495c"/>
    <p:sldId xmlns:r="http://schemas.openxmlformats.org/officeDocument/2006/relationships" id="263" r:id="Rbf5e187bed284dad"/>
    <p:sldId xmlns:r="http://schemas.openxmlformats.org/officeDocument/2006/relationships" id="264" r:id="Re8fc9d113dc341c1"/>
    <p:sldId xmlns:r="http://schemas.openxmlformats.org/officeDocument/2006/relationships" id="265" r:id="Rdad0c0ee4a28462a"/>
    <p:sldId xmlns:r="http://schemas.openxmlformats.org/officeDocument/2006/relationships" id="266" r:id="R0103b2dde6334a1d"/>
    <p:sldId xmlns:r="http://schemas.openxmlformats.org/officeDocument/2006/relationships" id="267" r:id="Rc70b5ee7fd9443b1"/>
    <p:sldId xmlns:r="http://schemas.openxmlformats.org/officeDocument/2006/relationships" id="268" r:id="Rdab52c02fcee44f1"/>
    <p:sldId xmlns:r="http://schemas.openxmlformats.org/officeDocument/2006/relationships" id="269" r:id="Rc1c376302b2f4dff"/>
    <p:sldId xmlns:r="http://schemas.openxmlformats.org/officeDocument/2006/relationships" id="270" r:id="R950334b62a614c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37a3a060f647e6" /><Relationship Type="http://schemas.openxmlformats.org/officeDocument/2006/relationships/slideMaster" Target="/ppt/slideMasters/slideMaster1.xml" Id="R8f24e620c5ea4dcf" /><Relationship Type="http://schemas.openxmlformats.org/officeDocument/2006/relationships/notesMaster" Target="/ppt/notesMasters/notesMaster1.xml" Id="Rfda6ebe06bfd4a08" /><Relationship Type="http://schemas.openxmlformats.org/officeDocument/2006/relationships/presProps" Target="/ppt/presProps.xml" Id="R641846803a8e4db1" /><Relationship Type="http://schemas.openxmlformats.org/officeDocument/2006/relationships/tableStyles" Target="/ppt/tableStyles.xml" Id="R83d214228bf14a1d" /><Relationship Type="http://schemas.openxmlformats.org/officeDocument/2006/relationships/slide" Target="/ppt/slides/slide1.xml" Id="R0abcd63471dd407b" /><Relationship Type="http://schemas.openxmlformats.org/officeDocument/2006/relationships/slide" Target="/ppt/slides/slide2.xml" Id="R7a15146e55834d84" /><Relationship Type="http://schemas.openxmlformats.org/officeDocument/2006/relationships/slide" Target="/ppt/slides/slide3.xml" Id="R64f0719bdcf14237" /><Relationship Type="http://schemas.openxmlformats.org/officeDocument/2006/relationships/slide" Target="/ppt/slides/slide4.xml" Id="R21ccf69f4b574d06" /><Relationship Type="http://schemas.openxmlformats.org/officeDocument/2006/relationships/slide" Target="/ppt/slides/slide5.xml" Id="Re47911b2d7b04d4f" /><Relationship Type="http://schemas.openxmlformats.org/officeDocument/2006/relationships/slide" Target="/ppt/slides/slide6.xml" Id="R63d19e95de2f43f0" /><Relationship Type="http://schemas.openxmlformats.org/officeDocument/2006/relationships/slide" Target="/ppt/slides/slide7.xml" Id="R2b2827df3422495c" /><Relationship Type="http://schemas.openxmlformats.org/officeDocument/2006/relationships/slide" Target="/ppt/slides/slide8.xml" Id="Rbf5e187bed284dad" /><Relationship Type="http://schemas.openxmlformats.org/officeDocument/2006/relationships/slide" Target="/ppt/slides/slide9.xml" Id="Re8fc9d113dc341c1" /><Relationship Type="http://schemas.openxmlformats.org/officeDocument/2006/relationships/slide" Target="/ppt/slides/slide10.xml" Id="Rdad0c0ee4a28462a" /><Relationship Type="http://schemas.openxmlformats.org/officeDocument/2006/relationships/slide" Target="/ppt/slides/slide11.xml" Id="R0103b2dde6334a1d" /><Relationship Type="http://schemas.openxmlformats.org/officeDocument/2006/relationships/slide" Target="/ppt/slides/slide12.xml" Id="Rc70b5ee7fd9443b1" /><Relationship Type="http://schemas.openxmlformats.org/officeDocument/2006/relationships/slide" Target="/ppt/slides/slide13.xml" Id="Rdab52c02fcee44f1" /><Relationship Type="http://schemas.openxmlformats.org/officeDocument/2006/relationships/slide" Target="/ppt/slides/slide14.xml" Id="Rc1c376302b2f4dff" /><Relationship Type="http://schemas.openxmlformats.org/officeDocument/2006/relationships/slide" Target="/ppt/slides/slide15.xml" Id="R950334b62a614c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ed449ddfa342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39c3cc7894c2d" /><Relationship Type="http://schemas.openxmlformats.org/officeDocument/2006/relationships/notesMaster" Target="/ppt/notesMasters/notesMaster1.xml" Id="R861a9ef0a2364d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aa2331d0e24961" /><Relationship Type="http://schemas.openxmlformats.org/officeDocument/2006/relationships/notesMaster" Target="/ppt/notesMasters/notesMaster1.xml" Id="R9a7b66bee61948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0d757c718a4739" /><Relationship Type="http://schemas.openxmlformats.org/officeDocument/2006/relationships/notesMaster" Target="/ppt/notesMasters/notesMaster1.xml" Id="Rb8f7477f77084b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e8b75f2e35447e" /><Relationship Type="http://schemas.openxmlformats.org/officeDocument/2006/relationships/notesMaster" Target="/ppt/notesMasters/notesMaster1.xml" Id="R3f9f91dcf21a4b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4b4366be9d4ad8" /><Relationship Type="http://schemas.openxmlformats.org/officeDocument/2006/relationships/notesMaster" Target="/ppt/notesMasters/notesMaster1.xml" Id="R47beb118643c46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00c80130364aff" /><Relationship Type="http://schemas.openxmlformats.org/officeDocument/2006/relationships/notesMaster" Target="/ppt/notesMasters/notesMaster1.xml" Id="R4201e2c4931f4b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16b8566acf46cc" /><Relationship Type="http://schemas.openxmlformats.org/officeDocument/2006/relationships/notesMaster" Target="/ppt/notesMasters/notesMaster1.xml" Id="R4e2a7d4d912d4b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200290ad48488f" /><Relationship Type="http://schemas.openxmlformats.org/officeDocument/2006/relationships/notesMaster" Target="/ppt/notesMasters/notesMaster1.xml" Id="R8a78a80a720747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195b44ec11426a" /><Relationship Type="http://schemas.openxmlformats.org/officeDocument/2006/relationships/notesMaster" Target="/ppt/notesMasters/notesMaster1.xml" Id="Rab67fecc048c47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4aac29e6d4fb7" /><Relationship Type="http://schemas.openxmlformats.org/officeDocument/2006/relationships/notesMaster" Target="/ppt/notesMasters/notesMaster1.xml" Id="Redf69637b5b84b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c1c7322556445f" /><Relationship Type="http://schemas.openxmlformats.org/officeDocument/2006/relationships/notesMaster" Target="/ppt/notesMasters/notesMaster1.xml" Id="Rc607209fb3084d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6eb0ef0f2f4e48" /><Relationship Type="http://schemas.openxmlformats.org/officeDocument/2006/relationships/notesMaster" Target="/ppt/notesMasters/notesMaster1.xml" Id="Rba51467e32ef41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df60d01d774ea6" /><Relationship Type="http://schemas.openxmlformats.org/officeDocument/2006/relationships/notesMaster" Target="/ppt/notesMasters/notesMaster1.xml" Id="R2324c5f47c4f44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7dada624684147" /><Relationship Type="http://schemas.openxmlformats.org/officeDocument/2006/relationships/notesMaster" Target="/ppt/notesMasters/notesMaster1.xml" Id="Rb51ae5dcd59146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c6a9bb20564486" /><Relationship Type="http://schemas.openxmlformats.org/officeDocument/2006/relationships/notesMaster" Target="/ppt/notesMasters/notesMaster1.xml" Id="Rf96d586574d34c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C-025, C-028, C-037~C-039, C-109</a:t>
            </a:r>
          </a:p>
          <a:p xmlns:a="http://schemas.openxmlformats.org/drawingml/2006/main">
            <a:r>
              <a:t>범위: 관세청 전자상거래 통관 연동과 산후조리원 전용 B2B몰 두 사례만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C-025~C-029, C-037~C-039, C-109</a:t>
            </a:r>
          </a:p>
          <a:p xmlns:a="http://schemas.openxmlformats.org/drawingml/2006/main">
            <a:r>
              <a:t>주의: 대표·이사 회의록, 오프라인 AI 제품, 기술영업 경험은 확인되지 않아 본문에서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C-020~C-022, C-025, C-028, C-126</a:t>
            </a:r>
          </a:p>
          <a:p xmlns:a="http://schemas.openxmlformats.org/drawingml/2006/main">
            <a:r>
              <a:t>직함은 SCM 담당이며 프로젝트 PM 역할로 연동을 주도. 직접 개발·직접 신고로 표현하지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C-020, C-025, C-028, C-029, C-101</a:t>
            </a:r>
          </a:p>
          <a:p xmlns:a="http://schemas.openxmlformats.org/drawingml/2006/main">
            <a:r>
              <a:t>정보 주체는 역할명으로만 표기. C-023의 4개 데이터 주체와 5개 협업사는 모수가 달라 합산하지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C-025, C-026, C-028</a:t>
            </a:r>
          </a:p>
          <a:p xmlns:a="http://schemas.openxmlformats.org/drawingml/2006/main">
            <a:r>
              <a:t>46은 해결·기준확정 상태이며 P0/P1/P2 전체가 모두 종결됐다는 뜻이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C-025, C-028, C-101, C-126</a:t>
            </a:r>
          </a:p>
          <a:p xmlns:a="http://schemas.openxmlformats.org/drawingml/2006/main">
            <a:r>
              <a:t>판매 채널·ERP/WMS·통관 역할명만 사용하며 관계사 수는 표시하지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C-025, C-028, C-029, C-101, C-102</a:t>
            </a:r>
          </a:p>
          <a:p xmlns:a="http://schemas.openxmlformats.org/drawingml/2006/main">
            <a:r>
              <a:t>원장에 없는 세부 API 필드명, 처리 시각, 무제한 재시도 규칙은 표기하지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C-027, C-100, C-102</a:t>
            </a:r>
          </a:p>
          <a:p xmlns:a="http://schemas.openxmlformats.org/drawingml/2006/main">
            <a:r>
              <a:t>30/30은 테스트 목적 통과. 30건 모두 정상 신고 또는 운영 무오류 보장으로 표현하지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C-030~C-032, C-039, C-109</a:t>
            </a:r>
          </a:p>
          <a:p xmlns:a="http://schemas.openxmlformats.org/drawingml/2006/main">
            <a:r>
              <a:t>07-16은 핵심 흐름 전체 가동, 08-31은 계약상 기본 요구의 최종 검수 기준일.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C-031, C-040, C-042, C-043, C-109</a:t>
            </a:r>
          </a:p>
          <a:p xmlns:a="http://schemas.openxmlformats.org/drawingml/2006/main">
            <a:r>
              <a:t>입금 대조는 AS-IS만 확인. 개선 후 수치는 미측정이라 성과로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C-035, C-036</a:t>
            </a:r>
          </a:p>
          <a:p xmlns:a="http://schemas.openxmlformats.org/drawingml/2006/main">
            <a:r>
              <a:t>비용 숫자나 임의 점수는 사용하지 않고 사용자 확인된 채택·제외 사유만 표기.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C-031, C-037, C-038, C-046</a:t>
            </a:r>
          </a:p>
          <a:p xmlns:a="http://schemas.openxmlformats.org/drawingml/2006/main">
            <a:r>
              <a:t>2026-08-13의 22건 스냅샷은 최종 상태가 아니므로 장표 숫자로 재사용하지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C-033, C-034, C-036, C-039, C-047~C-049</a:t>
            </a:r>
          </a:p>
          <a:p xmlns:a="http://schemas.openxmlformats.org/drawingml/2006/main">
            <a:r>
              <a:t>원본 와이어프레임 유실. 오른쪽은 운영 화면 기반 재구성이며 실제 캡처가 아님.</a:t>
            </a:r>
          </a:p>
          <a:p xmlns:a="http://schemas.openxmlformats.org/drawingml/2006/main">
            <a:r>
              <a:t>원본 캡처는 포트폴리오/evidence/b2b/raw_private에 비공개 보관.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C-031, C-040, C-042~C-044</a:t>
            </a:r>
          </a:p>
          <a:p xmlns:a="http://schemas.openxmlformats.org/drawingml/2006/main">
            <a:r>
              <a:t>C-041 정산 시간 비교는 비교 월·동일 범위가 미확인이라 외부 제출본에서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C-025~C-029, C-037~C-039, C-109</a:t>
            </a:r>
          </a:p>
          <a:p xmlns:a="http://schemas.openxmlformats.org/drawingml/2006/main">
            <a:r>
              <a:t>직접 증거가 없는 회의록·오프라인 AI 제품·기술영업은 학습 영역으로 분리.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4987eb1334b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d25f676d654b0e" /><Relationship Type="http://schemas.openxmlformats.org/officeDocument/2006/relationships/slideLayout" Target="/ppt/slideLayouts/slideLayout1.xml" Id="R7d17fd8086ea46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7fd8086ea46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035f1f93c403e" /><Relationship Type="http://schemas.openxmlformats.org/officeDocument/2006/relationships/image" Target="/ppt/media/image.png" Id="Rbf7229d81ba04722" /><Relationship Type="http://schemas.openxmlformats.org/officeDocument/2006/relationships/notesSlide" Target="/ppt/notesSlides/notesSlide1.xml" Id="Re4b9c9dd339040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5c991c5514bb6" /><Relationship Type="http://schemas.openxmlformats.org/officeDocument/2006/relationships/notesSlide" Target="/ppt/notesSlides/notesSlide2.xml" Id="Ra39bb72b9e4f49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1dc69ae554277" /><Relationship Type="http://schemas.openxmlformats.org/officeDocument/2006/relationships/notesSlide" Target="/ppt/notesSlides/notesSlide3.xml" Id="R84b02fa9e4c641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9d92f449840d0" /><Relationship Type="http://schemas.openxmlformats.org/officeDocument/2006/relationships/notesSlide" Target="/ppt/notesSlides/notesSlide4.xml" Id="R380173d5bc8a49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b64aaf9724ec6" /><Relationship Type="http://schemas.openxmlformats.org/officeDocument/2006/relationships/notesSlide" Target="/ppt/notesSlides/notesSlide5.xml" Id="R528f6516055e48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ff60749974a0f" /><Relationship Type="http://schemas.openxmlformats.org/officeDocument/2006/relationships/notesSlide" Target="/ppt/notesSlides/notesSlide6.xml" Id="Ra6317020410a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411e9235645b4" /><Relationship Type="http://schemas.openxmlformats.org/officeDocument/2006/relationships/notesSlide" Target="/ppt/notesSlides/notesSlide7.xml" Id="R57c6bcb63abf41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8d8ea28234130" /><Relationship Type="http://schemas.openxmlformats.org/officeDocument/2006/relationships/notesSlide" Target="/ppt/notesSlides/notesSlide8.xml" Id="R856c1ab9983942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3cda2ebbb46ef" /><Relationship Type="http://schemas.openxmlformats.org/officeDocument/2006/relationships/notesSlide" Target="/ppt/notesSlides/notesSlide9.xml" Id="R257bfccfa3d549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ff617491f4c01" /><Relationship Type="http://schemas.openxmlformats.org/officeDocument/2006/relationships/notesSlide" Target="/ppt/notesSlides/notesSlide10.xml" Id="R75c0476f88a844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c8719116f4d88" /><Relationship Type="http://schemas.openxmlformats.org/officeDocument/2006/relationships/notesSlide" Target="/ppt/notesSlides/notesSlide11.xml" Id="R75cd32e03e3a4b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77df98b5b4f5f" /><Relationship Type="http://schemas.openxmlformats.org/officeDocument/2006/relationships/notesSlide" Target="/ppt/notesSlides/notesSlide12.xml" Id="R0416295f44794a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0684d56b74ebf" /><Relationship Type="http://schemas.openxmlformats.org/officeDocument/2006/relationships/notesSlide" Target="/ppt/notesSlides/notesSlide13.xml" Id="Rb1030798507641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ce921327441b8" /><Relationship Type="http://schemas.openxmlformats.org/officeDocument/2006/relationships/notesSlide" Target="/ppt/notesSlides/notesSlide14.xml" Id="Rdcc6548b1c604b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3d93902e34279" /><Relationship Type="http://schemas.openxmlformats.org/officeDocument/2006/relationships/notesSlide" Target="/ppt/notesSlides/notesSlide15.xml" Id="Rba16e87082e749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3B460-F465-4866-8671-C1655286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BD54E-830F-43D8-86BE-F59BFF47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9AA05-FF72-47B2-A20B-4C8913C4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구조화하고</a:t>
            </a:r>
          </a:p>
          <a:p xmlns:a="http://schemas.openxmlformats.org/drawingml/2006/main">
            <a:pPr algn="l">
              <a:def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A8DCC-8DC5-430F-94A2-0FE17ED7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619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요청을 문서로 남기고, 역할과 완료 기준을 정한 뒤</a:t>
            </a:r>
          </a:p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운영 환경에서 결과를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19296-50CD-4513-A263-C347E5B3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0086C-FC53-47D9-8862-0D8C8E5C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35790-A981-49DB-98EE-446BB20E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862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DD17D-80ED-4703-91DE-74F1A046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33285-44A1-4F47-8CBA-CAA671FA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요건 조율 · 데이터 계약 · 오류 재처리 ·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DEA50-0E23-4BE0-8147-968AAA68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38575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8A327-2EF0-4543-9707-BB4A8BC9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38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488D7-BB77-43B5-A1A8-322AAC44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862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009C8-1F6C-44D6-9440-985C3DB6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E036B-A210-4518-8B89-C14B1E93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96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정책 · 상태 관리 · 운영 QA ·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4E780-4F06-4699-B541-80DEE6B9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229d81ba04722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CF1F2-DE51-45D2-BE92-5E7668BC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E8242-7E61-4341-9638-63B42E94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04073-22D9-485A-9A6F-EF439188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44235-0476-4B63-99FA-BBAC9ECA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F1B44-C568-41BC-9D8C-9D8C2667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25C944-A5C4-4FBD-ABAF-3A4B34DF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05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2052399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86A887-3BAF-4537-A2FB-B8F48FC9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BD200-168F-4062-9B5E-535ED6B8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Business Associate 업무와 연결되는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71154-0018-44E0-8AA0-C5C69628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8185A-E99F-44EB-9583-82DA8823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BBBD3-1849-4B3A-BBCA-21CF3D8D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경험을 직함이 아니라 산출물과 운영 행동으로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46045-67A7-4654-AE6D-DA230125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업무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98419-F1E3-40DC-94A7-ADFBC7E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09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78D53-A599-4F02-B6BF-18ADEBA6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9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산후조리원 B2B몰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56AC7-0FAF-4D29-B9F9-97145619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0972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공통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0B2C6-8F60-4D3E-B0BC-73FBFCAB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10A29-EA75-4BE0-AC20-BBF72C62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EC5F1-8A10-4961-AF20-DE31030E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요청·쟁점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6E0D0-A68E-40D4-AAD4-93B6F1A2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리스크·질의대장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864BE-E608-4920-876A-99CE2171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요구사항 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68259-AF47-404A-90EB-B14042BB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66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누락 방지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F39E3-0890-42E2-92AB-A9E93398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관계자 조율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673A9-5EAF-441C-85F4-812179B9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API 요건·인증·통관 경로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56E3F-3A78-47D5-8B7E-7657FF2A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575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고객사·공급사 운영 요청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10585-47DD-48F9-BE3D-6CF1648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회신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25CF5-1587-4610-A642-3FFEAFE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15F4E-1F47-437A-8266-04733A58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상태 추적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A8856-086B-4ABF-808D-B158464B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우선순위·결정 상태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C17CC-9E97-424F-866D-DCAF456C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ID·상태·완료 정의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63324-1C44-4FCB-8CFB-A9E38D5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48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후속 조치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2F647-3E6A-4C15-8470-3E7EEBBE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기술 문서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80E16-10DC-4083-AE52-7CE6E1D0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38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필드 매핑·분할출고 규칙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ABAA6C-097A-4F76-8E1C-603F7719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386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정책 매트릭스·권한표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A0746-86E0-4100-A763-8E2E07B4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386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전달 가능성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DB4DD-FD43-473D-82A9-036D076A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A0A62-7D82-4B84-95BD-144B04F5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검증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FC0031-2EDE-47E1-82D1-E5DB6EE7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운영 환경 30건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2C39BE-59AC-4D43-91F0-ED54E7D3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서버 UAT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D5C7E-EFE5-4F9E-8987-E3F38C65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292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증거 기반 완료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E716CF-72A3-4913-BCFC-488BB7A2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FE60D5-E3F8-4AA3-A64E-BA8193F1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정식 회의록·기술영업 직접 경험은 확인된 경력으로 과장하지 않았습니다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747B41-F21A-4A42-8253-6DF0204B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234836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1884B-B407-4229-A7AB-380A80A6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A3A88-9190-40B0-8438-A69D1705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8D448-760B-472E-943E-2071F60B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 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CAE7F-ED13-4418-9CEF-7EFFEE74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법·제도 대응을 시스템 요건, 데이터 계약, 오류 복구와 운영 검증으로 전환했습니다.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70793-9DD9-4DBB-B0C2-2117ADCF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33500"/>
            <a:ext cx="3619500" cy="38100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2E716-B9F9-471C-A39A-51A6D2F4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7590D-47DF-43D7-8A47-C382FF8B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AC223-6B55-4D33-82BE-09F86ED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기획 착수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E0B55-A078-44ED-98FD-65B7905B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2026.08.21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3C05D-3070-439D-8462-C9AFF20B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테스트 서버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930BA-41BA-4FE7-8B4F-02EBD2B4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2026.08.28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20D80-6360-42CD-BEDB-EC951F10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오픈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82F24-BA8F-49BD-8BAB-31070129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2026.09.15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041DA-A77F-41D5-A935-0988EAB6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C0450-0CC1-4DE4-A6EF-0080FD43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BEE74-8D9A-44EA-A64B-61D68B7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4D62E-296D-4BBF-8C3E-201731F3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579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본인인증 두 경로, 오류 수정·재제출 정책, 외부 API 요건 조율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AF249-D904-4858-B37B-44DAC63E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E8FA6-EB78-41CA-8135-0E7E02E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29275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리스크·질의대장 · API 필드 매핑 · 결정 이력 · 분할출고 규칙 · QA 시나리오</a:t>
            </a:r>
          </a:p>
        </p:txBody>
      </p:sp>
    </p:spTree>
    <p:extLst>
      <p:ext uri="{BB962C8B-B14F-4D97-AF65-F5344CB8AC3E}">
        <p14:creationId xmlns:p14="http://schemas.microsoft.com/office/powerpoint/2010/main" val="1513048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864EA-23C7-42BF-8FAE-5BB03F2F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2F35C-6C7E-4400-A99C-D0C196F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요청을 받기 전에 책임과 데이터 경계부터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A8766-7E2B-4EF5-891A-509F33A7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95E8A-7065-40F5-B231-FE30119C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38D31-BA75-4301-AB99-7C927C2F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연동 실패의 원인을 기능 부족보다 정보 주체와 처리 기준의 불일치에서 찾았습니다.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6610C-341F-4BBA-A2D4-543C7B0C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34004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D8845-6FCC-4DFE-816F-008C2EAA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C7395-63B1-4CE6-8FEE-3DB6449E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정보 주체 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33C7F-3A50-4BE7-8C89-E194F8AB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쇼핑몰·본인인증·ERP/WMS·통관 업무가 서로 다른 기준으로 정보를 보유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B1F57-EBCC-44F7-9115-CD3B9966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66875"/>
            <a:ext cx="34004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8FB2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3E418-B565-4331-B107-E6CD838E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66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F4313-0721-4AEE-B6AE-591104F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00275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분할출고 규칙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07563-472A-477C-948C-68315F80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098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주문·포장·HBL·신고 단위를 같은 기준으로 맞춰야 하는 상황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6FD92-FC45-400A-B6BE-E9E7BF0F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4004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31192-445F-405F-BCAD-A78A5AD5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D07FC-27A8-4A84-BDED-EF134902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0275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오류 복구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0A750-351B-431D-9117-7CCD67A9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어떤 오류를 어디서 고치고 어떻게 다시 제출할지 운영 합의가 필요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A7453-41CE-475B-829A-CCC860CB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프로젝트 목표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02251-6C57-4921-89B8-6C45C663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58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16577-F32E-41E6-AA2C-86783A69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유형 · 데이터 필드 · 처리 상태 · 오류 복구 · 검증 기준을 하나의 운영 계약으로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5A7B4-EA21-4CEA-A2CE-55820200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역할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34D94-8760-4FB0-8D9F-5390CA40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340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구조·정책·요건·검증 기준은 직접 정리하고, 개발 구현과 통관 신고 수행은 관계사 역할로 분리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5495C-4D2F-4EE7-8099-D6D5EF31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B29EE-8739-4DB8-B6A3-D2E0CE8D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4DD7E-FEE0-4D38-A893-CF64615A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252279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FD2027-D99A-4361-AF69-35CC57C4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8D496-7FCB-4B1A-AFB4-CAA49A43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질문·리스크를 결정과 후속 조치까지 추적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EA1DF-A18B-42BB-9B12-9965DF6B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70726-B493-45AB-A0C6-01316613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B5B83-D77A-45EF-9FAF-0806057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개별 담당자와 기한을 꾸미지 않고, 확인된 우선순위·상태·근거만 남겼습니다.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83847-9E29-4BBC-88A5-0EEC43F0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03C8E-2D58-4626-9436-8C4312CD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6B706-661B-44DB-BCD2-8105D7D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요청·쟁점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D02D2-37E3-4365-B116-5DEFA58E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질문과 위험을 한 대장에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143D2-3A2D-4411-8999-04077965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95B0C-6770-4185-888E-0D39FCDB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F05B7-DCEA-4F5B-A0A7-5471BC0A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우선순위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FCE87-B5D9-4764-9E7B-0EAC2A93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오픈·법규·데이터 영향으로 분류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F231E-80D7-4C6E-B06D-6F8F8700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98360-EFB9-4D9D-9778-A7A83F4A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75183-7C73-4D88-ADCD-42F840B4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6AEA2-65D1-4F44-9016-C4B25ED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선택 기준과 범위를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9B9A2-03C6-4D67-BAEF-E2191610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3CAF0-8B88-445A-9F9F-12578821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424CF-707E-4C0E-8EF8-3083183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회신·조치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F40F7-7C96-4020-B9D3-2865077A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관계자 답변과 후속 작업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588F4-63B2-49CE-BAA4-E85781B3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A199B-0232-4BC3-B648-E8494935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32792-461A-4931-BDDF-8F9D602F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 근거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27FC3-3FAE-4BF2-ADE5-AE2B6543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문서·테스트 결과로 완료 판단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F1E4C-BCC0-4A4C-836D-C36EA5DB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2026-08-26 대장 스냅샷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AFEC60-7E93-4F18-B923-57E49D9F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2476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09402-93D1-4021-90C7-B1E5AAA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DEABE6-9474-46C3-84CF-EACB7BCD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해결 또는 기준 확정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B62F84-4DA7-465C-A80C-E058025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337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1CA4C-C42D-4C46-981B-2FDD5155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05225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P0 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3DD1DE-1ABF-43FB-8030-9DC5E611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오픈 차단 가능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37BC47-6711-4E7A-B249-6DFD7040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337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09EE48-EBD8-44F6-8EEC-7D697BAD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05225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P1 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BFE0DF-1AD6-4FE1-8006-F5530FDE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핵심 경로 영향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8D221E-8954-412C-A115-7EB207FA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337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5D9BBF-BCD0-4785-A2C8-D37CC2BA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P2 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C9B3A7-0EE8-4BC8-BE80-B8949E9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91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후속 보완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934799-C784-46B0-AAEC-08043E8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33775"/>
            <a:ext cx="16573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4C406F-AD23-42B8-9E05-8264FEF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052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판단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B10A33-C10A-4507-B7CB-3B529134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576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답변 수신이 아닌</a:t>
            </a:r>
          </a:p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기준 확정 또는</a:t>
            </a:r>
          </a:p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검증 근거 확보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08806F-C62D-42F8-BB1F-2DF98D9C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858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88E322-77FC-49B7-8520-6D24C760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관리 필드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2F132-1B69-4DC1-94FA-0094AF05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62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쟁점 · 우선순위 · 상태 · 결정 근거 · 검증 자료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548126-8B07-454C-91DF-538984F1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816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개별 담당자·기한은 확보된 근거가 없어 외부 제출본에서 제외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CCD87A-CE1A-4EC5-9B79-D6428219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C4B6B0-DCE9-444D-81DC-B1C91D89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347803-3ADD-4276-A40B-CFF757C8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1260091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C0B917-CF76-44AE-8D55-5FF415C6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D6003-8928-4F55-9D88-1CAFFC04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연동 구조와 책임 범위를 같은 그림에 표시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4BD4C-6476-4D13-B3C1-08F3938C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3401F-D829-45C5-884D-C62DA09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B07C3-89E0-4867-9C81-BB267190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데이터가 지나가는 경로와 결정 주체를 분리해 전달 오류를 줄였습니다.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F2A1E-C23B-4404-8B60-5A6189BD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3834B-8FC9-4EE1-92F4-941AC12E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3F4E6-B5BF-44A5-9AA3-86F147E2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주문·상품·수취인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34888-BEC0-4542-B9D0-DBAC05DE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9050">
            <a:solidFill>
              <a:srgbClr val="1B4F9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05517-A641-4FE4-9818-865957A9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AE77F-AF32-4861-BC3C-B9251666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수집·정규화·전송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3F76B-0D4B-48D4-B7BC-B0E098E7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C873A-7CC2-4FD5-8F41-8680840D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ERP / WMS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240E5-FEB1-4A0B-B905-DFCED1D6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출고·포장·운송 정보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E9828-94AD-474C-BDD6-E0884FEC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74CC9-3E7C-4501-A336-72F9A226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업무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2AA1C-9E42-4A70-A4C2-F2F8B38C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신고 응답·오류 반환</a:t>
            </a:r>
          </a:p>
        </p:txBody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38475" y="22764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B2E0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81675" y="22764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B2E0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24875" y="22764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B2E0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F980B-ED5B-4AF9-A23D-936F00D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내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4E7C8-2FC7-4FEF-AE28-7C7EBC11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688F9-8CB2-4763-B126-66D6674D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연동 구조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1012E-608A-41CC-9CC5-22BCBEE3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국내 DB 중심의 데이터 흐름과 경계 정리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D55D8-F69D-43B0-9DA3-7133F25D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1475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D421CF-B634-444C-8AE5-9500F7CE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05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1713D-EBEC-4EB0-B3AA-1F82CC9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862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본인인증 두 경로와 오류 수정·재제출 기준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F00C8-B589-4874-B5D9-C334E583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04B3DC-E1DF-4AEA-A3F7-E5662AD4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CEE02A-F800-450A-B911-B7D791EB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필드 매핑·결정 이력·분할출고 규칙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34658-B791-48F5-A99A-7A2A2F16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1010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B1CB89-46C8-46B5-8302-9D92D83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0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5DB5FC-4E2C-444F-BB9D-4CC511AD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815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기대 응답과 운영 환경 테스트 기준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D3FB6A-A36E-4266-86F9-D41C0B46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경계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E93534-19B7-4643-A170-BAD9CAF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76900"/>
            <a:ext cx="1014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개발사는 구현, 통관 대행사는 신고 수행. 박종혁은 요건·정책·상태·QA를 연결했습니다.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4FCB2B-F78E-44EE-AE01-5824868B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D5AE34-2A3C-4550-8507-DEE4C2C9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7910D7-82C1-4398-9B06-38432289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329811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43228C-DC99-4E5E-B437-B404D854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131E7-4F0B-43B8-B292-9684405F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데이터 계약과 오류 복구 기준을 문서화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B35F3-618B-4E6E-B2D6-EB238FF7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65CED-5197-42CF-8756-762DCD14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16C9B-1F80-48A6-BBAF-D0B0144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필드 이름보다 주문·포장·신고 단위가 일치하는지 먼저 확인했습니다.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10238-C3AF-4CC3-8DE1-97522D81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858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AE65B-AA04-4600-A9F7-5A85DE27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rPr>
              <a:t>분할출고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282D4-2043-4A5D-9C22-BCAC470E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90700"/>
            <a:ext cx="852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HBL = USD 150 이하 포장 1건 = TRA001 1건 = HWB 1건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6E737-4A27-4960-A5B1-9ECBAF21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86000"/>
            <a:ext cx="852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주문 수량이 아니라 실제 출고 포장 단위로 신고·운송 식별자를 맞춤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1D4BC-6624-4115-96B0-1B5B9F20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필드 매핑 묶음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62073-3DDC-409F-A0AF-B49927C3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195B9-F7AA-4DED-BF3F-E1CC9455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87D5F-1B93-43FB-9477-955A83C0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채널 주문과 거래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CBFE5-88C4-4AEF-BDA8-771B33DC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2C463-843C-4939-A197-A43E7E5C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상품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8D041-877C-48C6-800B-A0770C96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품목·수량·신고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A2AE6-D71C-4F6F-A35D-6ED2A25C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FE0960-23F8-4532-9193-400F8FFB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수취인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ECD30-8098-4888-9986-6809C862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통관 식별·본인확인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B2822-5DF9-44B3-A4AF-FCC58644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8FB2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A1C96-E7A5-46CA-BDBE-621344CA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출고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CC2D3-E823-4D20-AE9E-E0E7BDD0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포장·HBL/HWB 단위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CFBBD-8B6D-4A47-A05A-C21788B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오류 처리 상태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44D47-5750-496E-ABFE-EEC2E242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BE6AD-93FD-4E18-BA54-2F488498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주문 유형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8DF05F-9227-4A70-9334-B023A152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BD29A-73F0-4F61-A3D0-D879C008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0CC8D3-651A-4CA9-A4A1-1D203B21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경로 적용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9D0899-52B7-4BB5-AE1A-6E4275F9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E9ABB9-38F5-4520-8C0E-4A65B73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63157-DF55-444D-90E8-7499052B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응답 수신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413CF7-A317-408C-BD01-8B2E8582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47A32A-A856-4E09-AF02-A34E9806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EBCCDE-A6D9-45A1-8ABF-B59FD7C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오류 반환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645AE6-75D5-47D1-B775-8E7983AA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6CB1CC-A654-424A-99BA-72D15B4F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1FB7CA-192D-4F42-BAF4-A42A1F47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원천 수정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A201B9-D38D-423F-958A-D0B44438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EE2F64-20DA-4734-B0E2-3BD5B01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5E66CA-95A3-4E32-8587-32A644E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재제출·검증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9929C1-FAFE-4199-866F-F742275B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신규 연동과 기존 운영 경로를 병행했으며 자동 처리율은 측정하지 않았습니다.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CBF32A-1A17-4831-96B4-77E94F1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9FE0B4-61A2-43D3-B83A-DD9CCFC9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EA4B51-0DDF-4C97-9B98-5E53CE64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811347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D60746-EF3D-4EFB-BE03-7B484393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B9722-FFA6-49B0-9DCB-72C3AC4F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테스트 목적과 운영 결과를 분리해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0D191-983F-4054-8813-09C5C52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08FB5-4C19-4960-950B-EDB59D30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C1708-0618-4F2C-86B8-C0F9B331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테스트 통과가 자동화율을 뜻하지 않도록 범위와 한계를 함께 적었습니다.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9A0B8-DD1C-4094-91CE-AE8CAC12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환경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5CEC1-516E-4C4F-9993-BD4DA3FF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B367D-D54A-46C4-8427-7EC121FB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343D0-EFCE-4741-92FC-3F02E89B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6E852-4432-4F8A-BA1B-FC31797F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기대 형식으로 접수되는지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53584-FD18-48EA-B990-7211AFD8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414E0-C5CF-4913-B08D-76301220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336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9F737-879E-4725-B24D-E4EFD853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479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96848-D9FA-46CE-9DAE-82274966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00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오류 응답이 기준대로 반환되는지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57859-D727-4589-A4AC-508ADDBF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71675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7CB5B-D41A-4E72-A972-C29DAA66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12879-8CD2-4E08-9F58-D779C41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479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D0320-C91C-4126-B5FA-4DC4B3DC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원천 수정 후 다시 처리되는지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6D4E3-C13C-4688-908A-C7502B05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48615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1090F-00E7-472C-AA98-615527E7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6692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 / 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B024C-37D4-4F4F-A0F2-E334C7E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05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rPr>
              <a:t>테스트 목적 통과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5C25A-F7ED-4671-B483-4CC62ACE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76575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유형별 건수는 별도 공개하지 않음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ADCAB-9B07-4C71-924A-E822499A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2026-08-28~09-15 운영 집계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E6944-E258-4ECC-A4A1-6EA5383D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2F778-BAA3-4695-9813-6331B2B5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 / 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56D3A-EE14-44C2-831B-5D1BC09B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발생 주문 규모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C4DB9-EFB2-4C68-9FE9-21C65976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286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23AFB-0C8D-4665-888B-B0FE3B0E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rPr>
              <a:t>약 230건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93A401-36F5-435C-9E45-B0BF0BCD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29175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자사몰 · 일평균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2A4EB-62D9-4487-A27C-611B6476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2286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A6856-54AF-4C71-9082-E62EBA2A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rPr>
              <a:t>약 70건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B3D96-2C4C-44FD-9B8D-EDA1140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29175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기타 채널 · 일평균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4F97BC-2D2F-479E-BFEE-DF4DB8A9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73BA3E-9364-47C3-AB80-98A28E0C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4DD6EE-EC56-47AF-A4BA-29DFDAD5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291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집계 대상 주문 전체 통관 완료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AFE345-CA07-443D-9524-2907D5D4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9675"/>
            <a:ext cx="2628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신규 연동 + 기존 방식 병행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FCBF94-F261-4CE0-80F0-A881FD5F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85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D4D770-2EC5-4D31-98A3-32B4EF25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측정 한계  자동 처리율 · 신규 경로 비중 · 처리시간은 미측정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E361A7-C263-421E-80E5-17B1DBBC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28348F-57A9-4CF5-963B-2C98273A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C6A0DE-7B66-4A7A-AE7B-F612D33F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658765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649D9-B841-4E2D-AFB7-24FF504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9DE19-06D1-4407-90F5-33790C2F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1EF39-054D-4B3D-918B-2D0DFFA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 B2B몰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3A3BD-83BD-4BC5-9DDE-338F940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고객사와 공급사의 주문·출고·정산 요청을 계정 정책과 운영 QA 체계로 전환했습니다.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FD632-6EA2-4F54-B4F1-1FB3BBD6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33500"/>
            <a:ext cx="3619500" cy="38100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53946-013D-4FF6-A2EE-21138E42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F11FF-8B5E-49CB-B207-CFE0BE44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B786D-649E-4C64-A43D-77FC8BC1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기획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9CCF8-700E-471F-A701-C2DCACA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2026.07.02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37163-E557-403E-9E86-3CB7A236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개발 착수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F9858-2DEA-4E71-86A9-AD76C5C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2026.07.16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96731-C8EE-479A-8A5D-3203CD28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핵심 흐름 전체 가동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F01F9-8A06-4FB0-8311-9E3CC10E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2026.08.31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D0744-9F9F-4756-BE19-1B578D06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최종 검수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6DE5A-8BB8-4DE4-A069-CC43DCBB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86E7E-25F5-45A3-99FE-964EBB4A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9EA61-9F24-442A-B217-A61E21F5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579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 주문/배송/정산 조율, 몰 정책·요구사항·QA·운영 적용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89AEE-0B9D-40E6-94CC-4D5522EB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BDB46-BF1D-4498-B938-C64ED1A1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29275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 대장 · 4계정 정책 매트릭스 · 권한표 · UAT 시나리오 · 운영 매뉴얼</a:t>
            </a:r>
          </a:p>
        </p:txBody>
      </p:sp>
    </p:spTree>
    <p:extLst>
      <p:ext uri="{BB962C8B-B14F-4D97-AF65-F5344CB8AC3E}">
        <p14:creationId xmlns:p14="http://schemas.microsoft.com/office/powerpoint/2010/main" val="1360742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3CEA99-3CE5-4AB9-B85B-492A4AD5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87527-75D5-49F3-8B04-1E5EA1AD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문제를 요청 주체와 검증 수치로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9A391-4B26-4B31-8767-0327804F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34BE1-725D-4091-B9B6-2C298498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15BA9-0630-4E6B-A77B-CE9D7D6C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고객사·공급사·운영팀의 불편을 주문부터 정산까지의 업무 구간에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8CA21-CE0C-43D1-ACF0-90B84A48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ED4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0AADC-A66A-4338-8A66-CDEED3BE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709E3-89E5-4268-820F-39587C8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D7E9C-5FDE-49D5-9476-34A49F5F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5EC22-29E2-4BCA-B390-2A3669ED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C657D-EFFB-47AF-B6BE-0D26A1F6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07.02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901A0-F17D-460A-A10E-1A593400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착수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F3787-145D-46B0-865B-E919D0E9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B254C-B211-4014-A0FF-EEF03664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07.16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84C94-C023-4D2F-8A0D-03E2744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가동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88ACF-BFEE-42ED-AA42-657F95D3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6B764-5633-4820-9483-08FDD0B3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08.06~13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BF111-0275-47EB-BFAE-9766B6FC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고도화·QA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49304-C5BF-48D4-A3C3-F7277064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6F3AE-C580-4669-9813-D4064498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08.31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2ECF6-D371-4B80-8F38-2B670CF3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최종 검수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C9166-7069-4844-81FA-9E9C7D13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4004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CF06C-65E2-4DA0-9F58-99DD1B30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C5E01-CCBB-4B88-9847-D64428A9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직전 6개월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B6247-2D0E-4D47-B2D0-4F7278D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월평균 2~3건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2781AF-DFA3-43DE-85E8-7A4FA751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943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근거 · 출고·CS 로그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AA292-D75D-4913-B742-7D3BE65D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962275"/>
            <a:ext cx="34004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58E161-AC77-4ED6-A500-17590B4F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81350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배송·주문·입금 문의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496E1-CA5D-44E8-83DB-FCAA6A14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09975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1~6월 2주 환산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DD4D94-A96C-466E-A37D-06E3A2B2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7192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C2E5E2-EA59-4FE6-BD6D-26829910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52950"/>
            <a:ext cx="2943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근거 · 문의 분류 기준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7EC84-7537-40F7-B74C-4BF2B7B2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34004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303F85-58AA-4A8F-A7FF-388DA777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24585F-D694-43BA-85C4-03C030BB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9975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매일 반복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8B8BE8-7D3A-46AE-A741-12D7DE79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7192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21F155-D9E9-4755-9C5B-DF7604B3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2943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근거 · 개선 후 미측정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030E87-9AB0-46A7-9764-F59D1ACD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858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7524C7-83DA-4D51-8B8C-5EAA362F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설계 질문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BDC15B-98C5-4959-B265-A66C0689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67350"/>
            <a:ext cx="928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누가 어떤 계정으로 주문하고, 어떤 결제 방식과 완료 기준을 적용해야 운영 오류를 줄일 수 있는가?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3D9780-116E-47E7-8E05-72BA721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4A6646-9C78-4541-9453-A94B5515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71E027-1ECE-4442-80B2-BD8CD3DF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2166508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AA5683-EFB6-4D16-A2A9-A00B13CC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E2CED-95E9-4B19-A292-BFC21DBA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기능 수보다 운영팀이 유지할 수 있는 구조를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5C41F-1E53-4714-9ED4-9F498253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8CDBB-0D5C-4ADB-8A5A-3DC9E671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72F28-BB71-44B0-BEDF-C4C03999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러닝커브·기존 인프라·유지보수 범위·구축비용을 기준으로 세 대안을 비교했습니다.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BF557-E825-4FB4-888F-9437ADC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0690D-9658-4E91-81DD-35786619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0972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운영팀 학습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A8841-0553-417B-9BA3-3CA5B0A4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097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기존 인프라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856CC-B901-470E-9542-5E07B82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972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유지보수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7A06C-F59E-46A5-9BC3-D0F22B0E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097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4E2D3-9651-426D-A91A-25B1F32F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EB7FD-A695-46F8-9D45-CF8EC7F4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67FBC-F021-4A14-AA1B-45D4E77E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맞춤 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D6D71-3387-4134-B61F-D30D7084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새 업무 습득 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A0E1A-02E9-43D1-B873-2657152E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별도 구축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0A1EB-416C-4402-B55C-46C96570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6220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자체 유지 범위 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1E103-7D7E-443E-A799-ABF944FB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6220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56C50-030A-439E-95D8-D8316423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8F35B-DF41-4994-A1EF-9A7C4D92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타 쇼핑 솔루션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17A94-F40D-4115-ABE4-799F8705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718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도구 전환 필요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56D39-CDC3-4B65-8FFF-7D660920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재설정 필요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CB45C-7A1C-4CF8-97D7-ACB91E77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솔루션 종속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E9536-2D65-4989-949F-272B5C7A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7185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4B4B1-C9C2-4DCA-ACEC-2DAFCCFA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19050">
            <a:solidFill>
              <a:srgbClr val="9ED4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C1D1C-548F-4371-A95C-EC83D63D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 + 정책 커스텀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622B51-8BF0-4F0E-B8A2-89C28E72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운영 방식 활용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AAE70-9479-4163-A9FD-5D44ADB8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현재 환경 유지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450975-1190-4ECF-A7C1-82F9F75F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변경 범위 한정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C4ADE-431D-4EDF-8896-A48CD615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38150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A5CEA0-298D-4DFB-B524-A49E010B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FE654B-79F1-4791-BB6D-FB91664A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3390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A2419B-618E-46A2-885B-719844FC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3710E-E916-463D-A207-01AE70A0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3390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7A3612-DB75-45B6-9860-BF105DB4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5A827-47DC-4D91-AEFE-79186786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95950"/>
            <a:ext cx="3390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753EDE-CFA8-4FD9-8D37-118875D8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991551-D23B-4E84-8F40-5BB405BC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361288-9752-4E93-A03A-3F315828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13666E-5B1E-4589-83FC-F946DEA4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764911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EFA06A-989F-4B42-A44D-725DA714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CC260-8EF1-4B4F-AA25-F0574AF3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ID·상태·완료 기준을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ECA1C-6624-49A9-A737-E42044A5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5157D-63D1-442E-A23E-9ADBECD7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B745C-FBA7-41F2-B871-479D83D4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개발 반영 통보와 운영 서버에서의 실제 완료를 분리했습니다.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C4E20-55A3-414C-B9C2-6D6071E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요청 유형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F7998-E1AF-466E-A4DA-5BB9FD20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D994E-EFC1-4CC5-A40E-DC0E4515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BR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5B764-13C3-4CB3-B746-C2602CA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F24A7-9155-47BC-AC7F-BABEC594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기본 요구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B7192-E6A4-4B14-89E2-3369BECA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A5EC9-CC9C-4EB3-ABFA-62D5DDA3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AB120-ACEF-49FA-A044-D3901F98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FCDA8-3F6A-453A-9BC2-0DE73FF4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추가 요구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30A78-461A-4FBF-A0CA-D7D89799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C5B03-5E71-4F4E-8485-843CF23E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C6C28-730F-4D31-9FA7-900C13C4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F8D16-1AC6-46E7-97C4-D68E5693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정책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2C1FC-2E41-42FB-8806-14E8DC47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E3B4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8A7AC-D56C-4772-9E07-79C3BCEE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BUG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068AB-3A16-4E8E-AAA7-2B6E72C8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2FDC8-BB0D-4182-8E70-ED01CE1E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30356-A9CC-4C8B-9334-66C41F4D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74E23-210E-4F6C-A006-663EC28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DA956-8A8C-4563-A568-01C9FD96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2E7C6D-5348-4D59-B7DB-B7989411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보류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B155DD-657B-44AA-B77B-14852390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450A3E-F0B6-4D91-AEA9-2DD3D4A0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5CC68-5289-42E1-B5E8-22D07868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C023C-A514-4B8B-B040-2BCAB136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353BD-4181-4CFC-B6FE-15BDC011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부분완료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B985B4-DC76-4599-84D9-8B008F15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6A46CD-AEF1-48A8-8097-C7823328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QA대기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929714-F811-439B-BD8D-FC4FEA2F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C60408-F30B-4CD8-8D34-EAE7E7A6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QA실패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B30C3B-DF7D-483D-8A88-B6AAC7DA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99A878-DF04-491B-8789-E38D3137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확인불가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84CC13-622D-42FA-9BA6-243314F9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51911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0C14D5-4FE3-44BD-AC80-3C450296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rPr>
              <a:t>완료 정의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EB1236-8315-4FA9-B09F-E5D3FE6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서버에서 기대 결과를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직접 확인한 경우에만 완료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BCB19A-E7F2-436D-912B-D3201180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62450"/>
            <a:ext cx="540067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9B8DE9-6E77-472D-886D-5F0B5856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실제 사례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1EA067-9EA1-4581-9D0E-30B03D54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수정 기능 진입 실패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21D333-CAEC-43C1-B42D-74DA9FF6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34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운영 서버 미반영 + 기존 차단 로직 잔존을 분리해 확인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59F2DC-A43B-4B78-A4FA-E3A6022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1E0185-70A8-441C-B75E-FF665CB5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2026-08-31 최종 검수를 프로젝트 완료 기준일로 사용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A8D165-18D1-4785-BEDD-941D6A70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6256457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A49B68-4C2D-405C-95F0-F69EAAFD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50F85-DEF6-4D26-8D82-C77D20A5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정책과 운영 화면을 같은 기준으로 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6F25E-AEE1-4DCD-B54B-B9B3FF9E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B89B1-D61B-4D3A-820A-00416D07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10B0C-B818-4BDD-919C-77B5D979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원본 화면은 개인정보·가격이 포함되어 외부 제출본에는 안전한 재구성 화면을 사용했습니다.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C7DA7-48CA-4922-B6CC-C93B7514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계정 정책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C6B85-AD85-45A0-99F6-14E98A44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F15EA-9C64-4DA4-839A-40BB3AD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08A50-35DF-4057-9ADD-B8348FF5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DFD12-CF51-43C6-90BC-B45C0918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선불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CF74A-B2F4-40F1-B668-36A72A37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52625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EFB41-0BBB-4BF8-A6B3-081D46DC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240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B8D56-4A9E-4D9C-86DB-DD3F5B19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D8DE1-F65F-4005-B834-08584A7F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후불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18978-2B94-4D7F-A059-0D2EDF97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22C0B-9F54-40A6-9220-DC22FDF8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3F732-5C42-4AA2-B870-39732E4F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03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E9370-8714-4C6B-8AA4-B7577409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194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선불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E7A21-B8F0-42EC-B354-53CE134A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38450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3C203-277E-44CD-B7CC-307AEFE2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7C41B-4AA5-49E8-92DA-3133AAB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03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4315CB-BE64-428E-A37F-00E3E5DD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194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후불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E5FF6-FD3B-47D0-B1DE-551F0F5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0386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E3B4B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D886D-53F2-4B8E-8CD6-B73C575E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혼합주문 차단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B9415-E305-402F-A024-E18D606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결제 방식이 다른 상품은</a:t>
            </a:r>
          </a:p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양방향으로 같은 주문에 담지 않음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BBD82B-2A48-4103-9027-415A10D2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716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운영 화면 기반 재구성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3B129-B998-4272-A6B7-8A945170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885950" cy="3028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08DDCE-FEA8-461F-BB14-A04CF3AE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885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B5F4D-61FD-45C6-84B4-E3D9B4F4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478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CB2625-F7CB-40D7-89C5-8F1F67C5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86025"/>
            <a:ext cx="1581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1CC9EF-E9FF-4FE0-914F-E31ABD40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432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BC7B73-6AA5-49FB-893D-19470F50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800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AEB432-5FF8-42B6-BB54-12041F6D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95675"/>
            <a:ext cx="8001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314EDD-3841-4643-9E4B-649BD906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767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허용 카테고리</a:t>
            </a:r>
          </a:p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정책 공지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985221-013B-4EAE-8B17-65CB7723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샘플 데이터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BC1497-58C1-4998-B475-0C88E759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52625"/>
            <a:ext cx="1885950" cy="3028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1C50BD-B984-47A1-8F75-7B9403D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52625"/>
            <a:ext cx="1885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FFC8C1-1232-4C08-8C6F-B0320C6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478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52BEB7-FA11-486F-A515-031AF0FB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86025"/>
            <a:ext cx="1581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0CCFA5-51ED-45BF-810E-77846E3F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B520DD-1502-4337-A3C4-9B193E7F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800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248F16-B18E-454C-92B5-09F59387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95675"/>
            <a:ext cx="8001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578998-D3BE-467B-AD25-B43CB9E2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767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본인 주문·</a:t>
            </a:r>
          </a:p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계정 정보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60F2B1-14D3-4D27-A64F-FDD53C71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샘플 데이터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EF1C39-6753-4EB4-8B4B-7AF37439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1885950" cy="3028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FAD494-2778-4857-AED3-AECED9A4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1885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ADE1E8-774F-4A2D-B847-89D744C8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478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LIST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D87447-9256-4D1D-B2FC-5D4001C8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86025"/>
            <a:ext cx="1581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36C62B-F802-4E39-B22C-30F04F52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432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3088E6-5464-4B82-A045-F85A032E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43250"/>
            <a:ext cx="800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85AF03-E931-4135-BB8E-AF61B0CB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95675"/>
            <a:ext cx="8001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DBA42A-2023-41D2-AB5F-A7FC95C6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767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계정별 상품</a:t>
            </a:r>
          </a:p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노출 구조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C26049-00A2-4201-9CAF-3A15381E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샘플 데이터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F3E0AE-6376-4720-B750-62C87AE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67325"/>
            <a:ext cx="60769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C7EBC0-7D45-44AB-BBEB-6B47D7A0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448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증거 범위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DFF3E1-82D3-4C4C-A973-BB779E8C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홈 · 마이페이지 · 물품 목록 / 공급사 전용 화면은 미확보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4C499A-F516-4F4B-A584-780ADE2A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1B3B28-F405-4CDB-93C5-5451CA02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FA0612-430C-44AB-90E1-A85596D1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3469446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980781-BA86-4A9F-A240-CEB22990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08459-BD9C-4917-928D-49B0C9A2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결과와 검수 진행을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7752D-C053-4715-B56E-8B8BA1BA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A7B1B-3998-4ACC-BA86-1B35ACF5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5D91D-BE37-4B87-BB14-3CFD2937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핵심 흐름의 초기 관찰치와 계약 항목의 QA 상태를 같은 성과로 섞지 않았습니다.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D4EF3-F2B8-4F95-9A29-45966A3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1435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6C988-AB12-4DA5-A5F6-ECF9F35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C935E-4F22-4843-BF52-6F58AB4D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866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월평균 2~3건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2130E-ADB7-4769-8377-408944DC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955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39664-2213-4E74-B66A-8C20EAAA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86000"/>
            <a:ext cx="2095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1D504-B989-4C85-B5E8-E617A7AD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55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직전 6개월 월평균 ↔ 2026-07-16 이후 약 1개월 전체 측정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3CD92-686E-483A-B214-3537E53F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38300"/>
            <a:ext cx="5495925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52CC2-C5DF-43F5-B3FB-0A01AD99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57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배송·주문·입금 문의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89735-AE77-4BA8-9C07-17F14388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86000"/>
            <a:ext cx="142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CE6A3-B551-4447-8D2A-EACCCE20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955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F699B-1A24-491C-9F65-E820F88D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71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19건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2081F-5328-4BE4-A83E-DE8BD64D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14650"/>
            <a:ext cx="4924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1~6월 2주 환산 ↔ 7~8월 배포 구간의 초기 관찰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014CA-5E86-4F79-8A04-F11D5568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운영과 검수의 경계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EC3DF-662C-4D89-9162-8FCED9D5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085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6CE6A-D704-4995-97FE-BD8467E9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rPr>
              <a:t>2026-07-16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CE73E-5471-4900-A8CD-9B34E88D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주문·입금·정산 흐름 전체 가동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FF32B-4342-4B95-85D9-E8787527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FB9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A3FBD5-3097-4700-A1A2-0A917553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815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rPr>
              <a:t>2026-08-31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4DD54-CDE3-48E6-A003-B6A1E06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958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계약상 기본 요구의 최종 검수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7234B-2E4F-4D17-AE21-CCC2A2F4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8585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1DAFB-D09E-4AA0-BA0F-96E2B7C3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2452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측정 한계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E399DC-8C55-4CB6-82BC-BC540341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676900"/>
            <a:ext cx="938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 개선 후 시간은 미측정 · 장기 지속 효과와 전체 CS 감소는 주장하지 않음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0FC8F-1060-40A6-B802-E2A0BE02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3D225-EE03-4A7F-84E0-C2EDD751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A6B18-F2D9-439F-ACF7-44212B68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7582749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9BBC77-BFF8-4C3C-B9B4-A065C649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18831-2DB5-4CF7-956A-D00BE868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Business Associate에서 바로 쓸 수 있는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5A2B1-BA66-43E4-AD15-6DFFCB08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직접 증명할 수 있는 것과 앞으로 배울 영역을 나눠 정리했습니다.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CA8B3-9717-4ABB-A82A-B35F9E28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3333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B0E2E-FC97-4CA4-AF27-30A39CB7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18B39-8CC9-40B4-ABF3-9396C3F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요청을 구조화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17CF7-CD8E-49A6-A555-320FC983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76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질문·리스크·요구사항을</a:t>
            </a:r>
          </a:p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상태와 결정 근거로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43814-BBCF-4CFB-A206-3E4AD0D3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3333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8FB2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C9AF3-C150-4B81-B9E8-2AC55D5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05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F52F9-B84F-42B7-B697-CB919421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관계자를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4440F-6A0B-48ED-906E-8CEEA222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76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개발·물류·통관·고객·공급사의</a:t>
            </a:r>
          </a:p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요건과 역할 경계를 조율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E154F-C2DF-4FD5-8C46-83DCC5B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04975"/>
            <a:ext cx="3333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F0125-7D42-4717-9910-BDBBF8D4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BB85C-DD90-4AFA-AC37-08931F72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완료를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E3677-5A26-4EEA-87E6-414D5AA8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통보가 아니라 운영 화면·응답·</a:t>
            </a:r>
          </a:p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테스트 결과로 완료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D381C-3214-4E03-AF49-BCBC9645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93420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23210-E54D-4FDF-BC56-A3C481C6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rPr>
              <a:t>직접 증명 가능한 업무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5AD76-235B-4A47-88DE-37D707E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요청·질의 구조화 · 외부 요건 조율 · 상태 추적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정책·기술 문서 · 운영 환경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66EC6-8E91-4F26-8D86-15F5389C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05225"/>
            <a:ext cx="367665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71690-41D3-4B3D-BD96-75D7E700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71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추가 학습 영역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4B47B-B12D-4925-89B9-4B80BADD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9102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대표·이사 회의록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오프라인 공간 AI 제품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제안서·기술영업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475C4-9770-45E1-9FC6-2E96772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09965-05B3-4D2D-AE12-3B64567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E56B2-51B0-42E5-8EF6-ACEF6DE6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15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2A945-E7EC-47F2-A644-F8758399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15050"/>
            <a:ext cx="396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관세청 통관 연동 · 산후조리원 B2B몰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0C918-B227-4009-9AAB-F9994896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361165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2026-09-16T22:47:55.2190000Z</dcterms:created>
  <dcterms:modified xsi:type="dcterms:W3CDTF">2026-09-16T22:47:55.2190000Z</dcterms:modified>
</coreProperties>
</file>