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3b06a3528c4d59" /><Relationship Type="http://schemas.openxmlformats.org/officeDocument/2006/relationships/extended-properties" Target="/docProps/app.xml" Id="R355ccbea39d045ab" /><Relationship Type="http://schemas.openxmlformats.org/officeDocument/2006/relationships/officeDocument" Target="/ppt/presentation.xml" Id="R122744b0949246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65ce383a8648d3"/>
  </p:sldMasterIdLst>
  <p:notesMasterIdLst>
    <p:notesMasterId xmlns:r="http://schemas.openxmlformats.org/officeDocument/2006/relationships" r:id="R3467cbf74e304470"/>
  </p:notesMasterIdLst>
  <p:sldIdLst>
    <p:sldId xmlns:r="http://schemas.openxmlformats.org/officeDocument/2006/relationships" id="256" r:id="R025f8564f1d24e2b"/>
    <p:sldId xmlns:r="http://schemas.openxmlformats.org/officeDocument/2006/relationships" id="257" r:id="R33c44c76b6a44561"/>
    <p:sldId xmlns:r="http://schemas.openxmlformats.org/officeDocument/2006/relationships" id="258" r:id="R304eca4779e442f6"/>
    <p:sldId xmlns:r="http://schemas.openxmlformats.org/officeDocument/2006/relationships" id="259" r:id="Re6f175f599ea42f4"/>
    <p:sldId xmlns:r="http://schemas.openxmlformats.org/officeDocument/2006/relationships" id="260" r:id="Re76256ce9ce94b67"/>
    <p:sldId xmlns:r="http://schemas.openxmlformats.org/officeDocument/2006/relationships" id="261" r:id="Rbda1178115484fa3"/>
    <p:sldId xmlns:r="http://schemas.openxmlformats.org/officeDocument/2006/relationships" id="262" r:id="R369718790f4c4f75"/>
    <p:sldId xmlns:r="http://schemas.openxmlformats.org/officeDocument/2006/relationships" id="263" r:id="R3267d31fe1e34947"/>
    <p:sldId xmlns:r="http://schemas.openxmlformats.org/officeDocument/2006/relationships" id="264" r:id="R8266fd99031f4ba2"/>
    <p:sldId xmlns:r="http://schemas.openxmlformats.org/officeDocument/2006/relationships" id="265" r:id="R2c840a95965145ea"/>
    <p:sldId xmlns:r="http://schemas.openxmlformats.org/officeDocument/2006/relationships" id="266" r:id="R79867b367531466a"/>
    <p:sldId xmlns:r="http://schemas.openxmlformats.org/officeDocument/2006/relationships" id="267" r:id="R15524965af0d4c39"/>
    <p:sldId xmlns:r="http://schemas.openxmlformats.org/officeDocument/2006/relationships" id="268" r:id="R28bcc71c30a94b8c"/>
    <p:sldId xmlns:r="http://schemas.openxmlformats.org/officeDocument/2006/relationships" id="269" r:id="R9be2e7f88b4147ee"/>
    <p:sldId xmlns:r="http://schemas.openxmlformats.org/officeDocument/2006/relationships" id="270" r:id="Rd609f3b4f0434e80"/>
    <p:sldId xmlns:r="http://schemas.openxmlformats.org/officeDocument/2006/relationships" id="271" r:id="Ra4edd3acb1dc41a2"/>
    <p:sldId xmlns:r="http://schemas.openxmlformats.org/officeDocument/2006/relationships" id="272" r:id="R22557d964eda4e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c50b694cbb48d5" /><Relationship Type="http://schemas.openxmlformats.org/officeDocument/2006/relationships/slideMaster" Target="/ppt/slideMasters/slideMaster1.xml" Id="R2365ce383a8648d3" /><Relationship Type="http://schemas.openxmlformats.org/officeDocument/2006/relationships/notesMaster" Target="/ppt/notesMasters/notesMaster1.xml" Id="R3467cbf74e304470" /><Relationship Type="http://schemas.openxmlformats.org/officeDocument/2006/relationships/presProps" Target="/ppt/presProps.xml" Id="R5c451a1353f64c5c" /><Relationship Type="http://schemas.openxmlformats.org/officeDocument/2006/relationships/tableStyles" Target="/ppt/tableStyles.xml" Id="R70ab77aac3e8466f" /><Relationship Type="http://schemas.openxmlformats.org/officeDocument/2006/relationships/slide" Target="/ppt/slides/slide1.xml" Id="R025f8564f1d24e2b" /><Relationship Type="http://schemas.openxmlformats.org/officeDocument/2006/relationships/slide" Target="/ppt/slides/slide2.xml" Id="R33c44c76b6a44561" /><Relationship Type="http://schemas.openxmlformats.org/officeDocument/2006/relationships/slide" Target="/ppt/slides/slide3.xml" Id="R304eca4779e442f6" /><Relationship Type="http://schemas.openxmlformats.org/officeDocument/2006/relationships/slide" Target="/ppt/slides/slide4.xml" Id="Re6f175f599ea42f4" /><Relationship Type="http://schemas.openxmlformats.org/officeDocument/2006/relationships/slide" Target="/ppt/slides/slide5.xml" Id="Re76256ce9ce94b67" /><Relationship Type="http://schemas.openxmlformats.org/officeDocument/2006/relationships/slide" Target="/ppt/slides/slide6.xml" Id="Rbda1178115484fa3" /><Relationship Type="http://schemas.openxmlformats.org/officeDocument/2006/relationships/slide" Target="/ppt/slides/slide7.xml" Id="R369718790f4c4f75" /><Relationship Type="http://schemas.openxmlformats.org/officeDocument/2006/relationships/slide" Target="/ppt/slides/slide8.xml" Id="R3267d31fe1e34947" /><Relationship Type="http://schemas.openxmlformats.org/officeDocument/2006/relationships/slide" Target="/ppt/slides/slide9.xml" Id="R8266fd99031f4ba2" /><Relationship Type="http://schemas.openxmlformats.org/officeDocument/2006/relationships/slide" Target="/ppt/slides/slide10.xml" Id="R2c840a95965145ea" /><Relationship Type="http://schemas.openxmlformats.org/officeDocument/2006/relationships/slide" Target="/ppt/slides/slide11.xml" Id="R79867b367531466a" /><Relationship Type="http://schemas.openxmlformats.org/officeDocument/2006/relationships/slide" Target="/ppt/slides/slide12.xml" Id="R15524965af0d4c39" /><Relationship Type="http://schemas.openxmlformats.org/officeDocument/2006/relationships/slide" Target="/ppt/slides/slide13.xml" Id="R28bcc71c30a94b8c" /><Relationship Type="http://schemas.openxmlformats.org/officeDocument/2006/relationships/slide" Target="/ppt/slides/slide14.xml" Id="R9be2e7f88b4147ee" /><Relationship Type="http://schemas.openxmlformats.org/officeDocument/2006/relationships/slide" Target="/ppt/slides/slide15.xml" Id="Rd609f3b4f0434e80" /><Relationship Type="http://schemas.openxmlformats.org/officeDocument/2006/relationships/slide" Target="/ppt/slides/slide16.xml" Id="Ra4edd3acb1dc41a2" /><Relationship Type="http://schemas.openxmlformats.org/officeDocument/2006/relationships/slide" Target="/ppt/slides/slide17.xml" Id="R22557d964eda4e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44716546554b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c2e5a7281411b" /><Relationship Type="http://schemas.openxmlformats.org/officeDocument/2006/relationships/notesMaster" Target="/ppt/notesMasters/notesMaster1.xml" Id="R166dad9761284a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02b751c1ca490b" /><Relationship Type="http://schemas.openxmlformats.org/officeDocument/2006/relationships/notesMaster" Target="/ppt/notesMasters/notesMaster1.xml" Id="R933f37d23dcc40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637fa68d014e51" /><Relationship Type="http://schemas.openxmlformats.org/officeDocument/2006/relationships/notesMaster" Target="/ppt/notesMasters/notesMaster1.xml" Id="R7938c4b4508c47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d2ba8baa6d496b" /><Relationship Type="http://schemas.openxmlformats.org/officeDocument/2006/relationships/notesMaster" Target="/ppt/notesMasters/notesMaster1.xml" Id="R1c01d0a95cb94f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1143a40e184a7b" /><Relationship Type="http://schemas.openxmlformats.org/officeDocument/2006/relationships/notesMaster" Target="/ppt/notesMasters/notesMaster1.xml" Id="R84606732ad4b4d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48a42efe54cc6" /><Relationship Type="http://schemas.openxmlformats.org/officeDocument/2006/relationships/notesMaster" Target="/ppt/notesMasters/notesMaster1.xml" Id="R366129e4db034e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7e51ffb3cc437b" /><Relationship Type="http://schemas.openxmlformats.org/officeDocument/2006/relationships/notesMaster" Target="/ppt/notesMasters/notesMaster1.xml" Id="R1a77d47f273e4a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d131b45f7940be" /><Relationship Type="http://schemas.openxmlformats.org/officeDocument/2006/relationships/notesMaster" Target="/ppt/notesMasters/notesMaster1.xml" Id="R6545e7f9540344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83e12aacdd4335" /><Relationship Type="http://schemas.openxmlformats.org/officeDocument/2006/relationships/notesMaster" Target="/ppt/notesMasters/notesMaster1.xml" Id="R6bc9f4a441a04b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729da297cb4bb2" /><Relationship Type="http://schemas.openxmlformats.org/officeDocument/2006/relationships/notesMaster" Target="/ppt/notesMasters/notesMaster1.xml" Id="R91c11a1105c642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113ff6952a4479" /><Relationship Type="http://schemas.openxmlformats.org/officeDocument/2006/relationships/notesMaster" Target="/ppt/notesMasters/notesMaster1.xml" Id="Rae8bf25068be4c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a8a339e8c64de9" /><Relationship Type="http://schemas.openxmlformats.org/officeDocument/2006/relationships/notesMaster" Target="/ppt/notesMasters/notesMaster1.xml" Id="R5ca4cd6f37af45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6566617a454486" /><Relationship Type="http://schemas.openxmlformats.org/officeDocument/2006/relationships/notesMaster" Target="/ppt/notesMasters/notesMaster1.xml" Id="R5491edb13f0649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fb8021c4dd4dfe" /><Relationship Type="http://schemas.openxmlformats.org/officeDocument/2006/relationships/notesMaster" Target="/ppt/notesMasters/notesMaster1.xml" Id="Rbc8b19b23a2244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cd9c321ae646c1" /><Relationship Type="http://schemas.openxmlformats.org/officeDocument/2006/relationships/notesMaster" Target="/ppt/notesMasters/notesMaster1.xml" Id="R6179e1b814164f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321bab0e7f4db1" /><Relationship Type="http://schemas.openxmlformats.org/officeDocument/2006/relationships/notesMaster" Target="/ppt/notesMasters/notesMaster1.xml" Id="Rdcb0212f287c41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c499707e394443" /><Relationship Type="http://schemas.openxmlformats.org/officeDocument/2006/relationships/notesMaster" Target="/ppt/notesMasters/notesMaster1.xml" Id="R491c7a87d2bd40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4806947064e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17963068244844" /><Relationship Type="http://schemas.openxmlformats.org/officeDocument/2006/relationships/slideLayout" Target="/ppt/slideLayouts/slideLayout1.xml" Id="R0d549194f2e34e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549194f2e34e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c39f9898d4c14" /><Relationship Type="http://schemas.openxmlformats.org/officeDocument/2006/relationships/image" Target="/ppt/media/image.png" Id="Ra32300d06bcb4ef8" /><Relationship Type="http://schemas.openxmlformats.org/officeDocument/2006/relationships/notesSlide" Target="/ppt/notesSlides/notesSlide1.xml" Id="Rb3412aedcc5b44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5c89d4e6441c2" /><Relationship Type="http://schemas.openxmlformats.org/officeDocument/2006/relationships/notesSlide" Target="/ppt/notesSlides/notesSlide2.xml" Id="R3a92aee678d64a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e0690b06c4aa5" /><Relationship Type="http://schemas.openxmlformats.org/officeDocument/2006/relationships/notesSlide" Target="/ppt/notesSlides/notesSlide3.xml" Id="R9f710e7c48bd40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10055d7324f74" /><Relationship Type="http://schemas.openxmlformats.org/officeDocument/2006/relationships/notesSlide" Target="/ppt/notesSlides/notesSlide4.xml" Id="Ref5d5fd06b4e4c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8cfaac8d44b59" /><Relationship Type="http://schemas.openxmlformats.org/officeDocument/2006/relationships/notesSlide" Target="/ppt/notesSlides/notesSlide5.xml" Id="Rffc7a0e3103c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918d8fe49492f" /><Relationship Type="http://schemas.openxmlformats.org/officeDocument/2006/relationships/image" Target="/ppt/media/image2.png" Id="R41283e8b01da403e" /><Relationship Type="http://schemas.openxmlformats.org/officeDocument/2006/relationships/notesSlide" Target="/ppt/notesSlides/notesSlide6.xml" Id="R220f36b77ba441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d64336c0e4859" /><Relationship Type="http://schemas.openxmlformats.org/officeDocument/2006/relationships/image" Target="/ppt/media/image3.png" Id="R88e76e0947b4481c" /><Relationship Type="http://schemas.openxmlformats.org/officeDocument/2006/relationships/notesSlide" Target="/ppt/notesSlides/notesSlide7.xml" Id="Ra728694a0db046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80eca522d405e" /><Relationship Type="http://schemas.openxmlformats.org/officeDocument/2006/relationships/notesSlide" Target="/ppt/notesSlides/notesSlide8.xml" Id="Rd7c3f66a7dd94a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7ec1fead0496c" /><Relationship Type="http://schemas.openxmlformats.org/officeDocument/2006/relationships/notesSlide" Target="/ppt/notesSlides/notesSlide9.xml" Id="Rc95394c7383d47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a96b7f72d4d7d" /><Relationship Type="http://schemas.openxmlformats.org/officeDocument/2006/relationships/image" Target="/ppt/media/image4.png" Id="R75d21e5df42a4f9a" /><Relationship Type="http://schemas.openxmlformats.org/officeDocument/2006/relationships/notesSlide" Target="/ppt/notesSlides/notesSlide10.xml" Id="Rbf7334bfdd1045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0a8edd5b2441e" /><Relationship Type="http://schemas.openxmlformats.org/officeDocument/2006/relationships/notesSlide" Target="/ppt/notesSlides/notesSlide11.xml" Id="R3d00089e9c4543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88aa7a84349a2" /><Relationship Type="http://schemas.openxmlformats.org/officeDocument/2006/relationships/notesSlide" Target="/ppt/notesSlides/notesSlide12.xml" Id="R89f37089253546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73ce044674ba9" /><Relationship Type="http://schemas.openxmlformats.org/officeDocument/2006/relationships/notesSlide" Target="/ppt/notesSlides/notesSlide13.xml" Id="Ra25e1a48bdd246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6f6a079fa457c" /><Relationship Type="http://schemas.openxmlformats.org/officeDocument/2006/relationships/image" Target="/ppt/media/image5.png" Id="Rfe76f8db893a4286" /><Relationship Type="http://schemas.openxmlformats.org/officeDocument/2006/relationships/notesSlide" Target="/ppt/notesSlides/notesSlide14.xml" Id="Ra1389b1dd8ac41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bfc7ae27d4e96" /><Relationship Type="http://schemas.openxmlformats.org/officeDocument/2006/relationships/image" Target="/ppt/media/image6.png" Id="Ra56fa512eb6b4c67" /><Relationship Type="http://schemas.openxmlformats.org/officeDocument/2006/relationships/notesSlide" Target="/ppt/notesSlides/notesSlide15.xml" Id="R638191fd90b941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7662695e240ee" /><Relationship Type="http://schemas.openxmlformats.org/officeDocument/2006/relationships/image" Target="/ppt/media/image7.png" Id="Rb6fd2bc8f1254c68" /><Relationship Type="http://schemas.openxmlformats.org/officeDocument/2006/relationships/notesSlide" Target="/ppt/notesSlides/notesSlide16.xml" Id="Ra002358c5e2a4d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668e4c19b4b8c" /><Relationship Type="http://schemas.openxmlformats.org/officeDocument/2006/relationships/notesSlide" Target="/ppt/notesSlides/notesSlide17.xml" Id="R10136655a6cd4d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4EE59-E33B-4365-A11D-545A0AD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84F63-F081-4CE5-B6D3-E61496DC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6491E-406A-4751-841E-38103503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정책으로 만들고</a:t>
            </a:r>
          </a:p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EB220-889B-4185-9CD5-EDDA8F31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통관 연동에서는 분할 출고 단위와 오류 재제출 기준을,</a:t>
            </a:r>
          </a:p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몰에서는 계정·결제 정책과 운영 완료 기준을 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8BA12-94CD-4F4E-900C-0DCF931F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CF508-E526-466C-BE2B-49FED7F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E7F90-387C-41F9-8D9B-04A0F41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74FDA-803C-484E-BEDE-97306D4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9609D-A563-4378-9E1C-945D1371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분할 출고 기준 · 오류 재제출 · 운영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59D43-4829-4183-AD22-2C21AEC0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F50FF-8826-4C64-A467-5FD6A368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3ACAE-2D95-43BC-A124-558C0BC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E3188-5CF4-4E7B-A4AC-F90B03D7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1153E-252B-482B-8ABF-406A4E04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계정·결제 정책 · 운영 서버 검증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2C29C-4861-4B6B-81D7-9682B8B3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300d06bcb4ef8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4D738-FE29-44CE-B879-7DF55AF3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40A9A-001F-498A-8FA9-E54F49A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1CFED-194E-4BEB-B5B3-4AE1A257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4EA47-71FC-4AF8-A6B8-BDF82B9B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5CA07-C45C-4339-A8CD-1ED02A8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1912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1549443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61CE1A-0105-4181-9442-C6804E6F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두 프로젝트에서 반복한 PM 운영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C7B12-20C7-4C55-BAA7-B4D6B9BD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C8564-4114-437A-948F-9747D49B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문제를 기능 목록으로 받지 않고 결정 기준, 정책, 검증 기준, 측정 범위로 나눴습니다.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4FE0C-F9FF-406F-B9C5-68A01D67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885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80BF9-1E18-480F-8570-FA62BB4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0225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248A9-575E-4E89-BFC5-1CB75270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1BD96-060F-4385-AD04-1428F177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문제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7942D-DD7C-4DFC-BFCC-7218BCDB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사용자와 운영 주체</a:t>
            </a:r>
          </a:p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책임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7EF73-A92B-463E-BBD3-ED7C4E5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A8AEC-D9CF-479F-9ED4-D83DB9B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47825"/>
            <a:ext cx="1885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F0657-DB80-4D2D-9DEC-26AD7DB1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0225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641D0-39EC-4F0C-A9D6-CD8EF9D9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383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61A3E-7D20-43E5-8FA8-3CE14D08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90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67192-F9BE-4D47-84CD-7870CAE2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대안과 제외 범위</a:t>
            </a:r>
          </a:p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선택 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53FF9-49FF-4462-9C5D-97450EA3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431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B91A5-E54C-48BD-BD8F-4248D11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47825"/>
            <a:ext cx="1885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86B3B-518D-4448-8852-49074074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0225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E7D98-9493-4169-86BC-EB875AC1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383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EAD33-04E2-4CD7-9796-25344B7F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정책·데이터 계약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8EEBF-B36B-45CE-A42F-704BA710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단위와 권한</a:t>
            </a:r>
          </a:p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필드와 상태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839F9-9692-4CD9-BABC-8B03FB5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431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BCF36-CFC4-4362-B70E-BB98D071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47825"/>
            <a:ext cx="1885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0F264-2ACF-4481-918A-2B35BCD2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0225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7B7C9-78C1-4E88-87DA-84360609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383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69DFB2-B7CB-4198-BAA9-F7312BF5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90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완료·QA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4A9309-0E09-443A-AA59-2DD65336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서버 확인</a:t>
            </a:r>
          </a:p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오류 복구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1F0408-E4E7-4035-B6BD-45A1A890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3592A-4116-4B6A-A488-26F82511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47825"/>
            <a:ext cx="18859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4BD2D-48B5-4F33-86DB-E3CDF218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0225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A7297-A436-4EB3-AD2B-D21E7096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383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1CEF41-9048-4563-8454-02BE1545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결과·측정 경계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C27455-4F7A-4194-9C44-F4BEBE47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미계측 항목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298DFC-4724-4940-9A3F-77934FB7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EBB129-58D6-45E3-99DE-BAFC734A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DA13B7-3112-41AF-86DC-D600C6C8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주문·포장 식별자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39D011-FBC7-4184-8236-A8C4CF2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814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협력사 API 요건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9B4CF8-6477-402C-A8F9-F64FFE0E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필드·복합키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CDAA75-96E3-4CBB-B44A-F3939C11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접수·병합·재시도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318339-5AC0-441C-AFCB-D8EE7BA2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30건 검증과 운영 집계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332AD0-E9AD-404C-9CA4-BF7E46A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7E6F69-3FDF-4AC6-9F2D-910EAE06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434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7FBB8-B26B-4E7D-9266-BC9D68BE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149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오출고·CS·입금 대조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1BB48B-537E-4362-B478-03A406F6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149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플랫폼 대안 비교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2F73A1-EE53-44F0-8072-60375CC4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149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계정·결제 정책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1FE1A8-2B40-41E8-A580-2B6BCB57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149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서버 직접 확인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13F3CE-473E-4ACD-BE6B-9AA237B6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149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초기 성과와 후속 지표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7C3E5-6629-4245-B1D6-2056FC53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858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523A5D-2164-47EB-AC44-8D820A2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공통 원칙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D19DE2-5383-43F6-A922-37EDDC5E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293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통보보다 운영 결과를 우선하고, 확인하지 못한 수치는 미계측으로 남겼습니다.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280423-9F40-4BBF-B8D0-AD563CF0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E06403-717C-4315-AC27-324ED0D0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포트폴리오 개요 · PM 운영 방식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CFF61F-264B-434E-95A8-2287CE7D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80572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818E0-EEDE-4DE2-A6B2-AD80A02D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B23F6-780A-4BBB-B474-98DF3904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6B331-74B1-4C8F-BF27-DC92E5D0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2058D-BBD4-45AA-B000-4D1C535D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분산된 주문·인증·출고·통관 데이터를 국내 DB 중심으로 연결하고,</a:t>
            </a:r>
          </a:p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오류 수정과 재제출 기준을 운영에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1E524-B071-4397-A971-C0E1286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7300"/>
            <a:ext cx="3619500" cy="385762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15D39-5716-45A5-B9FA-CA2988F5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F0644-AEC0-4BC2-B338-9D752AFB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F803D-9260-412B-BEAB-6CB3A714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연동 구조와 요구사항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67CE-91F3-4AAE-BBFF-0DAF42D6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A8DF5-2999-4B6D-9635-3D567D77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9ED59-4211-41A1-B0F6-5D02005A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DC08A-F583-444E-B4C7-38EC65CE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8499E-BFD3-4822-A70F-D5AFE173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B16B1-AAF1-424C-B51D-7EA2F09E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E4A77-D5DB-473E-8366-4E2AB4A4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579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두 인증 경로, 오류 수정·재제출 정책, 협력사 API 조율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30538-3ED7-46D3-BCFB-E6416B0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0449D-A35B-42CA-B135-D6F23142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579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연동 구조도 · 필드 매핑표 · 오류 재제출 기준 · 운영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607BE-E4E2-4CB9-976E-C398B601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7C050-93A4-4312-9CD7-2D5829C0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01 · 관세청 통관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CD36B-E3B9-43B1-8F2E-2FEDB5F7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855528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E09443-ED5B-4DF3-B206-E4AB2231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분산된 주문 데이터와 책임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1A65C-B9C9-4281-ADF9-BD61FA3E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37DC7-498E-471F-B74D-16A1AFAF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자사몰과 외부 채널의 주문 정보를 ERP/WMS와 통관 시스템에 연결해야 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02E90-AE57-4FB3-BE8F-EBD0D13B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상황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AA2CC-2F3C-4E38-9DCA-559C4558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1건이 여러 포장과 HBL로 나뉘고,</a:t>
            </a:r>
          </a:p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주문·인증·상품·출고 정보는 서로 다른 시스템에 있었습니다.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2CE2D-923E-4648-82AA-8362CC61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61784-C9C1-424E-8ED7-7672310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8A557-C332-4B2F-86B9-F297D0E0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주문·수하인·개인통관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559EC-8C97-44FC-B978-54753134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E8BFE-9295-4703-9CC3-DE9BF52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10F69-685D-4D06-AFC4-8A8F0D38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포장·HBL·상품·출고 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AAC05-A083-492F-BDEF-DBA6CD97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5CAD4-241C-40C8-9B84-D914C152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94260-A32B-4DF5-9CA0-6577D67B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제출·검증·접수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5842C-C549-4D18-B845-5A0E5D32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71625"/>
            <a:ext cx="59245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1EBB9-579D-48C6-94BC-A76BD006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주문과 포장은 1:1이 아니었습니다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89215-1F71-4A4F-9204-61BC1AE8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526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분할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F7B76-30FF-4BF2-A11C-7F4CEB2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1466850" cy="5334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DF56E-F91E-4C41-A8B1-EAFD4A51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526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D9E07-8A45-4BB5-884D-55618C05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63A73-9CD6-446A-9E54-7C8AC291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1219200" cy="7239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96793-91D5-4C7B-A8E2-751DC4AD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A-1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079DC-05E0-498D-9912-4F1B6D72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HBL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DF805-B087-478F-AA24-E249FA71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219200" cy="7239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C8EDB-83F6-4B4C-9131-8CB3E3A4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790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A-2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D0DB5A-957D-4CFB-8514-1D01E9B7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24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HBL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3D318A-2703-4FC6-8898-01FD61B1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5752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53CA0-DDA7-4BE1-AAF6-9DEE611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004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합배송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C9FEDA-9A15-4E09-8C7B-4A24D127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9925"/>
            <a:ext cx="10668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8C4CA3-C6ED-4C08-A507-6A6910EB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04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BC88EA-1403-4968-811F-1963029F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A69435-1425-4AE7-82D7-EA74E8CC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9925"/>
            <a:ext cx="10668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3483CC-301A-4AD6-BD1C-7AD75478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04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E8C788-1887-4A2F-89D8-077ED283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BB5A2B-4374-49DB-9385-C0F720F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14675"/>
            <a:ext cx="1543050" cy="800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4B08B3-A2FC-412C-B9A0-895F6AB6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76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D / HBL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069092-2C26-4BC6-BB9D-409AFE50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814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2건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79FA09-4057-4A9C-AD56-C0A45E82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529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쟁점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61750D-3D59-4594-BC67-0CF8BE2D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629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원주문번호와 포장 식별자를 한 필드에 섞으면 추적과 검수가 어려워졌습니다.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F978A3-3A69-4A5A-94AB-0189D02A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58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FD0BFD-E04D-4A00-9773-14B497DE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결정해야 할 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17C9A7-2149-4300-AF69-8A41892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원주문번호와 ERP 포장번호·HBL을 분리해 1:N 관계를 보존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9508EE-BA63-4A54-BAA3-0BD58A2C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C6F320-F122-48DB-AB3B-66BAED5A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문제 정의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BF3FB-A900-4CC8-BF3C-AF8EBBEF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2699652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1B7651-DF0C-45FE-B1FC-59AD5D1A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원주문번호와 포장 식별자를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4A91C-D434-4B58-9060-BADCAF6E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86ED7-CDA9-4F78-9E0A-273DE6F8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고객 주문 추적과 ERP 포장 처리를 한 필드에 섞지 않고 각각의 식별자를 보존했습니다.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5AEB8-C220-4D13-83B0-CF58A8D4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58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F4E48-1B9F-46E6-9C40-E174BD2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49D64-9702-4E56-BB80-899DCA58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52600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외부 orderNo는 원주문번호 유지 · 분할번호는 erpPackageOrderNo로 별도 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539E7-EE0B-4B5D-BC68-5A1FCDDA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CCB04-DDBF-4049-8601-0A11DE9B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F34A6-E825-4005-A487-30F71AB3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고도몰·관세청·GGATE에 원주문번호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71627-B73A-4D98-8093-0862207F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7E346-C8E7-4CDA-BAC0-77929420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포장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41348-0F92-4B14-BF6A-041B1E0F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erpPackageOrderNo와 HBL로 분할 포장 추적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1C1F5-2F8F-4B1A-8ED9-FF7D19A9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7C011-5176-4605-B765-29ACCF8C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5A51B-DA3B-46EA-828E-F4E72770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orderNo를 복합키로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EFEB1-31E8-4AA3-9F77-F23AA355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52006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69658-E5BA-4481-BC2B-A87E10C3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분할 주문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0314C-44C8-4340-8B55-E4E9F837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00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같은 orderNo를 유지하고 포장 식별자만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FED09-0BDA-4336-A9BA-E95023E4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14287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9F05A-C12F-470F-87D1-DF0518A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2437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orderNo 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75609-9E30-49F6-BD97-6D46F9C3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3D9BD-03F2-4B46-B572-4B9AEA6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62425"/>
            <a:ext cx="123825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7A226-588B-4E9E-845E-A8D610FC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1482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A-1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908D9-09BB-4C88-9B26-E023C8A4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ERP 포장번호</a:t>
            </a:r>
          </a:p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HBL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E1BC9-969C-4086-8319-37770BB8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62425"/>
            <a:ext cx="123825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C0870-1956-405F-BF03-680103C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A-2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B4A83-72FA-4D31-A95F-B0739A9B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ERP 포장번호</a:t>
            </a:r>
          </a:p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HBL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6EB9E-6F39-4805-8756-3FDDA626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외부 orderNo는 A로 유지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437EE-382E-4FB0-BCD6-173233F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9975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325234-5C21-4D27-B19B-32B173EF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합배송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EE2E90-FB91-4AD4-9AD4-FD3264CE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한 HBL에 주문 여러 건이면 거래정보도 주문별로 제출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8E3A3B-8C24-4B6F-995C-224E276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12001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DB77C5-B2D3-4A40-BEB9-E62B394A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243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orderNo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0FDB68-7CFE-4A36-8BC6-CF8328F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95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9829AB-311C-4075-8858-F0B143C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95775"/>
            <a:ext cx="12001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863AB5-738F-4D0D-A20A-47E2851F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243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orderNo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E34E29-3E78-4BB1-910F-CA3DB661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958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1E1ED2-1B93-4FDD-B8A1-F0623FA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62425"/>
            <a:ext cx="142875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34AE36-EBB0-44C0-8CDC-688E6CBF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1482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HBL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1C1D47-4B94-400F-8BC5-9BBE65DB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91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</a:t>
            </a:r>
          </a:p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2건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E38BD7-54B1-44DD-AF25-880DE587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HBL은 포장 식별자, orderNo는 거래 추적 식별자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C7A700-EC56-41CC-9635-A06D7C8F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2C4827-7B1F-4DFC-AE58-81B1A8C5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분할 출고 기준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223AE0-DC04-4FD8-809D-94827C6B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130937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23077-0FD6-44E1-BEE3-6CB37E71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 계약을 필드·주체·키·완료 기준으로 명시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40FDE-F5D6-438F-9988-A2843576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F6BB9-ADDD-41C9-BDD8-54F80294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연동 참여자가 같은 주문을 같은 상태로 해석하도록 전달 형식과 검증 조건을 한 문서에 묶었습니다.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0F11B-5446-4C66-9A64-9B59809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05700" cy="3171825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83e8b01da403e"/>
          <a:stretch xmlns:a="http://schemas.openxmlformats.org/drawingml/2006/main"/>
        </p:blipFill>
        <p:spPr>
          <a:xfrm xmlns:a="http://schemas.openxmlformats.org/drawingml/2006/main">
            <a:off x="647700" y="1922876"/>
            <a:ext cx="7429500" cy="24883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9AD7F-2338-47B6-8E96-AA81110E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10125"/>
            <a:ext cx="4819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planning_v7 업무 문서 발췌 · 2026-09-08 기준 · 역할명 일부 치환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F9C6A-5D7D-4EA7-AC26-A0158066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3143250" cy="3095625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58118-1001-4A70-B05A-548F0B23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5737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데이터 계약의 네 요소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722EB-098D-4CA3-B7A9-18BE95DB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8BA2D-23C9-46FE-A94B-43DE59A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orderNo는 플랫폼 원주문번호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1C27C-E88E-489C-AC53-05B6EE84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76525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BD47D-C247-404B-B492-7AA3F180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포장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BB6DE-07CC-44A7-B415-C21472FE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erpPackageOrderNo와 HBL을 별도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8CF49-4B5E-4236-A4B9-2E08127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28975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3599D-D9BD-4851-B11A-DE84EE00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09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82540-BA96-42CA-B29B-BF431F67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909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orderNo로 동일 건 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C0A89-81BF-4EFB-960E-CDB8C18C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81425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EBB27-9357-4FC6-BEE0-45079FBB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B8742-8AAC-4827-8444-755FB24D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txif_sbmt_no로 관세청 결과 대사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2A206-3938-4DCD-B5CA-7FF25809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858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AAB15-FF28-4D40-B2D1-34054DA2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문서의 역할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FC377-8666-48D2-966F-2A6E8999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43525"/>
            <a:ext cx="897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개발사별 구현 지시와 운영팀의 확인 기준을 같은 표에 두어, 누락과 책임 공백을 검수 항목으로 바꿨습니다.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41E3E-6211-4FB9-ADCD-39B93858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2511B-E354-4E32-A7F5-CD8D8860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데이터 계약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6D051-7717-4641-BD36-BBD5273F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533966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8C7FEE-B8BA-4D51-A3EA-255A1DCC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접수·병합·통관 완료 상태를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B3AF2-0C05-4790-899E-6371386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E59B9-7260-4E71-B943-6F05489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HTTP 접수와 최종 완료를 같은 상태로 보지 않고, 제공자별 조회 키와 재시도 기준을 나눴습니다.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4054C-2289-4DDD-9527-01B64B2F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B5B53-6016-4176-825D-F8A26F2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9619C-D3F4-4FC0-ABB4-96E055FE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주문·수하인·인증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74EA0-C688-4A51-A082-6CA392B5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1B915-00AC-426A-9F96-37A308F5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FA818-0A7F-421A-BE41-5C1EC1C7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3FE78-C700-4DF6-9F10-C839760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정규화·분기·상태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91642-81D7-490E-9C30-2367864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2AA77-FD3A-4DBE-92CF-BD196CEB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E02D3-C213-4F1A-A2AE-F30E9E7E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33B32-F0F4-4861-9A08-31066F3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F0890-C958-4AA8-A3C6-3EF2C91A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5A2E4-728A-4391-8058-83F368C3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1320B-1F48-4A2A-A04A-7C70E96A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A6620-CDBE-4A7F-B69D-D04BE1D2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병합·검증·접수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CBC0C-060A-4033-A762-0610229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상태와 복구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D016E-52C6-472F-ADA2-D68A20AA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4EF03-0BD5-4E8B-B83F-40F4BD4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HTTP 202 접수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1D28A-7099-40C2-903F-13543B39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FD55F-0933-4176-8D5D-8046372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E05F4-2149-4AE4-BA88-D81606F7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status/search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7D380-92D8-4847-AFEA-55B02FA6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10E909-4E23-4F7A-B090-F36AA1B4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69152-7A04-4FE7-B9A0-113E0F31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원천 수정·재시도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E5511-CA0B-49CD-8483-D2522E16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EC527-2B13-47C7-AD88-DFC735A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8DA95-09D1-46C9-BE4D-C38965F6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merged·통관 결과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A2727F-B0B5-495C-A220-B7A63101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6680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76e0947b4481c"/>
          <a:stretch xmlns:a="http://schemas.openxmlformats.org/drawingml/2006/main"/>
        </p:blipFill>
        <p:spPr>
          <a:xfrm xmlns:a="http://schemas.openxmlformats.org/drawingml/2006/main">
            <a:off x="2610063" y="4229100"/>
            <a:ext cx="6933773" cy="16954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A944E-7F0C-42B1-9098-4A3F01F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00075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planning_v7 업무 문서 발췌 · 2026-09-08 기준 · 역할명 일부 치환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14468D-30DD-4244-BD0C-89A7EF06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2AE78D-EE54-4BB7-8E4D-16B5781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역할과 복구 경계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55C377-506A-4D18-8ABF-81F75B4A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907950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3B57FD-9DD7-4784-99E7-3A7AC91D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접수·의도 오류·수정 재제출을 함께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338DC-C9C9-4FFF-B332-18AB1938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4791-9881-4DCD-AAA8-D8D286FB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정상 경로만 확인하지 않고 오류 반환과 복구 경로까지 운영 환경에서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6AFBC-82AE-495C-9B6F-3C8F103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E9764-148F-44C6-939E-54BEB21B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8BA9D-FE41-4CC7-9FC8-D5DB7C17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73B46-6039-41F6-84C5-78206668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76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62732-2804-49D8-99FB-A57A6662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764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갖춘 거래정보 제출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A7CA9-6E7C-4C17-BB24-665265D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145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234A1-3A27-456F-94A7-D8B82524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 결과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3F26D-5E9D-44DD-BADC-62B0107B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5303B-333E-4A72-A753-0CE732D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AD44E-E9A6-46F3-8C45-80720678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D3072-3781-49F7-B973-24E15FB9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B78BE-598B-42F1-A0A7-D26618BA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의도적으로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F7F73-7858-42C8-9E8E-6D78F844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13FAE-F080-40E1-AFFD-228204A3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예상한 오류 응답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23595-5FF0-4B38-885E-051AF231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29A76-5E9E-4FD0-83E2-8A923F44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5DA23-2318-4C87-94CF-B60F7DA6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C10C0-B31B-4B29-B8CF-D5F14824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D6E2C-8766-44FE-80E4-C642C94E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원천값 수정 후 다시 제출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59038-0D8A-4675-8117-A75BD521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D5B1C-6C73-40AC-AB68-4C838FB7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접수로 전환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DE640-9E4A-46CA-88F9-9D6D5DD0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64491-0BAB-443F-912C-618DBEB1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운영 환경 테스트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62602-6751-4C05-9722-5925C8D9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30건 검증 · 목적 30/30 통과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C1CC0-B5E8-4672-AD7D-12774B63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B15C99-E347-4FE4-B809-980A490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AB0BC-C3CF-4048-B4D7-B67B832C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세 유형별 개별 건수는 미확인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BE7B68-C209-440F-8B5D-47D3B1DB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EB5E84-ECC7-4CBB-B4C3-35C2720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운영 QA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7360A-CA92-44A6-91B5-3F05FBD6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103217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BA755A-D2CD-4F65-8C56-DB82B9BB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검증 후 상용 운영을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AA130-7F26-4C4C-BF92-1882852B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6D93F-DA93-496F-B9E8-4F790AFB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2026-08-28부터 2026-09-15까지의 운영 집계와 측정 경계를 함께 정리했습니다.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C1F50-77BF-4B21-A57F-787DAE94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8591B-170E-481D-8166-E8BD196C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30건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431DF-627F-4F1F-9249-3B64020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 검증 · 목적 30/30 통과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79E02-68AF-4168-B531-D9A9897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AB072-C18B-4727-82A6-C8D8B60F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F7794-A065-43C1-A502-4E29C256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일평균 발생 주문 규모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9E111-9AFB-4296-8DF0-D97360BE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1522B-C7F2-4CE1-A995-0D407237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230 / 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E5509-4B79-4F07-9E44-11B07CA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 / 기타 주문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A905F-6298-42B8-948E-A9BEBA40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80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99738-667A-44E9-AFA2-B12490BA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192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전체 완료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FA78C-B23C-42A0-A239-EB08D746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집계 대상 주문 통관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E1BBE-14F8-43FA-89DB-16CBA78D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85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A4F60-6BB8-4D56-A2EB-5F4AF80C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EF9AC-1E16-479F-B339-7B9681A2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연동과 기존 방식을 병행한 상태에서도 집계 대상 주문의 통관 완료를 확인했습니다.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06CE4-7AF0-4916-8D4E-031DDD67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81425"/>
            <a:ext cx="890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환경에서 30건을 검증했고, 설정한 테스트 목적은 30/30 통과했습니다. 자동 처리율·신규 경로 비중·처리 시간은 별도 계측하지 않았습니다.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6BE76-AD96-4AF3-A042-E175ABCA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5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197A9-8EFA-40EE-8264-4177AE6C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EB1A4-D2CE-4E9A-A52F-34B4AEE8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8455F-9814-4799-9E61-5AB5A523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D8DCF-CCCF-4EEE-AE6F-A4C0F37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0B249-C811-429D-AB55-9030F1E6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AA022-CDDD-4794-ADB5-7CDE9662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434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4382B-0CA9-4CAB-A169-9AFCFEF2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401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일평균 약 300건 · 자사몰 230건 · 기타 70건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ADF1E-0C1C-4FC0-A765-550B639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2026-08-28~2026-09-15 집계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7904E-EB2A-4961-9091-FFEDD88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97337-1A78-42C5-A0A8-8AC0BC30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결과와 한계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E59114-BF47-434E-A1D1-6D065AB0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5385288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B0EF3-4F5C-418B-A95E-E3D1063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035B0-546E-45C7-871F-8118E5DD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2615A-C1A4-49C6-9292-96C2B27F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6C586-59B5-4D9C-9855-E918327F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4개 계정 유형과 혼합 주문 차단 기준을 설계하고,</a:t>
            </a:r>
          </a:p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운영 서버에서 직접 확인한 항목만 완료로 처리했습니다.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611A7-AF9D-4359-A6D3-54C4CA8E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5857875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60345-DBDB-41E0-8611-40C7C3FE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B2AE3-8A60-4655-90C3-9E3C2580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고객사·공급사의 주문, 납기, 출고, 정산 조율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EFA67-2CBA-4C64-9BFB-F61E7CAA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975F1-4977-4782-A226-7591039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2026-06 기획 · 07-02 개발 착수 · 07-16 핵심 흐름 운영</a:t>
            </a:r>
          </a:p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08-06~13 운영 고도화·QA · 08-31 최종 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0090C-9F9F-47B0-8FAA-43C5B7AC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DAE1F-0448-4232-AE94-9E98E4E4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정책표 · 결제 규칙 · QA 결과 · 운영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EDAAE-8D8C-4137-B9E9-91D5A553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46482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21e5df42a4f9a"/>
          <a:stretch xmlns:a="http://schemas.openxmlformats.org/drawingml/2006/main"/>
        </p:blipFill>
        <p:spPr>
          <a:xfrm xmlns:a="http://schemas.openxmlformats.org/drawingml/2006/main">
            <a:off x="6896100" y="1680246"/>
            <a:ext cx="4572000" cy="121150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DDC4E-45B3-4145-A373-98D5090D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실운영 홈 화면 발췌 · 2026-08-28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8551E-7142-4231-9885-F0B7409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4572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F7975-45A0-415B-8B49-27E2A9B4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43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화면에 반영한 운영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0C347-2828-4004-9857-D5FB11D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거래명세서 다운로드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당일 출고 마감 안내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배송 상태 확인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입금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51EE1-9D4E-4EE6-863A-DC95187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BD023-1F28-4E58-8B2F-891B4D27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02 · 산후조리원 B2B 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F6C33-3BAA-442E-B315-C987C26E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306023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C9BA80-BD4A-41D3-AF31-73843C5E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시작 전 반복된 문제와 설계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D4FE5-FF3E-4282-B4A8-AD807F6D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729C7-6D10-4410-B571-D8DDCEE8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오출고·문의·입금 대조 문제를 실제 운영 화면과 정책에 연결했습니다.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2C4C5-0E77-4D97-B857-AE984EE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398DC-8048-4511-9578-113F5102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 2~3건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CB7B1-7640-4ADB-8420-ED4BB96B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 오출고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249F7-E5B6-4DA4-A85D-14AA95C7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C3BF6-8690-4DD6-AC5F-9B2493CD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3F8F5-B24A-46BA-8492-60F704C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 CS 문의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78957-36D4-4B9C-A163-B7AC992B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60F19-CF14-4554-874E-804991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5280A-F85C-4393-A45F-DDFC7661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매일 입금 대조 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57D41-91BF-4617-9328-05756DE1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09725"/>
            <a:ext cx="8029575" cy="4114800"/>
          </a:xfrm>
          <a:prstGeom xmlns:a="http://schemas.openxmlformats.org/drawingml/2006/main" prst="roundRect">
            <a:avLst>
              <a:gd name="adj" fmla="val 3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80364-3104-4CD2-A835-C1BB1A44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383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관찰한 문제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3EABE-5C5E-4996-A695-2510CB3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383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원인 가설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31C2F-8441-4E8B-A103-06F94E19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38325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정책·화면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4AAE6-CDD1-4760-BDD4-CF952BA4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171700"/>
            <a:ext cx="7534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E0F7B-C81A-45C4-97A9-26F71A83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479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거래명세서 요청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407B9-532B-4C6C-AF6B-7C532027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288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셀프 조회 경로 부재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7E1C8-7388-46A4-913D-5D2FC310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주문 후 직접 다운로드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8E014-7E94-4FB8-9D6D-5508C96D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14650"/>
            <a:ext cx="7534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616EB-1E69-4F65-8D62-369D6EAD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289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당일 출고 문의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0E9DC-CFA2-47EF-A418-D25AFC40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0992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마감 기준 노출 부족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5BAC3-4418-4422-8D20-060C7BFA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004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영업일 10시 마감 안내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8D2FE-E7D0-4A05-B444-133A5E5F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695700"/>
            <a:ext cx="7534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689BB-01A1-46BE-9583-9206B716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100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배송 현황 문의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A1CB1-6BFD-4577-B40F-7527A9AB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909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송장과 상태 정보 분산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159CA4-3050-4232-8FFB-C7AEBEEF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마이페이지 상태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BA2458-A4A2-4001-971F-08C21A2A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76750"/>
            <a:ext cx="7534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64715B-DDCF-49C6-A912-FE37CB36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629150"/>
            <a:ext cx="76866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3C5441-0ED4-46AF-AAD9-9FF44A8C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7910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 지연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B3518D-93F1-407B-BAEC-5429C98D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7202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입금자명·금액 불일치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4EA9DA-9D72-455F-AB20-8B9AE68C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625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정확한 입금 정보 안내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D10673-B776-4571-B214-13EC497D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입금 대조 시간의 개선 후 수치는 미측정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B8A8F6-991D-4E6F-96FF-9CB2FEA8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D0DCF3-8FEC-4093-B9DA-40ED3EF9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문제와 화면 반영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3D7429-63B3-4125-8AEB-9102446A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4689064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6DA97D-81BF-4415-B150-6B86B861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플랫폼에 계정·결제 정책을 추가하는 방식을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FA135-545E-4E6C-90F6-FEC1802F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B4F00-C549-4786-8C98-65C2ED8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 러닝커브, 기존 인프라 일치, 유지보수 책임범위, 구축비용 순서로 판단했습니다.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E2E4F-EBFA-4E23-AC2F-A41343C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ED4FE-E31D-4E44-963B-1FDE9003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B7DEE-23CE-4165-85F1-6F29C5A4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① 운영팀 러닝커브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AE275-227F-4334-B37B-53B55122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E35A9-E836-4C47-A1CD-6276BA55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② 기존 인프라 일치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4FB97-87F5-477F-A352-B299E6D0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DE5B9-5FC4-4B20-B50E-F9F178C5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③ 유지보수 책임범위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71E44-F8C3-42B7-8ADD-55276A46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B8C4C-5013-4FC4-A098-A85F859B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④ 구축비용 · 금액 비공개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6A4E2-21CA-4621-A3E7-D188C01C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04769-2D2D-435A-933D-B9A685F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669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핵심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1390E-B086-4421-8D77-4BE75F44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66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69E90-60A5-4846-9672-815DA3F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21AC2-2F59-440F-9775-73DE9C28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030EF-1B19-4206-B47D-47F55566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맞춤형 웹서비스 직접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C4247-EE7F-4DE0-8CFF-86154B4E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유지보수 책임이 내부로 확대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BBF1C-199F-4532-94A8-DF53C2F8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629B2-1639-44B6-9AC7-37F6A5C4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다른 쇼핑몰 솔루션 전환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5566A-FFC8-4FCF-B38D-ED64DD48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운영팀이 새 솔루션을 다시 학습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31349-73F9-4FAD-A587-7892506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28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F17DD-943B-4D2D-9FE2-B5E60AAF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58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C0011-73AB-4410-A278-AD7BF6F1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기존 커머스 솔루션 + 정책 맞춤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43B9A-A0E9-41C4-B450-B34116C6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기존 인프라와 운영 방식을 유지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DFC96-8035-41F9-8AA6-77FEF340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072270-60F1-4FD3-AF42-C3FB9225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기능과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5C6F2-72B8-41BE-812A-9F889077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2552F9-4891-4580-8F42-9D2FF9F0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4D415C-7FBD-411F-AE26-454EDAB1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500A6D-5D31-4E6E-88CC-3D0FE571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BEEBA-D1CC-4EEE-9E1D-CE7CEA2C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마진 대비 수수료 부담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BE3F80-4A82-4769-A6AA-5F758A27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83DE7A-F5C9-4D9A-A8B2-89D1B9A0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BC6878-E812-491B-9B1E-71AED051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8E6AF1-0BC5-4BA7-8C0C-B81EF228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E422B2-0B2E-4FD6-A909-54ECCD66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기본 거래명세서로 대체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D3AA12-F3C9-4E21-AFE9-45AE8BFA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7DA189-6A93-4CE3-8D70-C29FC2A7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5DA152-6A6E-4836-AC4D-9BE5FB9D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204102-2979-46D9-B969-80990DD0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F71C6D-D798-4025-BF80-FFFBAB64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계약 상태 변경 시 지급 번복 위험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EFE48B-6355-42FD-9B4D-95E7E079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47D294-5BEF-41D3-B74B-5C6FA83F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대안과 범위 결정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7B5F04-690D-4998-89A5-590FCA1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350102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373E6-DEEF-4F45-9CA1-EA40B0F7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요구사항을 계약 범위와 검수 상태로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DCB47-7C47-40F7-A632-7DFDED91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C2518-021C-450C-83D4-DFA35C5F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요청의 성격을 먼저 구분하고, 개발사 반영 통보와 운영 완료를 다른 상태로 관리했습니다.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3AF0A-F6B7-4E58-920B-54A8A982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요구사항 분류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676275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2228850"/>
                <a:gridCol w="3657600"/>
              </a:tblGrid>
              <a:tr h="565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5250" marR="95250" marT="66675" marB="66675"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95250" marR="95250" marT="66675" marB="66675"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기준</a:t>
                      </a:r>
                    </a:p>
                  </a:txBody>
                  <a:tcPr marL="95250" marR="95250" marT="66675" marB="66675">
                    <a:solidFill>
                      <a:srgbClr val="E8F5EE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개발요구 01~22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서버에서 기대 결과를 확인할 때 완료</a:t>
                      </a:r>
                    </a:p>
                  </a:txBody>
                  <a:tcPr marL="95250" marR="95250" marT="66675" marB="66675"/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밖 추가 요청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공수 산정과 승인 후 착수</a:t>
                      </a:r>
                    </a:p>
                  </a:txBody>
                  <a:tcPr marL="95250" marR="95250" marT="66675" marB="66675"/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40시간 유지보수 장부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차감·예약·잔여 시간을 분리</a:t>
                      </a:r>
                    </a:p>
                  </a:txBody>
                  <a:tcPr marL="95250" marR="95250" marT="66675" marB="66675"/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BUG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기능의 비정상 동작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하자로 분리해 우선 처리</a:t>
                      </a:r>
                    </a:p>
                  </a:txBody>
                  <a:tcPr marL="95250" marR="95250" marT="66675" marB="66675"/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HOLD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의사결정·외부 확인 대기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재개 조건과 확인 주체를 기록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6D3B8-E8A3-42CC-9D13-95FA0074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24000"/>
            <a:ext cx="3752850" cy="3752850"/>
          </a:xfrm>
          <a:prstGeom xmlns:a="http://schemas.openxmlformats.org/drawingml/2006/main" prst="roundRect">
            <a:avLst>
              <a:gd name="adj" fmla="val 3553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65C24-A763-4907-9DC5-E35197F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1650"/>
            <a:ext cx="3257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BR 22건 검수 현황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3C7C9-D463-451C-AC65-1C6EC974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05025"/>
            <a:ext cx="3257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기준일 2026-08-13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E6C48-2C0E-4F35-AE35-75E282D3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17건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D6B26-A91A-4630-B795-5ED24B30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배포·QA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0E31E-9157-4936-86E0-48344D77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8607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FC269-01E2-4B12-B706-0956A7D9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5CA99-71CC-4554-96CC-12413B48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부분완료·QA 필요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97CCE-7519-4739-8D35-C41F2EB7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AEE63-F215-4BA7-9301-BA5128A5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07828-62A7-4A84-A894-5A4601A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수정완료·회귀 QA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034F3-B539-411E-876C-F56890EF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3857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BE2F4-627B-49B6-B8FF-BC32403D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4C145-5D43-4E66-BA53-FA40992B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구현변경·QA 필요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E1191-9FE1-4018-82E3-880F20EC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148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09FE9-3AB6-41AB-A1AC-8A8303AF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2건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74136-24EE-4B58-B612-6C63887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481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진행 중인 계약 항목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09146-C838-4D7C-95FC-3978AB17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8585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EB2AF-636C-49C8-AD4B-C251329D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성과와 검수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5F7C6-60FA-4EE2-917D-716FF629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197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흐름은 07-16 전체 가동 후 약 1개월 관찰 · 기본 개발요구 22건은 08-31 최종검수까지 운영 QA 지속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00C43-1465-45BE-A284-D4192696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0B11B-BDD9-4F79-AD07-C8E74411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요구사항과 완료 정의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45C0E-0C58-4E9A-956A-CA8B2690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6899649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7A1C2A-3F35-4B36-9A4D-16B92EC1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 뒤에도 마이페이지 진입이 되지 않았습니다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F3B3B-E699-4E28-801B-87F85FE3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51A6B-A45E-4F91-B3F4-B76A7E1F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완료의 기준을 개발사 회신에서 운영 서버 직접 확인으로 바꾼 사례입니다.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0A2DC-FC16-48AA-A8AC-7DAB6FA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B5C5A-A8F0-427D-822D-E92BB92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C23A7-757B-422C-9876-3F84B5C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4AC50-B688-4899-94E9-BC93C2CF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60BFD-695A-4B37-9E0D-6E8C5CD1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‘정보 수정’ 진입 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D8A1E-1BD6-4EE6-AF2F-78D46D04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D2B15-119E-42DF-A367-5CA5F3DE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4F37D-B3B5-426C-B770-E46D1450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B03D-B657-4ADC-99F3-3A135DFD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DFBE4-6376-47B1-991D-8358EB0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 미반영과 기존 차단 로직 잔존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A7704-5233-448D-9BF4-899AE1A6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795B5-7486-40E7-8956-E5191F73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78BDB-5D41-4F0A-B2C5-C55B69A3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97088-BD66-49CA-8C73-E4CE4B5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분리 점검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7412C-F5D3-4148-8C61-8F472CCC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 여부와 차단 조건을 각각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0676F-8128-4A67-844A-42AEE7B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1A594-E55A-4AE9-809D-A6D88C6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51EAC-960B-442C-AEC1-6E9ECBCF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2DE66-0F2A-4C43-932A-845190E0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A99B6-F11B-411A-865D-0D4DA16A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196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서버에서 기대 결과를 직접 확인한 경우만 완료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CF49F-E8A7-47B5-9D4A-B88EC2A7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21D21-3DD6-4291-B4BB-B1B78FD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사례가 발생한 실제 화면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EF311B-479A-4459-B58B-4B3F996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2476500" cy="29337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6f8db893a4286"/>
          <a:stretch xmlns:a="http://schemas.openxmlformats.org/drawingml/2006/main"/>
        </p:blipFill>
        <p:spPr>
          <a:xfrm xmlns:a="http://schemas.openxmlformats.org/drawingml/2006/main">
            <a:off x="7354917" y="2238375"/>
            <a:ext cx="1482665" cy="2857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30E100-C89E-45FA-965B-0E78507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581150" cy="28575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682D9-B1E3-479B-A3E4-A6BC136B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561FB-8236-4329-88C4-D57D9A3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1219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정보 수정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메뉴 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진입 가능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배포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차단 조건 잔존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3216E-E21B-434F-9278-E932788F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863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2026-08-28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F6F29B-BC8F-4E62-85BF-21E43786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EACA6B-B8EC-4AC1-8ABB-5446B4EA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운영 서버 QA 사례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362EE2-44C6-4571-897F-DA6F0342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1622576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50371-C78A-4009-8A39-6D8266A9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유형의 상품·결제 정책을 한 표로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88A76-AF1B-4630-B72F-DCD97C1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F1DD6-D6FF-4FFE-8EC9-38D1D06D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등급과 카테고리 조합으로 결제 방식을 정하고, 결제 방식이 다른 혼합 주문을 차단했습니다.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D1170-69A6-4CDC-A5C6-F36B436D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53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fa512eb6b4c67"/>
          <a:stretch xmlns:a="http://schemas.openxmlformats.org/drawingml/2006/main"/>
        </p:blipFill>
        <p:spPr>
          <a:xfrm xmlns:a="http://schemas.openxmlformats.org/drawingml/2006/main">
            <a:off x="647700" y="1807425"/>
            <a:ext cx="7677150" cy="257639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9B452-DFDA-4072-8076-95D77042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95825"/>
            <a:ext cx="554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업무 문서 발췌 · 원문 ‘선불입금/후불입금’은 현행 ‘분유(선불/후불)’로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D5247-C8C3-466D-97FE-F0C2BD8B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0289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46BB5-049F-4843-B254-60C61AFB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결정한 정책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27DEA-FB47-43EC-8D99-E2DB1033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물품계약(후불)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분유(후불)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ACC08-A147-483C-AB4D-AF6C4606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5E2CA-B941-41C0-BA18-88C58CBE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8142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관리자가 등급 × 카테고리 표에서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결제 방식을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5453F-EF89-4DE2-AB40-286952FB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85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C5B95-7A1B-4FCA-8A90-8FB90181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1FEF3-70C3-4643-981E-A8B06C30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선불 상품과 후불 상품을 한 주문에 담는 경우 양방향으로 차단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7D3CD-0345-4488-A0DE-1B1C2882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7C406-91EC-4563-8B56-8C855132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계정·결제 정책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25BAF-9CDA-42B4-B02F-06132F22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923577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AF79D-B680-4DAE-B6D2-B85EF49F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핵심 흐름 가동 후 오출고와 CS 문의 변화를 관찰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C0EF1-8023-433A-9B29-2605209C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35BEC-E803-45DB-96FB-577077DC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초기 결과와 측정하지 못한 항목을 함께 표기했습니다.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CB3EA-0524-4BE5-985C-7229B775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25739-E2BA-4454-B806-1D4867E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9606B-772A-4527-89CC-392446F5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월평균 2~3건  →  0건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18634-C3E3-4AF4-83E7-D542CF7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평균과 2026-07-16 이후 약 1개월 전체 측정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01001-CD5F-43C9-A73A-32BF93A4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B4233-1064-4A3A-82FC-7CF58DB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CS 문의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BBB4F-3C96-4EAE-A54B-DECB8342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  →  19건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94FC3-7CB5-4E0F-81F2-0A626DBB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환산치와 2026-07~2026-08 배포 구간 2주 집계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35AB1-E644-45E5-838F-AD16ADEC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90675"/>
            <a:ext cx="683895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B0800-8D06-4BEA-A6D9-C1A43DA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28800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상태를 확인한 실제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983ED-B5B3-4AAD-B0AF-92E03449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64198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d2bc8f1254c68"/>
          <a:stretch xmlns:a="http://schemas.openxmlformats.org/drawingml/2006/main"/>
        </p:blipFill>
        <p:spPr>
          <a:xfrm xmlns:a="http://schemas.openxmlformats.org/drawingml/2006/main">
            <a:off x="4914900" y="2269448"/>
            <a:ext cx="6343650" cy="129992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F3210-D67B-41E4-842C-726C1218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주문 현황은 운영 화면 구조 확인용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2D1A7-B6FE-4A7E-A388-884A2F1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ADF98-4C97-4C98-9908-53E8A79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상태를 직접 확인할 수 있는 흐름과 운영 안내가 가동되었습니다.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8262C-7036-499C-998E-FA95F52A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36212-1C1D-460B-9CC1-EC4C9277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053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초기 운영 약 1개월. 입금 대조 시간과 장기 지속 효과는 미측정입니다.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1CB1F-5BDA-4E26-A238-2AA06DE9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B7CA7-9232-4ED1-83E6-D40BB0A5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EBD63-B9F3-4CF0-911B-B4F77187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운영 결과는 오출고와 CS 문의로 확인했습니다. 입금 대조 시간과 장기 지속 효과는 후속 측정 항목입니다.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800E7-7533-403C-9F7A-ACE89180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25ABB-0E76-4B47-B5FD-F85DD37B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결과와 측정 경계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1F667-0206-4616-9105-EE5DD9B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6520496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C4F72D-0A47-495E-B645-22F6CB00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두 프로젝트가 보여준 PM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B20BB-B575-4B7D-9ADF-3CD1C513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8DEAE-59BD-436E-83E5-52C9085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문제 정의에서 멈추지 않고 정책과 데이터 계약을 만들고 운영 환경에서 결과를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D037C-EA68-49EA-83A9-C1D2B15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2578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EAE9F-12EE-4162-B4B0-DD51E128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4E8D2-E8E7-4B2E-B6F8-D66991F3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C3545-9F8D-4A4A-AF06-A6DE9F08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분할·합배송과 시스템별 식별자 불일치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37C1A-160F-4723-94D0-B82DA84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4437C-ACA7-41B9-82C8-EB3841C6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0061B-8A9B-4B1F-9695-A3DC9F22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24175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원주문번호·ERP 포장번호·HBL을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5BF22-7CBA-40EA-8779-962C4268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ED38B-8287-4565-BC38-BC932D27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24F52-39EE-4EE4-A36D-E62F166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67100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필드 매핑, 복합키, 상태·재시도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56567-A848-4B77-BD4B-3125E83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39384-74E7-4A99-A04E-9CDBD2A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12EF3-EED9-4189-A57D-22A51C04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10025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목적 30/30 통과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71DDC-F387-49B9-8DF2-976AA67F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52578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F88F3-7176-4158-A8C9-D225EFCD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9547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246A6-A572-4924-9A67-1B2142B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27E25-918B-4FC5-872F-65058C1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오출고, 반복 문의, 수기 입금 대조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0BAE2-59F2-41C2-96A6-1F6E8CD0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7177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97315-50B5-4261-B6D6-B844C5B2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432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E622A-BBF4-400A-AD74-99FB5D6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24175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플랫폼을 유지하고 정책을 맞춤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CF258-8967-4896-B365-B35A2AE9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1290E9-348F-4CBB-ADFA-54310830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08BD9-F06C-40FE-AFE5-EDD07D38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67100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계정·결제 정책, 요구사항 상태, 운영 QA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AE5F71-2E8F-42E1-9455-1FAAE636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5762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637CF-7632-445A-B65A-54511AF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2907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588C7-F0EE-4348-8817-431C8678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0025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오출고 0건과 CS 문의 초기 감소 관찰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CF9A0B-2638-430E-B2D5-0628069D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후속 측정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A9ACBB-E49E-4673-BA92-D3FDAB1A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858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9546E-7A54-4A3E-9965-3511A35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7638B8-B802-45DB-AD44-1B124E6D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자동 처리율 · 신규 경로 비중 · 처리 시간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CF3F10-DE94-45F0-841B-761D5F10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57850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310D57-6A6D-406F-8F71-8B5148FC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6197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 시간 · 오출고와 CS 문의의 장기 추이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6D905B-3124-4766-8969-BE26C693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6DD732-DF59-4ACD-8C08-4E41DB89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박종혁 PM 포트폴리오 · 요약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01ED43-2E2D-4F6B-BA59-6FBEB25A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366723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박종혁</lastModifiedBy>
  <dc:title>박종혁 PM 포트폴리오 v4.2</dc:title>
  <dcterms:created xsi:type="dcterms:W3CDTF">2026-09-17T05:45:21.8950000Z</dcterms:created>
  <dcterms:modified xsi:type="dcterms:W3CDTF">2026-09-17T05:45:21.8950000Z</dcterms:modified>
</coreProperties>
</file>