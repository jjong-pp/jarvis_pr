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da1b224fa54b54" /><Relationship Type="http://schemas.openxmlformats.org/officeDocument/2006/relationships/extended-properties" Target="/docProps/app.xml" Id="R9a93be4585bd4c10" /><Relationship Type="http://schemas.openxmlformats.org/officeDocument/2006/relationships/officeDocument" Target="/ppt/presentation.xml" Id="Rc2e5d130ac91499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4481138a74a45ac"/>
  </p:sldMasterIdLst>
  <p:notesMasterIdLst>
    <p:notesMasterId xmlns:r="http://schemas.openxmlformats.org/officeDocument/2006/relationships" r:id="Red482805d45c430b"/>
  </p:notesMasterIdLst>
  <p:sldIdLst>
    <p:sldId xmlns:r="http://schemas.openxmlformats.org/officeDocument/2006/relationships" id="256" r:id="R639bfbc43559495a"/>
    <p:sldId xmlns:r="http://schemas.openxmlformats.org/officeDocument/2006/relationships" id="257" r:id="Rf37cd18ab50141b4"/>
    <p:sldId xmlns:r="http://schemas.openxmlformats.org/officeDocument/2006/relationships" id="258" r:id="Re3f250724bdb43d1"/>
    <p:sldId xmlns:r="http://schemas.openxmlformats.org/officeDocument/2006/relationships" id="259" r:id="Rcfbd60baf9f14335"/>
    <p:sldId xmlns:r="http://schemas.openxmlformats.org/officeDocument/2006/relationships" id="260" r:id="R57fe29bea8e34372"/>
    <p:sldId xmlns:r="http://schemas.openxmlformats.org/officeDocument/2006/relationships" id="261" r:id="Rc8d91b05297348c2"/>
    <p:sldId xmlns:r="http://schemas.openxmlformats.org/officeDocument/2006/relationships" id="262" r:id="R46e34de63b984c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5b566da6c248d2" /><Relationship Type="http://schemas.openxmlformats.org/officeDocument/2006/relationships/slideMaster" Target="/ppt/slideMasters/slideMaster1.xml" Id="R54481138a74a45ac" /><Relationship Type="http://schemas.openxmlformats.org/officeDocument/2006/relationships/notesMaster" Target="/ppt/notesMasters/notesMaster1.xml" Id="Red482805d45c430b" /><Relationship Type="http://schemas.openxmlformats.org/officeDocument/2006/relationships/presProps" Target="/ppt/presProps.xml" Id="Rf64d6a994a7a4e00" /><Relationship Type="http://schemas.openxmlformats.org/officeDocument/2006/relationships/tableStyles" Target="/ppt/tableStyles.xml" Id="Rd1bdafecd0f14cd0" /><Relationship Type="http://schemas.openxmlformats.org/officeDocument/2006/relationships/slide" Target="/ppt/slides/slide1.xml" Id="R639bfbc43559495a" /><Relationship Type="http://schemas.openxmlformats.org/officeDocument/2006/relationships/slide" Target="/ppt/slides/slide2.xml" Id="Rf37cd18ab50141b4" /><Relationship Type="http://schemas.openxmlformats.org/officeDocument/2006/relationships/slide" Target="/ppt/slides/slide3.xml" Id="Re3f250724bdb43d1" /><Relationship Type="http://schemas.openxmlformats.org/officeDocument/2006/relationships/slide" Target="/ppt/slides/slide4.xml" Id="Rcfbd60baf9f14335" /><Relationship Type="http://schemas.openxmlformats.org/officeDocument/2006/relationships/slide" Target="/ppt/slides/slide5.xml" Id="R57fe29bea8e34372" /><Relationship Type="http://schemas.openxmlformats.org/officeDocument/2006/relationships/slide" Target="/ppt/slides/slide6.xml" Id="Rc8d91b05297348c2" /><Relationship Type="http://schemas.openxmlformats.org/officeDocument/2006/relationships/slide" Target="/ppt/slides/slide7.xml" Id="R46e34de63b984c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9234cabfb949d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4978f3e59c49bb" /><Relationship Type="http://schemas.openxmlformats.org/officeDocument/2006/relationships/notesMaster" Target="/ppt/notesMasters/notesMaster1.xml" Id="Rfac58504c07a41a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629ef9bef0495a" /><Relationship Type="http://schemas.openxmlformats.org/officeDocument/2006/relationships/notesMaster" Target="/ppt/notesMasters/notesMaster1.xml" Id="R5f43bda6c97441c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25fa30ab334e17" /><Relationship Type="http://schemas.openxmlformats.org/officeDocument/2006/relationships/notesMaster" Target="/ppt/notesMasters/notesMaster1.xml" Id="R8717d7d5c04843a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f3a82aa6e894f57" /><Relationship Type="http://schemas.openxmlformats.org/officeDocument/2006/relationships/notesMaster" Target="/ppt/notesMasters/notesMaster1.xml" Id="R1872caad92dd4f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d074fe557254d87" /><Relationship Type="http://schemas.openxmlformats.org/officeDocument/2006/relationships/notesMaster" Target="/ppt/notesMasters/notesMaster1.xml" Id="R49ce3129063149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b52d9fe5f04700" /><Relationship Type="http://schemas.openxmlformats.org/officeDocument/2006/relationships/notesMaster" Target="/ppt/notesMasters/notesMaster1.xml" Id="Rd73482a473b54d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f672b30000d4d58" /><Relationship Type="http://schemas.openxmlformats.org/officeDocument/2006/relationships/notesMaster" Target="/ppt/notesMasters/notesMaster1.xml" Id="R93df48d3deaf43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C:/MyMain/main/resume/career_facts.md C-077~C-087</a:t>
            </a:r>
          </a:p>
          <a:p xmlns:a="http://schemas.openxmlformats.org/drawingml/2006/main">
            <a:r>
              <a:t>40개 SKU는 사용자 확인 실무 범위이며 공개 화면은 4개 샘플 SKU입니다.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career_facts.md C-070, C-080, C-082~C-084</a:t>
            </a:r>
          </a:p>
          <a:p xmlns:a="http://schemas.openxmlformats.org/drawingml/2006/main">
            <a:r>
              <a:t>월 8~9시간은 사용자 확인 수치이며 별도 사용 로그는 확보되지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 근거: app/core/forecasting.py:13-105, app/routers/inventory.py:438-568</a:t>
            </a:r>
          </a:p>
          <a:p xmlns:a="http://schemas.openxmlformats.org/drawingml/2006/main">
            <a:r>
              <a:t>실무 운영 근거: career_facts.md C-082~C-084</a:t>
            </a:r>
          </a:p>
          <a:p xmlns:a="http://schemas.openxmlformats.org/drawingml/2006/main">
            <a:r>
              <a:t>주의: 현재 master의 MOQ 자동 반영은 공급사 MOQ가 아니라 품목 포장입수량입니다.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화면: C:/MyMain/Eibe/SCM-Dashboard/portfolio/05_order_plan.png</a:t>
            </a:r>
          </a:p>
          <a:p xmlns:a="http://schemas.openxmlformats.org/drawingml/2006/main">
            <a:r>
              <a:t>라벨: 업무 검증용 재구성 화면·샘플 데이터</a:t>
            </a:r>
          </a:p>
          <a:p xmlns:a="http://schemas.openxmlformats.org/drawingml/2006/main">
            <a:r>
              <a:t>현재 화면의 대화형 로컬 계산 일부는 4개 샘플 SKU에 묶여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career_facts.md C-082~C-084</a:t>
            </a:r>
          </a:p>
          <a:p xmlns:a="http://schemas.openxmlformats.org/drawingml/2006/main">
            <a:r>
              <a:t>실제 발주 승인권자와 본인의 최종 결정 범위는 사용자 확인 후 보강할 예정입니다.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근거: career_facts.md C-080~C-081</a:t>
            </a:r>
          </a:p>
          <a:p xmlns:a="http://schemas.openxmlformats.org/drawingml/2006/main">
            <a:r>
              <a:t>월 8~9시간, 4개 SKU, 2개월 미사용은 사용자 확인 사실이며 저장소에 운영 로그는 없습니다.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리콜 근거: career_facts.md C-060~C-062</a:t>
            </a:r>
          </a:p>
          <a:p xmlns:a="http://schemas.openxmlformats.org/drawingml/2006/main">
            <a:r>
              <a:t>ERP·통관 근거: career_facts.md C-020~C-029, C-085</a:t>
            </a:r>
          </a:p>
          <a:p xmlns:a="http://schemas.openxmlformats.org/drawingml/2006/main">
            <a:r>
              <a:t>관세청 연동은 진행 중이며 외부 개발사 구현 범위를 본인 역할과 분리했습니다.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b6cd30f10b43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160601054a148c8" /><Relationship Type="http://schemas.openxmlformats.org/officeDocument/2006/relationships/slideLayout" Target="/ppt/slideLayouts/slideLayout1.xml" Id="R81b421a6a15d43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b421a6a15d43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3edcf3d2c453c" /><Relationship Type="http://schemas.openxmlformats.org/officeDocument/2006/relationships/notesSlide" Target="/ppt/notesSlides/notesSlide1.xml" Id="Ra6c3b520f375469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4b2c3ad344752" /><Relationship Type="http://schemas.openxmlformats.org/officeDocument/2006/relationships/notesSlide" Target="/ppt/notesSlides/notesSlide2.xml" Id="R5816da6a304a4a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e05cc0a554473" /><Relationship Type="http://schemas.openxmlformats.org/officeDocument/2006/relationships/notesSlide" Target="/ppt/notesSlides/notesSlide3.xml" Id="R6a5f322be73243c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8f7ccb0b046da" /><Relationship Type="http://schemas.openxmlformats.org/officeDocument/2006/relationships/image" Target="/ppt/media/image.png" Id="R77a1b0a7677f41b2" /><Relationship Type="http://schemas.openxmlformats.org/officeDocument/2006/relationships/notesSlide" Target="/ppt/notesSlides/notesSlide4.xml" Id="R911b29efc4c540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9fb53b0f04a88" /><Relationship Type="http://schemas.openxmlformats.org/officeDocument/2006/relationships/notesSlide" Target="/ppt/notesSlides/notesSlide5.xml" Id="R4d8d262038aa42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164fcfae684436" /><Relationship Type="http://schemas.openxmlformats.org/officeDocument/2006/relationships/notesSlide" Target="/ppt/notesSlides/notesSlide6.xml" Id="R0c82228c363a411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89e15b1514613" /><Relationship Type="http://schemas.openxmlformats.org/officeDocument/2006/relationships/notesSlide" Target="/ppt/notesSlides/notesSlide7.xml" Id="R8e85b08f814847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CC5A2-64B0-4B79-A8B8-81FC1459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62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53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07A97-33D6-4592-891C-98E35A13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429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수요예측·재고 운영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6F4AC-EBFC-4DC7-9117-46010955A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5238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D8E6F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D8E6F5"/>
                </a:solidFill>
                <a:latin typeface="Noto Sans KR"/>
                <a:ea typeface="Noto Sans KR"/>
                <a:cs typeface="Noto Sans KR"/>
              </a:rPr>
              <a:t>판매·출고·재고 데이터를</a:t>
            </a:r>
          </a:p>
          <a:p xmlns:a="http://schemas.openxmlformats.org/drawingml/2006/main">
            <a:pPr algn="l">
              <a:defRPr sz="2025" b="0">
                <a:solidFill>
                  <a:srgbClr val="D8E6F5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D8E6F5"/>
                </a:solidFill>
                <a:latin typeface="Noto Sans KR"/>
                <a:ea typeface="Noto Sans KR"/>
                <a:cs typeface="Noto Sans KR"/>
              </a:rPr>
              <a:t>월간 발주 판단으로 연결한 경험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15F46-BE4D-4B0E-B7C2-9B1A2FCE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박종혁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D660E2-674E-4235-868E-DFF56C99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531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C9DC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B9C9DC"/>
                </a:solidFill>
                <a:latin typeface="Noto Sans KR"/>
                <a:ea typeface="Noto Sans KR"/>
                <a:cs typeface="Noto Sans KR"/>
              </a:rPr>
              <a:t>비나우 구매 수요예측(S&amp;OP) 지원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A36FE-F6AC-468F-9904-9E6F658A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478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40개 SKU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11034E-4C8F-45E5-B264-B2DB06878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71675"/>
            <a:ext cx="323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실제 업무 판단 범위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1C0066-FA0A-4B4F-B44C-873A6F0D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2887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BF1007-7867-4264-AAB0-428DE1B3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8130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rPr>
              <a:t>24주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DEED4D-8C85-44DE-9BC9-764A9F50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0517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현재고와 입고계획을 연결한 예상 재고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EF1578-714D-4313-83BA-8E267528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43350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79ADD8-B7FC-4E29-8B7F-94D0643B7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86250"/>
            <a:ext cx="323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rPr>
              <a:t>월간 S&amp;OP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9CF84-7A50-43AE-BEFF-3E10CB9A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101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세일즈 전망과 공급 제약을 함께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5F4535-28DE-4F44-A722-1C737800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096000"/>
            <a:ext cx="3619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초안 v0.2 · 확인된 사실만 사용</a:t>
            </a:r>
          </a:p>
        </p:txBody>
      </p:sp>
    </p:spTree>
    <p:extLst>
      <p:ext uri="{BB962C8B-B14F-4D97-AF65-F5344CB8AC3E}">
        <p14:creationId xmlns:p14="http://schemas.microsoft.com/office/powerpoint/2010/main" val="1610156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6D92D1-7D38-43EF-996F-F5FA39E60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608FC0-617F-4DD5-823B-B7FF0A5BF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장기 리드타임 상품의 발주 판단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E11104-5CD5-4CD4-BDA8-BC4B96CEC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자료를 모으는 시간보다 늦게 발견되는 재고 위험이 문제였습니다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46A33E-097E-4B88-A57B-AFBD6C7D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7A021-E0E6-4EB2-B814-F5445FF6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분산된 원천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B9DB8-EAA4-4A2B-9B7F-3FC7026EB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2667000" cy="272415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9DADC3-58D5-4C8C-A143-DEC9191E9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209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판매 전망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주차별 판매·출고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창고별 현재고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도착월별 발주계획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B0EF8B-7DF5-4239-BCA4-796B61E43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476375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기존 작업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1B7AEF-BF61-421D-95E7-A0BC6663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924050"/>
            <a:ext cx="3048000" cy="2724150"/>
          </a:xfrm>
          <a:prstGeom xmlns:a="http://schemas.openxmlformats.org/drawingml/2006/main" prst="roundRect">
            <a:avLst>
              <a:gd name="adj" fmla="val 4895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3D2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C20A7F-C46C-4509-9247-F1F713EC6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0030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월 8~9시간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A150E-E52E-4FCF-9FDA-CDD2D5476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38475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자료 취합과 Excel 양식 정리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251E28-588E-45BF-9B7E-1438879C9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7190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C241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2413B"/>
                </a:solidFill>
                <a:latin typeface="Noto Sans KR"/>
                <a:ea typeface="Noto Sans KR"/>
                <a:cs typeface="Noto Sans KR"/>
              </a:rPr>
              <a:t>결품·과재고 위험을</a:t>
            </a:r>
          </a:p>
          <a:p xmlns:a="http://schemas.openxmlformats.org/drawingml/2006/main">
            <a:pPr algn="ctr">
              <a:defRPr sz="1500" b="1">
                <a:solidFill>
                  <a:srgbClr val="C2413B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C2413B"/>
                </a:solidFill>
                <a:latin typeface="Noto Sans KR"/>
                <a:ea typeface="Noto Sans KR"/>
                <a:cs typeface="Noto Sans KR"/>
              </a:rPr>
              <a:t>늦게 확인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89746F-0998-49DC-BC69-2AE4F41D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76375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회의에서 함께 보는 제약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298058-0A55-493A-9396-81FE41AE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24050"/>
            <a:ext cx="3524250" cy="2724150"/>
          </a:xfrm>
          <a:prstGeom xmlns:a="http://schemas.openxmlformats.org/drawingml/2006/main" prst="roundRect">
            <a:avLst>
              <a:gd name="adj" fmla="val 4895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BDD2F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6BD17E-9DA9-4EAB-A51A-CFD9D1B89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209800"/>
            <a:ext cx="28765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6개월 이상 리드타임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3개월 수준의 목표재고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현금흐름과 공급사 MOQ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행사·프로모션 수량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DD68B2-456A-4FB5-8271-20443F10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572750" cy="904875"/>
          </a:xfrm>
          <a:prstGeom xmlns:a="http://schemas.openxmlformats.org/drawingml/2006/main" prst="roundRect">
            <a:avLst>
              <a:gd name="adj" fmla="val 12632"/>
            </a:avLst>
          </a:prstGeom>
          <a:solidFill xmlns:a="http://schemas.openxmlformats.org/drawingml/2006/main">
            <a:srgbClr val="14253D"/>
          </a:solidFill>
          <a:ln xmlns:a="http://schemas.openxmlformats.org/drawingml/2006/main" w="9525">
            <a:solidFill>
              <a:srgbClr val="14253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DB135F-BFF1-4DCF-B6AC-AF0283AE8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9944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정리해야 할 것은 데이터뿐 아니라, 누가 어떤 숫자를 언제 확정하는가였습니다.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B34A8D-0B5F-46E6-B91F-62CC3E6A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E4E313-7CEF-4772-B188-AF9F94BC3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박종혁 | 비나우 구매 수요예측(S&amp;OP)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AA562-B24D-4831-9B6B-C4F5356B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2 / 7</a:t>
            </a:r>
          </a:p>
        </p:txBody>
      </p:sp>
    </p:spTree>
    <p:extLst>
      <p:ext uri="{BB962C8B-B14F-4D97-AF65-F5344CB8AC3E}">
        <p14:creationId xmlns:p14="http://schemas.microsoft.com/office/powerpoint/2010/main" val="8433783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E46663-0B0B-428D-8F79-C87CA934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57C52-7184-476B-8B25-C35595590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기준 데이터와 실무자 판단의 경계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1BDC0-3873-450C-BD73-73CE72E34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자동 계산과 회의 판단을 분리해 결과를 검산할 수 있도록 설계했습니다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510E53-2452-466E-B44E-C1A79A47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F43696-8EC1-4169-80C6-0FBE91B7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66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시스템이 계산한 항목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EA5C8C-F1A0-4C70-B2F5-155B0F985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5000625" cy="3486150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BDD2F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D7DF0-2F64-4939-896A-5BCFC38EC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9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C3F1BA-A051-4C67-97BC-6C251D287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1621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최근 최대 12주 출고 평균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90C424-0C3E-4232-98E9-54B51E2D6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426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F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4B167A-32F1-4007-9D43-88DCBBE72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33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F0ADA8-2B45-446D-A6D3-FEF87D3D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28860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판매·출고 차이 버퍼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EDB2D-E94E-45F9-BE1F-8564A11D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29000"/>
            <a:ext cx="426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F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175997-40E6-4CC0-8F71-CEADC793E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57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5E83D-5C73-4367-BCAC-CBD3D433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6099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최신 현재고와 도착월 발주계획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8C112D-E80E-40F7-8BAB-F75EF84D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152900"/>
            <a:ext cx="426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EDDF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384EC8-7A78-43F9-9C0B-4DD95B7F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111037-EA23-4E03-93DA-771CC9FFC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333875"/>
            <a:ext cx="361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24주 예상 재고와 제안 수량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914A44-9649-455B-9F26-0D95EA3E1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466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rPr>
              <a:t>S&amp;OP에서 사람이 결정한 항목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81CFC4-38A9-490C-9650-8AFF52BE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905000"/>
            <a:ext cx="5095875" cy="3486150"/>
          </a:xfrm>
          <a:prstGeom xmlns:a="http://schemas.openxmlformats.org/drawingml/2006/main" prst="roundRect">
            <a:avLst>
              <a:gd name="adj" fmla="val 4372"/>
            </a:avLst>
          </a:prstGeom>
          <a:solidFill xmlns:a="http://schemas.openxmlformats.org/drawingml/2006/main">
            <a:srgbClr val="ECF8F1"/>
          </a:solidFill>
          <a:ln xmlns:a="http://schemas.openxmlformats.org/drawingml/2006/main" w="9525">
            <a:solidFill>
              <a:srgbClr val="B7DF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4AC9D0-8DF1-422B-B5A8-76107A02D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098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43F030-B51D-4E76-97B4-6270CF67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162175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세일즈 전망과 프로모션 가중치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7E5EE58-E55B-4686-B0EF-07344C6A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05100"/>
            <a:ext cx="434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E5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692ED9-7974-4D85-B737-714296C4F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9337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343FDB-3492-4606-9AAB-014278ED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86075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3개월 목표재고와 현금흐름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E7F7B7-AF49-49D2-A405-90734393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29000"/>
            <a:ext cx="434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E5D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F662F3-62DA-401C-B907-E5392DAC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74D7066-8C66-4792-8D79-7A72CF4D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9975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공급사 MOQ와 발주 시점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98BA4B-D5B5-4B57-9406-167F1C5A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52900"/>
            <a:ext cx="434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E5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18AF7A9-CD83-4396-9204-0C6D1A78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8150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E66263-11DB-4374-8E3C-C54B01946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33875"/>
            <a:ext cx="3733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최종 발주 수량과 채널 배분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E6AE03-9857-4590-9273-CEA5B5D0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15000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53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4253D"/>
                </a:solidFill>
                <a:latin typeface="Noto Sans KR"/>
                <a:ea typeface="Noto Sans KR"/>
                <a:cs typeface="Noto Sans KR"/>
              </a:rPr>
              <a:t>주간 예상수요 = 출고 평균 × 실무자 가중치 + 판매·출고 차이 버퍼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82AE12F-269E-4460-A5C0-DCC70180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B3FDE4-2A8E-435F-AE09-52D72E1E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프로모션·현금흐름·공급사 MOQ는 자동 계산 기능이 아니라 회의 판단 기준입니다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4C2210-3DBC-4C23-BB9F-C1F61202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3 / 7</a:t>
            </a:r>
          </a:p>
        </p:txBody>
      </p:sp>
    </p:spTree>
    <p:extLst>
      <p:ext uri="{BB962C8B-B14F-4D97-AF65-F5344CB8AC3E}">
        <p14:creationId xmlns:p14="http://schemas.microsoft.com/office/powerpoint/2010/main" val="13577988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F7A5D0-AB27-4A7E-8046-676E3594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04CAE5-50A2-484C-923B-EAFE4A60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24주 예상 재고와 발주 검토 화면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D6186B-AA42-4ED3-9DE9-32F7ABEE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시스템 제안과 담당자 확정 수량을 같은 화면에서 비교합니다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33B581-088E-44F0-8BBF-7A2B317A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0A911E-D00C-4E9A-A46A-8C4A852EB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2573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9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업무 검증용 재구성 화면 · 4개 샘플 SKU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FDC6D8-6DA2-4C64-B8A7-41B4DA11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3143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시스템 제안과</a:t>
            </a:r>
          </a:p>
          <a:p xmlns:a="http://schemas.openxmlformats.org/drawingml/2006/main">
            <a:pPr algn="l">
              <a:defRPr sz="187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실무자 확정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F7703-D1CD-4CBE-9DA2-E6B8E6F5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차이를 수량으로 표시해</a:t>
            </a:r>
          </a:p>
          <a:p xmlns:a="http://schemas.openxmlformats.org/drawingml/2006/main">
            <a:pPr algn="l">
              <a:defRPr sz="135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회의에서 조정 근거를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3EF237-8C58-4FC6-88E3-BC71E9201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9136E4-FCDF-4E92-962E-48E81A1DE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8B8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F8B8D"/>
                </a:solidFill>
                <a:latin typeface="Noto Sans KR"/>
                <a:ea typeface="Noto Sans KR"/>
                <a:cs typeface="Noto Sans KR"/>
              </a:rPr>
              <a:t>가중치 시뮬레이션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AB778-8F00-49DF-ABF4-B3D7D9F32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76675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프로모션·채널 상황에 따라</a:t>
            </a:r>
          </a:p>
          <a:p xmlns:a="http://schemas.openxmlformats.org/drawingml/2006/main">
            <a:pPr algn="l">
              <a:defRPr sz="135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실무자가 수요 가정을 변경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547644-EA1B-4D6A-83FA-D338435E1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0FDEA0-F4E9-4F51-B4AE-9CEDDB26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C2413B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C2413B"/>
                </a:solidFill>
                <a:latin typeface="Noto Sans KR"/>
                <a:ea typeface="Noto Sans KR"/>
                <a:cs typeface="Noto Sans KR"/>
              </a:rPr>
              <a:t>재고주수 히트맵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13E784-FA2A-49E9-86CE-F71E17A14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530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결품과 과재고 위험을</a:t>
            </a:r>
          </a:p>
          <a:p xmlns:a="http://schemas.openxmlformats.org/drawingml/2006/main">
            <a:pPr algn="l">
              <a:defRPr sz="135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주차별로 먼저 확인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1b0a7677f41b2"/>
          <a:stretch xmlns:a="http://schemas.openxmlformats.org/drawingml/2006/main"/>
        </p:blipFill>
        <p:spPr>
          <a:xfrm xmlns:a="http://schemas.openxmlformats.org/drawingml/2006/main">
            <a:off x="5334893" y="1504950"/>
            <a:ext cx="4855963" cy="4686300"/>
          </a:xfrm>
          <a:prstGeom xmlns:a="http://schemas.openxmlformats.org/drawingml/2006/main" prst="roundRect">
            <a:avLst>
              <a:gd name="adj" fmla="val 2033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1A4A75-C11F-4F50-A2AB-F517918B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641DF2-F535-4B06-ABE9-50DA8AAB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실제 업무 판단 범위는 40개 SKU이며 공개 화면에는 샘플 데이터를 사용했습니다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7C25D2-1474-4EAA-90EC-C3858B33B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4 / 7</a:t>
            </a:r>
          </a:p>
        </p:txBody>
      </p:sp>
    </p:spTree>
    <p:extLst>
      <p:ext uri="{BB962C8B-B14F-4D97-AF65-F5344CB8AC3E}">
        <p14:creationId xmlns:p14="http://schemas.microsoft.com/office/powerpoint/2010/main" val="1739675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4C96EF-9E42-462B-BE9F-FFFFDA46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392F0-BE7A-41A4-8145-76C3461E4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월간 S&amp;OP와 채널 재고 실행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2FE01F-586F-47DD-BC3C-06629B50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자료 취합에서 끝내지 않고 발주안·판매 제한·풀필먼트 실행까지 연결했습니다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FF8B8-D7F1-425B-9B62-03D955EDF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A15C15-5893-425A-B34C-9291C2F87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57400"/>
            <a:ext cx="19050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BDD2F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786653-AAF6-4C42-9290-E53DEA75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66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세일즈 전망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CDA950-4D8B-454E-B8E6-14A231C8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6225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정해진 양식으로</a:t>
            </a:r>
          </a:p>
          <a:p xmlns:a="http://schemas.openxmlformats.org/drawingml/2006/main">
            <a:pPr algn="ctr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판매 전망 취합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06923C-97AE-4EE4-BD7D-41C2866D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57400"/>
            <a:ext cx="19050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55361-861A-4A5B-947A-BCEEC8A98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66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재고 연결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26DCFE-0DCE-4362-B417-BEDAE894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6225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현재고·입고계획을</a:t>
            </a:r>
          </a:p>
          <a:p xmlns:a="http://schemas.openxmlformats.org/drawingml/2006/main">
            <a:pPr algn="ctr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24주 흐름으로 연결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CD4787-F995-4A03-A57F-D433434D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057400"/>
            <a:ext cx="19050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4E5"/>
          </a:solidFill>
          <a:ln xmlns:a="http://schemas.openxmlformats.org/drawingml/2006/main" w="9525">
            <a:solidFill>
              <a:srgbClr val="F3D29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3D3314-EA2D-45AD-B26E-CCCB1B609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266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공급 제약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B6531E-4966-4CA1-ABA6-389B9054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6225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리드타임·목표재고</a:t>
            </a:r>
          </a:p>
          <a:p xmlns:a="http://schemas.openxmlformats.org/drawingml/2006/main">
            <a:pPr algn="ctr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현금흐름·MOQ 검토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ED17DD-2B35-4C03-94DF-D3F29DEAF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57400"/>
            <a:ext cx="19050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ECF8F1"/>
          </a:solidFill>
          <a:ln xmlns:a="http://schemas.openxmlformats.org/drawingml/2006/main" w="9525">
            <a:solidFill>
              <a:srgbClr val="B7DFC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2FD01A-B1CA-4AC8-B609-AA7F0C36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266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발주안 조정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6DD06F-EED6-4E65-8491-9BEBDA936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6225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프로모션 영향과</a:t>
            </a:r>
          </a:p>
          <a:p xmlns:a="http://schemas.openxmlformats.org/drawingml/2006/main">
            <a:pPr algn="ctr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판매 제한 수량 조율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EB55F0-B6CE-46D9-8335-0B201F19D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57400"/>
            <a:ext cx="19050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E6BAB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872890-A90D-40D0-9E8A-E5BCBA6D1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26695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채널 실행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F858F6-A1E2-42D0-9F0C-DF8610C43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762250"/>
            <a:ext cx="156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사입·이관·ASN</a:t>
            </a:r>
          </a:p>
          <a:p xmlns:a="http://schemas.openxmlformats.org/drawingml/2006/main">
            <a:pPr algn="ctr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배차와 현장 전달</a:t>
            </a:r>
          </a:p>
        </p:txBody>
      </p:sp>
      <p:cxnSp>
        <p:nvCxnSpPr>
          <p:cNvPr id="5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476500" y="28670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B8D"/>
            </a:solidFill>
            <a:prstDash val="solid"/>
            <a:tailEnd type="arrow" w="med" len="med"/>
          </a:ln>
        </p:spPr>
      </p:cxnSp>
      <p:cxnSp>
        <p:nvCxnSpPr>
          <p:cNvPr id="5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762500" y="28670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B8D"/>
            </a:solidFill>
            <a:prstDash val="solid"/>
            <a:tailEnd type="arrow" w="med" len="med"/>
          </a:ln>
        </p:spPr>
      </p:cxnSp>
      <p:cxnSp>
        <p:nvCxnSpPr>
          <p:cNvPr id="53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048500" y="28670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B8D"/>
            </a:solidFill>
            <a:prstDash val="solid"/>
            <a:tailEnd type="arrow" w="med" len="med"/>
          </a:ln>
        </p:spPr>
      </p:cxnSp>
      <p:cxnSp>
        <p:nvCxnSpPr>
          <p:cNvPr id="54" name=""/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9334500" y="286702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F8B8D"/>
            </a:solidFill>
            <a:prstDash val="solid"/>
            <a:tailEnd type="arrow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85956D-ABFE-4BBF-B282-F3180D89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채널 운영 범위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966C90-E014-4EB0-80F0-47132F26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B07C79-0099-40F3-B244-4873E1B5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쿠팡·네이버 풀필먼트 사입과 재고 이관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CA55CF-3FDD-4F0A-975E-71E648CE8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9149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3PL ASN과 물류팀 현장 작업·배차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E920F1-0C7C-4213-96AF-4A69D94BE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53D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4253D"/>
                </a:solidFill>
                <a:latin typeface="Noto Sans KR"/>
                <a:ea typeface="Noto Sans KR"/>
                <a:cs typeface="Noto Sans KR"/>
              </a:rPr>
              <a:t>결품 위험이 높으면 행사 수량을 제한하고, 과재고 위험은 채널 배분과 발주량을 함께 조정했습니다.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3C71AC6-336E-4604-BC78-7F09974C6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2298E2-640B-4745-B631-0502481D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박종혁 | 비나우 구매 수요예측(S&amp;OP)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429336-4CD7-44AB-ABE8-EDAF3B115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5 / 7</a:t>
            </a:r>
          </a:p>
        </p:txBody>
      </p:sp>
    </p:spTree>
    <p:extLst>
      <p:ext uri="{BB962C8B-B14F-4D97-AF65-F5344CB8AC3E}">
        <p14:creationId xmlns:p14="http://schemas.microsoft.com/office/powerpoint/2010/main" val="10972439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7E08E0-311B-40BF-964B-EEA325735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843157-9D2E-4E9D-BFDD-33919778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2개월 미사용에서 월간 검토 기준으로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9DF64-21ED-44E7-926B-030AF76EC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기능보다 사용 장면과 판단 순서를 먼저 고쳤습니다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A772A-ED36-4238-BCCF-D5387D9E9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AC5051-7B7F-473F-A504-EE141F4AF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4904AD-73FB-4112-B201-32AA290E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초기 구현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F724D-A4E7-4981-946D-3A8D7F6EA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14600"/>
            <a:ext cx="214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예측 결과를 만드는 데</a:t>
            </a:r>
          </a:p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집중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F3FFE-5D48-437A-A52D-EB4BFC673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7811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50D91F-7821-4E0E-ADF0-4FB6AB829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38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2413B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C2413B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9BD2DA-F2E5-4954-8612-E3BB9BB0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0478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현업 미사용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5FD6A6-78BD-4B5E-8102-A5C37DFB2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514600"/>
            <a:ext cx="214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2개월 동안 월간 업무에</a:t>
            </a:r>
          </a:p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사용되지 않음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0F4710-3355-44BE-94B4-C37F80011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7811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AEF6BE-75D4-4F69-91C5-B40F779F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D97706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026294-DD07-4ACD-A72A-4B5BDB5B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478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공동 재설계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0EE760-09E3-4F0B-9971-510FC3BD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14600"/>
            <a:ext cx="214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세일즈·SCM의 판단 순서에</a:t>
            </a:r>
          </a:p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맞춰 화면과 로직 수정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0DCA4F-72EC-49BA-B86A-B3F9D147C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81175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0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D71AF1-1F36-4AA3-B72D-AEDB21DD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638300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9947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>
                <a:solidFill>
                  <a:srgbClr val="159947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344B27-8E4C-4A31-8886-415E64E12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047875"/>
            <a:ext cx="2190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반복 운영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98C057-3ABC-4841-8B07-1375EA52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14600"/>
            <a:ext cx="2143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월간 발주 검토의</a:t>
            </a:r>
          </a:p>
          <a:p xmlns:a="http://schemas.openxmlformats.org/drawingml/2006/main">
            <a:pPr algn="l">
              <a:def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공통 기준으로 사용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9FDD0E-C2E5-40A3-A375-BA2991DA3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62375"/>
            <a:ext cx="4476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BDD2F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4E7F21-AA1A-405A-83D7-209A24128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576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>
                <a:solidFill>
                  <a:srgbClr val="2563EB"/>
                </a:solidFill>
                <a:latin typeface="Noto Sans KR"/>
                <a:ea typeface="Noto Sans KR"/>
                <a:cs typeface="Noto Sans KR"/>
              </a:rPr>
              <a:t>월 8~9시간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3E162B-35AB-445A-985F-DB31F6DE7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05350"/>
            <a:ext cx="3857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자료 취합·Excel 양식 작업 자동화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37E395-1F05-4C8D-996C-FF4E1E59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762375"/>
            <a:ext cx="4476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E6BAB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180BB6-1690-43A3-ADA3-83E27643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05765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C2413B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>
                <a:solidFill>
                  <a:srgbClr val="C2413B"/>
                </a:solidFill>
                <a:latin typeface="Noto Sans KR"/>
                <a:ea typeface="Noto Sans KR"/>
                <a:cs typeface="Noto Sans KR"/>
              </a:rPr>
              <a:t>4개 SKU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C4A15B-6667-4CAF-85F8-15F2679F6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05350"/>
            <a:ext cx="38576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품절 위험을 발주 검토 전에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D01A18C-2D6C-4CB0-B9B5-70EDDDAB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829300"/>
            <a:ext cx="1040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현재 한계: 예측 정확도·Bias·실제 결품 및 과재고 개선률은 당시 정식 계측하지 못했습니다.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6F38379-FB68-4745-93AB-C5D1E04AD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77C6F7-21A6-4B6A-96BB-9A5F5BDE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박종혁 | 비나우 구매 수요예측(S&amp;OP)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D4BAF3-7905-4D33-98A8-AAE51724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6 / 7</a:t>
            </a:r>
          </a:p>
        </p:txBody>
      </p:sp>
    </p:spTree>
    <p:extLst>
      <p:ext uri="{BB962C8B-B14F-4D97-AF65-F5344CB8AC3E}">
        <p14:creationId xmlns:p14="http://schemas.microsoft.com/office/powerpoint/2010/main" val="8027890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E059D18-F924-48D5-8CF5-B43DC6EB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42900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4DF3EB-D2FA-44D8-8AE5-F901BC54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수요예측을 공급망 전체로 연결한 경험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3CF589-D9DF-43F3-AEF6-38F0BA60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81050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재고 위험을 수입·풀필먼트·ERP·통관 운영까지 이어서 판단했습니다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48AEAD-0EE0-408C-A06A-A0F298B10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10490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7FFA8-EFEA-4160-B8C7-3D9261D7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C2413B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C2413B"/>
                </a:solidFill>
                <a:latin typeface="Noto Sans KR"/>
                <a:ea typeface="Noto Sans KR"/>
                <a:cs typeface="Noto Sans KR"/>
              </a:rPr>
              <a:t>공급망 위험 대응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1EB80-2292-4E26-B140-595211243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3333750" cy="33147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FFF0EE"/>
          </a:solidFill>
          <a:ln xmlns:a="http://schemas.openxmlformats.org/drawingml/2006/main" w="9525">
            <a:solidFill>
              <a:srgbClr val="E6BAB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7ADE6-E2A6-4A24-A090-47DD4DD4F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57425"/>
            <a:ext cx="2724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C2413B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C2413B"/>
                </a:solidFill>
                <a:latin typeface="Noto Sans KR"/>
                <a:ea typeface="Noto Sans KR"/>
                <a:cs typeface="Noto Sans KR"/>
              </a:rPr>
              <a:t>105,000캔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688804-B726-4599-BE9E-D249D6EC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9082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약 30억 원 규모 리콜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D78A6-EBFB-4AA0-9E84-75D090C9D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67075"/>
            <a:ext cx="2724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6BAB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B0B977-F209-4F30-BC5D-15FE4144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514725"/>
            <a:ext cx="27241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한국·중국 창고의 증빙과</a:t>
            </a:r>
          </a:p>
          <a:p xmlns:a="http://schemas.openxmlformats.org/drawingml/2006/main">
            <a:pPr algn="ctr">
              <a:defRPr sz="135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감사 입회·폐기·결과보고 절차 정리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D77B20-376A-4E02-89DF-1AA0FB24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438650"/>
            <a:ext cx="27241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C241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C2413B"/>
                </a:solidFill>
                <a:latin typeface="Noto Sans KR"/>
                <a:ea typeface="Noto Sans KR"/>
                <a:cs typeface="Noto Sans KR"/>
              </a:rPr>
              <a:t>본사 보상액 100% 환수에 필요한</a:t>
            </a:r>
          </a:p>
          <a:p xmlns:a="http://schemas.openxmlformats.org/drawingml/2006/main">
            <a:pPr algn="ctr">
              <a:defRPr sz="1350" b="1">
                <a:solidFill>
                  <a:srgbClr val="C2413B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>
                <a:solidFill>
                  <a:srgbClr val="C2413B"/>
                </a:solidFill>
                <a:latin typeface="Noto Sans KR"/>
                <a:ea typeface="Noto Sans KR"/>
                <a:cs typeface="Noto Sans KR"/>
              </a:rPr>
              <a:t>증빙·보고 완성에 기여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E4563E-AE20-4C1E-A3E6-EB9B2F72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049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0F8B8D"/>
                </a:solidFill>
                <a:latin typeface="Noto Sans KR"/>
                <a:ea typeface="Noto Sans KR"/>
                <a:cs typeface="Noto Sans KR"/>
              </a:rPr>
              <a:t>시스템 연결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6F1174-605D-4544-A69C-1E11FAB3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333750" cy="3314700"/>
          </a:xfrm>
          <a:prstGeom xmlns:a="http://schemas.openxmlformats.org/drawingml/2006/main" prst="roundRect">
            <a:avLst>
              <a:gd name="adj" fmla="val 4310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9525">
            <a:solidFill>
              <a:srgbClr val="BDD2F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23B1F-48C4-4BCC-9664-C80B26E00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145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판매채널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9620F3-39D2-470A-A289-0ADEF7D7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3367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CCC66B-6595-4093-9491-96C6D8CC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9241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사내 ERP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7E3905-C77F-4CD0-8313-72EA8C19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4327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957651-6293-4DE1-A147-094BC0A3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35337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WMS·3PL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573624-D6D7-496F-8D54-4566A5C0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52875"/>
            <a:ext cx="219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09B093-3464-4935-AE3B-9B139FB43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143375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통관 관련 시스템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3E0977-5D38-4F66-BB3B-CE1FFBDD7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686300"/>
            <a:ext cx="2724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필드·상태·오류·재처리·QA 기준 정의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44C2B4-3B7B-4AF7-8F89-B7BC13B4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049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159947"/>
                </a:solidFill>
                <a:latin typeface="Noto Sans KR"/>
                <a:ea typeface="Noto Sans KR"/>
                <a:cs typeface="Noto Sans KR"/>
              </a:rPr>
              <a:t>다음 고도화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755761-01E0-48FC-B8E0-4BA8CBF8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52625"/>
            <a:ext cx="3200400" cy="331470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ECF8F1"/>
          </a:solidFill>
          <a:ln xmlns:a="http://schemas.openxmlformats.org/drawingml/2006/main" w="9525">
            <a:solidFill>
              <a:srgbClr val="B7DFC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95F4B2-E9DA-444C-8FE6-A05D4384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286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예측 정확도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98AF6D-A550-44A8-BB2E-7D54BFE3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64795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SKU·채널별 Bias와 WMAPE 계측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2346DF-E8C8-42E2-930E-CA75EDAB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17182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E5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41B104-A132-45A8-8DAC-AF256E149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3718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신제품·프로모션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B43A43-BEC5-43D6-96BB-085B8355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733800"/>
            <a:ext cx="257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유사 SKU와 행사 증가분 분리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81ECFF-5C4D-4F09-B514-AFD2AD80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257675"/>
            <a:ext cx="2571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E5D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B3DEAA1-6DAC-4D82-AF23-701D4390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4577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>
                <a:solidFill>
                  <a:srgbClr val="182235"/>
                </a:solidFill>
                <a:latin typeface="Noto Sans KR"/>
                <a:ea typeface="Noto Sans KR"/>
                <a:cs typeface="Noto Sans KR"/>
              </a:rPr>
              <a:t>AX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3BF35E9-604A-47F8-A413-01B5E26A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819650"/>
            <a:ext cx="2571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운영 정확도를 먼저 확보한 뒤 반복 판단을 자동화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557175-5D46-4FB2-AF84-AC7D20C7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53100"/>
            <a:ext cx="1047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53D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14253D"/>
                </a:solidFill>
                <a:latin typeface="Noto Sans KR"/>
                <a:ea typeface="Noto Sans KR"/>
                <a:cs typeface="Noto Sans KR"/>
              </a:rPr>
              <a:t>SCM 현장에서 검증한 판단 기준을 데이터와 시스템으로 남기는 것이 다음 목표입니다.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05942AC-429E-41B3-9079-142B04DFB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57950"/>
            <a:ext cx="11201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0E8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A30692-AF05-400E-87C0-9BBF24A6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34150"/>
            <a:ext cx="990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관세청 연동은 진행 중이며 외부 개발사 구현, 본인은 정책·요건·QA·운영 적용을 담당했습니다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D20083D-1854-4CB0-B826-F0D850D74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3415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defRPr>
            </a:pPr>
            <a:r>
              <a:rPr sz="825" b="0">
                <a:solidFill>
                  <a:srgbClr val="687386"/>
                </a:solidFill>
                <a:latin typeface="Noto Sans KR"/>
                <a:ea typeface="Noto Sans KR"/>
                <a:cs typeface="Noto Sans KR"/>
              </a:rPr>
              <a:t>7 / 7</a:t>
            </a:r>
          </a:p>
        </p:txBody>
      </p:sp>
    </p:spTree>
    <p:extLst>
      <p:ext uri="{BB962C8B-B14F-4D97-AF65-F5344CB8AC3E}">
        <p14:creationId xmlns:p14="http://schemas.microsoft.com/office/powerpoint/2010/main" val="193467372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2026-09-05T11:54:50.7080000Z</dcterms:created>
  <dcterms:modified xsi:type="dcterms:W3CDTF">2026-09-05T11:54:50.7080000Z</dcterms:modified>
</coreProperties>
</file>