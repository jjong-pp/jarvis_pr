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7a91f0e75c4bc1" /><Relationship Type="http://schemas.openxmlformats.org/officeDocument/2006/relationships/extended-properties" Target="/docProps/app.xml" Id="Re4eaa4c5757f45c9" /><Relationship Type="http://schemas.openxmlformats.org/officeDocument/2006/relationships/officeDocument" Target="/ppt/presentation.xml" Id="R4f163243f5804c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52b9dec0cc482b"/>
  </p:sldMasterIdLst>
  <p:notesMasterIdLst>
    <p:notesMasterId xmlns:r="http://schemas.openxmlformats.org/officeDocument/2006/relationships" r:id="Rd972617977a0407c"/>
  </p:notesMasterIdLst>
  <p:sldIdLst>
    <p:sldId xmlns:r="http://schemas.openxmlformats.org/officeDocument/2006/relationships" id="256" r:id="Rd64178aae4ec4628"/>
    <p:sldId xmlns:r="http://schemas.openxmlformats.org/officeDocument/2006/relationships" id="257" r:id="R66a0ee2676414fdf"/>
    <p:sldId xmlns:r="http://schemas.openxmlformats.org/officeDocument/2006/relationships" id="258" r:id="R665528e87cac4497"/>
    <p:sldId xmlns:r="http://schemas.openxmlformats.org/officeDocument/2006/relationships" id="259" r:id="R9681b11596504e5e"/>
    <p:sldId xmlns:r="http://schemas.openxmlformats.org/officeDocument/2006/relationships" id="260" r:id="Rc566d75f2b7046b0"/>
    <p:sldId xmlns:r="http://schemas.openxmlformats.org/officeDocument/2006/relationships" id="261" r:id="Re052acef48ee410e"/>
    <p:sldId xmlns:r="http://schemas.openxmlformats.org/officeDocument/2006/relationships" id="262" r:id="Rc5fd4fd3f9714f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da05819cc7486a" /><Relationship Type="http://schemas.openxmlformats.org/officeDocument/2006/relationships/slideMaster" Target="/ppt/slideMasters/slideMaster1.xml" Id="Rdf52b9dec0cc482b" /><Relationship Type="http://schemas.openxmlformats.org/officeDocument/2006/relationships/notesMaster" Target="/ppt/notesMasters/notesMaster1.xml" Id="Rd972617977a0407c" /><Relationship Type="http://schemas.openxmlformats.org/officeDocument/2006/relationships/presProps" Target="/ppt/presProps.xml" Id="R3c830f2f9d1f4258" /><Relationship Type="http://schemas.openxmlformats.org/officeDocument/2006/relationships/tableStyles" Target="/ppt/tableStyles.xml" Id="R4034025a60ca4d4f" /><Relationship Type="http://schemas.openxmlformats.org/officeDocument/2006/relationships/slide" Target="/ppt/slides/slide1.xml" Id="Rd64178aae4ec4628" /><Relationship Type="http://schemas.openxmlformats.org/officeDocument/2006/relationships/slide" Target="/ppt/slides/slide2.xml" Id="R66a0ee2676414fdf" /><Relationship Type="http://schemas.openxmlformats.org/officeDocument/2006/relationships/slide" Target="/ppt/slides/slide3.xml" Id="R665528e87cac4497" /><Relationship Type="http://schemas.openxmlformats.org/officeDocument/2006/relationships/slide" Target="/ppt/slides/slide4.xml" Id="R9681b11596504e5e" /><Relationship Type="http://schemas.openxmlformats.org/officeDocument/2006/relationships/slide" Target="/ppt/slides/slide5.xml" Id="Rc566d75f2b7046b0" /><Relationship Type="http://schemas.openxmlformats.org/officeDocument/2006/relationships/slide" Target="/ppt/slides/slide6.xml" Id="Re052acef48ee410e" /><Relationship Type="http://schemas.openxmlformats.org/officeDocument/2006/relationships/slide" Target="/ppt/slides/slide7.xml" Id="Rc5fd4fd3f9714f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e515c60cfe46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1ee23d51a648f1" /><Relationship Type="http://schemas.openxmlformats.org/officeDocument/2006/relationships/notesMaster" Target="/ppt/notesMasters/notesMaster1.xml" Id="Rcb496a3822de4f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e231068e564141" /><Relationship Type="http://schemas.openxmlformats.org/officeDocument/2006/relationships/notesMaster" Target="/ppt/notesMasters/notesMaster1.xml" Id="Rb9aea67418c248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ffab32573945d2" /><Relationship Type="http://schemas.openxmlformats.org/officeDocument/2006/relationships/notesMaster" Target="/ppt/notesMasters/notesMaster1.xml" Id="R8559ea4533c946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6c4eb13b5f429a" /><Relationship Type="http://schemas.openxmlformats.org/officeDocument/2006/relationships/notesMaster" Target="/ppt/notesMasters/notesMaster1.xml" Id="R4902eb809dca44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b1efd7593a4689" /><Relationship Type="http://schemas.openxmlformats.org/officeDocument/2006/relationships/notesMaster" Target="/ppt/notesMasters/notesMaster1.xml" Id="Rce2012369e8647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6289b4d7614b4b" /><Relationship Type="http://schemas.openxmlformats.org/officeDocument/2006/relationships/notesMaster" Target="/ppt/notesMasters/notesMaster1.xml" Id="R934064ff00ec45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104ca63644404f" /><Relationship Type="http://schemas.openxmlformats.org/officeDocument/2006/relationships/notesMaster" Target="/ppt/notesMasters/notesMaster1.xml" Id="Re3d81418f05a44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사용자 확인 실무 범위와 SCM-Dashboard 코드. 40개 SKU는 실제 업무 판단 범위이며 공개 화면은 샘플 데이터입니다.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사용자 확인 직구·내수 구조, 업무표의 재고·통관·이관·출고·정산 기록. 거래처와 창고명은 영업비밀 보호를 위해 일반화했습니다.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사용자 확인 월간 S&amp;OP 운영과 업무표의 가격 인상·행사 쇼트 시뮬레이션, 채널 사입 허용량, 수요회의 기록. 프로모션·현금흐름·공급사 MOQ는 자동 계산이 아니라 회의 판단 항목입니다.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근거: SCM-Dashboard app/core/forecasting.py 및 inventory 라우터. 현재 공개 화면은 4개 샘플 SKU이며 40개 SKU는 사용자 확인 실무 범위입니다.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사용자 제공 업무표의 생산중단, 수입자 변경, 입고 지연, 유통기한 오입고, 파손, 풀필먼트 이관, 리콜 기록. 민감한 거래정보는 일반화했습니다.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사용자 확인 및 career_facts C-020~C-029, C-080~C-087. 관세청 일평균 약 100건은 모수 확인 전 제외했습니다. 2026-09-01 이후 후속 과제 종결 상태도 확인이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비나우 JD의 기준 데이터, S&amp;OP, 프로모션 반영 발주, 결품·과재고 관리에 맞춘 지원 방향입니다. 화장품과 더존 ERP 경험은 없으며 이를 숨기지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c7b72509aa40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da79ae48dc40f7" /><Relationship Type="http://schemas.openxmlformats.org/officeDocument/2006/relationships/slideLayout" Target="/ppt/slideLayouts/slideLayout1.xml" Id="R0c7f082e5ef744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7f082e5ef744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dc0903c38419d" /><Relationship Type="http://schemas.openxmlformats.org/officeDocument/2006/relationships/notesSlide" Target="/ppt/notesSlides/notesSlide1.xml" Id="R006a27208e6545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60401e9f848ee" /><Relationship Type="http://schemas.openxmlformats.org/officeDocument/2006/relationships/notesSlide" Target="/ppt/notesSlides/notesSlide2.xml" Id="R181ebda2a8be42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ef799fdac435f" /><Relationship Type="http://schemas.openxmlformats.org/officeDocument/2006/relationships/notesSlide" Target="/ppt/notesSlides/notesSlide3.xml" Id="R29e3062831d042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3be1073234fb2" /><Relationship Type="http://schemas.openxmlformats.org/officeDocument/2006/relationships/image" Target="/ppt/media/image.png" Id="Rbf7e730316904437" /><Relationship Type="http://schemas.openxmlformats.org/officeDocument/2006/relationships/notesSlide" Target="/ppt/notesSlides/notesSlide4.xml" Id="R264869a08efe4f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3118ce13f4753" /><Relationship Type="http://schemas.openxmlformats.org/officeDocument/2006/relationships/notesSlide" Target="/ppt/notesSlides/notesSlide5.xml" Id="R9c223d8089e84f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380ea65584e14" /><Relationship Type="http://schemas.openxmlformats.org/officeDocument/2006/relationships/notesSlide" Target="/ppt/notesSlides/notesSlide6.xml" Id="Rb587d5f3a49148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679eadef94f1e" /><Relationship Type="http://schemas.openxmlformats.org/officeDocument/2006/relationships/notesSlide" Target="/ppt/notesSlides/notesSlide7.xml" Id="Rec43b926a72640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A256F-4ADC-4338-97CE-8C2BCDF71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62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72788-990F-4471-B3AA-49A6D900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직구·내수 공급망의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6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수요예측·재고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98B23-D67A-4440-929D-A013EF2D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7D2E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C7D2E7"/>
                </a:solidFill>
                <a:latin typeface="Noto Sans KR"/>
                <a:ea typeface="Noto Sans KR"/>
                <a:cs typeface="Noto Sans KR"/>
              </a:rPr>
              <a:t>발주 판단부터 통관·채널 실행·예외 대응까지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50C49-4F52-48F6-857F-B905811C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박종혁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3E1BE-7D25-4EA2-971A-5EB3B573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2E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C7D2E7"/>
                </a:solidFill>
                <a:latin typeface="Noto Sans KR"/>
                <a:ea typeface="Noto Sans KR"/>
                <a:cs typeface="Noto Sans KR"/>
              </a:rPr>
              <a:t>비나우 구매 수요예측(S&amp;OP) 지원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6F20E-0EF8-47B1-8697-F1103F95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716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40개 SKU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A3093-F151-4282-8398-94358617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14525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실제 업무 판단 범위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38004-19BD-4F2B-839F-11D5F996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9077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6AEAF0-FCC5-439C-8F20-8E114DCB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24주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81CCD-F1D6-448A-8A9C-BD0ED511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289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현재고와 입고예정을 연결한 재고 전망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AAE98-F4DB-47E1-988E-F6808839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41C0FE-C910-400E-9CFB-A0B4141A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195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rPr>
              <a:t>월간 S&amp;OP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F56158-1CA0-4B13-A385-F057D2E2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625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세일즈 전망과 공급 제약을 발주안으로 조정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C9E766-5DD3-4553-BB04-D98D3D96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067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초안 v0.3 · 영업비밀을 일반화한 제출 검토본</a:t>
            </a:r>
          </a:p>
        </p:txBody>
      </p:sp>
    </p:spTree>
    <p:extLst>
      <p:ext uri="{BB962C8B-B14F-4D97-AF65-F5344CB8AC3E}">
        <p14:creationId xmlns:p14="http://schemas.microsoft.com/office/powerpoint/2010/main" val="17490436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1E63DF-D353-4AD0-966B-786CF665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4BAD6-D977-4932-982C-C956F149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직구·내수 이중 공급망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3D062-8072-42AD-8D3E-7630F9D5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수요 신호부터 고객 배송까지 서로 다른 제약을 한 재고 계획에서 관리했습니다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C599A-3E2F-4101-8F89-8684C0D0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DCE6A-0C50-4150-A954-627D63F6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직구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BB93A-65C9-4E93-A1AD-40757DE2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466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중국 전진창고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C26B1-69D2-4C83-A179-1C1317BB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D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9683A-13CE-4DC7-A6BB-7F2C83AD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FA363-8398-46E1-9DBE-C8B7C4DF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주문·수요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A80CE-3001-4392-BE13-31DBDFD3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574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자사몰 주문과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판매 흐름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50E57F-5460-45F1-9037-4EB63DE4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14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3800BC-618B-42D1-BCE6-CB598DA4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95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전진창고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311FC-558D-4899-BD42-73F11D83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574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재고·유통기한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포장 단위 점검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53010-0EBF-4315-8BB5-C0599ABF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14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2A9B97-C932-40F2-B9FF-504AF719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통관 정보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1D2C8-61BB-4FBD-9C04-1EADAD75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본인확인·거래정보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오류 보완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D563E-C5D6-4BB9-B61F-3757344B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AADC0-58F5-491A-AD6C-A0B1D118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배송·CS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652E03-5D18-4FDB-AF13-9F638BF4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574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출고 통제와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배송 예외 해결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4F52CE-B3D5-4951-B2E7-1205D7E2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내수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ACDCAC-7CEA-4D49-829C-B240EC08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909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국내 직수입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A90FF8-3DB7-4C90-977B-81D0567A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D3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0A49F0-1F04-469A-AA3A-052A7D2A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F4BE3A-089A-4551-9270-55B1A8B2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9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수요·발주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4A5224-9A3D-4140-827E-054C4649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8152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전망·현재고·입고예정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장기 리드타임 검토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31FCA0-66C3-4E46-A61E-507A6E40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386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CC3BDF-3D14-4F1B-B2D6-CD4BC6EC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19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수입·입고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F5436F-9057-463D-A2FF-F40718F0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8152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선적·통관·식품이력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입고 예외 관리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3E29B4-580C-4B40-8FA1-3915A840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386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AB9D37-042A-40A4-8A8A-5FC6718A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9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재고 배분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08FC77-5E9B-4807-8E0C-0B91A3DC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8152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풀필먼트·오프라인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기관 채널 이관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990CB2-93CE-43C3-9BA4-15F9A03D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386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CE8BD8-4B81-4870-BE7D-1D413A46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19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정산·피드백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04B1CD-EC7F-4172-9F83-9B9F9BD7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8152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수불·물류비·CS를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다음 계획에 반영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35241F-E1CC-4F47-846E-E818EEEA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5727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0A4D6D-9635-4D68-BA16-CEDD9EF0D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864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공통 제약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DCE2C8-C57A-4D5C-9A64-C3FC1127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57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6개월 이상 리드타임 · 유통기한 · MOQ · 수입자·규제 · 여러 창고의 재고 수불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797CEC-27B1-4394-8F09-95D79134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9F78C8-4C1C-4BCD-B334-6471A151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박종혁 | 비나우 구매 수요예측(S&amp;OP)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FD078E-203F-45C0-B667-5385CD5B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2 / 7</a:t>
            </a:r>
          </a:p>
        </p:txBody>
      </p:sp>
    </p:spTree>
    <p:extLst>
      <p:ext uri="{BB962C8B-B14F-4D97-AF65-F5344CB8AC3E}">
        <p14:creationId xmlns:p14="http://schemas.microsoft.com/office/powerpoint/2010/main" val="17857352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F84C5A-FD45-4483-891D-356447AE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E14341-8B1C-4077-ABD9-CD7BFA0B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월간 S&amp;OP와 발주 판단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A4E97-D10D-4B1A-BCEE-B8069AE5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판매 전망과 공급 제약을 같은 기준으로 놓고 발주·판매 제한·재고 배분을 결정했습니다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6C4F7-075E-4C0D-AB1B-525ECE4E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C799C-81BF-4A9D-A240-16E2C16A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기준 데이터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51E3BA-515D-48E0-AB68-430A8DDC2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3336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세일즈 전망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판매·출고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현재고·유통기한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입고예정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616F8-DAA7-4828-862C-F9845C3F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5621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CD260-C846-4B44-B7B9-6B364D62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504950"/>
            <a:ext cx="4572000" cy="3333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B8CA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6F23C-FD07-478E-B1E8-6127A8EC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097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발주안 검토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55B2F-8D72-4DFD-BD8E-99BCAD48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0030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A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FCE17-D4BD-464D-B558-A7B366F9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289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6개월 이상 리드타임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418F4-7715-4205-A37A-97D65C7F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861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3개월 수준 목표재고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5A081-92A5-4A02-B04E-A9AD5F28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433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현금흐름과 공급사 MOQ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A0438-5A89-4A57-AF28-337C2E36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005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프로모션·가격 변동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EC3A8A-D104-4A8A-B2DC-BA03D242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실행 결과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B1AE8-1682-415E-801F-542B3012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24050"/>
            <a:ext cx="2571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발주 제안량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판매 제한량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채널 사입 허용량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창고 이관 계획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3803FD-8329-422A-B077-7751DF35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5727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1B97C-24B2-40CA-BF0A-30D0660A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실제 판단 사례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EEF04A-5987-44E7-A5D8-0985497A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14950"/>
            <a:ext cx="823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가격 인상·행사 시 세일즈 상향 가정으로 품절 위험을 계산하고, 수입예정 물량까지 반영해 판매 제한과 채널별 배분량을 조정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B675BB-6F62-4ECA-A149-D0572E63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BFB318-4280-42A9-AEF5-30483C71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현재 최종 승인권자와 PO 발행 범위는 확인 후 문구를 확정합니다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1B01FC-6D0A-4194-BB64-BC224366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3 / 7</a:t>
            </a:r>
          </a:p>
        </p:txBody>
      </p:sp>
    </p:spTree>
    <p:extLst>
      <p:ext uri="{BB962C8B-B14F-4D97-AF65-F5344CB8AC3E}">
        <p14:creationId xmlns:p14="http://schemas.microsoft.com/office/powerpoint/2010/main" val="10861617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EE80FD-1BBB-4CE5-9B80-60CE7ECC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604CA-DADD-4B2E-9B88-AD346A1B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24주 수요예측·재고 대시보드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CCCB6-D1BE-4B28-88F5-3271529D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반복 취합을 줄이고 시스템 제안과 담당자 판단을 같은 화면에서 비교했습니다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D3C69-A2AA-48FF-8C94-56283F2F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4ABBD-D94C-4F9F-98C4-73B48820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2382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업무 검증용 재구성 화면 · 4개 샘플 SKU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4424F-6DCF-4B2D-9C8E-64B1E5B7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시스템 제안과</a:t>
            </a:r>
          </a:p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담당자 확정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D9CC6-C095-4746-B8C1-061D355B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차이를 수량으로 보여줘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회의에서 조정 근거를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411E9-360A-498A-ACA0-66B485DC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3B30E-666A-4302-98BE-7B4C1826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가중치 시뮬레이션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ED887-FE03-42A5-BEC4-0C3DB2DD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프로모션·채널 상황에 따라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실무자가 수요 가정을 변경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B3336-EC54-4D83-95FE-69065A93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B5D42-D7E4-4664-AAEE-B741B8A0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재고주수 히트맵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482567-F1DD-447F-A328-19F88D49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결품과 과재고 위험을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주차별로 먼저 확인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e730316904437"/>
          <a:stretch xmlns:a="http://schemas.openxmlformats.org/drawingml/2006/main"/>
        </p:blipFill>
        <p:spPr>
          <a:xfrm xmlns:a="http://schemas.openxmlformats.org/drawingml/2006/main">
            <a:off x="5219214" y="1504950"/>
            <a:ext cx="4934922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BC01BC-385D-45EF-81FB-4286DA01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FD9DB-3D25-4A45-862D-5B202D0F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실제 업무 판단 범위 40개 SKU · 공개 화면은 샘플 데이터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A600DA-59CD-4720-B730-8A1118BD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4 / 7</a:t>
            </a:r>
          </a:p>
        </p:txBody>
      </p:sp>
    </p:spTree>
    <p:extLst>
      <p:ext uri="{BB962C8B-B14F-4D97-AF65-F5344CB8AC3E}">
        <p14:creationId xmlns:p14="http://schemas.microsoft.com/office/powerpoint/2010/main" val="1317133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58A1C1-C287-408F-A0EE-3B376651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09C60-66A2-449A-BFBA-63FCB90D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결품·과재고와 공급 예외 통제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6E5AC-12AD-4F94-A6D1-B825E44C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계획이 흔들리는 사건을 재고·통관·채널 실행의 조치로 바꿨습니다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93106-8890-4A8C-BB4E-C3CEBC64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367C3-7762-406B-B5F1-90371FD67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공급 변화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A4FA8-7C23-451A-B7BD-81C3ECC9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68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FC17B-59D4-4CFD-A4BC-FE6B54B0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324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생산중단·레시피 변경</a:t>
            </a:r>
          </a:p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수입자 변경·입고 지연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244CF-24BD-41BF-A85A-37BADB90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324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공급공백 기간과 적용 인보이스를 확인하고 발주·판매 계획을 조정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FFED64-E648-4FFC-A9D0-E5A2247C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5049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2028C-4CC6-4B4F-8B5B-B4597A83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04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재고 품질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9EEEE-B1C4-4D31-A7ED-E1F54776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71675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A8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9A688-1643-4FCD-B008-501AD6EA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09800"/>
            <a:ext cx="2324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유통기한 오입고</a:t>
            </a:r>
          </a:p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입고·창고 파손·반품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B1C4C-427E-4CE2-A45C-0BBFC5B1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38500"/>
            <a:ext cx="2324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LOT·유통기한·수불을 대사하고 보상·재처리·폐기 근거를 관리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8DAE5-7AD1-46D4-8CB7-D86CC869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049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0C6A0B-5132-4E4F-9045-06B31824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04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rPr>
              <a:t>채널 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7C07B-0059-4760-ABB7-53EA65D2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71675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6A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5AA985-47C4-442A-91D4-F9DE0B8C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09800"/>
            <a:ext cx="2324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풀필먼트 사입·이관</a:t>
            </a:r>
          </a:p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오프라인·기관 출고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D4799A-CDC8-4639-A7F7-141C3B86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0"/>
            <a:ext cx="2324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현재고와 수입예정을 함께 보고 판매 제한·배분·반출 일정을 결정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C8DF75-CDE2-4365-97DB-312791ED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049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86F69E-607C-43D1-A9F8-AB470BFD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049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B5FC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7B5FC7"/>
                </a:solidFill>
                <a:latin typeface="Noto Sans KR"/>
                <a:ea typeface="Noto Sans KR"/>
                <a:cs typeface="Noto Sans KR"/>
              </a:rPr>
              <a:t>규제·리콜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BE1C84-2E1F-45CF-895A-563B10B9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71675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B5F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B6D79F-0410-4ABF-AC82-3F8AA804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09800"/>
            <a:ext cx="2324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식품이력·수입통관</a:t>
            </a:r>
          </a:p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10만 캔 이상 리콜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1F65EC-4A22-44E9-A5C1-9D11058B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38500"/>
            <a:ext cx="2324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한·중 창고 폐기와 감사 증빙을 정리하고 재고 회복과 결과보고를 연결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8FD1C5-A43F-4422-9B70-A7AF261B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57275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4D8A6C-8A89-4065-A0A2-60BB23FD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911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운영 원칙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729989-70FD-4BC7-9B87-B70551D8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842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수요 숫자가 바뀌면 발주만 다시 계산하지 않았습니다. 통관 가능일, 유통기한, 창고별 가용재고, 채널 중단일까지 확인해 실행 가능한 공급 계획으로 바꿨습니다.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48B2C8-D61B-4970-96BF-B37BF67E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3DFFA2-8E93-4223-B06A-0E8F24F1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거래처명·개별 사고 금액·SKU별 수량은 외부 제출본에서 일반화했습니다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24373B-1B87-40EB-8EAE-391382CB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5 / 7</a:t>
            </a:r>
          </a:p>
        </p:txBody>
      </p:sp>
    </p:spTree>
    <p:extLst>
      <p:ext uri="{BB962C8B-B14F-4D97-AF65-F5344CB8AC3E}">
        <p14:creationId xmlns:p14="http://schemas.microsoft.com/office/powerpoint/2010/main" val="4172594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DE92A0-A1E6-49E6-86C2-43A847C3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94D1F-2921-408E-A5D7-8BDF9FFF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현장 문제의 시스템 전환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956E5-B821-438C-A000-DBE8A226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문제를 제기하는 데서 멈추지 않고 예산·요건·QA·운영 정착까지 맡았습니다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D05F2-A289-46A7-947C-16B748F1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A84AB-2423-4E41-B15E-19D5A3EB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과제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3C959-CAE6-49F1-8C61-B00C7895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409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문제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58AD8-BB1C-449B-BB08-50F01310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09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본인 역할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B6968-86DF-4B05-938C-FD4A71A5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40970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확인된 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1A7DF-6676-4347-BB8A-F69941AA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5F41D-4A26-46EB-8925-12A06E72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수요예측 대시보드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54F13-6E5E-4B32-8CE8-93A34F80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38350"/>
            <a:ext cx="2333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분산 파일과 월 8~9시간 취합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B3CC4-EF5A-4BA5-9636-A7F4B72C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38350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직접 데이터 구조·로직을 기획하고 생성형 AI 코딩 도구로 구현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F1D90-3945-40BA-A5F4-C5DB90B7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383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첫 버전 2개월 미사용 후 회의 순서에 맞춰 재설계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위험 SKU 4개 사전 식별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8375EF-CD73-4556-9B82-5A51474D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4BE73C-C870-4DE1-B81B-D9E9151E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고객사 주문몰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B79EB3-8B2F-461F-9307-6B2AC7B8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52800"/>
            <a:ext cx="2333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수기 주문·입금·출고·정산의 반복 오류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15FE2-59FA-41A1-9638-0A675181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52800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필요성을 내부에 설득해 개발 예산을 확보하고 외부 개발사 QA·가동 관리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B1BC1D-7DCA-4D7F-8DB1-E46D0D2A1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528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2026-07-16 전체 가동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약 1개월 오출고 0건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F704F8-C04A-45EE-8D90-6398D1C3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F769DA-156D-444E-8990-BFC1618F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6A2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D76A2E"/>
                </a:solidFill>
                <a:latin typeface="Noto Sans KR"/>
                <a:ea typeface="Noto Sans KR"/>
                <a:cs typeface="Noto Sans KR"/>
              </a:rPr>
              <a:t>관세청 연동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88E1B3-4BE0-4E19-8267-3E681397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67250"/>
            <a:ext cx="2333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거래정보 제출과 채널별 예외의 신규 운영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F4B4F7-70AF-4AE1-AACD-A4DBE002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67250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자사몰·ERP·WMS·통관사 간 전체 데이터·오류·재처리 정책 기획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49D6F9-79B1-44CF-81AC-2EE837AB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672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30개 테스트 목적 30/30 통과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2026-08-28 운영 전환 후 초기 예외 통제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AB9AC9-0D01-4876-8617-B6C95F44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AB5225-BF30-4D04-87F4-8AC08F57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실제 개발은 외부·내부 개발사가 담당했고, 본인은 업무 기획·QA·운영 전환을 담당했습니다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D85E8E-E30A-47A6-AC6D-5829CBC4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6 / 7</a:t>
            </a:r>
          </a:p>
        </p:txBody>
      </p:sp>
    </p:spTree>
    <p:extLst>
      <p:ext uri="{BB962C8B-B14F-4D97-AF65-F5344CB8AC3E}">
        <p14:creationId xmlns:p14="http://schemas.microsoft.com/office/powerpoint/2010/main" val="8777552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2D752D-0195-492B-B5D6-3A3DA5D9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CEC3F-678F-465E-AC71-C9E410FC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비나우에서 이어갈 수요예측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F2FB8-549B-40F7-A240-3BBBD9AB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화장품의 수요 특성을 먼저 정확히 익히고 반복 판단을 단계적으로 구조화하겠습니다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C2B28-18DC-4181-A81C-98B1E5E0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D82D7-5F19-4755-8A61-45B69CE3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이미 해온 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F4938-74D0-407C-B71F-6DC4396A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68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A82371-9D6F-4ED1-9D1B-A834084A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판매·출고·재고·입고예정의 기준 통합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A2291-993D-4A8E-A432-11648D97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세일즈 전망과 장기 리드타임을 월간 발주안으로 조정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61A57-8925-4DA8-A632-FA96A975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프로모션·가격 변화에 따른 결품 위험과 채널 재고 실행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B2A38-FD4F-49CC-91CA-8C945408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대시보드·ERP·주문몰·통관 연동의 요건과 운영 정책 설계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FF0A5-CD2F-40F3-AD9A-ED2043D8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240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비나우에서 확장할 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DFC467-22E0-4800-B017-25AF5A53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383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A8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DD5C2B-61B3-4E4C-A387-DE1DA027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신제품·브랜드·채널별 수요 패턴 학습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F122E-756B-478F-97EF-725C840B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956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예측 오차와 Bias, 결품·과재고 결과를 SKU와 채널별로 계측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D1CEC1-16E0-4A61-A367-557B90FA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38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프로모션 증가분과 기본 수요를 분리해 발주 판단의 근거를 축적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82FCEE-C585-4146-A42B-C21DB60B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815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정확한 운영 데이터를 확보한 뒤 반복 취합·검증·위험 감지를 AX로 전환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A17345-3D2B-4553-ACFB-1CED4EA3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5346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580C5F-75F8-4FF6-AF07-62497B53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959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배운 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3A7D25-142B-4D67-84CD-7C89AED5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4387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배포는 완료가 아니었습니다. 담당자가 이해하고 수정할 수 있는 기준과 반복 운영 책임이 있어야 데이터가 실제 의사결정으로 이어졌습니다.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73CA57-F2ED-4487-BD92-897F7E83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12A4E3-A98D-437C-93BF-C7063D2B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현재 한계: 화장품·더존 ERP 경험과 WMAPE·Bias 정식 계측은 없습니다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A809A2-C342-4EBC-B2AB-0647FBC2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7 / 7</a:t>
            </a:r>
          </a:p>
        </p:txBody>
      </p:sp>
    </p:spTree>
    <p:extLst>
      <p:ext uri="{BB962C8B-B14F-4D97-AF65-F5344CB8AC3E}">
        <p14:creationId xmlns:p14="http://schemas.microsoft.com/office/powerpoint/2010/main" val="14782632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2026-09-05T13:47:58.1190000Z</dcterms:created>
  <dcterms:modified xsi:type="dcterms:W3CDTF">2026-09-05T13:47:58.1190000Z</dcterms:modified>
</coreProperties>
</file>