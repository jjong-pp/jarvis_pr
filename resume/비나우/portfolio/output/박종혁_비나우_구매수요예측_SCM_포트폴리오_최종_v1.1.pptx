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75b6c41414cd7" /><Relationship Type="http://schemas.openxmlformats.org/officeDocument/2006/relationships/extended-properties" Target="/docProps/app.xml" Id="R336852d8917d4553" /><Relationship Type="http://schemas.openxmlformats.org/officeDocument/2006/relationships/officeDocument" Target="/ppt/presentation.xml" Id="Rda265db6d0d94e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f90a69b58d48d6"/>
  </p:sldMasterIdLst>
  <p:notesMasterIdLst>
    <p:notesMasterId xmlns:r="http://schemas.openxmlformats.org/officeDocument/2006/relationships" r:id="Rd0db12a21d944782"/>
  </p:notesMasterIdLst>
  <p:sldIdLst>
    <p:sldId xmlns:r="http://schemas.openxmlformats.org/officeDocument/2006/relationships" id="256" r:id="Re31abd1b04e24759"/>
    <p:sldId xmlns:r="http://schemas.openxmlformats.org/officeDocument/2006/relationships" id="257" r:id="Rcb5ae89814fd4f56"/>
    <p:sldId xmlns:r="http://schemas.openxmlformats.org/officeDocument/2006/relationships" id="258" r:id="Rfa342f4f38544f02"/>
    <p:sldId xmlns:r="http://schemas.openxmlformats.org/officeDocument/2006/relationships" id="259" r:id="R7ec6e663234b4440"/>
    <p:sldId xmlns:r="http://schemas.openxmlformats.org/officeDocument/2006/relationships" id="260" r:id="Ra43146830ddf4963"/>
    <p:sldId xmlns:r="http://schemas.openxmlformats.org/officeDocument/2006/relationships" id="261" r:id="R132604f24a704b7c"/>
    <p:sldId xmlns:r="http://schemas.openxmlformats.org/officeDocument/2006/relationships" id="262" r:id="Ra98aa5e52cfd4c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d8033388214060" /><Relationship Type="http://schemas.openxmlformats.org/officeDocument/2006/relationships/slideMaster" Target="/ppt/slideMasters/slideMaster1.xml" Id="R38f90a69b58d48d6" /><Relationship Type="http://schemas.openxmlformats.org/officeDocument/2006/relationships/notesMaster" Target="/ppt/notesMasters/notesMaster1.xml" Id="Rd0db12a21d944782" /><Relationship Type="http://schemas.openxmlformats.org/officeDocument/2006/relationships/presProps" Target="/ppt/presProps.xml" Id="R2780ae3cbf96490c" /><Relationship Type="http://schemas.openxmlformats.org/officeDocument/2006/relationships/tableStyles" Target="/ppt/tableStyles.xml" Id="R2b124c0d2f3e4fc9" /><Relationship Type="http://schemas.openxmlformats.org/officeDocument/2006/relationships/slide" Target="/ppt/slides/slide1.xml" Id="Re31abd1b04e24759" /><Relationship Type="http://schemas.openxmlformats.org/officeDocument/2006/relationships/slide" Target="/ppt/slides/slide2.xml" Id="Rcb5ae89814fd4f56" /><Relationship Type="http://schemas.openxmlformats.org/officeDocument/2006/relationships/slide" Target="/ppt/slides/slide3.xml" Id="Rfa342f4f38544f02" /><Relationship Type="http://schemas.openxmlformats.org/officeDocument/2006/relationships/slide" Target="/ppt/slides/slide4.xml" Id="R7ec6e663234b4440" /><Relationship Type="http://schemas.openxmlformats.org/officeDocument/2006/relationships/slide" Target="/ppt/slides/slide5.xml" Id="Ra43146830ddf4963" /><Relationship Type="http://schemas.openxmlformats.org/officeDocument/2006/relationships/slide" Target="/ppt/slides/slide6.xml" Id="R132604f24a704b7c" /><Relationship Type="http://schemas.openxmlformats.org/officeDocument/2006/relationships/slide" Target="/ppt/slides/slide7.xml" Id="Ra98aa5e52cfd4c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e5167313b40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e18b1b77d24e8d" /><Relationship Type="http://schemas.openxmlformats.org/officeDocument/2006/relationships/notesMaster" Target="/ppt/notesMasters/notesMaster1.xml" Id="R623fbee7e1e049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436c614c144f37" /><Relationship Type="http://schemas.openxmlformats.org/officeDocument/2006/relationships/notesMaster" Target="/ppt/notesMasters/notesMaster1.xml" Id="R601193e4518543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f12a7f95114b5a" /><Relationship Type="http://schemas.openxmlformats.org/officeDocument/2006/relationships/notesMaster" Target="/ppt/notesMasters/notesMaster1.xml" Id="Rec2a63ff878640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8ac5fb242f4041" /><Relationship Type="http://schemas.openxmlformats.org/officeDocument/2006/relationships/notesMaster" Target="/ppt/notesMasters/notesMaster1.xml" Id="Rdbd44407345248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a36fc7626a4f04" /><Relationship Type="http://schemas.openxmlformats.org/officeDocument/2006/relationships/notesMaster" Target="/ppt/notesMasters/notesMaster1.xml" Id="R4101b7ebae774a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63ab549c9d4d2f" /><Relationship Type="http://schemas.openxmlformats.org/officeDocument/2006/relationships/notesMaster" Target="/ppt/notesMasters/notesMaster1.xml" Id="R55682078470646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fa7f9f3f842dd" /><Relationship Type="http://schemas.openxmlformats.org/officeDocument/2006/relationships/notesMaster" Target="/ppt/notesMasters/notesMaster1.xml" Id="R6f5ef26d91bb49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400억원은 2025년 소비자 매출 기준 담당 사업 규모입니다. 실제 발주금액과 SKU별 수량·단가는 제외했습니다.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직구·내수 구조, 업무표의 재고·통관·이관·출고·정산 기록. 거래처와 창고명은 영업비밀 보호를 위해 일반화했습니다.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월간 S&amp;OP 운영과 업무표의 가격 인상·행사 쇼트 시뮬레이션, 채널 사입 허용량, 수요회의 기록. 프로모션·현금흐름·공급사 MOQ는 자동 계산이 아니라 회의 판단 항목입니다.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SCM-Dashboard app/core/forecasting.py 및 inventory 라우터. 현재 공개 화면은 4개 샘플 SKU이며 40개 SKU는 사용자 확인 실무 범위입니다.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전년도 12개월 검증, 2026년 5~6월 위험 구간, 4개 SKU는 사용자 확인 사실입니다. 실제 SKU명과 수량은 비공개이며 공개 화면의 4개 샘플과 연결하지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2026년 4월 배포와 병행 기간은 사용자 확인 사실입니다. 코드 저장소 이력은 2026년 6월 이후 개선 기록으로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비나우 JD의 기준 데이터, S&amp;OP, 프로모션 반영 발주, 결품·과재고 관리에 맞춘 지원 방향입니다. 화장품과 더존 ERP 경험은 없으며 이를 숨기지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e051646be40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b73aa48c045ab" /><Relationship Type="http://schemas.openxmlformats.org/officeDocument/2006/relationships/slideLayout" Target="/ppt/slideLayouts/slideLayout1.xml" Id="R0621d147f24849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21d147f24849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375709d284ce3" /><Relationship Type="http://schemas.openxmlformats.org/officeDocument/2006/relationships/notesSlide" Target="/ppt/notesSlides/notesSlide1.xml" Id="R97770f4da2fc4c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3aa62f9414adb" /><Relationship Type="http://schemas.openxmlformats.org/officeDocument/2006/relationships/notesSlide" Target="/ppt/notesSlides/notesSlide2.xml" Id="Rdde8e5fff1614c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61ad9a9684583" /><Relationship Type="http://schemas.openxmlformats.org/officeDocument/2006/relationships/notesSlide" Target="/ppt/notesSlides/notesSlide3.xml" Id="R1982f585966b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c1288453d4bc7" /><Relationship Type="http://schemas.openxmlformats.org/officeDocument/2006/relationships/image" Target="/ppt/media/image.png" Id="R5208ec92a7304725" /><Relationship Type="http://schemas.openxmlformats.org/officeDocument/2006/relationships/notesSlide" Target="/ppt/notesSlides/notesSlide4.xml" Id="Rb9f2bf40dba748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c2284b93f4593" /><Relationship Type="http://schemas.openxmlformats.org/officeDocument/2006/relationships/notesSlide" Target="/ppt/notesSlides/notesSlide5.xml" Id="Rf1e0cb99513e4b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24258d5b34b36" /><Relationship Type="http://schemas.openxmlformats.org/officeDocument/2006/relationships/notesSlide" Target="/ppt/notesSlides/notesSlide6.xml" Id="Ra7f6bf08848d4a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922dcfbfb457a" /><Relationship Type="http://schemas.openxmlformats.org/officeDocument/2006/relationships/notesSlide" Target="/ppt/notesSlides/notesSlide7.xml" Id="Rb2a4465153544d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F4A76-F515-4377-9038-971F59A4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621E5-C4CB-4187-9EAC-66570CF2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수요예측·재고·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35455-E44E-4870-B41F-D088BC1A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직구·내수 40개 SKU의 월별 계획을</a:t>
            </a:r>
          </a:p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발주·수입·채널 실행으로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A8D28-3D5C-46E9-87E0-FFFEC921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5C407-5CE5-4AD6-BC8A-9F7672F3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비나우 구매 수요예측(S&amp;OP)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139DA-E9AA-4C81-A678-6C92FA7A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약 400억원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76E53-CAA1-4E68-A55B-440BD51A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2025년 소비자 매출 기준 사업 규모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63E26-592D-4C04-84AB-DD7C7E1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907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09DE0-85F2-4547-B284-208F2256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40개 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1FB9F-3CE4-4F5B-9E8E-AE25A2B2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수요·재고 판단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39604-FF82-456C-83AD-EC9F2A09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5A65D-489D-42F6-A8A4-46A1F680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24주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5A119-86F6-4777-8D32-5CA8F3CE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현재고와 도착월 입고계획을 연결한 전망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F567C-7C77-4C29-B667-9620169B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67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영업비밀·식별정보를 일반화한 제출본</a:t>
            </a:r>
          </a:p>
        </p:txBody>
      </p:sp>
    </p:spTree>
    <p:extLst>
      <p:ext uri="{BB962C8B-B14F-4D97-AF65-F5344CB8AC3E}">
        <p14:creationId xmlns:p14="http://schemas.microsoft.com/office/powerpoint/2010/main" val="908945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1F8420-0028-4EF8-862B-F41B3C97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31E21-4BC2-4404-B181-0AD4CD8B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직구·내수 이중 공급망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44067-F9C3-4B1D-A55D-87664F7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수요·발주 검토부터 수입통관, 다거점 재고 배분, 배송 예외까지 운영했습니다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EEB55-C236-403F-BB6A-610EC465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8BD71-4B5F-4895-8F2B-14DD8C78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직구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45480-93D6-4859-9F33-AF8EB2D2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6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중국 전진창고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B9D98-90EE-40FE-8A32-681E1FE0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D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2CD7E-0D55-4DD8-BD9C-4AD3B249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5B897-66E5-431F-BFFB-54843FB9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주문·수요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E5680-F03A-461B-A685-C823CB57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자사몰 주문과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 흐름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F5C24-97AB-4421-B1A9-F9613356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8EE2E-F137-48C8-A06D-22167860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전진창고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130CB-A1EF-44BB-80C8-DFF753D5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재고·유통기한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포장 단위 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D2C60-5B56-48FE-9A77-C412B36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ADA28-8749-405E-B01F-61F11121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통관 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1FB5E-5124-4D32-98DC-0A06AB54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본인확인·거래정보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오류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6FFB5-9CA1-4749-BCEB-BD60B7C9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51619-15CD-4E40-B848-1BC89C49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배송·CS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9D8A7-E372-41C6-9E96-251CD6DC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출고 통제와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배송 예외 해결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09FE8-9F3B-492E-AFE7-BE99DE20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내수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94A92-F3F2-4010-A794-C73C6A39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90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국내 직수입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0F24D2-4052-4310-A8B6-75684A60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D3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9394E-A932-45D5-8E53-76D96BEC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900F0-D7B1-4F4D-8E68-2B2990A1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수량 산출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36F22-896D-4552-8479-6B8E7940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전망·현재고·입고예정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장기 리드타임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9AE5A-A0E1-4CF1-ABC3-ACC07B48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40250-B707-4443-85EB-8522E67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협의·승인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0B8CB-ADEE-48C9-8209-E0AD9EF3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SCM·세일즈 리더 협의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B851D-84FA-4C47-93A4-2BDE89B1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8C4170-07E2-4E3D-97EA-BBD931A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선적·수입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AD9453-89EF-4AF0-906B-98F3CE6D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식약처·통관 대응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65BF4A-915C-419C-945A-D159458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F6ECE6-5706-4F83-B53B-D94E746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입고·배분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95F29-8018-49D1-98B8-0C8DDD62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풀필먼트·오프라인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입고·이관·정산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40D1FC-492E-4FF1-A789-AF50C7E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572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E90A0A-C90E-4A6E-AEFF-2EEBD3AF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86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공통 제약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A65E38-0D69-4204-9E13-05B33405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6개월 이상 리드타임 · 유통기한 · MOQ · 수입자·규제 · 여러 창고의 재고 수불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C99BEA-5852-462B-9E24-9378F695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9A3F08-13B2-487D-BF01-5093AF8A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7CAE6D-A48D-440D-8BB1-3015A128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081772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84DBD-5AC5-4C07-A42C-DB82BE6E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F5993-0DD6-463D-AAF9-08E3F3EF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월별 롤링 S&amp;OP와 발주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BA49F-FA46-4869-A292-606D21CF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판매 전망·현재고·입고예정을 갱신해 발주안을 만들고 승인 후 공급사·수입 실행까지 관리했습니다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8BD74-2A25-43ED-860B-1633CDBD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F69A3-7623-414F-AF73-E29B488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기준 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D6181-BF27-4188-8362-E2FAB068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33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현재고·유통기한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입고예정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6E5F9-39FA-41FB-8236-5B5F0DFB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62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0170E-5939-4DFF-A3C2-96E57897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04950"/>
            <a:ext cx="4572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65781-5BF4-4BB1-9B3A-BE39DD6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발주안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A997C-3844-4EA2-BA9B-D8A0B5C8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003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D5A6B-FB00-44CC-8847-E81DFCA6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6개월 이상 리드타임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19904-EDD4-4FF0-8EFC-6DD0BC77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86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3개월 수준 목표재고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98AC8-9A00-42AA-816F-209E8FCD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현금흐름과 공급사 MOQ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BA162-419F-4873-8BC1-FC73A4EE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프로모션·가격 변동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920F4-9B03-44E2-BAB2-96324716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승인 후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462D7-D4D6-493B-A043-BBCC95D3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24050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수입·식약처·통관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입고·채널 배분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182F4-CC0D-422B-AD93-572C5832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73BFF-7A42-49BA-8A8E-90CD234E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38206-C754-4800-9EA4-568D0154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SKU별 수량 산출·발주 수량 작성 → SCM·세일즈 팀장 협의·승인 절차 → 공급사 전달 → 수입 서류·입고 수량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10072-C776-466D-B56A-9709656E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4AF566-64C0-4A7F-B9B6-8BEC09DC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프로모션·현금흐름·목표재고·MOQ는 자동값이 아니라 S&amp;OP 판단 조건입니다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82AF5-1E51-4C4E-BF2D-4E89775D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1504679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56AFC-D9B0-4C9C-BFEC-E90A3CB0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D64E8-AEB0-420A-B2D5-F42A7F15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재고 전망과 발주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F458F-A2DF-4F88-8036-E9AE9D8F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롤링 시트의 실적·재고·입고계획을 연결해 쇼트 시점과 발주 필요량을 확인했습니다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E8C84-6E8B-4138-A638-FA50AABD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F0668-D7B7-4D2A-8EE1-8121CE23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38250"/>
            <a:ext cx="554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재구성 화면 · 상품명·수량 익명화 · 4개 샘플 SKU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559E0-B5DF-4B19-A402-9FFF9115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시스템 제안과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담당자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4C690-123B-45E6-A987-BE731FBA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차이를 수량으로 보여줘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회의에서 조정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E99E2-A718-495F-BA7E-D5FF7940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97A5F-97A3-411A-BA7D-635A5600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운영 계산 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9359D-5413-4583-8588-77F2D3CF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최근 최대 12주 출고 평균과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 차이 버퍼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DAF0C-AE5F-47E8-92A0-9309E0C6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73F3A-E8D0-4705-94B2-AC8BD7E7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재고주수 히트맵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7F8D1-51F3-4447-8098-2E2AAE4B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결품과 과재고 위험을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주차별로 먼저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8ec92a7304725"/>
          <a:stretch xmlns:a="http://schemas.openxmlformats.org/drawingml/2006/main"/>
        </p:blipFill>
        <p:spPr>
          <a:xfrm xmlns:a="http://schemas.openxmlformats.org/drawingml/2006/main">
            <a:off x="5219214" y="1504950"/>
            <a:ext cx="493492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88ACB-8785-4C46-9B7B-AEF2CB6A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8EFD6-DDB5-446C-A08A-5F4F0F47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최신 재고 + 도착월 입고계획 + 실무자 가중치 → 24주 예상재고·재고주수·포장입수 단위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F9BF1-8A50-4479-BEAB-468D5C9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758770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38D95-148E-49D2-9BDD-73321EBE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42D78-02CD-4E17-8A26-B5E52FFF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재고 쇼트 위험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7D8F9-2182-4E02-8F0F-C0A85FE1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전년도 12개월 데이터로 과거 재고 흐름을 다시 계산해 위험 SKU 4개를 식별했습니다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54938-7655-4978-A130-1C8C8440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96383-F8A9-4F9E-AE55-9628659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41495-F273-4BA0-A2B2-C83EE6D3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81FCE-0AC8-4989-B8E2-60405D4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12개월 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3ADCB-A58B-4B86-B344-6CDE384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54717-909D-403A-BDEE-BA614935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전년도 판매·출고·재고와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당시 입고계획을 재입력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EB825-B88B-4229-8D2F-8BBE1AFE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F616E-B644-4C98-B062-526BC97B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67FAA-4F89-46CD-BD31-4BE43E97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롤포워드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73CC3-88DC-476D-B33A-88696882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66CD0-79B1-409D-A596-7098E6AB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운영 계산 로직으로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 예상재고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3D8A6-B441-4E3F-B37D-48D72AD8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442E4-F3BD-4FC0-BFE8-8FF82395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7AB9C-213C-4C8B-9279-1FFCE59F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위험 4개 SKU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5C703-3EFD-48BD-8D06-546F6DC6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6A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A3FCC-EFFC-49E1-8461-1EF23628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2026년 5~6월 쇼트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예상 구간을 경고로 식별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E0D0A-0880-4118-9573-A195373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63ED-E3B2-4ED7-8207-7A15BFB5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2D2BB-818E-401D-AD3C-EEC093B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S&amp;OP 조치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0EF5C-4CAD-45A4-BE2B-63652912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B5F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13ABA-551F-457A-A084-CA80C86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발주안·판매 제한·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채널 배분 재검토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EE18C-99A9-479C-9082-CBBF5448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1D128A-5F1C-4776-9679-BD1AC3ED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검증 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4E4EF-8469-4C4D-B4F5-C6419B43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과거에 늦게 인지했던 위험 구간이 동일하게 나타나는지 확인해 계산 로직과 경고 구조를 검증했습니다.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D175D-6B40-4D4D-B8F5-32EA05F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공급 예외 운영: 생산중단·입고지연 · 유통기한·파손 · 풀필먼트 사입·이관 · 105,000캔 리콜 대응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5B65A3-BA15-4EBA-9D3C-300ABB15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EAF35-3E95-4D43-843F-CEABCDE7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재고 소진 시점의 재현 검증이며 WMAPE·Bias 개선 또는 실제 결품 예방 성과로 표현하지 않습니다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524E68-C291-4FEA-B879-DBD2297C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500225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1F9BF-12D9-4BA1-B99A-E428620E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1AB40-674A-4625-B152-1856F31A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현업 이관과 월별 운영 정착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D44CC-C674-4AA1-AEBC-84AF5EB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2026년 4월 배포 후 기존 Excel과 약 2개월 병행 검증하고 6월 발주 검토 기준을 전환했습니다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0A185-DB04-4CB4-B8FA-B39D6CA7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77526-A218-4B5F-9743-A171579D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CA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0B66D-ED8E-41C9-9607-590703F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D3735-C49F-457C-88A6-C4C14D70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11B4B-0DA1-46EB-8D99-3B5123F5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34개 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6BC5E-9345-4CB4-BA46-28FA46D6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취합·양식 작업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1C275-F436-4C58-B152-456D8ED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6BEF4-BD1E-4C7F-B140-049484AA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2026.04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86A56-A63B-469B-AD05-22C48447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시범 배포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89456-D787-45B6-9F58-1BB0315C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40개 SKU 구조와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24주 계산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CC91F-3563-492F-AF0A-1DE205C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376CC-773A-4941-908D-F797FC8E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약 2개월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F87EC-B1CC-4344-9509-1E84303D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병행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67C94-BB92-4F97-A751-FABA4D5F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기존 Excel과 값 대조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화면·산식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8302E-2826-4C45-8902-ED9A7EB7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0C2FA-26C7-4295-BDAF-8051FC9E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2026.06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55BF8-7CF0-42DF-A342-A3A6F7FB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완전 이관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50AE5-E0FA-4365-A220-B555CB1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월간 발주 검토 기준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매월 롤링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1A235-5309-4B27-97F0-0FD36CA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57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B2F34-FC21-44A9-BDD3-7C0C005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운영 성과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59788-8F8A-4B66-97F6-9B74FAE1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 8~9시간 소요 업무 자동화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9D39C-892E-42D8-B6A7-FA806D60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33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위험 4개 SKU 재현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6DEB0-857A-4A98-BD33-9FCEEA1F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4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 계산 기준과 데이터 구조를 직접 정의하고 생성형 AI 코딩 도구로 구현했으며, 기존 Excel의 실제 수치로 검증했습니다.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4E2C1-F0B4-4F1E-A1C2-5449ED49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02F2D-2F17-4FDF-BC0B-DC7D3C7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배포일과 업무 전환일을 분리하고, 병행 검증 후 월별 운영 기준으로 전환했습니다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B83D7-B53A-4FA5-872F-BE8FFBDD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773291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76626-D3E4-4DFB-B694-AE254F5C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FAB6D-87D8-4173-9E7C-23915FC6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비나우 수요예측 업무에 적용할 운영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C22A1-BC18-4F07-AE7E-8BB8B6F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수요·공급 판단을 실제 발주와 재고 조치까지 연결하겠습니다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59E34-ADF6-47FD-B187-9BAA85D7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DCE13-16C6-4E19-A8C6-AE9A1E07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이미 해온 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0D0C8-7259-40D4-9DC4-C1A796E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685FE-C7BC-4875-91CE-062B3F68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판매·출고·재고·입고예정의 기준 통합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EB5BA-1CEA-449D-96C6-24DE6005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전망과 장기 리드타임을 월간 발주안으로 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DAE65-FC31-4A69-85B5-498E774B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프로모션·가격 변화에 따른 결품 위험과 채널 재고 실행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2D336-21CF-4003-9783-31F414F1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수량·수입 서류·입고·채널 배분까지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99523-5C9D-42B7-8B89-C6E315FB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입사 후 계측·보완할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5869D-53FE-4F97-B21C-1716E694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028A1-E4F2-44A7-A5C5-3301D99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신제품·브랜드·채널별 수요 패턴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28C35-3078-478F-9DFF-4138AF55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예측 오차와 Bias, 결품·과재고 결과를 SKU와 채널별로 계측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630EB-79D1-45E9-AEB2-7A670FBE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 증가분과 기본 수요를 분리해 발주 판단의 근거를 축적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F037A-90E7-4090-8B88-936CB2E6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화장품 운영 특성과 더존 ERP를 익히고 반복 취합·검증을 단계적으로 자동화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51DC3-9214-418C-8DA3-DCAC31C2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346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17E84-1E49-4AFB-90E9-85FF5A7B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운영 원칙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7A9C8-8FC9-4EC7-951D-8B726A80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38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반복 계산은 시스템으로 표준화하되 최종 발주안은 세일즈 전망과 공급 제약을 함께 검토해 확정합니다.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D79B5-0F1B-44E8-905D-B4C3D36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A2416-3AEA-49DC-9A37-67E680A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 한계는 숨기지 않고, 입사 후 SKU·채널별 예측오차와 Bias부터 기준선을 만들겠습니다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14AAA-B3DA-4495-94BD-CEC184D2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40110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2026-09-06T14:04:00.1910000Z</dcterms:created>
  <dcterms:modified xsi:type="dcterms:W3CDTF">2026-09-06T14:04:00.1910000Z</dcterms:modified>
</coreProperties>
</file>