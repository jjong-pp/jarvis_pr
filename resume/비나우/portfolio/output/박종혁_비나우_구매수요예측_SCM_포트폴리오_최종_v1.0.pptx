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acfdcc4d5c04d87" /><Relationship Type="http://schemas.openxmlformats.org/officeDocument/2006/relationships/extended-properties" Target="/docProps/app.xml" Id="R8b2c857be59b4c49" /><Relationship Type="http://schemas.openxmlformats.org/officeDocument/2006/relationships/officeDocument" Target="/ppt/presentation.xml" Id="Reff7a225fa174af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9b4eaaace8f44f0"/>
  </p:sldMasterIdLst>
  <p:notesMasterIdLst>
    <p:notesMasterId xmlns:r="http://schemas.openxmlformats.org/officeDocument/2006/relationships" r:id="Ra36a0dbbe4534391"/>
  </p:notesMasterIdLst>
  <p:sldIdLst>
    <p:sldId xmlns:r="http://schemas.openxmlformats.org/officeDocument/2006/relationships" id="256" r:id="R41978035fa1f44fa"/>
    <p:sldId xmlns:r="http://schemas.openxmlformats.org/officeDocument/2006/relationships" id="257" r:id="R7d67810e52664b7c"/>
    <p:sldId xmlns:r="http://schemas.openxmlformats.org/officeDocument/2006/relationships" id="258" r:id="Rc6cf67d3dd994834"/>
    <p:sldId xmlns:r="http://schemas.openxmlformats.org/officeDocument/2006/relationships" id="259" r:id="R5fc7b0480f0a4659"/>
    <p:sldId xmlns:r="http://schemas.openxmlformats.org/officeDocument/2006/relationships" id="260" r:id="R28d7f86b828c4502"/>
    <p:sldId xmlns:r="http://schemas.openxmlformats.org/officeDocument/2006/relationships" id="261" r:id="R61d67b685abe4697"/>
    <p:sldId xmlns:r="http://schemas.openxmlformats.org/officeDocument/2006/relationships" id="262" r:id="Rbf5460a8c6914d0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a0a281a05ea4039" /><Relationship Type="http://schemas.openxmlformats.org/officeDocument/2006/relationships/slideMaster" Target="/ppt/slideMasters/slideMaster1.xml" Id="Rf9b4eaaace8f44f0" /><Relationship Type="http://schemas.openxmlformats.org/officeDocument/2006/relationships/notesMaster" Target="/ppt/notesMasters/notesMaster1.xml" Id="Ra36a0dbbe4534391" /><Relationship Type="http://schemas.openxmlformats.org/officeDocument/2006/relationships/presProps" Target="/ppt/presProps.xml" Id="R93f2274340c8484a" /><Relationship Type="http://schemas.openxmlformats.org/officeDocument/2006/relationships/tableStyles" Target="/ppt/tableStyles.xml" Id="Rd5397b6b21c2473a" /><Relationship Type="http://schemas.openxmlformats.org/officeDocument/2006/relationships/slide" Target="/ppt/slides/slide1.xml" Id="R41978035fa1f44fa" /><Relationship Type="http://schemas.openxmlformats.org/officeDocument/2006/relationships/slide" Target="/ppt/slides/slide2.xml" Id="R7d67810e52664b7c" /><Relationship Type="http://schemas.openxmlformats.org/officeDocument/2006/relationships/slide" Target="/ppt/slides/slide3.xml" Id="Rc6cf67d3dd994834" /><Relationship Type="http://schemas.openxmlformats.org/officeDocument/2006/relationships/slide" Target="/ppt/slides/slide4.xml" Id="R5fc7b0480f0a4659" /><Relationship Type="http://schemas.openxmlformats.org/officeDocument/2006/relationships/slide" Target="/ppt/slides/slide5.xml" Id="R28d7f86b828c4502" /><Relationship Type="http://schemas.openxmlformats.org/officeDocument/2006/relationships/slide" Target="/ppt/slides/slide6.xml" Id="R61d67b685abe4697" /><Relationship Type="http://schemas.openxmlformats.org/officeDocument/2006/relationships/slide" Target="/ppt/slides/slide7.xml" Id="Rbf5460a8c6914d0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d154d4f65794ef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3faa6260aaf4c44" /><Relationship Type="http://schemas.openxmlformats.org/officeDocument/2006/relationships/notesMaster" Target="/ppt/notesMasters/notesMaster1.xml" Id="R7016f27e3c0a4b7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3c3f975bc4e4458" /><Relationship Type="http://schemas.openxmlformats.org/officeDocument/2006/relationships/notesMaster" Target="/ppt/notesMasters/notesMaster1.xml" Id="R2775264795c64a9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ac81ef9f1ac4b40" /><Relationship Type="http://schemas.openxmlformats.org/officeDocument/2006/relationships/notesMaster" Target="/ppt/notesMasters/notesMaster1.xml" Id="R9ea9532a06ef437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ea0154f084e479d" /><Relationship Type="http://schemas.openxmlformats.org/officeDocument/2006/relationships/notesMaster" Target="/ppt/notesMasters/notesMaster1.xml" Id="Rda6c1beff8774d0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d59a4bdb05445b2" /><Relationship Type="http://schemas.openxmlformats.org/officeDocument/2006/relationships/notesMaster" Target="/ppt/notesMasters/notesMaster1.xml" Id="Re045736d7d7f4c2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0e2b93d319547a4" /><Relationship Type="http://schemas.openxmlformats.org/officeDocument/2006/relationships/notesMaster" Target="/ppt/notesMasters/notesMaster1.xml" Id="Rd63ebab6e6c64d0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5ed608e5d3942f9" /><Relationship Type="http://schemas.openxmlformats.org/officeDocument/2006/relationships/notesMaster" Target="/ppt/notesMasters/notesMaster1.xml" Id="R64f3fd149cf8417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약 400억원은 2025년 소비자 매출 기준 담당 사업 규모입니다. 실제 발주금액과 SKU별 수량·단가는 제외했습니다.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근거: 사용자 확인 직구·내수 구조, 업무표의 재고·통관·이관·출고·정산 기록. 거래처와 창고명은 영업비밀 보호를 위해 일반화했습니다.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근거: 사용자 확인 월간 S&amp;OP 운영과 업무표의 가격 인상·행사 쇼트 시뮬레이션, 채널 사입 허용량, 수요회의 기록. 프로모션·현금흐름·공급사 MOQ는 자동 계산이 아니라 회의 판단 항목입니다.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코드 근거: SCM-Dashboard app/core/forecasting.py 및 inventory 라우터. 현재 공개 화면은 4개 샘플 SKU이며 40개 SKU는 사용자 확인 실무 범위입니다.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전년도 12개월 검증, 2026년 5~6월 위험 구간, 4개 SKU는 사용자 확인 사실입니다. 실제 SKU명과 수량은 비공개이며 공개 화면의 4개 샘플과 연결하지 않습니다.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2026년 4월 배포와 병행 기간은 사용자 확인 사실입니다. 코드 저장소 이력은 2026년 6월 이후 개선 기록으로 구분합니다.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비나우 JD의 기준 데이터, S&amp;OP, 프로모션 반영 발주, 결품·과재고 관리에 맞춘 지원 방향입니다. 화장품과 더존 ERP 경험은 없으며 이를 숨기지 않습니다.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b7f736905c046c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c3d234373a94418" /><Relationship Type="http://schemas.openxmlformats.org/officeDocument/2006/relationships/slideLayout" Target="/ppt/slideLayouts/slideLayout1.xml" Id="R8af9eefb469e480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af9eefb469e480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f878b5c57740dd" /><Relationship Type="http://schemas.openxmlformats.org/officeDocument/2006/relationships/notesSlide" Target="/ppt/notesSlides/notesSlide1.xml" Id="R1b68dcaf84d842f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c6548e4021464f" /><Relationship Type="http://schemas.openxmlformats.org/officeDocument/2006/relationships/notesSlide" Target="/ppt/notesSlides/notesSlide2.xml" Id="Rd7881b8d7812491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c9b97af04f47a5" /><Relationship Type="http://schemas.openxmlformats.org/officeDocument/2006/relationships/notesSlide" Target="/ppt/notesSlides/notesSlide3.xml" Id="R37e3f77f89684e5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96415fd7504f15" /><Relationship Type="http://schemas.openxmlformats.org/officeDocument/2006/relationships/image" Target="/ppt/media/image.png" Id="R5fe7352a80d946e5" /><Relationship Type="http://schemas.openxmlformats.org/officeDocument/2006/relationships/notesSlide" Target="/ppt/notesSlides/notesSlide4.xml" Id="R6d2e5782f58e46f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9878df514343f0" /><Relationship Type="http://schemas.openxmlformats.org/officeDocument/2006/relationships/notesSlide" Target="/ppt/notesSlides/notesSlide5.xml" Id="R73f9246397c2425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8bb25b650e4e8d" /><Relationship Type="http://schemas.openxmlformats.org/officeDocument/2006/relationships/notesSlide" Target="/ppt/notesSlides/notesSlide6.xml" Id="Rddb60e11ccbd403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df23625b6a447b" /><Relationship Type="http://schemas.openxmlformats.org/officeDocument/2006/relationships/notesSlide" Target="/ppt/notesSlides/notesSlide7.xml" Id="R89bc5ac79785474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3217176-AE7E-423A-B8CF-AB7AC54CE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762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0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B72EBF-7DA6-4F0B-AC65-DB780B3D0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81125"/>
            <a:ext cx="5334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39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수요예측·재고·</a:t>
            </a:r>
          </a:p>
          <a:p xmlns:a="http://schemas.openxmlformats.org/drawingml/2006/main">
            <a:pPr algn="l">
              <a:defRPr sz="39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39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발주 운영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7D848A-C69D-4DDE-972E-E17B8A855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14675"/>
            <a:ext cx="5238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C7D2E7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0">
                <a:solidFill>
                  <a:srgbClr val="C7D2E7"/>
                </a:solidFill>
                <a:latin typeface="Noto Sans KR"/>
                <a:ea typeface="Noto Sans KR"/>
                <a:cs typeface="Noto Sans KR"/>
              </a:rPr>
              <a:t>직구·내수 40개 SKU의 월별 계획을</a:t>
            </a:r>
          </a:p>
          <a:p xmlns:a="http://schemas.openxmlformats.org/drawingml/2006/main">
            <a:pPr algn="l">
              <a:defRPr sz="1650" b="0">
                <a:solidFill>
                  <a:srgbClr val="C7D2E7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0">
                <a:solidFill>
                  <a:srgbClr val="C7D2E7"/>
                </a:solidFill>
                <a:latin typeface="Noto Sans KR"/>
                <a:ea typeface="Noto Sans KR"/>
                <a:cs typeface="Noto Sans KR"/>
              </a:rPr>
              <a:t>발주·수입·채널 실행으로 연결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D71EFA-36CC-4D1F-BD66-C643DD259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19700"/>
            <a:ext cx="190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박종혁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791A4E-A56B-470D-9856-A8B60C2C5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5785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C7D2E7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>
                <a:solidFill>
                  <a:srgbClr val="C7D2E7"/>
                </a:solidFill>
                <a:latin typeface="Noto Sans KR"/>
                <a:ea typeface="Noto Sans KR"/>
                <a:cs typeface="Noto Sans KR"/>
              </a:rPr>
              <a:t>비나우 구매 수요예측(S&amp;OP) 지원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64D8A9-04E6-4B05-BE1B-39ECDDC53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371600"/>
            <a:ext cx="323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3468E8"/>
                </a:solidFill>
                <a:latin typeface="Noto Sans KR"/>
                <a:ea typeface="Noto Sans KR"/>
                <a:cs typeface="Noto Sans KR"/>
              </a:defRPr>
            </a:pPr>
            <a:r>
              <a:rPr sz="2775" b="1">
                <a:solidFill>
                  <a:srgbClr val="3468E8"/>
                </a:solidFill>
                <a:latin typeface="Noto Sans KR"/>
                <a:ea typeface="Noto Sans KR"/>
                <a:cs typeface="Noto Sans KR"/>
              </a:rPr>
              <a:t>약 400억원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E97D63-686E-47B4-97AC-C273D200D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914525"/>
            <a:ext cx="3714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2025년 소비자 매출 기준 사업 규모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39C66E-1F54-470C-9D21-E0B10D86F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390775"/>
            <a:ext cx="342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F60A84F-1809-4376-8C7C-F269E9019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686050"/>
            <a:ext cx="323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0B8A83"/>
                </a:solidFill>
                <a:latin typeface="Noto Sans KR"/>
                <a:ea typeface="Noto Sans KR"/>
                <a:cs typeface="Noto Sans KR"/>
              </a:defRPr>
            </a:pPr>
            <a:r>
              <a:rPr sz="2775" b="1">
                <a:solidFill>
                  <a:srgbClr val="0B8A83"/>
                </a:solidFill>
                <a:latin typeface="Noto Sans KR"/>
                <a:ea typeface="Noto Sans KR"/>
                <a:cs typeface="Noto Sans KR"/>
              </a:rPr>
              <a:t>40개 SKU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4F8C7B-7FD3-427A-87D1-37C5D7E9A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228975"/>
            <a:ext cx="3714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실제 수요·재고 판단 범위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4C38D7-86A3-4756-8AAC-49AFB5EFA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924300"/>
            <a:ext cx="342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9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74CC879-7D73-4729-8E62-EFA976976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219575"/>
            <a:ext cx="323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D76A2E"/>
                </a:solidFill>
                <a:latin typeface="Noto Sans KR"/>
                <a:ea typeface="Noto Sans KR"/>
                <a:cs typeface="Noto Sans KR"/>
              </a:defRPr>
            </a:pPr>
            <a:r>
              <a:rPr sz="2775" b="1">
                <a:solidFill>
                  <a:srgbClr val="D76A2E"/>
                </a:solidFill>
                <a:latin typeface="Noto Sans KR"/>
                <a:ea typeface="Noto Sans KR"/>
                <a:cs typeface="Noto Sans KR"/>
              </a:rPr>
              <a:t>24주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8A4324B-AF69-4550-B765-B98D2277E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762500"/>
            <a:ext cx="3810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현재고와 도착월 입고계획을 연결한 전망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6B124C0-9D49-4FEE-ACFE-C759971C8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6067425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0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영업비밀·식별정보를 일반화한 제출본</a:t>
            </a:r>
          </a:p>
        </p:txBody>
      </p:sp>
    </p:spTree>
    <p:extLst>
      <p:ext uri="{BB962C8B-B14F-4D97-AF65-F5344CB8AC3E}">
        <p14:creationId xmlns:p14="http://schemas.microsoft.com/office/powerpoint/2010/main" val="214663224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5CFD9CF-800A-4A04-9D39-15E0EE143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0480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468E8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3468E8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093D84-B015-47FD-AF0C-0AB895F10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76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  <a:latin typeface="Noto Sans KR"/>
                <a:ea typeface="Noto Sans KR"/>
                <a:cs typeface="Noto Sans KR"/>
              </a:defRPr>
            </a:pPr>
            <a:r>
              <a:rPr sz="2625" b="1">
                <a:solidFill>
                  <a:srgbClr val="172033"/>
                </a:solidFill>
                <a:latin typeface="Noto Sans KR"/>
                <a:ea typeface="Noto Sans KR"/>
                <a:cs typeface="Noto Sans KR"/>
              </a:rPr>
              <a:t>직구·내수 이중 공급망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B031A0-2ECF-447D-A3DF-071EA622E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742950"/>
            <a:ext cx="10287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수요·발주 검토부터 수입통관, 다거점 재고 배분, 배송 예외까지 운영했습니다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1C5EF7-7890-444F-B6E7-36D867C28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10490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B1C7B5-A82A-445C-84A8-BA028AAFC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14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3468E8"/>
                </a:solidFill>
                <a:latin typeface="Noto Sans KR"/>
                <a:ea typeface="Noto Sans KR"/>
                <a:cs typeface="Noto Sans KR"/>
              </a:defRPr>
            </a:pPr>
            <a:r>
              <a:rPr sz="2100" b="1">
                <a:solidFill>
                  <a:srgbClr val="3468E8"/>
                </a:solidFill>
                <a:latin typeface="Noto Sans KR"/>
                <a:ea typeface="Noto Sans KR"/>
                <a:cs typeface="Noto Sans KR"/>
              </a:rPr>
              <a:t>직구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021450-A353-4838-944F-265ABB6E3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14668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중국 전진창고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B70D81-6C0B-47BC-96E0-83F5D4CB0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14525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9BDE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5B2D30-AE23-4529-BEAA-9862B4848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1455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468E8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3468E8"/>
                </a:solidFill>
                <a:latin typeface="Noto Sans KR"/>
                <a:ea typeface="Noto Sans KR"/>
                <a:cs typeface="Noto Sans KR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620C8F-E1D7-498B-A1F6-FB5D15C92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095500"/>
            <a:ext cx="1866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033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72033"/>
                </a:solidFill>
                <a:latin typeface="Noto Sans KR"/>
                <a:ea typeface="Noto Sans KR"/>
                <a:cs typeface="Noto Sans KR"/>
              </a:rPr>
              <a:t>주문·수요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575FF6E-363E-48A3-BA36-2F38A7CDF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457450"/>
            <a:ext cx="18669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63044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>
                <a:solidFill>
                  <a:srgbClr val="263044"/>
                </a:solidFill>
                <a:latin typeface="Noto Sans KR"/>
                <a:ea typeface="Noto Sans KR"/>
                <a:cs typeface="Noto Sans KR"/>
              </a:rPr>
              <a:t>자사몰 주문과</a:t>
            </a:r>
          </a:p>
          <a:p xmlns:a="http://schemas.openxmlformats.org/drawingml/2006/main">
            <a:pPr algn="l">
              <a:defRPr sz="1275" b="0">
                <a:solidFill>
                  <a:srgbClr val="263044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>
                <a:solidFill>
                  <a:srgbClr val="263044"/>
                </a:solidFill>
                <a:latin typeface="Noto Sans KR"/>
                <a:ea typeface="Noto Sans KR"/>
                <a:cs typeface="Noto Sans KR"/>
              </a:rPr>
              <a:t>판매 흐름 확인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6D8C4E5-8732-4769-8DDC-75E8E2BEE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11455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468E8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3468E8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0A8507C-27EC-442A-A9D5-846200FC6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2095500"/>
            <a:ext cx="1866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033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72033"/>
                </a:solidFill>
                <a:latin typeface="Noto Sans KR"/>
                <a:ea typeface="Noto Sans KR"/>
                <a:cs typeface="Noto Sans KR"/>
              </a:rPr>
              <a:t>전진창고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1457744-9451-4665-B50D-6C5067470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2457450"/>
            <a:ext cx="18669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63044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>
                <a:solidFill>
                  <a:srgbClr val="263044"/>
                </a:solidFill>
                <a:latin typeface="Noto Sans KR"/>
                <a:ea typeface="Noto Sans KR"/>
                <a:cs typeface="Noto Sans KR"/>
              </a:rPr>
              <a:t>재고·유통기한</a:t>
            </a:r>
          </a:p>
          <a:p xmlns:a="http://schemas.openxmlformats.org/drawingml/2006/main">
            <a:pPr algn="l">
              <a:defRPr sz="1275" b="0">
                <a:solidFill>
                  <a:srgbClr val="263044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>
                <a:solidFill>
                  <a:srgbClr val="263044"/>
                </a:solidFill>
                <a:latin typeface="Noto Sans KR"/>
                <a:ea typeface="Noto Sans KR"/>
                <a:cs typeface="Noto Sans KR"/>
              </a:rPr>
              <a:t>포장 단위 점검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CAF9E38-9841-42C9-A055-B4D76EE35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11455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468E8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3468E8"/>
                </a:solidFill>
                <a:latin typeface="Noto Sans KR"/>
                <a:ea typeface="Noto Sans KR"/>
                <a:cs typeface="Noto Sans KR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C08C724-F455-4DF7-BB03-2AFBA71C9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095500"/>
            <a:ext cx="1866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033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72033"/>
                </a:solidFill>
                <a:latin typeface="Noto Sans KR"/>
                <a:ea typeface="Noto Sans KR"/>
                <a:cs typeface="Noto Sans KR"/>
              </a:rPr>
              <a:t>통관 정보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CC40CE3-7C9A-49E3-A1CC-3DB8A6007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457450"/>
            <a:ext cx="18669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63044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>
                <a:solidFill>
                  <a:srgbClr val="263044"/>
                </a:solidFill>
                <a:latin typeface="Noto Sans KR"/>
                <a:ea typeface="Noto Sans KR"/>
                <a:cs typeface="Noto Sans KR"/>
              </a:rPr>
              <a:t>본인확인·거래정보</a:t>
            </a:r>
          </a:p>
          <a:p xmlns:a="http://schemas.openxmlformats.org/drawingml/2006/main">
            <a:pPr algn="l">
              <a:defRPr sz="1275" b="0">
                <a:solidFill>
                  <a:srgbClr val="263044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>
                <a:solidFill>
                  <a:srgbClr val="263044"/>
                </a:solidFill>
                <a:latin typeface="Noto Sans KR"/>
                <a:ea typeface="Noto Sans KR"/>
                <a:cs typeface="Noto Sans KR"/>
              </a:rPr>
              <a:t>오류 보완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DF7A3BD-20AD-4EA6-9883-B4EE9AFA3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11455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468E8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3468E8"/>
                </a:solidFill>
                <a:latin typeface="Noto Sans KR"/>
                <a:ea typeface="Noto Sans KR"/>
                <a:cs typeface="Noto Sans KR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4C9FF84-F3EC-4419-BCF0-4794B4487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095500"/>
            <a:ext cx="1866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033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72033"/>
                </a:solidFill>
                <a:latin typeface="Noto Sans KR"/>
                <a:ea typeface="Noto Sans KR"/>
                <a:cs typeface="Noto Sans KR"/>
              </a:rPr>
              <a:t>배송·CS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F2CE55F-04BA-4367-AC37-B67CD231D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457450"/>
            <a:ext cx="18669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63044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>
                <a:solidFill>
                  <a:srgbClr val="263044"/>
                </a:solidFill>
                <a:latin typeface="Noto Sans KR"/>
                <a:ea typeface="Noto Sans KR"/>
                <a:cs typeface="Noto Sans KR"/>
              </a:rPr>
              <a:t>출고 통제와</a:t>
            </a:r>
          </a:p>
          <a:p xmlns:a="http://schemas.openxmlformats.org/drawingml/2006/main">
            <a:pPr algn="l">
              <a:defRPr sz="1275" b="0">
                <a:solidFill>
                  <a:srgbClr val="263044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>
                <a:solidFill>
                  <a:srgbClr val="263044"/>
                </a:solidFill>
                <a:latin typeface="Noto Sans KR"/>
                <a:ea typeface="Noto Sans KR"/>
                <a:cs typeface="Noto Sans KR"/>
              </a:rPr>
              <a:t>배송 예외 해결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F4924F6-175D-4831-8AEF-BCA841697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52825"/>
            <a:ext cx="114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B8A83"/>
                </a:solidFill>
                <a:latin typeface="Noto Sans KR"/>
                <a:ea typeface="Noto Sans KR"/>
                <a:cs typeface="Noto Sans KR"/>
              </a:defRPr>
            </a:pPr>
            <a:r>
              <a:rPr sz="2100" b="1">
                <a:solidFill>
                  <a:srgbClr val="0B8A83"/>
                </a:solidFill>
                <a:latin typeface="Noto Sans KR"/>
                <a:ea typeface="Noto Sans KR"/>
                <a:cs typeface="Noto Sans KR"/>
              </a:rPr>
              <a:t>내수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B618279-1EF8-4A1E-B287-E918A4805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3590925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국내 직수입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37B07BD-68F8-49EC-9698-B92CE5856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38600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9AD3CE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FFC1293-8C3E-4C2F-A588-5EE606796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38625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B8A83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0B8A83"/>
                </a:solidFill>
                <a:latin typeface="Noto Sans KR"/>
                <a:ea typeface="Noto Sans KR"/>
                <a:cs typeface="Noto Sans KR"/>
              </a:rPr>
              <a:t>01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57BDE60-5C43-42B7-AC52-211B53CA1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219575"/>
            <a:ext cx="1866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033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72033"/>
                </a:solidFill>
                <a:latin typeface="Noto Sans KR"/>
                <a:ea typeface="Noto Sans KR"/>
                <a:cs typeface="Noto Sans KR"/>
              </a:rPr>
              <a:t>수량 산출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91DFB92-9A7C-4829-9E85-E2979888A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581525"/>
            <a:ext cx="18669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63044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>
                <a:solidFill>
                  <a:srgbClr val="263044"/>
                </a:solidFill>
                <a:latin typeface="Noto Sans KR"/>
                <a:ea typeface="Noto Sans KR"/>
                <a:cs typeface="Noto Sans KR"/>
              </a:rPr>
              <a:t>전망·현재고·입고예정</a:t>
            </a:r>
          </a:p>
          <a:p xmlns:a="http://schemas.openxmlformats.org/drawingml/2006/main">
            <a:pPr algn="l">
              <a:defRPr sz="1275" b="0">
                <a:solidFill>
                  <a:srgbClr val="263044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>
                <a:solidFill>
                  <a:srgbClr val="263044"/>
                </a:solidFill>
                <a:latin typeface="Noto Sans KR"/>
                <a:ea typeface="Noto Sans KR"/>
                <a:cs typeface="Noto Sans KR"/>
              </a:rPr>
              <a:t>장기 리드타임 검토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93F2667-C3D5-4E70-83ED-44BD111FC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4238625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B8A83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0B8A83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55A54BF-37C4-4764-B69E-DE9D5E142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4219575"/>
            <a:ext cx="1866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033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72033"/>
                </a:solidFill>
                <a:latin typeface="Noto Sans KR"/>
                <a:ea typeface="Noto Sans KR"/>
                <a:cs typeface="Noto Sans KR"/>
              </a:rPr>
              <a:t>협의·승인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D08F02E-4E7A-4BB4-96C2-5C69683CA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4581525"/>
            <a:ext cx="18669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63044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>
                <a:solidFill>
                  <a:srgbClr val="263044"/>
                </a:solidFill>
                <a:latin typeface="Noto Sans KR"/>
                <a:ea typeface="Noto Sans KR"/>
                <a:cs typeface="Noto Sans KR"/>
              </a:rPr>
              <a:t>SCM·세일즈 리더 협의</a:t>
            </a:r>
          </a:p>
          <a:p xmlns:a="http://schemas.openxmlformats.org/drawingml/2006/main">
            <a:pPr algn="l">
              <a:defRPr sz="1275" b="0">
                <a:solidFill>
                  <a:srgbClr val="263044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>
                <a:solidFill>
                  <a:srgbClr val="263044"/>
                </a:solidFill>
                <a:latin typeface="Noto Sans KR"/>
                <a:ea typeface="Noto Sans KR"/>
                <a:cs typeface="Noto Sans KR"/>
              </a:rPr>
              <a:t>공급사 확정 수량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A65E278-39EE-4171-A5A9-90802DAB0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238625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B8A83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0B8A83"/>
                </a:solidFill>
                <a:latin typeface="Noto Sans KR"/>
                <a:ea typeface="Noto Sans KR"/>
                <a:cs typeface="Noto Sans KR"/>
              </a:rPr>
              <a:t>03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3E328EF-53E8-4059-B78D-A1954286C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219575"/>
            <a:ext cx="1866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033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72033"/>
                </a:solidFill>
                <a:latin typeface="Noto Sans KR"/>
                <a:ea typeface="Noto Sans KR"/>
                <a:cs typeface="Noto Sans KR"/>
              </a:rPr>
              <a:t>선적·수입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E66143F-B4E9-4C0B-A096-559089714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581525"/>
            <a:ext cx="18669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63044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>
                <a:solidFill>
                  <a:srgbClr val="263044"/>
                </a:solidFill>
                <a:latin typeface="Noto Sans KR"/>
                <a:ea typeface="Noto Sans KR"/>
                <a:cs typeface="Noto Sans KR"/>
              </a:rPr>
              <a:t>발주서·Invoice·B/L</a:t>
            </a:r>
          </a:p>
          <a:p xmlns:a="http://schemas.openxmlformats.org/drawingml/2006/main">
            <a:pPr algn="l">
              <a:defRPr sz="1275" b="0">
                <a:solidFill>
                  <a:srgbClr val="263044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>
                <a:solidFill>
                  <a:srgbClr val="263044"/>
                </a:solidFill>
                <a:latin typeface="Noto Sans KR"/>
                <a:ea typeface="Noto Sans KR"/>
                <a:cs typeface="Noto Sans KR"/>
              </a:rPr>
              <a:t>식약처·통관 대응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0BA5D29-6337-44C0-B8EF-C6DB9EEF5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238625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B8A83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0B8A83"/>
                </a:solidFill>
                <a:latin typeface="Noto Sans KR"/>
                <a:ea typeface="Noto Sans KR"/>
                <a:cs typeface="Noto Sans KR"/>
              </a:rPr>
              <a:t>04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2D13891-D9CC-45D6-ADA3-7B8C74E57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4219575"/>
            <a:ext cx="1866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033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72033"/>
                </a:solidFill>
                <a:latin typeface="Noto Sans KR"/>
                <a:ea typeface="Noto Sans KR"/>
                <a:cs typeface="Noto Sans KR"/>
              </a:rPr>
              <a:t>입고·배분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50E5427-531E-4E1C-9592-3322713DB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4581525"/>
            <a:ext cx="18669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63044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>
                <a:solidFill>
                  <a:srgbClr val="263044"/>
                </a:solidFill>
                <a:latin typeface="Noto Sans KR"/>
                <a:ea typeface="Noto Sans KR"/>
                <a:cs typeface="Noto Sans KR"/>
              </a:rPr>
              <a:t>풀필먼트·오프라인</a:t>
            </a:r>
          </a:p>
          <a:p xmlns:a="http://schemas.openxmlformats.org/drawingml/2006/main">
            <a:pPr algn="l">
              <a:defRPr sz="1275" b="0">
                <a:solidFill>
                  <a:srgbClr val="263044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>
                <a:solidFill>
                  <a:srgbClr val="263044"/>
                </a:solidFill>
                <a:latin typeface="Noto Sans KR"/>
                <a:ea typeface="Noto Sans KR"/>
                <a:cs typeface="Noto Sans KR"/>
              </a:rPr>
              <a:t>입고·이관·정산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9C4121C-BD3D-4F89-BEE1-5A1BB4BF4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43550"/>
            <a:ext cx="10572750" cy="590550"/>
          </a:xfrm>
          <a:prstGeom xmlns:a="http://schemas.openxmlformats.org/drawingml/2006/main" prst="roundRect">
            <a:avLst>
              <a:gd name="adj" fmla="val 16129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30A51D3-89B0-4AB9-B4EF-AF74AD05C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686425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033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172033"/>
                </a:solidFill>
                <a:latin typeface="Noto Sans KR"/>
                <a:ea typeface="Noto Sans KR"/>
                <a:cs typeface="Noto Sans KR"/>
              </a:rPr>
              <a:t>공통 제약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0E565AB-09EF-427E-9434-E1E4E319F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5657850"/>
            <a:ext cx="876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63044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263044"/>
                </a:solidFill>
                <a:latin typeface="Noto Sans KR"/>
                <a:ea typeface="Noto Sans KR"/>
                <a:cs typeface="Noto Sans KR"/>
              </a:rPr>
              <a:t>6개월 이상 리드타임 · 유통기한 · MOQ · 수입자·규제 · 여러 창고의 재고 수불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D8805A0-8371-4CF2-9972-297E47DF8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579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9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11FDBA4-3421-4580-8768-CFD6921AA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05575"/>
            <a:ext cx="10001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박종혁 | 비나우 구매 수요예측(S&amp;OP)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604DB80-F4A1-4953-90FD-DE4A86316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505575"/>
            <a:ext cx="7905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2 / 7</a:t>
            </a:r>
          </a:p>
        </p:txBody>
      </p:sp>
    </p:spTree>
    <p:extLst>
      <p:ext uri="{BB962C8B-B14F-4D97-AF65-F5344CB8AC3E}">
        <p14:creationId xmlns:p14="http://schemas.microsoft.com/office/powerpoint/2010/main" val="61635020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BEEB1F2-963A-4C01-AFC1-794B9E06A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0480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468E8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3468E8"/>
                </a:solidFill>
                <a:latin typeface="Noto Sans KR"/>
                <a:ea typeface="Noto Sans KR"/>
                <a:cs typeface="Noto Sans KR"/>
              </a:rPr>
              <a:t>03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2D83EC-C29A-42C6-9E7B-87D9269D5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76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  <a:latin typeface="Noto Sans KR"/>
                <a:ea typeface="Noto Sans KR"/>
                <a:cs typeface="Noto Sans KR"/>
              </a:defRPr>
            </a:pPr>
            <a:r>
              <a:rPr sz="2625" b="1">
                <a:solidFill>
                  <a:srgbClr val="172033"/>
                </a:solidFill>
                <a:latin typeface="Noto Sans KR"/>
                <a:ea typeface="Noto Sans KR"/>
                <a:cs typeface="Noto Sans KR"/>
              </a:rPr>
              <a:t>월별 롤링 S&amp;OP와 발주 실행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F1DA90-72D9-4EDA-B3AB-7F169B2D7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742950"/>
            <a:ext cx="10287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판매 전망·현재고·입고예정을 갱신해 발주안을 만들고 승인 후 공급사·수입 실행까지 관리했습니다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E92A54-38A6-4D77-8419-0E1FE9CEB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10490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4FA13C-79D4-4A2E-B8E1-A46894D63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033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172033"/>
                </a:solidFill>
                <a:latin typeface="Noto Sans KR"/>
                <a:ea typeface="Noto Sans KR"/>
                <a:cs typeface="Noto Sans KR"/>
              </a:rPr>
              <a:t>기준 데이터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EF5506-7D52-4531-8AED-22C7D4290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2333625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63044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0">
                <a:solidFill>
                  <a:srgbClr val="263044"/>
                </a:solidFill>
                <a:latin typeface="Noto Sans KR"/>
                <a:ea typeface="Noto Sans KR"/>
                <a:cs typeface="Noto Sans KR"/>
              </a:rPr>
              <a:t>세일즈 전망</a:t>
            </a:r>
          </a:p>
          <a:p xmlns:a="http://schemas.openxmlformats.org/drawingml/2006/main">
            <a:pPr algn="l">
              <a:defRPr sz="1725" b="0">
                <a:solidFill>
                  <a:srgbClr val="263044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0">
                <a:solidFill>
                  <a:srgbClr val="263044"/>
                </a:solidFill>
                <a:latin typeface="Noto Sans KR"/>
                <a:ea typeface="Noto Sans KR"/>
                <a:cs typeface="Noto Sans KR"/>
              </a:rPr>
              <a:t>판매·출고</a:t>
            </a:r>
          </a:p>
          <a:p xmlns:a="http://schemas.openxmlformats.org/drawingml/2006/main">
            <a:pPr algn="l">
              <a:defRPr sz="1725" b="0">
                <a:solidFill>
                  <a:srgbClr val="263044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0">
                <a:solidFill>
                  <a:srgbClr val="263044"/>
                </a:solidFill>
                <a:latin typeface="Noto Sans KR"/>
                <a:ea typeface="Noto Sans KR"/>
                <a:cs typeface="Noto Sans KR"/>
              </a:rPr>
              <a:t>현재고·유통기한</a:t>
            </a:r>
          </a:p>
          <a:p xmlns:a="http://schemas.openxmlformats.org/drawingml/2006/main">
            <a:pPr algn="l">
              <a:defRPr sz="1725" b="0">
                <a:solidFill>
                  <a:srgbClr val="263044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0">
                <a:solidFill>
                  <a:srgbClr val="263044"/>
                </a:solidFill>
                <a:latin typeface="Noto Sans KR"/>
                <a:ea typeface="Noto Sans KR"/>
                <a:cs typeface="Noto Sans KR"/>
              </a:rPr>
              <a:t>입고예정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E517EE-81CF-416E-BEC9-34CD2B09F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1562100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F86C4A-8428-47A8-944C-DA797A1F9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1504950"/>
            <a:ext cx="4572000" cy="333375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EEF3FF"/>
          </a:solidFill>
          <a:ln xmlns:a="http://schemas.openxmlformats.org/drawingml/2006/main" w="9525">
            <a:solidFill>
              <a:srgbClr val="B8CAF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091BF6-C80F-4627-A3F0-8879C5E3F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1809750"/>
            <a:ext cx="3714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3468E8"/>
                </a:solidFill>
                <a:latin typeface="Noto Sans KR"/>
                <a:ea typeface="Noto Sans KR"/>
                <a:cs typeface="Noto Sans KR"/>
              </a:defRPr>
            </a:pPr>
            <a:r>
              <a:rPr sz="2325" b="1">
                <a:solidFill>
                  <a:srgbClr val="3468E8"/>
                </a:solidFill>
                <a:latin typeface="Noto Sans KR"/>
                <a:ea typeface="Noto Sans KR"/>
                <a:cs typeface="Noto Sans KR"/>
              </a:rPr>
              <a:t>발주안 검토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C2A85E-5862-4DE9-8BA3-15E1763D5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2400300"/>
            <a:ext cx="3619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CAF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2FD4C73-7C2B-45CB-A0A0-46FAFAEC4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2628900"/>
            <a:ext cx="3619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72033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172033"/>
                </a:solidFill>
                <a:latin typeface="Noto Sans KR"/>
                <a:ea typeface="Noto Sans KR"/>
                <a:cs typeface="Noto Sans KR"/>
              </a:rPr>
              <a:t>6개월 이상 리드타임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4826150-955A-4792-8490-BBE3DB3EA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3086100"/>
            <a:ext cx="3619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72033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172033"/>
                </a:solidFill>
                <a:latin typeface="Noto Sans KR"/>
                <a:ea typeface="Noto Sans KR"/>
                <a:cs typeface="Noto Sans KR"/>
              </a:rPr>
              <a:t>3개월 수준 목표재고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694E810-C2DC-4453-8877-289F53F92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3543300"/>
            <a:ext cx="3619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72033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172033"/>
                </a:solidFill>
                <a:latin typeface="Noto Sans KR"/>
                <a:ea typeface="Noto Sans KR"/>
                <a:cs typeface="Noto Sans KR"/>
              </a:rPr>
              <a:t>현금흐름과 공급사 MOQ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59D182F-5BB2-44A5-8058-770118F18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4000500"/>
            <a:ext cx="3619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72033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172033"/>
                </a:solidFill>
                <a:latin typeface="Noto Sans KR"/>
                <a:ea typeface="Noto Sans KR"/>
                <a:cs typeface="Noto Sans KR"/>
              </a:rPr>
              <a:t>프로모션·가격 변동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518A5BA-F1E5-4EE8-BCF9-D9DF680A4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14287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033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172033"/>
                </a:solidFill>
                <a:latin typeface="Noto Sans KR"/>
                <a:ea typeface="Noto Sans KR"/>
                <a:cs typeface="Noto Sans KR"/>
              </a:rPr>
              <a:t>승인 후 실행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B565152-B947-493C-9A33-E06A15E45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1924050"/>
            <a:ext cx="2571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63044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0">
                <a:solidFill>
                  <a:srgbClr val="263044"/>
                </a:solidFill>
                <a:latin typeface="Noto Sans KR"/>
                <a:ea typeface="Noto Sans KR"/>
                <a:cs typeface="Noto Sans KR"/>
              </a:rPr>
              <a:t>공급사 확정 수량</a:t>
            </a:r>
          </a:p>
          <a:p xmlns:a="http://schemas.openxmlformats.org/drawingml/2006/main">
            <a:pPr algn="l">
              <a:defRPr sz="1725" b="0">
                <a:solidFill>
                  <a:srgbClr val="263044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0">
                <a:solidFill>
                  <a:srgbClr val="263044"/>
                </a:solidFill>
                <a:latin typeface="Noto Sans KR"/>
                <a:ea typeface="Noto Sans KR"/>
                <a:cs typeface="Noto Sans KR"/>
              </a:rPr>
              <a:t>발주서·Invoice·B/L</a:t>
            </a:r>
          </a:p>
          <a:p xmlns:a="http://schemas.openxmlformats.org/drawingml/2006/main">
            <a:pPr algn="l">
              <a:defRPr sz="1725" b="0">
                <a:solidFill>
                  <a:srgbClr val="263044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0">
                <a:solidFill>
                  <a:srgbClr val="263044"/>
                </a:solidFill>
                <a:latin typeface="Noto Sans KR"/>
                <a:ea typeface="Noto Sans KR"/>
                <a:cs typeface="Noto Sans KR"/>
              </a:rPr>
              <a:t>수입·식약처·통관</a:t>
            </a:r>
          </a:p>
          <a:p xmlns:a="http://schemas.openxmlformats.org/drawingml/2006/main">
            <a:pPr algn="l">
              <a:defRPr sz="1725" b="0">
                <a:solidFill>
                  <a:srgbClr val="263044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0">
                <a:solidFill>
                  <a:srgbClr val="263044"/>
                </a:solidFill>
                <a:latin typeface="Noto Sans KR"/>
                <a:ea typeface="Noto Sans KR"/>
                <a:cs typeface="Noto Sans KR"/>
              </a:rPr>
              <a:t>입고·채널 배분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05132F0-7F7B-408F-8E9D-173F6CFBB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62550"/>
            <a:ext cx="10572750" cy="876300"/>
          </a:xfrm>
          <a:prstGeom xmlns:a="http://schemas.openxmlformats.org/drawingml/2006/main" prst="roundRect">
            <a:avLst>
              <a:gd name="adj" fmla="val 10870"/>
            </a:avLst>
          </a:prstGeom>
          <a:solidFill xmlns:a="http://schemas.openxmlformats.org/drawingml/2006/main">
            <a:srgbClr val="EAF7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01EEDE4-1E28-4473-B0A3-C1F495E04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372100"/>
            <a:ext cx="161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8A83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0B8A83"/>
                </a:solidFill>
                <a:latin typeface="Noto Sans KR"/>
                <a:ea typeface="Noto Sans KR"/>
                <a:cs typeface="Noto Sans KR"/>
              </a:rPr>
              <a:t>본인 역할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C569910-7C4D-49D5-932C-BC3F80F6D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314950"/>
            <a:ext cx="82391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63044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263044"/>
                </a:solidFill>
                <a:latin typeface="Noto Sans KR"/>
                <a:ea typeface="Noto Sans KR"/>
                <a:cs typeface="Noto Sans KR"/>
              </a:rPr>
              <a:t>SKU별 수량 산출·발주 수량 작성 → SCM·세일즈 팀장 협의·승인 절차 → 공급사 전달 → 수입 서류·입고 수량 관리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9A645E8-7183-4A76-8C8C-03200D253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579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9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24BB0BD-2ADF-41F1-9C1A-E748ABD2C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05575"/>
            <a:ext cx="10001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프로모션·현금흐름·목표재고·MOQ는 자동값이 아니라 S&amp;OP 판단 조건입니다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046895E-5F3C-4664-BA95-33B3FD2EB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505575"/>
            <a:ext cx="7905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3 / 7</a:t>
            </a:r>
          </a:p>
        </p:txBody>
      </p:sp>
    </p:spTree>
    <p:extLst>
      <p:ext uri="{BB962C8B-B14F-4D97-AF65-F5344CB8AC3E}">
        <p14:creationId xmlns:p14="http://schemas.microsoft.com/office/powerpoint/2010/main" val="44359667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A9E31E9-A5C8-49BF-ABCE-2C878137F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0480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468E8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3468E8"/>
                </a:solidFill>
                <a:latin typeface="Noto Sans KR"/>
                <a:ea typeface="Noto Sans KR"/>
                <a:cs typeface="Noto Sans KR"/>
              </a:rPr>
              <a:t>04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555691-5B05-494E-90CC-272F8C975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76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  <a:latin typeface="Noto Sans KR"/>
                <a:ea typeface="Noto Sans KR"/>
                <a:cs typeface="Noto Sans KR"/>
              </a:defRPr>
            </a:pPr>
            <a:r>
              <a:rPr sz="2625" b="1">
                <a:solidFill>
                  <a:srgbClr val="172033"/>
                </a:solidFill>
                <a:latin typeface="Noto Sans KR"/>
                <a:ea typeface="Noto Sans KR"/>
                <a:cs typeface="Noto Sans KR"/>
              </a:rPr>
              <a:t>24주 재고 전망과 발주 제안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7FABBC-FDB0-45A4-A6CF-04DD76E12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742950"/>
            <a:ext cx="10287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월별 롤링 시트의 실적·재고·입고계획을 연결해 쇼트 시점과 발주 필요량을 확인했습니다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20DEED-878A-44A1-BBC0-FC4051121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10490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27B8CC-9BB4-4496-B7BF-CCA8300D0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238250"/>
            <a:ext cx="5543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재구성 화면 · 상품명·수량 익명화 · 4개 샘플 SKU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0745E0-9658-4F37-B685-27B046261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"/>
            <a:ext cx="285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2033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1">
                <a:solidFill>
                  <a:srgbClr val="172033"/>
                </a:solidFill>
                <a:latin typeface="Noto Sans KR"/>
                <a:ea typeface="Noto Sans KR"/>
                <a:cs typeface="Noto Sans KR"/>
              </a:rPr>
              <a:t>시스템 제안과</a:t>
            </a:r>
          </a:p>
          <a:p xmlns:a="http://schemas.openxmlformats.org/drawingml/2006/main">
            <a:pPr algn="l">
              <a:defRPr sz="1875" b="1">
                <a:solidFill>
                  <a:srgbClr val="172033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1">
                <a:solidFill>
                  <a:srgbClr val="172033"/>
                </a:solidFill>
                <a:latin typeface="Noto Sans KR"/>
                <a:ea typeface="Noto Sans KR"/>
                <a:cs typeface="Noto Sans KR"/>
              </a:rPr>
              <a:t>담당자 확정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4EA253-1CBB-4933-99E1-B6DA8AECC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24100"/>
            <a:ext cx="29051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63044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263044"/>
                </a:solidFill>
                <a:latin typeface="Noto Sans KR"/>
                <a:ea typeface="Noto Sans KR"/>
                <a:cs typeface="Noto Sans KR"/>
              </a:rPr>
              <a:t>차이를 수량으로 보여줘</a:t>
            </a:r>
          </a:p>
          <a:p xmlns:a="http://schemas.openxmlformats.org/drawingml/2006/main">
            <a:pPr algn="l">
              <a:defRPr sz="1350" b="0">
                <a:solidFill>
                  <a:srgbClr val="263044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263044"/>
                </a:solidFill>
                <a:latin typeface="Noto Sans KR"/>
                <a:ea typeface="Noto Sans KR"/>
                <a:cs typeface="Noto Sans KR"/>
              </a:rPr>
              <a:t>회의에서 조정 근거를 확인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9B6C4C-7674-4B03-94C3-B7F41A244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285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572FFC-AF79-4CF5-974B-BE577E00A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43275"/>
            <a:ext cx="285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033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72033"/>
                </a:solidFill>
                <a:latin typeface="Noto Sans KR"/>
                <a:ea typeface="Noto Sans KR"/>
                <a:cs typeface="Noto Sans KR"/>
              </a:rPr>
              <a:t>운영 계산 창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5038ED-8875-4B95-A0F5-2E7E47552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81425"/>
            <a:ext cx="29051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63044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263044"/>
                </a:solidFill>
                <a:latin typeface="Noto Sans KR"/>
                <a:ea typeface="Noto Sans KR"/>
                <a:cs typeface="Noto Sans KR"/>
              </a:rPr>
              <a:t>최근 최대 12주 출고 평균과</a:t>
            </a:r>
          </a:p>
          <a:p xmlns:a="http://schemas.openxmlformats.org/drawingml/2006/main">
            <a:pPr algn="l">
              <a:defRPr sz="1350" b="0">
                <a:solidFill>
                  <a:srgbClr val="263044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263044"/>
                </a:solidFill>
                <a:latin typeface="Noto Sans KR"/>
                <a:ea typeface="Noto Sans KR"/>
                <a:cs typeface="Noto Sans KR"/>
              </a:rPr>
              <a:t>판매·출고 차이 버퍼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B9A0120-902C-4061-8161-7007B5BE3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00575"/>
            <a:ext cx="285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9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CD7BC84-B111-4C60-932A-E4D64AF25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00600"/>
            <a:ext cx="285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033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72033"/>
                </a:solidFill>
                <a:latin typeface="Noto Sans KR"/>
                <a:ea typeface="Noto Sans KR"/>
                <a:cs typeface="Noto Sans KR"/>
              </a:rPr>
              <a:t>재고주수 히트맵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524D878-68FF-4034-8562-32EA26539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0"/>
            <a:ext cx="29051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63044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263044"/>
                </a:solidFill>
                <a:latin typeface="Noto Sans KR"/>
                <a:ea typeface="Noto Sans KR"/>
                <a:cs typeface="Noto Sans KR"/>
              </a:rPr>
              <a:t>결품과 과재고 위험을</a:t>
            </a:r>
          </a:p>
          <a:p xmlns:a="http://schemas.openxmlformats.org/drawingml/2006/main">
            <a:pPr algn="l">
              <a:defRPr sz="1350" b="0">
                <a:solidFill>
                  <a:srgbClr val="263044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263044"/>
                </a:solidFill>
                <a:latin typeface="Noto Sans KR"/>
                <a:ea typeface="Noto Sans KR"/>
                <a:cs typeface="Noto Sans KR"/>
              </a:rPr>
              <a:t>주차별로 먼저 확인</a:t>
            </a:r>
          </a:p>
        </p:txBody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e7352a80d946e5"/>
          <a:stretch xmlns:a="http://schemas.openxmlformats.org/drawingml/2006/main"/>
        </p:blipFill>
        <p:spPr>
          <a:xfrm xmlns:a="http://schemas.openxmlformats.org/drawingml/2006/main">
            <a:off x="5219214" y="1504950"/>
            <a:ext cx="4934922" cy="4762500"/>
          </a:xfrm>
          <a:prstGeom xmlns:a="http://schemas.openxmlformats.org/drawingml/2006/main" prst="roundRect">
            <a:avLst>
              <a:gd name="adj" fmla="val 2400"/>
            </a:avLst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3978CEF-0731-4E9B-88F2-6B870B774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579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9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C339EA1-B5E0-4FB7-9BA5-284C8A319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05575"/>
            <a:ext cx="10001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최신 재고 + 도착월 입고계획 + 실무자 가중치 → 24주 예상재고·재고주수·포장입수 단위 제안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5B0267B-5488-4A16-AEE7-3FE6A3480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505575"/>
            <a:ext cx="7905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4 / 7</a:t>
            </a:r>
          </a:p>
        </p:txBody>
      </p:sp>
    </p:spTree>
    <p:extLst>
      <p:ext uri="{BB962C8B-B14F-4D97-AF65-F5344CB8AC3E}">
        <p14:creationId xmlns:p14="http://schemas.microsoft.com/office/powerpoint/2010/main" val="193438889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0AF0039-E760-44D7-AA7B-CB258442C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0480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468E8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3468E8"/>
                </a:solidFill>
                <a:latin typeface="Noto Sans KR"/>
                <a:ea typeface="Noto Sans KR"/>
                <a:cs typeface="Noto Sans KR"/>
              </a:rPr>
              <a:t>05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B07750-3915-400B-AD6E-654BF9630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76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  <a:latin typeface="Noto Sans KR"/>
                <a:ea typeface="Noto Sans KR"/>
                <a:cs typeface="Noto Sans KR"/>
              </a:defRPr>
            </a:pPr>
            <a:r>
              <a:rPr sz="2625" b="1">
                <a:solidFill>
                  <a:srgbClr val="172033"/>
                </a:solidFill>
                <a:latin typeface="Noto Sans KR"/>
                <a:ea typeface="Noto Sans KR"/>
                <a:cs typeface="Noto Sans KR"/>
              </a:rPr>
              <a:t>2026년 5~6월 재고 쇼트 위험 재현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16D2A4-8F1C-472E-85F8-6E725B764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742950"/>
            <a:ext cx="10287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전년도 12개월 데이터로 과거 재고 흐름을 다시 계산해 위험 SKU 4개를 식별했습니다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B1EF94-ABA5-4CB9-9DCB-C9ED20349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10490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78FD69-6DAB-47E1-AB95-D96238B34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"/>
            <a:ext cx="2381250" cy="2571750"/>
          </a:xfrm>
          <a:prstGeom xmlns:a="http://schemas.openxmlformats.org/drawingml/2006/main" prst="roundRect">
            <a:avLst>
              <a:gd name="adj" fmla="val 5600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82B96A-B3B1-4959-9387-4806ACAAB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809750"/>
            <a:ext cx="495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468E8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3468E8"/>
                </a:solidFill>
                <a:latin typeface="Noto Sans KR"/>
                <a:ea typeface="Noto Sans KR"/>
                <a:cs typeface="Noto Sans KR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2C7AD8-6026-40CC-BE37-FCD76EC12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266950"/>
            <a:ext cx="1962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033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172033"/>
                </a:solidFill>
                <a:latin typeface="Noto Sans KR"/>
                <a:ea typeface="Noto Sans KR"/>
                <a:cs typeface="Noto Sans KR"/>
              </a:rPr>
              <a:t>12개월 데이터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A4FDCB-853B-4693-B810-C808C30F7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38450"/>
            <a:ext cx="1962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468E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B1D4C0-3BB3-4D14-86CF-211F4DB79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105150"/>
            <a:ext cx="19621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63044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263044"/>
                </a:solidFill>
                <a:latin typeface="Noto Sans KR"/>
                <a:ea typeface="Noto Sans KR"/>
                <a:cs typeface="Noto Sans KR"/>
              </a:rPr>
              <a:t>전년도 판매·출고·재고와</a:t>
            </a:r>
          </a:p>
          <a:p xmlns:a="http://schemas.openxmlformats.org/drawingml/2006/main">
            <a:pPr algn="l">
              <a:defRPr sz="1350" b="0">
                <a:solidFill>
                  <a:srgbClr val="263044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263044"/>
                </a:solidFill>
                <a:latin typeface="Noto Sans KR"/>
                <a:ea typeface="Noto Sans KR"/>
                <a:cs typeface="Noto Sans KR"/>
              </a:rPr>
              <a:t>당시 입고계획을 재입력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864228-C7BD-4956-8524-A617473B1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1600200"/>
            <a:ext cx="2381250" cy="2571750"/>
          </a:xfrm>
          <a:prstGeom xmlns:a="http://schemas.openxmlformats.org/drawingml/2006/main" prst="roundRect">
            <a:avLst>
              <a:gd name="adj" fmla="val 5600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61575A5-EC56-4911-9566-7BD91F9B7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1809750"/>
            <a:ext cx="495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8A83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0B8A83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D6F0E9F-D4C5-4428-8A5B-4D22233AB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266950"/>
            <a:ext cx="1962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033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172033"/>
                </a:solidFill>
                <a:latin typeface="Noto Sans KR"/>
                <a:ea typeface="Noto Sans KR"/>
                <a:cs typeface="Noto Sans KR"/>
              </a:rPr>
              <a:t>24주 롤포워드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29F7B3D-F32A-4745-83C1-D595F12D0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838450"/>
            <a:ext cx="1962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B8A8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768E08E-C5FA-4876-861B-57DC8BA87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105150"/>
            <a:ext cx="19621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63044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263044"/>
                </a:solidFill>
                <a:latin typeface="Noto Sans KR"/>
                <a:ea typeface="Noto Sans KR"/>
                <a:cs typeface="Noto Sans KR"/>
              </a:rPr>
              <a:t>운영 계산 로직으로</a:t>
            </a:r>
          </a:p>
          <a:p xmlns:a="http://schemas.openxmlformats.org/drawingml/2006/main">
            <a:pPr algn="l">
              <a:defRPr sz="1350" b="0">
                <a:solidFill>
                  <a:srgbClr val="263044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263044"/>
                </a:solidFill>
                <a:latin typeface="Noto Sans KR"/>
                <a:ea typeface="Noto Sans KR"/>
                <a:cs typeface="Noto Sans KR"/>
              </a:rPr>
              <a:t>주차별 예상재고 재현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F07DE7F-FCB4-44A2-AE94-C0D15875E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1600200"/>
            <a:ext cx="2381250" cy="2571750"/>
          </a:xfrm>
          <a:prstGeom xmlns:a="http://schemas.openxmlformats.org/drawingml/2006/main" prst="roundRect">
            <a:avLst>
              <a:gd name="adj" fmla="val 5600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4E20982-8377-4BB4-921A-8A2B48147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809750"/>
            <a:ext cx="495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D76A2E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D76A2E"/>
                </a:solidFill>
                <a:latin typeface="Noto Sans KR"/>
                <a:ea typeface="Noto Sans KR"/>
                <a:cs typeface="Noto Sans KR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8E1E676-0EBF-4C81-8B0E-4D77EA45A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266950"/>
            <a:ext cx="1962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033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172033"/>
                </a:solidFill>
                <a:latin typeface="Noto Sans KR"/>
                <a:ea typeface="Noto Sans KR"/>
                <a:cs typeface="Noto Sans KR"/>
              </a:rPr>
              <a:t>위험 4개 SKU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53F82B0-A5D5-4539-B182-BFE7FFD9D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838450"/>
            <a:ext cx="1962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76A2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2134246-6F27-4B08-82AF-0F82FB35C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105150"/>
            <a:ext cx="19621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63044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263044"/>
                </a:solidFill>
                <a:latin typeface="Noto Sans KR"/>
                <a:ea typeface="Noto Sans KR"/>
                <a:cs typeface="Noto Sans KR"/>
              </a:rPr>
              <a:t>2026년 5~6월 쇼트</a:t>
            </a:r>
          </a:p>
          <a:p xmlns:a="http://schemas.openxmlformats.org/drawingml/2006/main">
            <a:pPr algn="l">
              <a:defRPr sz="1350" b="0">
                <a:solidFill>
                  <a:srgbClr val="263044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263044"/>
                </a:solidFill>
                <a:latin typeface="Noto Sans KR"/>
                <a:ea typeface="Noto Sans KR"/>
                <a:cs typeface="Noto Sans KR"/>
              </a:rPr>
              <a:t>예상 구간을 경고로 식별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95C3E7F-24D4-4E11-989F-F78C7B660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1600200"/>
            <a:ext cx="2381250" cy="2571750"/>
          </a:xfrm>
          <a:prstGeom xmlns:a="http://schemas.openxmlformats.org/drawingml/2006/main" prst="roundRect">
            <a:avLst>
              <a:gd name="adj" fmla="val 5600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6EEE5FF-97A8-4F07-BACA-54D5465D3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809750"/>
            <a:ext cx="495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7B5FC7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7B5FC7"/>
                </a:solidFill>
                <a:latin typeface="Noto Sans KR"/>
                <a:ea typeface="Noto Sans KR"/>
                <a:cs typeface="Noto Sans KR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F472082-28EF-4827-A00C-C9A05D50E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266950"/>
            <a:ext cx="1962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033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172033"/>
                </a:solidFill>
                <a:latin typeface="Noto Sans KR"/>
                <a:ea typeface="Noto Sans KR"/>
                <a:cs typeface="Noto Sans KR"/>
              </a:rPr>
              <a:t>S&amp;OP 조치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9C4F905-D235-47D4-B5F0-E4595F260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838450"/>
            <a:ext cx="1962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7B5FC7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E0ED64E-ACD5-4234-9497-8043A9D38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105150"/>
            <a:ext cx="19621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63044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263044"/>
                </a:solidFill>
                <a:latin typeface="Noto Sans KR"/>
                <a:ea typeface="Noto Sans KR"/>
                <a:cs typeface="Noto Sans KR"/>
              </a:rPr>
              <a:t>발주안·판매 제한·</a:t>
            </a:r>
          </a:p>
          <a:p xmlns:a="http://schemas.openxmlformats.org/drawingml/2006/main">
            <a:pPr algn="l">
              <a:defRPr sz="1350" b="0">
                <a:solidFill>
                  <a:srgbClr val="263044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263044"/>
                </a:solidFill>
                <a:latin typeface="Noto Sans KR"/>
                <a:ea typeface="Noto Sans KR"/>
                <a:cs typeface="Noto Sans KR"/>
              </a:rPr>
              <a:t>채널 배분 재검토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4D164AB-EE8D-46F6-BF60-4BC283618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14850"/>
            <a:ext cx="10572750" cy="952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EEF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1BDE4B5-7E0A-45C6-B662-7F904E219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772025"/>
            <a:ext cx="142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3468E8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3468E8"/>
                </a:solidFill>
                <a:latin typeface="Noto Sans KR"/>
                <a:ea typeface="Noto Sans KR"/>
                <a:cs typeface="Noto Sans KR"/>
              </a:rPr>
              <a:t>검증 결과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15333E4-EB83-46A4-A1A7-91EA787DC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4695825"/>
            <a:ext cx="8382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033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172033"/>
                </a:solidFill>
                <a:latin typeface="Noto Sans KR"/>
                <a:ea typeface="Noto Sans KR"/>
                <a:cs typeface="Noto Sans KR"/>
              </a:rPr>
              <a:t>과거에 늦게 인지했던 위험 구간이 동일하게 나타나는지 확인해 계산 로직과 경고 구조를 검증했습니다.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98EBCB1-1692-44D4-A3EE-BC9BA1C36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24525"/>
            <a:ext cx="1057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공급 예외 운영: 생산중단·입고지연 · 유통기한·파손 · 풀필먼트 사입·이관 · 105,000캔 리콜 대응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F483B3E-92CF-4502-BD0C-1789FDAF5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579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9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EB8E3ED-B5A3-4AD2-9D8D-644A3068F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05575"/>
            <a:ext cx="10001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재고 소진 시점의 재현 검증이며 WMAPE·Bias 개선 또는 실제 결품 예방 성과로 표현하지 않습니다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EFB7999-FDA1-45C2-AA7F-5F9678033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505575"/>
            <a:ext cx="7905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5 / 7</a:t>
            </a:r>
          </a:p>
        </p:txBody>
      </p:sp>
    </p:spTree>
    <p:extLst>
      <p:ext uri="{BB962C8B-B14F-4D97-AF65-F5344CB8AC3E}">
        <p14:creationId xmlns:p14="http://schemas.microsoft.com/office/powerpoint/2010/main" val="2292552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B9F680A-98F4-4B9F-BF48-8CEE2CF58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0480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468E8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3468E8"/>
                </a:solidFill>
                <a:latin typeface="Noto Sans KR"/>
                <a:ea typeface="Noto Sans KR"/>
                <a:cs typeface="Noto Sans KR"/>
              </a:rPr>
              <a:t>06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75EFDF-E03D-4D98-AD5D-707C8A9CE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76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  <a:latin typeface="Noto Sans KR"/>
                <a:ea typeface="Noto Sans KR"/>
                <a:cs typeface="Noto Sans KR"/>
              </a:defRPr>
            </a:pPr>
            <a:r>
              <a:rPr sz="2625" b="1">
                <a:solidFill>
                  <a:srgbClr val="172033"/>
                </a:solidFill>
                <a:latin typeface="Noto Sans KR"/>
                <a:ea typeface="Noto Sans KR"/>
                <a:cs typeface="Noto Sans KR"/>
              </a:rPr>
              <a:t>현업 이관과 월별 운영 정착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03FCEA-9DBD-403A-9051-9747709C8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742950"/>
            <a:ext cx="10287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2026년 4월 배포 후 기존 Excel과 약 2개월 병행 검증하고 6월 발주 검토 기준을 전환했습니다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90AE38-5CEA-4751-9C36-A9095DAE9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10490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5401A5-362F-4E84-B58E-5A2F65EAD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38450"/>
            <a:ext cx="9620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B8CAF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9709D1-5F5C-4262-AEBF-740370D55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743200"/>
            <a:ext cx="190500" cy="190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6708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BA8221-8FD9-4759-A1B6-1E286FC04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1790700"/>
            <a:ext cx="1866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기존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DD8269-7234-499D-BDB9-80C8F1088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" y="219075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2033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172033"/>
                </a:solidFill>
                <a:latin typeface="Noto Sans KR"/>
                <a:ea typeface="Noto Sans KR"/>
                <a:cs typeface="Noto Sans KR"/>
              </a:rPr>
              <a:t>34개 탭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E4CE2C-E33E-4CAC-8BA7-4BFF70EFE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8575" y="3143250"/>
            <a:ext cx="2190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263044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263044"/>
                </a:solidFill>
                <a:latin typeface="Noto Sans KR"/>
                <a:ea typeface="Noto Sans KR"/>
                <a:cs typeface="Noto Sans KR"/>
              </a:rPr>
              <a:t>월 8~9시간</a:t>
            </a:r>
          </a:p>
          <a:p xmlns:a="http://schemas.openxmlformats.org/drawingml/2006/main">
            <a:pPr algn="ctr">
              <a:defRPr sz="1350" b="0">
                <a:solidFill>
                  <a:srgbClr val="263044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263044"/>
                </a:solidFill>
                <a:latin typeface="Noto Sans KR"/>
                <a:ea typeface="Noto Sans KR"/>
                <a:cs typeface="Noto Sans KR"/>
              </a:rPr>
              <a:t>취합·양식 작업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DF7D0CC-4E9E-4550-A8CA-95F30BF4B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2743200"/>
            <a:ext cx="190500" cy="190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468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9D751DD-D7DE-40EA-B148-38DEBC2AC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1790700"/>
            <a:ext cx="1866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3468E8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3468E8"/>
                </a:solidFill>
                <a:latin typeface="Noto Sans KR"/>
                <a:ea typeface="Noto Sans KR"/>
                <a:cs typeface="Noto Sans KR"/>
              </a:rPr>
              <a:t>2026.04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2A0247E-DA09-462F-A39B-75750E545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19075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2033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172033"/>
                </a:solidFill>
                <a:latin typeface="Noto Sans KR"/>
                <a:ea typeface="Noto Sans KR"/>
                <a:cs typeface="Noto Sans KR"/>
              </a:rPr>
              <a:t>시범 배포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0B48322-682F-442E-9CEA-713EF39CB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3143250"/>
            <a:ext cx="2190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263044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263044"/>
                </a:solidFill>
                <a:latin typeface="Noto Sans KR"/>
                <a:ea typeface="Noto Sans KR"/>
                <a:cs typeface="Noto Sans KR"/>
              </a:rPr>
              <a:t>40개 SKU 구조와</a:t>
            </a:r>
          </a:p>
          <a:p xmlns:a="http://schemas.openxmlformats.org/drawingml/2006/main">
            <a:pPr algn="ctr">
              <a:defRPr sz="1350" b="0">
                <a:solidFill>
                  <a:srgbClr val="263044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263044"/>
                </a:solidFill>
                <a:latin typeface="Noto Sans KR"/>
                <a:ea typeface="Noto Sans KR"/>
                <a:cs typeface="Noto Sans KR"/>
              </a:rPr>
              <a:t>24주 계산 구현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DB64956-007A-4CDA-A9C1-FF3B085B7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743200"/>
            <a:ext cx="190500" cy="190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8A8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2CA146D-F696-4176-B506-331C53643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790700"/>
            <a:ext cx="1866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B8A83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0B8A83"/>
                </a:solidFill>
                <a:latin typeface="Noto Sans KR"/>
                <a:ea typeface="Noto Sans KR"/>
                <a:cs typeface="Noto Sans KR"/>
              </a:rPr>
              <a:t>약 2개월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6447EF9-8BC9-4096-8583-E857058B2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19075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2033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172033"/>
                </a:solidFill>
                <a:latin typeface="Noto Sans KR"/>
                <a:ea typeface="Noto Sans KR"/>
                <a:cs typeface="Noto Sans KR"/>
              </a:rPr>
              <a:t>병행 검증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AF8DBC9-984F-4C63-B25F-BB9CD11F0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3143250"/>
            <a:ext cx="2190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263044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263044"/>
                </a:solidFill>
                <a:latin typeface="Noto Sans KR"/>
                <a:ea typeface="Noto Sans KR"/>
                <a:cs typeface="Noto Sans KR"/>
              </a:rPr>
              <a:t>기존 Excel과 값 대조</a:t>
            </a:r>
          </a:p>
          <a:p xmlns:a="http://schemas.openxmlformats.org/drawingml/2006/main">
            <a:pPr algn="ctr">
              <a:defRPr sz="1350" b="0">
                <a:solidFill>
                  <a:srgbClr val="263044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263044"/>
                </a:solidFill>
                <a:latin typeface="Noto Sans KR"/>
                <a:ea typeface="Noto Sans KR"/>
                <a:cs typeface="Noto Sans KR"/>
              </a:rPr>
              <a:t>화면·산식 개선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1F8D6B2-0516-4A0D-AF00-FCE42C8A0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2743200"/>
            <a:ext cx="190500" cy="190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6A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3F32A7D-1DB0-4CA7-90A6-794364A35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1790700"/>
            <a:ext cx="1866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D76A2E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D76A2E"/>
                </a:solidFill>
                <a:latin typeface="Noto Sans KR"/>
                <a:ea typeface="Noto Sans KR"/>
                <a:cs typeface="Noto Sans KR"/>
              </a:rPr>
              <a:t>2026.06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A5D6919-39A0-4891-832D-E077085CD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19075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2033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172033"/>
                </a:solidFill>
                <a:latin typeface="Noto Sans KR"/>
                <a:ea typeface="Noto Sans KR"/>
                <a:cs typeface="Noto Sans KR"/>
              </a:rPr>
              <a:t>완전 이관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F836F47-13F1-477B-940C-D371BA914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25" y="3143250"/>
            <a:ext cx="2190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263044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263044"/>
                </a:solidFill>
                <a:latin typeface="Noto Sans KR"/>
                <a:ea typeface="Noto Sans KR"/>
                <a:cs typeface="Noto Sans KR"/>
              </a:rPr>
              <a:t>월간 발주 검토 기준</a:t>
            </a:r>
          </a:p>
          <a:p xmlns:a="http://schemas.openxmlformats.org/drawingml/2006/main">
            <a:pPr algn="ctr">
              <a:defRPr sz="1350" b="0">
                <a:solidFill>
                  <a:srgbClr val="263044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263044"/>
                </a:solidFill>
                <a:latin typeface="Noto Sans KR"/>
                <a:ea typeface="Noto Sans KR"/>
                <a:cs typeface="Noto Sans KR"/>
              </a:rPr>
              <a:t>매월 롤링 운영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3026165-66D3-4EE3-AD11-2E0B477C2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24350"/>
            <a:ext cx="10572750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EAF7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6BFA434-AF1E-4E0D-9BDD-4D3C70624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91050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B8A83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0B8A83"/>
                </a:solidFill>
                <a:latin typeface="Noto Sans KR"/>
                <a:ea typeface="Noto Sans KR"/>
                <a:cs typeface="Noto Sans KR"/>
              </a:rPr>
              <a:t>운영 성과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A58F271-4E22-40E5-BFCB-1FDBA4E8E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4533900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033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1">
                <a:solidFill>
                  <a:srgbClr val="172033"/>
                </a:solidFill>
                <a:latin typeface="Noto Sans KR"/>
                <a:ea typeface="Noto Sans KR"/>
                <a:cs typeface="Noto Sans KR"/>
              </a:rPr>
              <a:t>월 8~9시간 소요 업무 자동화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5C303A3-D671-4A6F-9DB5-C9B63D822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4533900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033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1">
                <a:solidFill>
                  <a:srgbClr val="172033"/>
                </a:solidFill>
                <a:latin typeface="Noto Sans KR"/>
                <a:ea typeface="Noto Sans KR"/>
                <a:cs typeface="Noto Sans KR"/>
              </a:rPr>
              <a:t>2026년 5~6월 위험 4개 SKU 재현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8C9BB07-602E-44D8-9F68-B6E0AD59A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638800"/>
            <a:ext cx="10344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263044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>
                <a:solidFill>
                  <a:srgbClr val="263044"/>
                </a:solidFill>
                <a:latin typeface="Noto Sans KR"/>
                <a:ea typeface="Noto Sans KR"/>
                <a:cs typeface="Noto Sans KR"/>
              </a:rPr>
              <a:t>SCM 계산 기준과 데이터 구조를 직접 정의하고 생성형 AI 코딩 도구로 구현했으며, 기존 Excel의 실제 수치로 검증했습니다.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1AAA4DB-E2E5-4CF9-BB12-438161D39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579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9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5CC1008-6AF8-4DCA-B23C-C465CE41C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05575"/>
            <a:ext cx="10001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배포일과 업무 전환일을 분리하고, 병행 검증 후 월별 운영 기준으로 전환했습니다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238D9E0-3C3A-4866-B4E3-A9D690A9F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505575"/>
            <a:ext cx="7905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6 / 7</a:t>
            </a:r>
          </a:p>
        </p:txBody>
      </p:sp>
    </p:spTree>
    <p:extLst>
      <p:ext uri="{BB962C8B-B14F-4D97-AF65-F5344CB8AC3E}">
        <p14:creationId xmlns:p14="http://schemas.microsoft.com/office/powerpoint/2010/main" val="136453920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6035BC6-3F5D-4C6A-8142-5AD941799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0480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468E8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3468E8"/>
                </a:solidFill>
                <a:latin typeface="Noto Sans KR"/>
                <a:ea typeface="Noto Sans KR"/>
                <a:cs typeface="Noto Sans KR"/>
              </a:rPr>
              <a:t>07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8B7C49-662E-4F58-A011-9BA268526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765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  <a:latin typeface="Noto Sans KR"/>
                <a:ea typeface="Noto Sans KR"/>
                <a:cs typeface="Noto Sans KR"/>
              </a:defRPr>
            </a:pPr>
            <a:r>
              <a:rPr sz="2625" b="1">
                <a:solidFill>
                  <a:srgbClr val="172033"/>
                </a:solidFill>
                <a:latin typeface="Noto Sans KR"/>
                <a:ea typeface="Noto Sans KR"/>
                <a:cs typeface="Noto Sans KR"/>
              </a:rPr>
              <a:t>비나우 수요예측 업무에 적용할 운영 원칙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49CF98-09E0-4653-BB32-60ACDC081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742950"/>
            <a:ext cx="10287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월별 수요·공급 판단을 실제 발주와 재고 조치까지 연결하겠습니다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11E6BC-4E65-40EC-AB7C-CC71A11C5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10490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6E7E11-F540-460D-A197-F180A9799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4095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2033"/>
                </a:solidFill>
                <a:latin typeface="Noto Sans KR"/>
                <a:ea typeface="Noto Sans KR"/>
                <a:cs typeface="Noto Sans KR"/>
              </a:defRPr>
            </a:pPr>
            <a:r>
              <a:rPr sz="2100" b="1">
                <a:solidFill>
                  <a:srgbClr val="172033"/>
                </a:solidFill>
                <a:latin typeface="Noto Sans KR"/>
                <a:ea typeface="Noto Sans KR"/>
                <a:cs typeface="Noto Sans KR"/>
              </a:rPr>
              <a:t>이미 해온 일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49B9D7-31ED-41BC-8115-A6B8A9A45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38350"/>
            <a:ext cx="4095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468E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BF01AD-6175-4141-A8C7-251AB4FEA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05050"/>
            <a:ext cx="419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63044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263044"/>
                </a:solidFill>
                <a:latin typeface="Noto Sans KR"/>
                <a:ea typeface="Noto Sans KR"/>
                <a:cs typeface="Noto Sans KR"/>
              </a:rPr>
              <a:t>판매·출고·재고·입고예정의 기준 통합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C520D3-B156-453D-96B8-73B6165E2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95600"/>
            <a:ext cx="4191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63044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263044"/>
                </a:solidFill>
                <a:latin typeface="Noto Sans KR"/>
                <a:ea typeface="Noto Sans KR"/>
                <a:cs typeface="Noto Sans KR"/>
              </a:rPr>
              <a:t>세일즈 전망과 장기 리드타임을 월간 발주안으로 조정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087DA4-79EF-42F5-9400-46FB6621C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4191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63044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263044"/>
                </a:solidFill>
                <a:latin typeface="Noto Sans KR"/>
                <a:ea typeface="Noto Sans KR"/>
                <a:cs typeface="Noto Sans KR"/>
              </a:rPr>
              <a:t>프로모션·가격 변화에 따른 결품 위험과 채널 재고 실행 관리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373285-E006-4752-8D51-C62C3C169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0"/>
            <a:ext cx="4191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63044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263044"/>
                </a:solidFill>
                <a:latin typeface="Noto Sans KR"/>
                <a:ea typeface="Noto Sans KR"/>
                <a:cs typeface="Noto Sans KR"/>
              </a:rPr>
              <a:t>공급사 확정 수량·수입 서류·입고·채널 배분까지 실행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1C23994-128B-465E-B1D7-DF387C4F3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524000"/>
            <a:ext cx="4667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2033"/>
                </a:solidFill>
                <a:latin typeface="Noto Sans KR"/>
                <a:ea typeface="Noto Sans KR"/>
                <a:cs typeface="Noto Sans KR"/>
              </a:defRPr>
            </a:pPr>
            <a:r>
              <a:rPr sz="2100" b="1">
                <a:solidFill>
                  <a:srgbClr val="172033"/>
                </a:solidFill>
                <a:latin typeface="Noto Sans KR"/>
                <a:ea typeface="Noto Sans KR"/>
                <a:cs typeface="Noto Sans KR"/>
              </a:rPr>
              <a:t>입사 후 계측·보완할 일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8C914D8-BA69-429E-9BB2-A23F6DD4A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038350"/>
            <a:ext cx="4667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B8A8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22A57B0-1723-4895-8C36-5B4520BD7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305050"/>
            <a:ext cx="4667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63044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263044"/>
                </a:solidFill>
                <a:latin typeface="Noto Sans KR"/>
                <a:ea typeface="Noto Sans KR"/>
                <a:cs typeface="Noto Sans KR"/>
              </a:rPr>
              <a:t>신제품·브랜드·채널별 수요 패턴 학습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BB889DC-CAF7-49CF-A020-6C25D12DF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895600"/>
            <a:ext cx="4667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63044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263044"/>
                </a:solidFill>
                <a:latin typeface="Noto Sans KR"/>
                <a:ea typeface="Noto Sans KR"/>
                <a:cs typeface="Noto Sans KR"/>
              </a:rPr>
              <a:t>예측 오차와 Bias, 결품·과재고 결과를 SKU와 채널별로 계측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238C128-785C-4BD3-B9D1-5C8BD33AD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638550"/>
            <a:ext cx="4667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63044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263044"/>
                </a:solidFill>
                <a:latin typeface="Noto Sans KR"/>
                <a:ea typeface="Noto Sans KR"/>
                <a:cs typeface="Noto Sans KR"/>
              </a:rPr>
              <a:t>프로모션 증가분과 기본 수요를 분리해 발주 판단의 근거를 축적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ADFCD54-17DB-4AB0-A0F4-E5B701C9B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381500"/>
            <a:ext cx="4667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63044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263044"/>
                </a:solidFill>
                <a:latin typeface="Noto Sans KR"/>
                <a:ea typeface="Noto Sans KR"/>
                <a:cs typeface="Noto Sans KR"/>
              </a:rPr>
              <a:t>화장품 운영 특성과 더존 ERP를 익히고 반복 취합·검증을 단계적으로 자동화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29B59EE-98FB-4F0B-8B45-3C7F87ED2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14950"/>
            <a:ext cx="10534650" cy="723900"/>
          </a:xfrm>
          <a:prstGeom xmlns:a="http://schemas.openxmlformats.org/drawingml/2006/main" prst="roundRect">
            <a:avLst>
              <a:gd name="adj" fmla="val 13158"/>
            </a:avLst>
          </a:prstGeom>
          <a:solidFill xmlns:a="http://schemas.openxmlformats.org/drawingml/2006/main">
            <a:srgbClr val="EEF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D9CB106-C8CA-4F78-8FDD-77A5DCF45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495925"/>
            <a:ext cx="123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468E8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3468E8"/>
                </a:solidFill>
                <a:latin typeface="Noto Sans KR"/>
                <a:ea typeface="Noto Sans KR"/>
                <a:cs typeface="Noto Sans KR"/>
              </a:rPr>
              <a:t>운영 원칙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63F600C-5127-43C2-B252-9DD406052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5438775"/>
            <a:ext cx="857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63044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263044"/>
                </a:solidFill>
                <a:latin typeface="Noto Sans KR"/>
                <a:ea typeface="Noto Sans KR"/>
                <a:cs typeface="Noto Sans KR"/>
              </a:rPr>
              <a:t>반복 계산은 시스템으로 표준화하되 최종 발주안은 세일즈 전망과 공급 제약을 함께 검토해 확정합니다.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6B43008-9346-4A91-9D24-46B2117FD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579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EE9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F7C0384-C8A8-40DF-86B9-960B88270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05575"/>
            <a:ext cx="10001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현재 한계는 숨기지 않고, 입사 후 SKU·채널별 예측오차와 Bias부터 기준선을 만들겠습니다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D4F5D8E-6940-4778-9535-B2B2C584E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6505575"/>
            <a:ext cx="7905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7 / 7</a:t>
            </a:r>
          </a:p>
        </p:txBody>
      </p:sp>
    </p:spTree>
    <p:extLst>
      <p:ext uri="{BB962C8B-B14F-4D97-AF65-F5344CB8AC3E}">
        <p14:creationId xmlns:p14="http://schemas.microsoft.com/office/powerpoint/2010/main" val="25253830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2026-09-06T14:01:41.9110000Z</dcterms:created>
  <dcterms:modified xsi:type="dcterms:W3CDTF">2026-09-06T14:01:41.9120000Z</dcterms:modified>
</coreProperties>
</file>