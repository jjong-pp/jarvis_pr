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e48ce2b5042ac" /><Relationship Type="http://schemas.openxmlformats.org/officeDocument/2006/relationships/extended-properties" Target="/docProps/app.xml" Id="Re76de692bed24358" /><Relationship Type="http://schemas.openxmlformats.org/officeDocument/2006/relationships/officeDocument" Target="/ppt/presentation.xml" Id="R9b2d6eead18d40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481dc45ebf42e8"/>
  </p:sldMasterIdLst>
  <p:notesMasterIdLst>
    <p:notesMasterId xmlns:r="http://schemas.openxmlformats.org/officeDocument/2006/relationships" r:id="R3f563fc8d9dc47c6"/>
  </p:notesMasterIdLst>
  <p:sldIdLst>
    <p:sldId xmlns:r="http://schemas.openxmlformats.org/officeDocument/2006/relationships" id="256" r:id="R3730437481ec4c05"/>
    <p:sldId xmlns:r="http://schemas.openxmlformats.org/officeDocument/2006/relationships" id="257" r:id="R0ce137ce9eff4208"/>
    <p:sldId xmlns:r="http://schemas.openxmlformats.org/officeDocument/2006/relationships" id="258" r:id="R1f8f0581c1874bcc"/>
    <p:sldId xmlns:r="http://schemas.openxmlformats.org/officeDocument/2006/relationships" id="259" r:id="R16e31c4e65e74cd7"/>
    <p:sldId xmlns:r="http://schemas.openxmlformats.org/officeDocument/2006/relationships" id="260" r:id="Rb0bca727ff1846fe"/>
    <p:sldId xmlns:r="http://schemas.openxmlformats.org/officeDocument/2006/relationships" id="261" r:id="Rfda6219fc9054cab"/>
    <p:sldId xmlns:r="http://schemas.openxmlformats.org/officeDocument/2006/relationships" id="262" r:id="R0623dda75ac74f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8bb62a10a045d0" /><Relationship Type="http://schemas.openxmlformats.org/officeDocument/2006/relationships/slideMaster" Target="/ppt/slideMasters/slideMaster1.xml" Id="R68481dc45ebf42e8" /><Relationship Type="http://schemas.openxmlformats.org/officeDocument/2006/relationships/notesMaster" Target="/ppt/notesMasters/notesMaster1.xml" Id="R3f563fc8d9dc47c6" /><Relationship Type="http://schemas.openxmlformats.org/officeDocument/2006/relationships/presProps" Target="/ppt/presProps.xml" Id="R54535ef545874010" /><Relationship Type="http://schemas.openxmlformats.org/officeDocument/2006/relationships/tableStyles" Target="/ppt/tableStyles.xml" Id="R32b8537388d4461c" /><Relationship Type="http://schemas.openxmlformats.org/officeDocument/2006/relationships/slide" Target="/ppt/slides/slide1.xml" Id="R3730437481ec4c05" /><Relationship Type="http://schemas.openxmlformats.org/officeDocument/2006/relationships/slide" Target="/ppt/slides/slide2.xml" Id="R0ce137ce9eff4208" /><Relationship Type="http://schemas.openxmlformats.org/officeDocument/2006/relationships/slide" Target="/ppt/slides/slide3.xml" Id="R1f8f0581c1874bcc" /><Relationship Type="http://schemas.openxmlformats.org/officeDocument/2006/relationships/slide" Target="/ppt/slides/slide4.xml" Id="R16e31c4e65e74cd7" /><Relationship Type="http://schemas.openxmlformats.org/officeDocument/2006/relationships/slide" Target="/ppt/slides/slide5.xml" Id="Rb0bca727ff1846fe" /><Relationship Type="http://schemas.openxmlformats.org/officeDocument/2006/relationships/slide" Target="/ppt/slides/slide6.xml" Id="Rfda6219fc9054cab" /><Relationship Type="http://schemas.openxmlformats.org/officeDocument/2006/relationships/slide" Target="/ppt/slides/slide7.xml" Id="R0623dda75ac7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cd83222a5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55752812b45e6" /><Relationship Type="http://schemas.openxmlformats.org/officeDocument/2006/relationships/notesMaster" Target="/ppt/notesMasters/notesMaster1.xml" Id="Rb649eb21bde94e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fbc53b90404d03" /><Relationship Type="http://schemas.openxmlformats.org/officeDocument/2006/relationships/notesMaster" Target="/ppt/notesMasters/notesMaster1.xml" Id="R8bcda0c7aeed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debe405b434e6e" /><Relationship Type="http://schemas.openxmlformats.org/officeDocument/2006/relationships/notesMaster" Target="/ppt/notesMasters/notesMaster1.xml" Id="R61f970ace1e34d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546ace744428c" /><Relationship Type="http://schemas.openxmlformats.org/officeDocument/2006/relationships/notesMaster" Target="/ppt/notesMasters/notesMaster1.xml" Id="Ref51c81e48274a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685b44c164cf6" /><Relationship Type="http://schemas.openxmlformats.org/officeDocument/2006/relationships/notesMaster" Target="/ppt/notesMasters/notesMaster1.xml" Id="R991bc7e5a8a5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1c4b83405478d" /><Relationship Type="http://schemas.openxmlformats.org/officeDocument/2006/relationships/notesMaster" Target="/ppt/notesMasters/notesMaster1.xml" Id="Re639ffe07ca54d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6972498e2f432e" /><Relationship Type="http://schemas.openxmlformats.org/officeDocument/2006/relationships/notesMaster" Target="/ppt/notesMasters/notesMaster1.xml" Id="R01d3aecee955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400억원은 2025년 소비자 매출 기준 담당 사업 규모입니다. 실제 발주금액과 SKU별 수량·단가는 제외했습니다.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직구·내수 구조, 업무표의 재고·통관·이관·출고·정산 기록. 거래처와 창고명은 영업비밀 보호를 위해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월간 S&amp;OP 운영과 업무표의 가격 인상·행사 쇼트 시뮬레이션, 채널 사입 허용량, 수요회의 기록. 프로모션·현금흐름·공급사 MOQ는 자동 계산이 아니라 회의 판단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SCM-Dashboard app/core/forecasting.py 및 inventory 라우터. 현재 공개 화면은 4개 샘플 SKU이며 40개 SKU는 사용자 확인 실무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전년도 12개월 검증, 2026년 5~6월 위험 구간, 4개 SKU는 사용자 확인 사실입니다. 실제 SKU명과 수량은 비공개이며 공개 화면의 4개 샘플과 연결하지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2026년 4월 배포와 병행 기간은 사용자 확인 사실입니다. 코드 저장소 이력은 2026년 6월 이후 개선 기록으로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비나우 JD의 기준 데이터, S&amp;OP, 프로모션 반영 발주, 결품·과재고 관리에 맞춘 지원 방향입니다. 화장품과 더존 ERP 경험은 없으며 이를 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47d6589c4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a75edb74d4f40" /><Relationship Type="http://schemas.openxmlformats.org/officeDocument/2006/relationships/slideLayout" Target="/ppt/slideLayouts/slideLayout1.xml" Id="Rcc6af1eff9ad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af1eff9ad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78d783adf45df" /><Relationship Type="http://schemas.openxmlformats.org/officeDocument/2006/relationships/notesSlide" Target="/ppt/notesSlides/notesSlide1.xml" Id="R0ac3373c0c06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cfb3d4d174cbe" /><Relationship Type="http://schemas.openxmlformats.org/officeDocument/2006/relationships/notesSlide" Target="/ppt/notesSlides/notesSlide2.xml" Id="R6112e66104474c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a191fc68e411a" /><Relationship Type="http://schemas.openxmlformats.org/officeDocument/2006/relationships/notesSlide" Target="/ppt/notesSlides/notesSlide3.xml" Id="Rc3df5a11c23a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bc6cbccc34188" /><Relationship Type="http://schemas.openxmlformats.org/officeDocument/2006/relationships/image" Target="/ppt/media/image.png" Id="R555a8c0ceb094926" /><Relationship Type="http://schemas.openxmlformats.org/officeDocument/2006/relationships/notesSlide" Target="/ppt/notesSlides/notesSlide4.xml" Id="Rd5486c0a59a745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016768c6e491c" /><Relationship Type="http://schemas.openxmlformats.org/officeDocument/2006/relationships/notesSlide" Target="/ppt/notesSlides/notesSlide5.xml" Id="R834ca9ead81845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5a30929d24f54" /><Relationship Type="http://schemas.openxmlformats.org/officeDocument/2006/relationships/notesSlide" Target="/ppt/notesSlides/notesSlide6.xml" Id="R43cf7418ba9641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19a43efdd445b" /><Relationship Type="http://schemas.openxmlformats.org/officeDocument/2006/relationships/notesSlide" Target="/ppt/notesSlides/notesSlide7.xml" Id="Re3a4267697694d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EAD35-2113-4D1D-BE78-01768E8C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D61C2-3741-495B-9C30-BD89641C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수요예측·재고·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7AAB9-F0F7-4B7E-97C2-1EAEE3AB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직구·내수 40개 SKU의 월별 계획을</a:t>
            </a:r>
          </a:p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발주·수입·채널 실행으로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0AF3F-A38E-4393-BA08-ACF8485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C32C2-7CC9-4E17-9D7F-5471221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05582-3A60-443C-A5EB-421D19A6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약 400억원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1CDC7-C781-4867-9FCC-5EB73303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2025년 소비자 매출 기준 사업 규모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2C1AE-7E12-4282-8BF2-8501C4E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44CD0-9DE3-49D1-8C1B-E6F6412F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E4A31-F491-401E-85D2-FE5D8DF5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수요·재고 판단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83B0A-31DD-414B-A826-93D3F73A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169EC-9B00-4AA4-8332-B426A1D5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3C30D-6B76-486D-AF39-7AB8E0E5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현재고와 도착월 입고계획을 연결한 전망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66D15-3F3F-4265-93D4-2C12D13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67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영업비밀·식별정보를 일반화한 제출본</a:t>
            </a:r>
          </a:p>
        </p:txBody>
      </p:sp>
    </p:spTree>
    <p:extLst>
      <p:ext uri="{BB962C8B-B14F-4D97-AF65-F5344CB8AC3E}">
        <p14:creationId xmlns:p14="http://schemas.microsoft.com/office/powerpoint/2010/main" val="543651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95EF6-8C19-4680-ABC1-A3BCA0C3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A019B-380E-4846-848D-82570B66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직구·내수 이중 공급망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FCA2F-C08D-48AF-B708-19FCB8B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수요·발주 검토부터 수입통관, 다거점 재고 배분, 배송 예외까지 운영했습니다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8A276-3480-4A8D-ABE8-2971AC37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A25A8-BE92-42EB-954D-5656D1E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직구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2EE9-E1F9-4E38-B048-FC1A5A5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중국 전진창고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912C9-C8CE-4E2D-AE84-CD7A6A01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D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E4B94-47B6-4810-B540-F144B7D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2750C-7BCC-48B6-BF28-F4AD47F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주문·수요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55F3C-B874-4310-964B-957ABE2E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 주문과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흐름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6524C-1C9F-4F08-9D49-4CC4B2A8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53AD9-3F21-4F7A-A748-766B35EE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전진창고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F4954-42A2-4AED-9CC3-608115DF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재고·유통기한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포장 단위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2F0EA-930B-444C-911C-27F54703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AC070-A30F-4A22-9A33-71BA7963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통관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E76DD-CF0B-4EBD-A52E-9E67E920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본인확인·거래정보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오류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79D9D-2555-459A-8395-FA2DFF8E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71A64-CA86-489A-AF8E-E7D89329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배송·CS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16C17-2CB6-4116-8E00-A1121BEA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출고 통제와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배송 예외 해결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DFE6-0885-4E60-9967-A52BCC9D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내수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D170A-2C6C-4B87-BE7A-DA644581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국내 직수입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1EFA8-2014-4D7E-85BD-4A3A5429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3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D1436-C270-4201-A374-F25C135A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4C459-6F81-49C0-9895-B84BDF59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수량 산출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AED2A-1F77-42F6-86EB-967E425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전망·현재고·입고예정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장기 리드타임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F70BB-5F06-474E-9988-ED061724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41212-3ECD-4E98-9BF9-B6D78655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협의·승인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0BF79-E519-46A3-A37D-6411B012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SCM·세일즈 리더 협의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52638-34D7-46F1-A279-6AB37DE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8A318C-60B0-4E9A-A6F1-0AA3CFF4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선적·수입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37D99-70B2-4ABF-A637-B9C2A582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식약처·통관 대응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A636F-EEEF-49D6-B58D-EA87872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1E8C0-498E-4DE0-A6AC-4715E62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입고·배분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068DDB-F9B6-4D81-8F93-E6B4F064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풀필먼트·오프라인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입고·이관·정산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C5AA61-B4D7-48E4-8F2C-A5B0306E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7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870F76-5327-478A-BDFE-3D2D524C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공통 제약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71BFC2-A12E-43D7-9893-F92047E6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6개월 이상 리드타임 · 유통기한 · MOQ · 수입자·규제 · 여러 창고의 재고 수불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91150D-C40A-4E23-BD22-13BE580D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BC257E-48A0-4AC2-ACEA-E2D5515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FAB8FE-DFA1-4010-90E5-7D0757EA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590592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14FF5-4F3C-4B33-B848-8FF5357B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6D283-6142-4E1E-9AC9-FCCD9DF8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월별 롤링 S&amp;OP와 발주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0477-3C74-4B7B-B4B0-224D61F7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판매 전망·현재고·입고예정을 갱신해 발주안을 만들고 승인 후 공급사·수입 실행까지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320FC-972B-478F-AC11-90D30A3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D16F9-DEC6-4888-B801-B6783366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0C06-E8E7-41CF-90AA-47B6E76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현재고·유통기한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입고예정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61E0-4224-4F01-829A-D8E41125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62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A8335-2F10-45A4-BDDF-FCA4FD9C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4572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E424E-9906-4AE4-B86C-0BA16175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발주안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8716A-60E1-4CEF-8631-FCDC4BB7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71C24-7A1D-4D7E-8FFD-2B17610C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8367E-8742-4835-89D7-0D304B4D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3개월 수준 목표재고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876E3-D675-48E7-A9F6-344D571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5168C-70F2-443E-92F6-772A43B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프로모션·가격 변동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7290D-A27E-4D12-9ECE-685A5ED4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승인 후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EF721-6101-4B06-BA1A-A0320386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수입·식약처·통관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입고·채널 배분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822F4-6D48-402F-95E2-3BFF150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ABCFE-DA09-4512-A224-292725FD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41346-851B-465C-B8D9-7CCA8E7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SKU별 수량 산출·발주 수량 작성 → SCM·세일즈 팀장 협의·승인 절차 → 공급사 전달 → 수입 서류·입고 수량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56931-4E4D-4416-ABA4-2BEED40D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D14C9-FCCD-4498-9F31-405DCC0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프로모션·현금흐름·목표재고·MOQ는 자동값이 아니라 S&amp;OP 판단 조건입니다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33A32-C5E4-46D7-816F-8E2C18E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481185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A57A7-63E0-4AEF-AA36-0C50A47F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E600E-CE86-4E68-8282-E57AB64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재고 전망과 발주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731F-A34E-4766-98E5-03AB83B1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롤링 시트의 실적·재고·입고계획을 연결해 쇼트 시점과 발주 필요량을 확인했습니다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23AD-567B-4D37-AF05-BB3D2A03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FA612-DE90-4528-A950-9BE91120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38250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재구성 화면 · 상품명·수량 익명화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122C2-D310-400E-9393-9EACDF50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담당자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F70E-6E2A-462B-A63A-892AE7A9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차이를 수량으로 보여줘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68742-6027-4BF3-AA19-27E0155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6116D-81ED-473E-8DD4-41A95676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운영 계산 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89CCA-7A1A-4287-A5A1-13806EEC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최근 최대 12주 출고 평균과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34D82-5AE9-4D7D-938C-4583EBF8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16D7A-5319-4E55-9394-FAB592F8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8849-B529-4A3F-837C-380D95E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a8c0ceb094926"/>
          <a:stretch xmlns:a="http://schemas.openxmlformats.org/drawingml/2006/main"/>
        </p:blipFill>
        <p:spPr>
          <a:xfrm xmlns:a="http://schemas.openxmlformats.org/drawingml/2006/main">
            <a:off x="5219214" y="1504950"/>
            <a:ext cx="493492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F0FF7-FCC7-43F3-81D6-3C3A579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791BC-D5DE-4E96-AB55-7E9F418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최신 재고 + 도착월 입고계획 + 실무자 가중치 → 24주 예상재고·재고주수·포장입수 단위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7EA22-58C1-478D-9C11-B56EF23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860244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89905-7DDF-4876-8301-374BFDB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122DF-5726-4388-9287-39CD1C1B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재고 쇼트 위험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F051-CBA0-451C-BDBF-2311364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전년도 12개월 데이터로 과거 재고 흐름을 다시 계산해 위험 SKU 4개를 식별했습니다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07D38-97DE-442F-B4C7-13BAA45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EBAA2-63C5-48C9-BB2D-5BDA164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FD639-A540-4F23-885E-46A7A04B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893D3-6E66-48E4-A769-AFA0600C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12개월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213E4-157E-42D9-98FA-2341821F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FC803-A6C3-4C37-8FA6-DEDE0E3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전년도 판매·출고·재고와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당시 입고계획을 재입력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997FF-1273-46A8-9846-081D8EBF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3C045-365C-41AF-A577-B2E74EC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AFCC7-57C8-4086-8CAD-051C9D23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롤포워드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36EEF-6234-4A15-988F-CB6843D3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C60D8-FAB3-4495-B2F2-E078BF4F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운영 계산 로직으로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 예상재고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81234-F502-4058-B804-A987BBB5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BF947-667B-4C3E-8251-EE7CE118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C8834-F0E9-4C54-B21C-8E49388D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위험 4개 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2F63A-27AE-4A70-A74B-5C7CA2D3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6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1673A-3841-4EA9-9E70-50BDE4B1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2026년 5~6월 쇼트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예상 구간을 경고로 식별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C9FB2-24A1-4BD4-A6B0-507BA81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999E4-1EDA-4044-B424-A128911E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E3CC9-6FEC-490A-8F96-435573F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검토 항목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F3163-DF58-4A3C-917A-C272E782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5F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F174C-FB54-4260-85E6-7B20B6E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발주안·판매 제한·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채널 배분 재검토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30BFB-EA74-4E0B-91D6-BD81DF0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22665-CCA8-421E-94CA-487A388E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검증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9C9F1-60C2-43A2-82DF-3723E3C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과거에 늦게 인지했던 위험 구간이 동일하게 나타나는지 확인해 계산 로직과 경고 구조를 검증했습니다.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0A2F0-3870-4462-B80E-1C8AE7A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공급 예외 운영: 생산중단·입고지연 · 유통기한·파손 · 풀필먼트 사입·이관 · 105,000캔 리콜 대응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7E5CA-7049-4626-AA1E-10876CB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2BB1A-144F-49FB-BB5B-95E61CD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재고 소진 시점의 재현 검증이며 WMAPE·Bias 개선 또는 실제 결품 예방 성과로 표현하지 않습니다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2B197-50AC-4018-8627-BADC7AB2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478016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6C32A8-2524-4D71-A1AF-199BEE5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0CF5C-6C87-4D76-9ABB-ECF023DD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현업 이관과 월별 운영 정착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B68D0-E022-467C-B957-C5BD7CC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2026년 4월 배포 후 기존 Excel과 약 2개월 병행 검증하고 6월 발주 검토 기준을 전환했습니다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45C6-A070-4A2C-90F1-66511D7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2346A-8495-4F78-8809-F7A145C2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CA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9CD2A-C8A2-42C3-B45B-DAA7FBB4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D46FB-9C08-41F0-BB18-7C4C7ADD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52F16-3BD7-4AC7-9910-46BE7066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34개 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0F55E-0B57-48BD-A7D6-ED55D1E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취합·양식 작업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BC8C6-F4BC-41AC-9B96-13B61DA8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AB8AE-EEA3-4B8C-90F7-E3F9BAD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2BBCB-E42E-452E-93CB-BF67142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시범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E2904-2C5A-4662-A141-0A30FB04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40개 SKU 구조와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24주 계산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42F3D-425B-4193-B9ED-4DF26458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E79AE-FFB2-4241-B868-23D01FA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약 2개월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9211B-0F0E-4F1F-8007-11E35D3A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병행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84505-B743-4BB4-89F3-34831C91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기존 Excel과 값 대조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화면·산식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DC901-F6F2-42BF-9CBA-30AD1B1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98DE9-1C55-4860-8E61-102F4FD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2026.06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E7560-39A7-410D-A7D3-A626560A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이관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D13BE-CF1D-4CCD-9599-A2892C90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월간 발주 검토 기준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매월 롤링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732F3-2963-400D-B7AE-57927241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57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3F056-7884-48C5-B615-CEAFE716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운영 성과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A57F6-AE17-4E24-9294-C9BA764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 8~9시간 업무 대시보드 전환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71B5E-1AD3-4129-9E32-B525425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3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위험 4개 SKU 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A3590-7965-4BB4-BFE6-26F625F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4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 계산 기준과 데이터 구조를 직접 정의하고 생성형 AI 코딩 도구로 구현했으며, 기존 Excel의 실제 수치로 검증했습니다.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5B8F3-2DF7-4A1A-B62B-F6F94E9E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21469-2809-47C5-9129-EB6BDFD6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배포일과 업무 전환일을 분리하고, 병행 검증 후 월별 운영 기준으로 전환했습니다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ACE98-C099-4BA1-8990-25339F5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885601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0BAF6-5000-4DCB-B07F-2CCDC26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88F47-8077-40B1-8B91-7FE4BA5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 수요예측 업무에 적용할 운영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8EB42-928D-4B81-A74B-FF5CA31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수요·공급 판단을 실제 발주와 재고 조치까지 연결하겠습니다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217B7-6730-46DD-808B-BD26827E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A25C2-53BF-4A05-8813-728895E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이미 해온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04824-F785-4FF8-BA5D-6348F60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7F0EB-FF81-4F0E-9B39-22DDB86E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판매·출고·재고·입고예정의 기준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2EC31-B680-407A-B6C0-4A538EAF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전망과 장기 리드타임을 월간 발주안으로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E0D39-B33B-46FC-B037-FF94218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프로모션·가격 변화에 따른 결품 위험과 채널 재고 실행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E34A2-183F-49B0-9BF1-3ABCD73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수량·수입 서류·입고·채널 배분까지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D098-47A4-4B31-83BC-0BB7BDC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입사 후 계측·보완할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1422D-1E69-4A04-9F29-0AB724CE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E2361-4F64-4253-B1CB-C73AE21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신제품·브랜드·채널별 수요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9E207-5D5F-425F-8FE2-666898E0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예측 오차와 Bias, 결품·과재고 결과를 SKU와 채널별로 계측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C2674-8568-42C6-AE60-6E7EF757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 증가분과 기본 수요를 분리해 발주 판단의 근거를 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A9119-D51E-4627-A819-7CC062A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화장품 운영 특성과 더존 ERP를 익히고 반복 취합·검증을 단계적으로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295C2-A591-4774-9FFF-6ABFBAA1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346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7CB6E-5371-44D8-8C92-F66A3E61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운영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718F6-D8F4-4BE9-9467-0F676DA6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38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반복 계산은 시스템으로 표준화하되 최종 발주안은 세일즈 전망과 공급 제약을 함께 검토해 확정합니다.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7E354-B736-4933-976F-060C586B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B2309-D3EA-4EFE-9E54-CAF18B11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한계는 숨기지 않고, 입사 후 SKU·채널별 예측오차와 Bias부터 기준선을 만들겠습니다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988B3-BFD7-4D1C-AE86-51E38249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354588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2026-09-06T14:16:18.8870000Z</dcterms:created>
  <dcterms:modified xsi:type="dcterms:W3CDTF">2026-09-06T14:16:18.8870000Z</dcterms:modified>
</coreProperties>
</file>