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2ef6cd4c814f9e" /><Relationship Type="http://schemas.openxmlformats.org/officeDocument/2006/relationships/extended-properties" Target="/docProps/app.xml" Id="Re0bdf778e3284971" /><Relationship Type="http://schemas.openxmlformats.org/officeDocument/2006/relationships/officeDocument" Target="/ppt/presentation.xml" Id="Re312e555078e4e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5bd0769c940d8"/>
  </p:sldMasterIdLst>
  <p:notesMasterIdLst>
    <p:notesMasterId xmlns:r="http://schemas.openxmlformats.org/officeDocument/2006/relationships" r:id="Raac7738cf5094565"/>
  </p:notesMasterIdLst>
  <p:sldIdLst>
    <p:sldId xmlns:r="http://schemas.openxmlformats.org/officeDocument/2006/relationships" id="256" r:id="R437ed878e11d4184"/>
    <p:sldId xmlns:r="http://schemas.openxmlformats.org/officeDocument/2006/relationships" id="257" r:id="Rd2cbdc13e8044e00"/>
    <p:sldId xmlns:r="http://schemas.openxmlformats.org/officeDocument/2006/relationships" id="258" r:id="Rfab5481c8f6249fa"/>
    <p:sldId xmlns:r="http://schemas.openxmlformats.org/officeDocument/2006/relationships" id="259" r:id="R8f8f1824fbd44041"/>
    <p:sldId xmlns:r="http://schemas.openxmlformats.org/officeDocument/2006/relationships" id="260" r:id="Rcbd20df388e24259"/>
    <p:sldId xmlns:r="http://schemas.openxmlformats.org/officeDocument/2006/relationships" id="261" r:id="Rd01d43f7f5dd4877"/>
    <p:sldId xmlns:r="http://schemas.openxmlformats.org/officeDocument/2006/relationships" id="262" r:id="Raa6287f493354b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0da696d3741c9" /><Relationship Type="http://schemas.openxmlformats.org/officeDocument/2006/relationships/slideMaster" Target="/ppt/slideMasters/slideMaster1.xml" Id="Rb2c5bd0769c940d8" /><Relationship Type="http://schemas.openxmlformats.org/officeDocument/2006/relationships/notesMaster" Target="/ppt/notesMasters/notesMaster1.xml" Id="Raac7738cf5094565" /><Relationship Type="http://schemas.openxmlformats.org/officeDocument/2006/relationships/presProps" Target="/ppt/presProps.xml" Id="R31f386e3b1d346ab" /><Relationship Type="http://schemas.openxmlformats.org/officeDocument/2006/relationships/tableStyles" Target="/ppt/tableStyles.xml" Id="Rebe1a51bb6a64b70" /><Relationship Type="http://schemas.openxmlformats.org/officeDocument/2006/relationships/slide" Target="/ppt/slides/slide1.xml" Id="R437ed878e11d4184" /><Relationship Type="http://schemas.openxmlformats.org/officeDocument/2006/relationships/slide" Target="/ppt/slides/slide2.xml" Id="Rd2cbdc13e8044e00" /><Relationship Type="http://schemas.openxmlformats.org/officeDocument/2006/relationships/slide" Target="/ppt/slides/slide3.xml" Id="Rfab5481c8f6249fa" /><Relationship Type="http://schemas.openxmlformats.org/officeDocument/2006/relationships/slide" Target="/ppt/slides/slide4.xml" Id="R8f8f1824fbd44041" /><Relationship Type="http://schemas.openxmlformats.org/officeDocument/2006/relationships/slide" Target="/ppt/slides/slide5.xml" Id="Rcbd20df388e24259" /><Relationship Type="http://schemas.openxmlformats.org/officeDocument/2006/relationships/slide" Target="/ppt/slides/slide6.xml" Id="Rd01d43f7f5dd4877" /><Relationship Type="http://schemas.openxmlformats.org/officeDocument/2006/relationships/slide" Target="/ppt/slides/slide7.xml" Id="Raa6287f49335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ed7b13999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691edf5afe4a5c" /><Relationship Type="http://schemas.openxmlformats.org/officeDocument/2006/relationships/notesMaster" Target="/ppt/notesMasters/notesMaster1.xml" Id="Rcc984e6f5b09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e256a2fa7c4010" /><Relationship Type="http://schemas.openxmlformats.org/officeDocument/2006/relationships/notesMaster" Target="/ppt/notesMasters/notesMaster1.xml" Id="R6ea3097275b742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5bc9a475f24f1a" /><Relationship Type="http://schemas.openxmlformats.org/officeDocument/2006/relationships/notesMaster" Target="/ppt/notesMasters/notesMaster1.xml" Id="Rd853775d741c48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db3b83d9074a02" /><Relationship Type="http://schemas.openxmlformats.org/officeDocument/2006/relationships/notesMaster" Target="/ppt/notesMasters/notesMaster1.xml" Id="Rac169cf1312d49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6fde30fba44ab9" /><Relationship Type="http://schemas.openxmlformats.org/officeDocument/2006/relationships/notesMaster" Target="/ppt/notesMasters/notesMaster1.xml" Id="R90a9203b12a444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1efba4ae4e4cbb" /><Relationship Type="http://schemas.openxmlformats.org/officeDocument/2006/relationships/notesMaster" Target="/ppt/notesMasters/notesMaster1.xml" Id="R8ffbd0a534ab43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f304858594eea" /><Relationship Type="http://schemas.openxmlformats.org/officeDocument/2006/relationships/notesMaster" Target="/ppt/notesMasters/notesMaster1.xml" Id="R7d86f72dc4df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400억원은 2025년 소비자 매출 기준 담당 사업 규모입니다. 실제 발주금액과 SKU별 수량·단가는 제외했습니다.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직구·내수 구조, 업무표의 재고·통관·이관·출고·정산 기록. 거래처와 창고명은 영업비밀 보호를 위해 일반화했습니다.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월간 S&amp;OP 운영과 업무표의 가격 인상·행사 쇼트 시뮬레이션, 채널 사입 허용량, 수요회의 기록. 프로모션·현금흐름·공급사 MOQ는 자동 계산이 아니라 회의 판단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SCM-Dashboard app/core/forecasting.py 및 inventory 라우터. 현재 공개 화면은 4개 샘플 SKU이며 40개 SKU는 사용자 확인 실무 범위입니다.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전년도 12개월 검증, 2026년 5~6월 위험 구간, 4개 SKU는 사용자 확인 사실입니다. 실제 SKU명과 수량은 비공개이며 공개 화면의 4개 샘플과 연결하지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2026년 4월 배포와 병행 기간은 사용자 확인 사실입니다. 코드 저장소 이력은 2026년 6월 이후 개선 기록으로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비나우 JD의 기준 데이터, S&amp;OP, 프로모션 반영 발주, 결품·과재고 관리에 맞춘 지원 방향입니다. 화장품과 더존 ERP 경험은 없으며 이를 숨기지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65b8c64c842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1f3cc67bdd4ea6" /><Relationship Type="http://schemas.openxmlformats.org/officeDocument/2006/relationships/slideLayout" Target="/ppt/slideLayouts/slideLayout1.xml" Id="Rb9e8ce17bb224f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e8ce17bb224f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41a7fcd6a4398" /><Relationship Type="http://schemas.openxmlformats.org/officeDocument/2006/relationships/notesSlide" Target="/ppt/notesSlides/notesSlide1.xml" Id="R7c04e4af37b746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05efd728b4103" /><Relationship Type="http://schemas.openxmlformats.org/officeDocument/2006/relationships/notesSlide" Target="/ppt/notesSlides/notesSlide2.xml" Id="R5984c883ce6149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0e0a9f334610" /><Relationship Type="http://schemas.openxmlformats.org/officeDocument/2006/relationships/notesSlide" Target="/ppt/notesSlides/notesSlide3.xml" Id="R02498cf4905f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ac41107284408" /><Relationship Type="http://schemas.openxmlformats.org/officeDocument/2006/relationships/image" Target="/ppt/media/image.png" Id="R1d0d0146906142b3" /><Relationship Type="http://schemas.openxmlformats.org/officeDocument/2006/relationships/notesSlide" Target="/ppt/notesSlides/notesSlide4.xml" Id="Raf0aeddc8f9340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59263ead8408b" /><Relationship Type="http://schemas.openxmlformats.org/officeDocument/2006/relationships/notesSlide" Target="/ppt/notesSlides/notesSlide5.xml" Id="R2353dbbec71e48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200fd040843df" /><Relationship Type="http://schemas.openxmlformats.org/officeDocument/2006/relationships/notesSlide" Target="/ppt/notesSlides/notesSlide6.xml" Id="Rba41dfdd90434d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a6eb51d4742a5" /><Relationship Type="http://schemas.openxmlformats.org/officeDocument/2006/relationships/notesSlide" Target="/ppt/notesSlides/notesSlide7.xml" Id="Rc8e5ad3b0b1845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34212-46C0-434D-96F0-C4D69470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C7907-1BE3-48BB-8344-1AB4B17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수요예측·재고·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133A4-7D3A-458E-82F2-BC0433EC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직구·내수 40개 SKU의 월별 계획을</a:t>
            </a:r>
          </a:p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발주·수입·채널 실행으로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EE0FB-4B1A-4958-BE8A-812B9429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51B96-CEED-4C2C-BB23-5CBEA177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E4F29-EB00-4529-9476-2927274F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약 400억원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C9D1B-0DEF-4FC2-9292-02929F92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2025년 소비자 매출 기준 사업 규모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24318-AB85-43D6-91AD-9A57134F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C04DD-676C-49D6-980A-5400E3E9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64724-0EA7-4AA2-9C7A-762603A7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수요·재고 판단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D1306-6385-4439-8161-1011CCA7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8D5A8-299C-4382-8ABC-C578EF7B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50054-2DF6-490F-8846-3C7DBF6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현재고와 도착월 입고계획을 연결한 전망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B8C2C-67F6-4BD1-B32D-A299B15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67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영업비밀·식별정보를 일반화한 제출본</a:t>
            </a:r>
          </a:p>
        </p:txBody>
      </p:sp>
    </p:spTree>
    <p:extLst>
      <p:ext uri="{BB962C8B-B14F-4D97-AF65-F5344CB8AC3E}">
        <p14:creationId xmlns:p14="http://schemas.microsoft.com/office/powerpoint/2010/main" val="2014481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E778E-9077-4DB4-9DE7-2B9707DD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D6FD7-DE3C-43BF-B96F-5061DD36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직구·내수 이중 공급망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81B8E-AD18-4117-A23F-64D4328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수요·발주 검토부터 수입통관, 다거점 재고 배분, 배송 예외까지 운영했습니다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44776-99D3-4CC1-B4B1-005A696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7AF68-3544-4F3A-BF6A-C0CAFF3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직구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D8B78-8AD9-4DF7-91CD-3627A7AE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중국 전진창고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EE8E5-6DBA-4DCD-BA3E-EE354EC7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D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B9149-546C-41D0-A9F2-988AC732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14A15-28B8-4326-B74E-E96903B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주문·수요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71B38-2914-40F6-AD70-F67DE5E4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자사몰 주문과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 흐름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3775-A682-413F-9952-C5298EE4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E38E6-BFAE-4C31-BF63-C5672C18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전진창고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C5623-A0D5-4C54-AB9D-3E269925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재고·유통기한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포장 단위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995E1-0126-4C23-9F25-0969D41F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367C0-B767-44A5-8D8F-EED5C83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통관 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EC973-BAAD-4A9F-A021-0C1D529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본인확인·거래정보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오류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1F391-9D22-4C4D-9FA7-5BE877D8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36172-D4D0-4703-95B0-C8A705D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배송·CS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A8EC1-8FEC-4EA2-89F1-808E207D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출고 통제와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배송 예외 해결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CC1A1-D100-4ACA-98DE-C0A75A54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내수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6CA59-D60D-4168-9173-F9C57283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국내 직수입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ECF28-1626-448B-B413-B94F4C6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3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78F33-0CE9-421D-9294-0B1C5481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6A0A9-1959-4EB9-8617-7D008EC1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수량 산출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FCA16-643E-463C-B310-E19A178D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전망·현재고·입고예정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장기 리드타임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B7BF6-E6A2-4628-AECF-4FD7155E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BC058-79FA-4621-982E-11342883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협의·승인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4FE32-983A-4927-A3ED-85713955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SCM·세일즈 리더 협의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10D39-2542-4D86-98B8-BD2368A3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4DEC75-99D5-41A9-B246-68CFCC11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선적·수입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06C17-9EB4-456E-99C4-6DECB898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식약처·통관 대응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99B075-4D7A-4DB6-8E13-F2C36ECF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111A7-08F6-4E32-B620-1469F647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입고·배분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4E8DC-D8F7-45C2-AF7E-DF132DB5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풀필먼트·오프라인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입고·이관·정산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0454BB-E8E4-4482-BC2E-ED000763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572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D429F7-CBD1-4E72-8D39-FC5DD282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공통 제약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81BF08-20B5-4BB4-BF2D-F0BE226E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6개월 이상 리드타임 · 유통기한 · MOQ · 수입자·규제 · 여러 창고의 재고 수불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73F822-517D-4C15-A524-9E4DF6A6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58518C-D7E1-418E-94CA-01D09BBC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3DDDA4-5BA0-41FA-BB08-3D563F5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747368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C8A8E-9661-43C5-BFE5-CB2FF224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8E3FD-1364-42CB-8E36-09990818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월별 롤링 S&amp;OP와 발주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FBB0D-D183-49DC-9A35-A1ED922D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판매 전망·현재고·입고예정을 갱신해 발주안을 만들고 승인 후 공급사·수입 실행까지 관리했습니다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5A7BB-B66E-4809-BA21-4877419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3B277-090F-47DA-B3B1-7E28B47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기준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614AB-3118-485E-A28F-F6C1D4B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현재고·유통기한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입고예정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42E7A-D623-450A-9E43-7DFA9B8D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62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F56C6-70FE-466B-9EE6-B89A8B28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04950"/>
            <a:ext cx="4572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4EBA0-E0E7-4DC8-BF08-9AB254B7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발주안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0A5FE-FAB7-4087-B472-7E846160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03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AD7DF-1978-44BC-BF1D-9A768822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55F11-7578-456D-8A71-3ADA9487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3개월 수준 목표재고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1F682-1C29-4FEB-8855-6077B100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9D5D5-1235-4037-A13B-77D0A0C8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프로모션·가격 변동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42240-A226-4F61-AAAB-5441B351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승인 후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04A57-8AF4-4B78-9D77-239E5992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수입·식약처·통관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입고·채널 배분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04D3D-FF26-4E0B-8078-7B7B0848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4CDC2-C268-47DE-9782-05709861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7EE28-BDAB-44D0-A44A-2F2FBF84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SKU별 수량 산출·발주 수량 작성 → SCM·세일즈 팀장 협의·승인 절차 → 공급사 전달 → 수입 서류·입고 수량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EC750-1B8D-4F0A-94D5-60C7F35F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CF80E-F6F1-4E41-BC03-B9AE82BA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프로모션·현금흐름·목표재고·MOQ는 자동값이 아니라 S&amp;OP 판단 조건입니다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B4A8D-66C8-4A25-B760-D03F8EA7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8370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B5527-F3BC-4F76-B5D0-A9575616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22814-A7B8-42C5-B152-C7B1451B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재고 전망과 발주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1BC19-6C58-4143-8930-5A94415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롤링 시트의 실적·재고·입고계획을 연결해 쇼트 시점과 발주 필요량을 확인했습니다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E8F51-9C44-4DE8-A97D-201469D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55EE8-6B62-4088-903B-A56AF0C2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38250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재구성 화면 · 상품명·수량 익명화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C4347-704C-456B-B393-933C24BD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담당자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E1907-0A8F-499C-8AFB-FAFCED0F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차이를 수량으로 보여줘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6B526-35DA-4473-9463-6FFE6E25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DF079-DCBC-4AE7-BE8A-F4B637D2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운영 계산 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B270B-4CAC-478F-A1D9-FB86A9CE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최근 최대 12주 출고 평균과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 차이 버퍼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51FAC-37C9-4F9C-9A08-B0E6FB7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954C9-D0FF-4C93-8ECB-2DF2257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AFD96-AB75-4C21-AAF1-FC9FB411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0146906142b3"/>
          <a:stretch xmlns:a="http://schemas.openxmlformats.org/drawingml/2006/main"/>
        </p:blipFill>
        <p:spPr>
          <a:xfrm xmlns:a="http://schemas.openxmlformats.org/drawingml/2006/main">
            <a:off x="5219214" y="1504950"/>
            <a:ext cx="493492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185AA-2170-4E3E-B3E9-0CFDE19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7AADB-C0B8-416E-AE7B-E0913F8D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최신 재고 + 도착월 입고계획 + 실무자 가중치 → 24주 예상재고·재고주수·포장입수 단위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CCD9D-CC89-4F7A-923E-FD30F31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691973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5BA0B-9E37-49BD-8F5A-E75F531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50970-EB43-4393-A2FC-EBC41AE2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재고 쇼트 위험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35D27-9530-40EF-8A69-0842DFB6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전년도 12개월 데이터로 과거 재고 흐름을 다시 계산해 위험 SKU 4개를 식별했습니다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7BECF-FE5D-49A8-AFE6-85237C1C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B828C-F22F-4A69-A3A8-62D2A3E1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C2A47-A15F-4333-A63F-5B9E234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BAD40-C0A1-4E9C-8C4B-F7AA5796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12개월 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E5AED-5D88-4337-A3DB-5057F00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CAD2C-4290-48D3-B765-8BBBC9E9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전년도 판매·출고·재고와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당시 입고계획을 재입력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7DAA6-38FD-40F6-B6BF-FA6D689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5E200-B8A9-440C-A15F-5071E60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570C3-9CF2-4320-A520-734BBD2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롤포워드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94C53-72E2-414E-ABE4-7FB5B36A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40B1E-97FD-42FD-8753-EF4E2505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운영 계산 로직으로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 예상재고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E562A-EC23-42D5-AF4D-AD42A22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EADA8-AD5D-43FB-B365-09342668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4A514-51D6-45A3-9987-D4D6D4B6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위험 4개 SKU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C6A34-FBD4-455B-9EAC-82B7E1D7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6A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DC0D0-DD9F-4E54-B409-2812B45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2026년 5~6월 쇼트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예상 구간을 경고로 식별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62E8A-E8EB-4537-81CB-2D927B7C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AAA33-75B4-420B-A850-69887C64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9D3F8-D4E1-4DB7-A88D-417ED9AE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S&amp;OP 조치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8899D-2B64-4F3C-BE7A-0E5B1AA7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5F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D6EFD-07BB-460A-8A9B-469DB72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발주안·판매 제한·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채널 배분 재검토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B42C3-15D1-4BAB-AC44-A44CFAFD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129D5B-F964-4913-A0C7-2193CA70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검증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2AA3D-7909-42C0-9556-B3149B8B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과거에 늦게 인지했던 위험 구간이 동일하게 나타나는지 확인해 계산 로직과 경고 구조를 검증했습니다.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C9AAD-E81B-4C24-A811-5BD72552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공급 예외 운영: 생산중단·입고지연 · 유통기한·파손 · 풀필먼트 사입·이관 · 105,000캔 리콜 대응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872CD-3242-42F8-9250-6B7C161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A3E9E-E287-4989-AE11-513BA620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재고 소진 시점의 재현 검증이며 WMAPE·Bias 개선 또는 실제 결품 예방 성과로 표현하지 않습니다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EEC50-7A34-406D-BDFD-FF134F93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26689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FF5DD-DA78-4268-9DA8-604CEABE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C3D3C-6470-47B0-A92E-5CADDB8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현업 이관과 월별 운영 정착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25BF2-5EF5-4B82-8C64-8A300716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2026년 4월 배포 후 기존 Excel과 약 2개월 병행 검증하고 6월 발주 검토 기준을 전환했습니다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962B4-09C5-4DD9-8C8E-AC2D75AC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4B77F-4C51-4839-AFAE-CA5E3F17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CA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4F583-C8C2-4B9F-A00D-7427FC0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37E7A-4D2E-4691-BBBB-6EFF2220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77D28-E304-444C-A305-CD570FEB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34개 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503A2-CD56-4784-9542-269968EB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취합·양식 작업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40C0E-691E-409A-B289-6D76F6A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AAA81-A7C4-4ACE-8D27-F58A135E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2026.04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804E3-F7BE-4D6E-970B-ECCE1021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시범 배포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89628-0F4C-4EB0-AEB6-0BCBE71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40개 SKU 구조와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24주 계산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D1DD-23A6-4DDF-8794-B3D4C794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4FDF1-6601-4A94-9618-C9879E6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약 2개월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EDD99-B79E-409A-BCEB-5C03EA99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병행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03A29-A26F-4FA6-892A-1515067F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기존 Excel과 값 대조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화면·산식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A85BA-4259-46E3-B3A1-A66234B5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B5368-2B10-4637-97FB-265E6C1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2026.06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3D8B3-C024-4707-94AB-CC7993E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완전 이관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0EF63-2AC1-43A6-AF74-15D8AB8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월간 발주 검토 기준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매월 롤링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74519-7C09-48EA-8B13-817D8041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57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FB128-5407-4D7A-8CCD-AFAE12C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운영 성과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2C7B9-0157-4449-9032-71E33410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 8~9시간 소요 업무 자동화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67235-E545-404B-9563-DD9B15FF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33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위험 4개 SKU 재현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FC844-269D-47C5-8085-C335ECEF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4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 계산 기준과 데이터 구조를 직접 정의하고 생성형 AI 코딩 도구로 구현했으며, 기존 Excel의 실제 수치로 검증했습니다.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5AE38-7C73-464D-BD92-CAE1D397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03FAD-6785-4D9A-BA8E-3FEC11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배포일과 업무 전환일을 분리하고, 병행 검증 후 월별 운영 기준으로 전환했습니다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C7C915-89A2-41E6-A927-72BDDDFD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939045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E0FB1-F38D-4803-B00B-CF429DCD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DC57D-033F-4A63-B5D0-0AB4B22F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비나우 수요예측 업무에 적용할 운영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A8F12-364E-4540-8C65-16A49B52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수요·공급 판단을 실제 발주와 재고 조치까지 연결하겠습니다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07723-E9A6-46C1-A716-A34967BC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B779E-99ED-49F2-B155-5D7221EA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이미 해온 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B3838-F6D2-4647-BA16-524538D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47994-6DEE-4416-B34C-5B04D1B6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판매·출고·재고·입고예정의 기준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C35B3-A4F3-404F-9ADA-B57329B2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전망과 장기 리드타임을 월간 발주안으로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38E67-B9C4-4166-8C9E-E1C4D1EB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프로모션·가격 변화에 따른 결품 위험과 채널 재고 실행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FE066-C8C1-4DFD-92AF-81AE0630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수량·수입 서류·입고·채널 배분까지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2FD96-1544-4B0D-9EE1-BF5731E5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입사 후 계측·보완할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18567-9B71-4887-8736-090BA799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EB57D-B5BD-4C6A-8A0A-B95AF0DD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신제품·브랜드·채널별 수요 패턴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2EDE8-1628-4121-BCB2-AF54FA29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예측 오차와 Bias, 결품·과재고 결과를 SKU와 채널별로 계측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9A668-6092-4DC6-BF47-A15A3B4C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 증가분과 기본 수요를 분리해 발주 판단의 근거를 축적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841EE-CD6C-47A2-A603-44815CD0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화장품 운영 특성과 더존 ERP를 익히고 반복 취합·검증을 단계적으로 자동화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C3D5B-1368-4EAC-9918-94E0D077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346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DB4AF-BA4C-475A-89C9-40FBE70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운영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99102-A5F9-41D7-B73D-91722C69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38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반복 계산은 시스템으로 표준화하되 최종 발주안은 세일즈 전망과 공급 제약을 함께 검토해 확정합니다.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A0D5D-DB6D-4BED-9FC8-1817644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041C7-F431-4B7F-9047-E7F4F155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한계는 숨기지 않고, 입사 후 SKU·채널별 예측오차와 Bias부터 기준선을 만들겠습니다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FFE46-89E0-4AD5-A7D6-C52E49E0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71085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2026-09-06T14:04:51.7090000Z</dcterms:created>
  <dcterms:modified xsi:type="dcterms:W3CDTF">2026-09-06T14:04:51.7090000Z</dcterms:modified>
</coreProperties>
</file>