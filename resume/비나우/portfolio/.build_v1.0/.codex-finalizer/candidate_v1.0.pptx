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10d9a6f2464519" /><Relationship Type="http://schemas.openxmlformats.org/officeDocument/2006/relationships/extended-properties" Target="/docProps/app.xml" Id="R9cb3738e38384de0" /><Relationship Type="http://schemas.openxmlformats.org/officeDocument/2006/relationships/officeDocument" Target="/ppt/presentation.xml" Id="R69ba6823efe44f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788c072ab74961"/>
  </p:sldMasterIdLst>
  <p:notesMasterIdLst>
    <p:notesMasterId xmlns:r="http://schemas.openxmlformats.org/officeDocument/2006/relationships" r:id="Rce8775a6d8f54dfd"/>
  </p:notesMasterIdLst>
  <p:sldIdLst>
    <p:sldId xmlns:r="http://schemas.openxmlformats.org/officeDocument/2006/relationships" id="256" r:id="R5377440883c0461f"/>
    <p:sldId xmlns:r="http://schemas.openxmlformats.org/officeDocument/2006/relationships" id="257" r:id="Rfe208ffeeb754f10"/>
    <p:sldId xmlns:r="http://schemas.openxmlformats.org/officeDocument/2006/relationships" id="258" r:id="R449ced6c5c764e69"/>
    <p:sldId xmlns:r="http://schemas.openxmlformats.org/officeDocument/2006/relationships" id="259" r:id="R87c7de6f2167405c"/>
    <p:sldId xmlns:r="http://schemas.openxmlformats.org/officeDocument/2006/relationships" id="260" r:id="R1d513c1f2db94075"/>
    <p:sldId xmlns:r="http://schemas.openxmlformats.org/officeDocument/2006/relationships" id="261" r:id="R7f2c05d5c3654906"/>
    <p:sldId xmlns:r="http://schemas.openxmlformats.org/officeDocument/2006/relationships" id="262" r:id="R71c9e80e1a8b49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b3c2019b5b4466" /><Relationship Type="http://schemas.openxmlformats.org/officeDocument/2006/relationships/slideMaster" Target="/ppt/slideMasters/slideMaster1.xml" Id="Rf3788c072ab74961" /><Relationship Type="http://schemas.openxmlformats.org/officeDocument/2006/relationships/notesMaster" Target="/ppt/notesMasters/notesMaster1.xml" Id="Rce8775a6d8f54dfd" /><Relationship Type="http://schemas.openxmlformats.org/officeDocument/2006/relationships/presProps" Target="/ppt/presProps.xml" Id="Rba11c6b7f4ef49f9" /><Relationship Type="http://schemas.openxmlformats.org/officeDocument/2006/relationships/tableStyles" Target="/ppt/tableStyles.xml" Id="R260166bf0bd84811" /><Relationship Type="http://schemas.openxmlformats.org/officeDocument/2006/relationships/slide" Target="/ppt/slides/slide1.xml" Id="R5377440883c0461f" /><Relationship Type="http://schemas.openxmlformats.org/officeDocument/2006/relationships/slide" Target="/ppt/slides/slide2.xml" Id="Rfe208ffeeb754f10" /><Relationship Type="http://schemas.openxmlformats.org/officeDocument/2006/relationships/slide" Target="/ppt/slides/slide3.xml" Id="R449ced6c5c764e69" /><Relationship Type="http://schemas.openxmlformats.org/officeDocument/2006/relationships/slide" Target="/ppt/slides/slide4.xml" Id="R87c7de6f2167405c" /><Relationship Type="http://schemas.openxmlformats.org/officeDocument/2006/relationships/slide" Target="/ppt/slides/slide5.xml" Id="R1d513c1f2db94075" /><Relationship Type="http://schemas.openxmlformats.org/officeDocument/2006/relationships/slide" Target="/ppt/slides/slide6.xml" Id="R7f2c05d5c3654906" /><Relationship Type="http://schemas.openxmlformats.org/officeDocument/2006/relationships/slide" Target="/ppt/slides/slide7.xml" Id="R71c9e80e1a8b49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d2de0dfbf742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ccb0466f084084" /><Relationship Type="http://schemas.openxmlformats.org/officeDocument/2006/relationships/notesMaster" Target="/ppt/notesMasters/notesMaster1.xml" Id="R84859d5b1cc84a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853dc935c54be4" /><Relationship Type="http://schemas.openxmlformats.org/officeDocument/2006/relationships/notesMaster" Target="/ppt/notesMasters/notesMaster1.xml" Id="R966a4c42f71747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46bf18a36544de" /><Relationship Type="http://schemas.openxmlformats.org/officeDocument/2006/relationships/notesMaster" Target="/ppt/notesMasters/notesMaster1.xml" Id="Rd1b1a455e5774b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ad506b035840ee" /><Relationship Type="http://schemas.openxmlformats.org/officeDocument/2006/relationships/notesMaster" Target="/ppt/notesMasters/notesMaster1.xml" Id="R957d489fa92a47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5a7982b3bd4f01" /><Relationship Type="http://schemas.openxmlformats.org/officeDocument/2006/relationships/notesMaster" Target="/ppt/notesMasters/notesMaster1.xml" Id="R5907d7fbc89648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867215204b4593" /><Relationship Type="http://schemas.openxmlformats.org/officeDocument/2006/relationships/notesMaster" Target="/ppt/notesMasters/notesMaster1.xml" Id="Rede8059735e64b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fdbd83d79c4abd" /><Relationship Type="http://schemas.openxmlformats.org/officeDocument/2006/relationships/notesMaster" Target="/ppt/notesMasters/notesMaster1.xml" Id="Ra178b6e3d8a74c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400억원은 2025년 소비자 매출 기준 담당 사업 규모입니다. 실제 발주금액과 SKU별 수량·단가는 제외했습니다.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직구·내수 구조, 업무표의 재고·통관·이관·출고·정산 기록. 거래처와 창고명은 영업비밀 보호를 위해 일반화했습니다.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월간 S&amp;OP 운영과 업무표의 가격 인상·행사 쇼트 시뮬레이션, 채널 사입 허용량, 수요회의 기록. 프로모션·현금흐름·공급사 MOQ는 자동 계산이 아니라 회의 판단 항목입니다.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SCM-Dashboard app/core/forecasting.py 및 inventory 라우터. 현재 공개 화면은 4개 샘플 SKU이며 40개 SKU는 사용자 확인 실무 범위입니다.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전년도 12개월 검증, 2026년 5~6월 위험 구간, 4개 SKU는 사용자 확인 사실입니다. 실제 SKU명과 수량은 비공개이며 공개 화면의 4개 샘플과 연결하지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2026년 4월 배포와 병행 기간은 사용자 확인 사실입니다. 코드 저장소 이력은 2026년 6월 이후 개선 기록으로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비나우 JD의 기준 데이터, S&amp;OP, 프로모션 반영 발주, 결품·과재고 관리에 맞춘 지원 방향입니다. 화장품과 더존 ERP 경험은 없으며 이를 숨기지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d73dd915754b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d8aa6a899d46a4" /><Relationship Type="http://schemas.openxmlformats.org/officeDocument/2006/relationships/slideLayout" Target="/ppt/slideLayouts/slideLayout1.xml" Id="Rbec7a1afef214a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c7a1afef214a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1414e7ead46bf" /><Relationship Type="http://schemas.openxmlformats.org/officeDocument/2006/relationships/notesSlide" Target="/ppt/notesSlides/notesSlide1.xml" Id="R13ad86b9006b41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8f0932a1e4e7c" /><Relationship Type="http://schemas.openxmlformats.org/officeDocument/2006/relationships/notesSlide" Target="/ppt/notesSlides/notesSlide2.xml" Id="R0b3d163b22e145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f5a1453e640c9" /><Relationship Type="http://schemas.openxmlformats.org/officeDocument/2006/relationships/notesSlide" Target="/ppt/notesSlides/notesSlide3.xml" Id="R4d61e140e3d24f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0481734574743" /><Relationship Type="http://schemas.openxmlformats.org/officeDocument/2006/relationships/image" Target="/ppt/media/image.png" Id="R1fd097678ef34003" /><Relationship Type="http://schemas.openxmlformats.org/officeDocument/2006/relationships/notesSlide" Target="/ppt/notesSlides/notesSlide4.xml" Id="R8028b6c0a1e4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591e18360453a" /><Relationship Type="http://schemas.openxmlformats.org/officeDocument/2006/relationships/notesSlide" Target="/ppt/notesSlides/notesSlide5.xml" Id="R16304c9b159c4e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f879ec1b74f40" /><Relationship Type="http://schemas.openxmlformats.org/officeDocument/2006/relationships/notesSlide" Target="/ppt/notesSlides/notesSlide6.xml" Id="R611efc00b4ed47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28f32fe504501" /><Relationship Type="http://schemas.openxmlformats.org/officeDocument/2006/relationships/notesSlide" Target="/ppt/notesSlides/notesSlide7.xml" Id="Rb018e135f8a245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9CE0C-3A10-4754-8C87-1445ACD5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B4363-0E75-4986-822C-9A9EE1DD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수요예측·재고·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76A886-42A5-4A8F-BCD8-C2DF85E8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직구·내수 40개 SKU의 월별 계획을</a:t>
            </a:r>
          </a:p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발주·수입·채널 실행으로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F978A7-56DE-4F22-A472-BB64535F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2AAC1-DA16-4E30-A1D5-B32E2437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비나우 구매 수요예측(S&amp;OP)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806E3-E9FB-4B18-8293-9073634CB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약 400억원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667CA-3582-4D27-B0B1-319F9197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2025년 소비자 매출 기준 사업 규모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D8DF8-EC57-4128-8A4A-9B7E8F8F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907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1BF733-8FFA-4938-BE78-A066F31F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40개 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BB10A-0D33-4019-9E14-EA7B2BD5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수요·재고 판단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3FD83-1BC3-476F-8CCA-12BD50C1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B47F00-1CB6-4D64-9AE0-0419415B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24주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798B9-BAAB-4ABD-8C6A-503F5212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현재고와 도착월 입고계획을 연결한 전망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54A5B-CC08-4C3D-B688-BC551314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67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영업비밀·식별정보를 일반화한 제출본</a:t>
            </a:r>
          </a:p>
        </p:txBody>
      </p:sp>
    </p:spTree>
    <p:extLst>
      <p:ext uri="{BB962C8B-B14F-4D97-AF65-F5344CB8AC3E}">
        <p14:creationId xmlns:p14="http://schemas.microsoft.com/office/powerpoint/2010/main" val="5069692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29CF73-AE67-4BE6-9D2B-7DA02EE8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A5937-F872-4DF7-98B6-503F9F42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직구·내수 이중 공급망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9C10C-74C1-4B88-A872-3BE611B9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수요·발주 검토부터 수입통관, 다거점 재고 배분, 배송 예외까지 운영했습니다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ED9AA-74A5-4E7B-9E08-DE8B06B7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7CC42-1647-4F77-83E5-36905A74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직구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2361D-D91A-40F0-B2DA-E6A05D04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6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중국 전진창고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150A0-8E45-4AA9-9CC2-69430125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D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E4C43-4A0A-42D4-981D-7EE0E6A7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799AF-90DC-43BF-B378-570D4C08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주문·수요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FC10A-B46F-456B-A656-798F9B16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자사몰 주문과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 흐름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4ADA6-518F-46CE-AB09-94303621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A44A2-DC46-4137-86B4-6B46BF76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전진창고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2CBCA8-2EB2-4686-A617-DC96ABC7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재고·유통기한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포장 단위 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D19EA-2122-4D56-A416-A5878E0A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AAE338-9A1C-4CFB-A637-38DB4690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통관 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D92BDE-9180-49CA-829F-DDCB3821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본인확인·거래정보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오류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F779D8-7992-491E-B11B-88DD9C36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0AACB-8E42-4EA3-A318-4057C4E1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배송·CS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09F92C-80B5-49C4-8FD5-5C435C86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출고 통제와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배송 예외 해결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F97D9D-3C42-49E6-A69D-CE2F03B8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내수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0FF2F2-C9CC-4B1E-81AF-8F464C5E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90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국내 직수입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CC7350-BB0A-423E-8C31-982DBEE4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D3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044B4-2599-40DD-9BF4-84CB3E99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8A57BC-8D0C-483B-B737-8A33748B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수량 산출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D5579-C5F4-4E5A-98CF-6785A242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전망·현재고·입고예정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장기 리드타임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AFF1D6-DE4E-4C98-95C2-F79B6B7F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7A31F8-DA09-4CF3-BCFA-DC734438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협의·승인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9F1B2-0E03-4F49-800E-8B38424A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SCM·세일즈 리더 협의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161D19-9B9B-417B-8062-23CF30FB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3F9873-3282-4AF1-98E7-85D869FD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선적·수입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95199C-512B-436E-B471-586770A7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식약처·통관 대응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914EF-BA6C-45F9-A7BC-075DF9E5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58B22C-3685-4ECE-90B5-442221FA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입고·배분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85D65E-9298-4D70-A672-EDD1208A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풀필먼트·오프라인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입고·이관·정산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5D92FE-8FBE-4490-B103-B8908C7B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572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D69152-2E9D-4F0A-BBB5-AF777C49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86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공통 제약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129838-7F6A-4513-8856-F6B18CE2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6개월 이상 리드타임 · 유통기한 · MOQ · 수입자·규제 · 여러 창고의 재고 수불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87829C-56C5-4D83-9339-6B38983D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96130C9-5839-4F19-95F8-E4FD7E54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5ECFF9-3C6C-4537-950C-1885CCC2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5064417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537AA-1052-4203-AC07-2C383A12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6110A-39E8-4638-83DC-913990E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월별 롤링 S&amp;OP와 발주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11019-F57F-41F6-89B5-D77E61BA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판매 전망·현재고·입고예정을 갱신해 발주안을 만들고 승인 후 공급사·수입 실행까지 관리했습니다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A225C-2358-471C-97AA-E7A9AF85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A733AB-1C22-4660-BFC9-1A9BB4A7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기준 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539B03-87B4-43A2-9AD4-A0E77495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33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현재고·유통기한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입고예정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A4AA8-B021-4F8C-A2DF-868464E0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62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CEE92-D86A-45E1-A414-163605EC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04950"/>
            <a:ext cx="4572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C3237-3BF3-4AE1-9736-24D27190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발주안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8F957B-5ED7-4B50-A0D3-2F05C5B6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003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2087C7-B6AE-4BA4-8D3A-0D8C4625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6개월 이상 리드타임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9952E-60E0-465A-9485-8104614D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86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3개월 수준 목표재고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565E7-5167-4F81-AD2A-3871A6C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현금흐름과 공급사 MOQ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302DC-41E1-4B15-95D6-9188D56B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프로모션·가격 변동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86024-2B58-4FFE-B806-0844E6BA0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승인 후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BA450-E802-45AD-B39D-8C263AD4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24050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수입·식약처·통관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입고·채널 배분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208D1-BA31-4DD3-A4FC-5170B5FA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A0278-0A27-4ABF-BA9C-D6A3A0B3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F4A0C-9400-4392-9830-016B87AE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SKU별 수량 산출·발주 수량 작성 → SCM·세일즈 팀장 협의·승인 절차 → 공급사 전달 → 수입 서류·입고 수량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E375C-9CA8-4B82-9612-C81F4C67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B221A8-EDA4-46F5-BE1D-E06DD6DF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프로모션·현금흐름·목표재고·MOQ는 자동값이 아니라 S&amp;OP 판단 조건입니다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3F45B-1626-45EF-9171-E4E89D26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20960536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45232-06B0-4004-82BE-C7D22EE1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F6B35-0318-487C-885D-8267012D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재고 전망과 발주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76074E-D844-4595-91ED-68D121F2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롤링 시트의 실적·재고·입고계획을 연결해 쇼트 시점과 발주 필요량을 확인했습니다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6D464A-DB28-49B3-8CA4-83CEDCDA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4C1776-6374-43CA-8A10-1883F82D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38250"/>
            <a:ext cx="554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재구성 화면 · 상품명·수량 익명화 · 4개 샘플 SKU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46E990-4030-42CB-9984-14FC5407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시스템 제안과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담당자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BB80A-46EB-4DFE-B419-CAEC007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차이를 수량으로 보여줘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회의에서 조정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8830C-C842-4B10-895E-83A41C30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45FE62-26AD-48F2-9A67-0FE8B87F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운영 계산 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B1497-D414-4DE6-B46D-B4F89E5E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최근 최대 12주 출고 평균과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 차이 버퍼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11C58-930A-4931-88E6-DCA99A1C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8367E-42B1-45ED-9D0C-F22D8A9B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재고주수 히트맵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45F86C-F1FD-4BF0-A4A9-BE76587D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결품과 과재고 위험을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주차별로 먼저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097678ef34003"/>
          <a:stretch xmlns:a="http://schemas.openxmlformats.org/drawingml/2006/main"/>
        </p:blipFill>
        <p:spPr>
          <a:xfrm xmlns:a="http://schemas.openxmlformats.org/drawingml/2006/main">
            <a:off x="5219214" y="1504950"/>
            <a:ext cx="493492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6231AA-4D3D-4E0A-BB7A-499A3947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0A146-A427-4F73-800F-F010C34F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최신 재고 + 도착월 입고계획 + 실무자 가중치 → 24주 예상재고·재고주수·포장입수 단위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8CF1A-4320-499D-9304-97663D8D0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028044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13FECF-65E9-43D2-BEA9-846905C7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240F5-2B25-4866-9CA1-6038BAC8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재고 쇼트 위험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7FDFA8-E8FE-41CE-9E34-7375799A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전년도 12개월 데이터로 과거 재고 흐름을 다시 계산해 위험 SKU 4개를 식별했습니다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499C7-18A4-402C-82AB-58E35985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43B2B-2880-4E08-9903-838F1C08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85ECB-EA91-47FE-9D2B-64916190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377FF-698A-403D-8216-A3B49379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12개월 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32B72-C44E-4088-B1B7-F375087E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CA7D0-3FF5-47AC-AB0D-E25D75E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전년도 판매·출고·재고와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당시 입고계획을 재입력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3AD43-B723-45AF-A755-52D91C14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96A52-8421-4BDA-B3A2-8FA55AA5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4B8C1-A757-4A97-BFA0-CCB6F7B0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롤포워드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FB1A98-F302-4787-AFA7-F61F5C7B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9573AF-B6B6-4A8B-9EF7-9E636D199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운영 계산 로직으로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 예상재고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60647-9FCF-49FD-A7E0-D0C08638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0017E7-FBD6-41E9-9DD1-8161EB6E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3A84F4-EB90-44AD-8CDB-01C23AE9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위험 4개 SKU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7A777E-64F0-4F83-8A2A-7161117D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6A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B65C41-8973-4B34-B76F-D2BB3D60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2026년 5~6월 쇼트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예상 구간을 경고로 식별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95BA5-98A8-4730-8CB6-0D81E9EC7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1E4DD2-6BE4-4439-B0ED-59F1E093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3E2D8D-0BEE-41D2-9346-D2B5FB594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S&amp;OP 조치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777E39-E0FE-4631-89C3-1FDC3052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B5F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D1FF00-136D-4E41-B5FE-542B646FE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발주안·판매 제한·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채널 배분 재검토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F42CF-424E-4066-BBA9-EBD10318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B72A99-D037-41BC-B6EF-AE329F28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검증 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118509-F5E0-4A45-A245-B83FFDA1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과거에 늦게 인지했던 위험 구간이 동일하게 나타나는지 확인해 계산 로직과 경고 구조를 검증했습니다.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CC3948-867F-4E11-BD0A-369F3248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공급 예외 운영: 생산중단·입고지연 · 유통기한·파손 · 풀필먼트 사입·이관 · 105,000캔 리콜 대응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9AE7C0-ABE8-4E4B-AF4B-9775957C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32C3E2-2919-4769-832D-F54318B2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재고 소진 시점의 재현 검증이며 WMAPE·Bias 개선 또는 실제 결품 예방 성과로 표현하지 않습니다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24CF80-4E2D-4544-A8A6-B720213D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431309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6F575-2E57-4F2C-9237-811DF0E3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007F2E-EC1E-4AD7-94A4-C48D1AB0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현업 이관과 월별 운영 정착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9CAED-E52E-45EE-BF82-141560E0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2026년 4월 배포 후 기존 Excel과 약 2개월 병행 검증하고 6월 발주 검토 기준을 전환했습니다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5F1EC-7785-4BCD-A584-C8458963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3FE59-88E4-4873-9B81-58A5267D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CA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69412-1D2C-4EC5-884A-14A1880E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968E6-AAD7-47EF-A095-4B63D7A9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176F1-F575-4B1A-AEB9-E63A47F1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34개 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BE7E3-AFEF-4541-9F43-695EC299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취합·양식 작업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7118D-794C-40E4-873F-54132F71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15049-21E1-403F-8E55-EEBF714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2026.04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704CB-A042-45C1-9AAA-EDAD2FE2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시범 배포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82B8C-98C0-4C10-90E3-4691CFC7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40개 SKU 구조와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24주 계산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3C7AD-3BC7-41D2-A401-57608BF6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FBE6A7-2B18-4AE6-9309-0850BF7E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약 2개월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84E98-9190-46E6-9D0B-04EC28F9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병행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0526A-EB8C-40F5-BBFF-C0E55399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기존 Excel과 값 대조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화면·산식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0995B-514A-4E4A-97A8-6E3D0BC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8BE351-BC37-43CC-9229-ECB82980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2026.06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FCCE1D-FE67-4357-AEEE-0B88E420A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완전 이관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B9CC60-B119-4085-8708-81F39287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월간 발주 검토 기준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매월 롤링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BFCE03-43C1-4E7B-A4D2-2768B4F2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57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4840A7-87B3-4508-8279-92DB25FB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운영 성과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B836A-CC81-4F2E-94F9-9BC0E56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 8~9시간 소요 업무 자동화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5B273E-9029-4A25-AEC1-B1ADD044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33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위험 4개 SKU 재현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A41CD9-ED9F-456E-B666-38F7909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4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 계산 기준과 데이터 구조를 직접 정의하고 생성형 AI 코딩 도구로 구현했으며, 기존 Excel의 실제 수치로 검증했습니다.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C7632-79B1-49CD-ACA5-5730741F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1F07D2-3E43-4810-9151-F0F1FDB9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배포일과 업무 전환일을 분리하고, 병행 검증 후 월별 운영 기준으로 전환했습니다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193B8-88DF-4FAB-AD0E-35493B4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21272152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F04171-31ED-45C7-A5FD-887A0A2D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2FEEC-4CFB-48AB-BDBE-0206FE83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비나우 수요예측 업무에 적용할 운영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CC693-79EA-47C7-8B4A-82D315B8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수요·공급 판단을 실제 발주와 재고 조치까지 연결하겠습니다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E8A33-5C18-434B-9D1B-516DB0F6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07B3D5-38FB-4923-9995-AE1504BC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이미 해온 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CDC5B-AD69-4DD1-84F5-770C1F50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0443E-65B1-45B4-A4A4-EDEEF0E3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판매·출고·재고·입고예정의 기준 통합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92FAD9-58A1-46F3-9C2E-9B0376F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전망과 장기 리드타임을 월간 발주안으로 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37CDB-17FD-4B3B-8452-822F340F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프로모션·가격 변화에 따른 결품 위험과 채널 재고 실행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06D1A7-4626-4E95-837C-3FB0202F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수량·수입 서류·입고·채널 배분까지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CFC36-6D4A-45A7-A7AB-8ED36A12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입사 후 계측·보완할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75E97-2F33-4DAB-A3C5-C6824805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6E81EA-7B75-4884-8415-20A23DE9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신제품·브랜드·채널별 수요 패턴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F519B-D0CC-408B-A546-FFDFD17D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예측 오차와 Bias, 결품·과재고 결과를 SKU와 채널별로 계측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3261D7-4416-41FE-BB78-9D2A8EB4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 증가분과 기본 수요를 분리해 발주 판단의 근거를 축적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04B80-E515-4458-BA17-F3B0C1A2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화장품 운영 특성과 더존 ERP를 익히고 반복 취합·검증을 단계적으로 자동화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CADB8-E1FF-4E02-B3F4-BE04C015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346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B7AF7E-1D6D-4121-884B-5889E930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운영 원칙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599C07-25F9-4E5F-B2FB-4332BFE1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38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반복 계산은 시스템으로 표준화하되 최종 발주안은 세일즈 전망과 공급 제약을 함께 검토해 확정합니다.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47A6E-2C86-4877-8D19-8738AE67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465F94-774C-4C9D-809D-CB8A2178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 한계는 숨기지 않고, 입사 후 SKU·채널별 예측오차와 Bias부터 기준선을 만들겠습니다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80696-BB94-499C-9FBF-01BA497B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7824024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2026-09-06T14:03:41.6420000Z</dcterms:created>
  <dcterms:modified xsi:type="dcterms:W3CDTF">2026-09-06T14:03:41.6420000Z</dcterms:modified>
</coreProperties>
</file>