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B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2026-08-28 09:00 KST · 기준일 2026-08-26 (D-2)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9631375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/ 07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01.   규제 대응 — 자사몰 해외직구 신고 4자 연동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234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 · PER API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182880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관세청 전자상거래 통관 API 연동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2395728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BD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해외직구 주문 한 건을 네 주체가 나눠 갖던 데이터를,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BD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신고로 완성되게 만들었습니다.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310896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Concept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3832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판단의 기준값(금액·판매업체정보)을 각자 다른 원천이 아닌 동수 ERP 하나로 고정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376732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Target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404164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자사몰(뉴트리시아몰) 해외직구 고객과 통관·물류 운영팀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4425696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Goal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057400" y="4700016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미신고 출고 0건 · 3사(관세청·자이언트·동수) 데이터 정합 · 오류 발생 시 스스로 복구되는 운영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52360" y="1828800"/>
            <a:ext cx="4160520" cy="3520440"/>
          </a:xfrm>
          <a:prstGeom prst="roundRect">
            <a:avLst>
              <a:gd name="adj" fmla="val 2597"/>
            </a:avLst>
          </a:prstGeom>
          <a:solidFill>
            <a:srgbClr val="16437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26680" y="20299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주체가 나눠 가진 데이터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26680" y="2450592"/>
            <a:ext cx="3611880" cy="658368"/>
          </a:xfrm>
          <a:prstGeom prst="roundRect">
            <a:avLst>
              <a:gd name="adj" fmla="val 9722"/>
            </a:avLst>
          </a:prstGeom>
          <a:solidFill>
            <a:srgbClr val="1B4F9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955280" y="253288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자사몰 (Geek 개발)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28163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· 결제 · 고객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26680" y="3227832"/>
            <a:ext cx="3611880" cy="658368"/>
          </a:xfrm>
          <a:prstGeom prst="roundRect">
            <a:avLst>
              <a:gd name="adj" fmla="val 9722"/>
            </a:avLst>
          </a:prstGeom>
          <a:solidFill>
            <a:srgbClr val="1B4F9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955280" y="331012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동수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35935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중국 ERP · 물류 · HBL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26680" y="4005072"/>
            <a:ext cx="3611880" cy="658368"/>
          </a:xfrm>
          <a:prstGeom prst="roundRect">
            <a:avLst>
              <a:gd name="adj" fmla="val 9722"/>
            </a:avLst>
          </a:prstGeom>
          <a:solidFill>
            <a:srgbClr val="1B4F9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55280" y="408736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자이언트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955280" y="43708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GGATE 특송 · HWB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26680" y="4782312"/>
            <a:ext cx="3611880" cy="658368"/>
          </a:xfrm>
          <a:prstGeom prst="roundRect">
            <a:avLst>
              <a:gd name="adj" fmla="val 9722"/>
            </a:avLst>
          </a:prstGeom>
          <a:solidFill>
            <a:srgbClr val="1B4F9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955280" y="48646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NICE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0" y="51480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PCCC 유효성 검증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349240"/>
            <a:ext cx="11094415" cy="0"/>
          </a:xfrm>
          <a:prstGeom prst="line">
            <a:avLst/>
          </a:prstGeom>
          <a:noFill/>
          <a:ln w="12700">
            <a:solidFill>
              <a:srgbClr val="3C63A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50468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B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463040" y="5504688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 확인 ~ 오픈 2026-08-28 09:00 KST · 관세청 테스트서버 종료 2026-08-21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76072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B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463040" y="5760720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총괄 PM — 정책·API 해석 / 리스크·의사결정 관리 / 필드 규격 대조 / 오픈 기준 판정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01675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B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463040" y="6016752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동수 · 자이언트 · NICE · 자사몰 개발사 (역할로 표기, 실명 대신)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2727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B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463040" y="6272784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리스크·질의대장 · API 필드 매핑표 · 정책 결정 이력 · 분할출고 규칙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52881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B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1463040" y="6528816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4개 시스템 · 해결·기준 확정 46건 · 오픈 D-2 기준 P0 4건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502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배경과 문제 정의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502920"/>
            <a:ext cx="6613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관세법 개정으로 거래정보 사전 제출 의무가 생겼습니다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94415" cy="0"/>
          </a:xfrm>
          <a:prstGeom prst="line">
            <a:avLst/>
          </a:prstGeom>
          <a:noFill/>
          <a:ln w="12700">
            <a:solidFill>
              <a:srgbClr val="D6D6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31375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07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53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11094415" cy="1536192"/>
          </a:xfrm>
          <a:prstGeom prst="roundRect">
            <a:avLst>
              <a:gd name="adj" fmla="val 3571"/>
            </a:avLst>
          </a:prstGeom>
          <a:solidFill>
            <a:srgbClr val="F4F4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1847088"/>
            <a:ext cx="105823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관세법 제254조가 2024년 12월 31일 개정되어 2026년 1월 1일부터 시행되며, 통신판매업자·중개업자·배송대행업자가 간이통관을 이용하려면 관세청 등록을 받도록 바뀌었습니다.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231136"/>
            <a:ext cx="105823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관세법 시행령 제258조는 주문번호·구매일자·수하인 성명·PCCC·품명·수량·결제금액을 결제 완료 후 수입 전까지 전자적으로 제공하도록 구체화했습니다.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615184"/>
            <a:ext cx="105823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이에 따라 신설된 전자상거래 통관플랫폼(v1.4.1)에서는 전자상거래업자부호가 신고서 필수값이 되고, 판매업체정보·PCCC 검증이 새로 요구됩니다.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03320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1 — 데이터와 책임이 네 회사로 나뉘어 있었다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31860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자사몰(Geek 개발)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4023360"/>
            <a:ext cx="303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· 결제 · 고객 정보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45456" y="4050792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D2DFF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45456" y="405079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443984"/>
            <a:ext cx="531860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4439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동수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240280" y="4443984"/>
            <a:ext cx="303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중국 ERP · 물류 · HBL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45456" y="4471416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FCEAE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245456" y="447141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864608"/>
            <a:ext cx="531860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4864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자이언트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240280" y="4864608"/>
            <a:ext cx="303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GGATE 특송 · HWB 등록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45456" y="4892040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FCEAE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245456" y="489204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285232"/>
            <a:ext cx="531860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52852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NICE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240280" y="5285232"/>
            <a:ext cx="303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PCCC 유효성 검증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45456" y="5312664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D2DFF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245456" y="531266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324448" y="3703320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2 — 문서와 실제 동작이 달랐다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24448" y="4096512"/>
            <a:ext cx="73152" cy="73152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25616" y="4041648"/>
            <a:ext cx="511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자이언트 Postman 공유 화면이 지연 로딩이라 일부 필드가 안 보였습니다.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24448" y="4517136"/>
            <a:ext cx="73152" cy="73152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25616" y="4462272"/>
            <a:ext cx="511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NICE는 가이드 문서와 다른 인증 경로로 응답했습니다.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24448" y="4937760"/>
            <a:ext cx="73152" cy="73152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525616" y="4882896"/>
            <a:ext cx="511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관세청 명세서 v1.4.1과 대조해보니 기획 문서의 필드명 오류가 5건 있었습니다.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24448" y="5340096"/>
            <a:ext cx="5318608" cy="384048"/>
          </a:xfrm>
          <a:prstGeom prst="roundRect">
            <a:avLst>
              <a:gd name="adj" fmla="val 16667"/>
            </a:avLst>
          </a:prstGeom>
          <a:solidFill>
            <a:srgbClr val="F3E5C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580480" y="5431536"/>
            <a:ext cx="480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9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아니라 원본을 봐야 했습니다.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580644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E9F1F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04672" y="5897880"/>
            <a:ext cx="105823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회사 중 어디도 신고 한 건을 혼자 완성할 수 없었습니다. 하나의 대장으로 고정하는 것이 이 프로젝트의 출발점이었습니다.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5105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박종혁 · 관세청 전자상거래 통관 API 연동 · PM 실행 포트폴리오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502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· 질의 통합 대장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502920"/>
            <a:ext cx="6613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판정을 강제하는 정본 하나로 고정했습니다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94415" cy="0"/>
          </a:xfrm>
          <a:prstGeom prst="line">
            <a:avLst/>
          </a:prstGeom>
          <a:noFill/>
          <a:ln w="12700">
            <a:solidFill>
              <a:srgbClr val="D6D6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31375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07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계약서·견적서·기획서·API 매핑표·협의이력 채팅에 흩어져 있던 리스크·질의·결정을 하나의 통합 대장(리스크_질의대장.html)으로 옮기고, 이 문서를 유일한 정본으로 고정했습니다.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원칙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974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CC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697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판정을 강제한다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990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항목에 P0~P2 등급과 상태 라벨을 붙입니다.</a:t>
            </a:r>
            <a:endParaRPr lang="en-US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47288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CC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4472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회신을 액면가로 받지 않는다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7398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협력사 응답과 실제 검증 결과를 나란히 기록합니다.</a:t>
            </a:r>
            <a:endParaRPr lang="en-US" sz="108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97096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CC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1970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상태를 바꿀 때 근거를 함께 바꾼다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4897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날짜·근거 없이 상태값만 단독으로 바꾸지 않습니다.</a:t>
            </a:r>
            <a:endParaRPr lang="en-US" sz="108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946904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CC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9469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등급별 건수를 상단에 센다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52395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세면 빠진 것이 보입니다.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360920" y="1417320"/>
            <a:ext cx="4251960" cy="4160520"/>
          </a:xfrm>
          <a:prstGeom prst="roundRect">
            <a:avLst>
              <a:gd name="adj" fmla="val 2198"/>
            </a:avLst>
          </a:prstGeom>
          <a:solidFill>
            <a:srgbClr val="1B4F9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35240" y="16459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대장 KPI 보드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19568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B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기준일 2026-08-26 (오픈 D-2)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35240" y="2377440"/>
            <a:ext cx="3703320" cy="777240"/>
          </a:xfrm>
          <a:prstGeom prst="roundRect">
            <a:avLst>
              <a:gd name="adj" fmla="val 8235"/>
            </a:avLst>
          </a:prstGeom>
          <a:solidFill>
            <a:srgbClr val="16437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18120" y="23774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8869680" y="23774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 · 오픈 차단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35240" y="3273552"/>
            <a:ext cx="3703320" cy="777240"/>
          </a:xfrm>
          <a:prstGeom prst="roundRect">
            <a:avLst>
              <a:gd name="adj" fmla="val 8235"/>
            </a:avLst>
          </a:prstGeom>
          <a:solidFill>
            <a:srgbClr val="16437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818120" y="3273552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8869680" y="327355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· 오픈 전 필수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35240" y="4169664"/>
            <a:ext cx="3703320" cy="777240"/>
          </a:xfrm>
          <a:prstGeom prst="roundRect">
            <a:avLst>
              <a:gd name="adj" fmla="val 8235"/>
            </a:avLst>
          </a:prstGeom>
          <a:solidFill>
            <a:srgbClr val="16437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818120" y="416966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4169664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· 확인 권고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635240" y="5065776"/>
            <a:ext cx="3703320" cy="777240"/>
          </a:xfrm>
          <a:prstGeom prst="roundRect">
            <a:avLst>
              <a:gd name="adj" fmla="val 8235"/>
            </a:avLst>
          </a:prstGeom>
          <a:solidFill>
            <a:srgbClr val="16437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818120" y="5065776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2600" dirty="0"/>
          </a:p>
        </p:txBody>
      </p:sp>
      <p:sp>
        <p:nvSpPr>
          <p:cNvPr id="35" name="Text 33"/>
          <p:cNvSpPr txBox="1"/>
          <p:nvPr/>
        </p:nvSpPr>
        <p:spPr>
          <a:xfrm>
            <a:off x="8869680" y="5065776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· 기준 확정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5105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박종혁 · 관세청 전자상거래 통관 API 연동 · PM 실행 포트폴리오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502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E2E 흐름과 처리 시나리오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502920"/>
            <a:ext cx="6613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한 건이 신고 한 건으로 완성되기까지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94415" cy="0"/>
          </a:xfrm>
          <a:prstGeom prst="line">
            <a:avLst/>
          </a:prstGeom>
          <a:noFill/>
          <a:ln w="12700">
            <a:solidFill>
              <a:srgbClr val="D6D6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31375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1371600"/>
            <a:ext cx="1843979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011680" y="1371600"/>
            <a:ext cx="1843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47099" y="1371600"/>
            <a:ext cx="1843979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947099" y="1371600"/>
            <a:ext cx="1843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동수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82518" y="1371600"/>
            <a:ext cx="1843979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82518" y="1371600"/>
            <a:ext cx="1843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자이언트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17937" y="1371600"/>
            <a:ext cx="1843979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17937" y="1371600"/>
            <a:ext cx="1843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관세청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753356" y="1371600"/>
            <a:ext cx="1843979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753356" y="1371600"/>
            <a:ext cx="1843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1874520"/>
            <a:ext cx="1325880" cy="493776"/>
          </a:xfrm>
          <a:prstGeom prst="roundRect">
            <a:avLst>
              <a:gd name="adj" fmla="val 11111"/>
            </a:avLst>
          </a:prstGeom>
          <a:solidFill>
            <a:srgbClr val="E9F1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" y="19293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21854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결제완료 · 수집 11:10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11680" y="1874520"/>
            <a:ext cx="1843979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075688" y="1874520"/>
            <a:ext cx="171596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결제완료 주문 확정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47099" y="1874520"/>
            <a:ext cx="1843979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11107" y="1874520"/>
            <a:ext cx="171596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HBL 수집 시작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386584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동수 HBL 수집은 결제완료 주문만 대상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2569464"/>
            <a:ext cx="1325880" cy="493776"/>
          </a:xfrm>
          <a:prstGeom prst="roundRect">
            <a:avLst>
              <a:gd name="adj" fmla="val 11111"/>
            </a:avLst>
          </a:prstGeom>
          <a:solidFill>
            <a:srgbClr val="E9F1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" y="2624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제출 · 11:50 마감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947099" y="2569464"/>
            <a:ext cx="1843979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011107" y="2569464"/>
            <a:ext cx="171596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 제출 데이터 구성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82518" y="2569464"/>
            <a:ext cx="1843979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6526" y="2569464"/>
            <a:ext cx="171596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HWB 등록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817937" y="2569464"/>
            <a:ext cx="1843979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81945" y="2569464"/>
            <a:ext cx="171596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TRA001 접수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30815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마감까지 누락되면 실제 통관에서 수기 제출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3264408"/>
            <a:ext cx="1325880" cy="493776"/>
          </a:xfrm>
          <a:prstGeom prst="roundRect">
            <a:avLst>
              <a:gd name="adj" fmla="val 11111"/>
            </a:avLst>
          </a:prstGeom>
          <a:solidFill>
            <a:srgbClr val="E9F1F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21792" y="3319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2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21792" y="35753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확인 · 복구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947099" y="3264408"/>
            <a:ext cx="1843979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011107" y="3264408"/>
            <a:ext cx="171596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원주문 재조회 · 재제출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817937" y="3264408"/>
            <a:ext cx="1843979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881945" y="3264408"/>
            <a:ext cx="171596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오류코드 회신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3776472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1분 내 오류코드 회신, 원인은 관리자 화면에서 확인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8640" y="3959352"/>
            <a:ext cx="1325880" cy="493776"/>
          </a:xfrm>
          <a:prstGeom prst="roundRect">
            <a:avLst>
              <a:gd name="adj" fmla="val 11111"/>
            </a:avLst>
          </a:prstGeom>
          <a:solidFill>
            <a:srgbClr val="E9F1F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21792" y="40142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3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21792" y="4270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PCCC 검증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817937" y="3959352"/>
            <a:ext cx="1843979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881945" y="3959352"/>
            <a:ext cx="171596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 접수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753356" y="3959352"/>
            <a:ext cx="1843979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817364" y="3959352"/>
            <a:ext cx="171596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PCCC 유효성 검증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4471416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일반인증·구매간소화 경로 상이 사례 확인, 서면회신 전까지 미신뢰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48640" y="4654296"/>
            <a:ext cx="1325880" cy="493776"/>
          </a:xfrm>
          <a:prstGeom prst="roundRect">
            <a:avLst>
              <a:gd name="adj" fmla="val 11111"/>
            </a:avLst>
          </a:prstGeom>
          <a:solidFill>
            <a:srgbClr val="E9F1FC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21792" y="4709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4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21792" y="4965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 · 13:00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011680" y="4654296"/>
            <a:ext cx="1843979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075688" y="4654296"/>
            <a:ext cx="171596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포장 출고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947099" y="4654296"/>
            <a:ext cx="1843979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011107" y="4654296"/>
            <a:ext cx="171596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WMS 취소반영 마감 12:00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882518" y="4654296"/>
            <a:ext cx="1843979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946526" y="4654296"/>
            <a:ext cx="171596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부착 · 포장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548640" y="516636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미신고 상태에서는 출고되지 않도록 차단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48640" y="5394960"/>
            <a:ext cx="5410048" cy="713232"/>
          </a:xfrm>
          <a:prstGeom prst="roundRect">
            <a:avLst>
              <a:gd name="adj" fmla="val 7692"/>
            </a:avLst>
          </a:prstGeom>
          <a:solidFill>
            <a:srgbClr val="F4F4F6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749808" y="5495544"/>
            <a:ext cx="500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단위 원칙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749808" y="5715000"/>
            <a:ext cx="500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HBL = USD 150 이하 포장 1건 = TRA001 1건 = 자이언트 HWB 1건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6233008" y="5394960"/>
            <a:ext cx="5410048" cy="713232"/>
          </a:xfrm>
          <a:prstGeom prst="roundRect">
            <a:avLst>
              <a:gd name="adj" fmla="val 8974"/>
            </a:avLst>
          </a:prstGeom>
          <a:solidFill>
            <a:srgbClr val="E9F1FC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6489040" y="5486400"/>
            <a:ext cx="489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조직이 각자 다르게 부르던 단계를 하나의 그림으로 맞춰, 오픈 전 검증의 기준 문서가 됐습니다.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548640" y="65105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박종혁 · 관세청 전자상거래 통관 API 연동 · PM 실행 포트폴리오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502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검증과 확장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502920"/>
            <a:ext cx="6613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난다는 것을 전제로 복구 루프를 만들었습니다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94415" cy="0"/>
          </a:xfrm>
          <a:prstGeom prst="line">
            <a:avLst/>
          </a:prstGeom>
          <a:noFill/>
          <a:ln w="12700">
            <a:solidFill>
              <a:srgbClr val="D6D6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31375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07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검증 항목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3186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691640"/>
            <a:ext cx="440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TRA002 3분기(성공/부분오류/전체반려) 응답 처리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5154016" y="1746504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54016" y="1746504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130552"/>
            <a:ext cx="53186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130552"/>
            <a:ext cx="440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자이언트 컬렉션 원본 대조 후 필드 규격 확정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5154016" y="2185416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154016" y="2185416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569464"/>
            <a:ext cx="53186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569464"/>
            <a:ext cx="440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산정 기준 3사 통일 (동수 ERP USD 매입금)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5154016" y="2624328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154016" y="262432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008376"/>
            <a:ext cx="53186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008376"/>
            <a:ext cx="440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sale_ents_nm · sale_ents_sgn 필수 처리 (A유형)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5154016" y="3063240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154016" y="3063240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447288"/>
            <a:ext cx="53186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447288"/>
            <a:ext cx="440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출고 단위 (1 HBL = 1 TRA001 = 1 HWB) 검증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5154016" y="3502152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154016" y="3502152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886200"/>
            <a:ext cx="53186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886200"/>
            <a:ext cx="440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Z99999 계도기간 종료일 공지 원문 재확인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5154016" y="3941064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154016" y="3941064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324448" y="1371600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복구 루프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24448" y="1691640"/>
            <a:ext cx="422132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61608" y="1691640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6324448" y="2130552"/>
            <a:ext cx="422132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61608" y="2130552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오류코드 회신</a:t>
            </a:r>
            <a:endParaRPr lang="en-US" sz="1080" dirty="0"/>
          </a:p>
        </p:txBody>
      </p:sp>
      <p:sp>
        <p:nvSpPr>
          <p:cNvPr id="37" name="Text 35"/>
          <p:cNvSpPr txBox="1"/>
          <p:nvPr/>
        </p:nvSpPr>
        <p:spPr>
          <a:xfrm>
            <a:off x="10591495" y="213055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1분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24448" y="2569464"/>
            <a:ext cx="422132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61608" y="2569464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데이터 확인</a:t>
            </a:r>
            <a:endParaRPr lang="en-US" sz="1080" dirty="0"/>
          </a:p>
        </p:txBody>
      </p:sp>
      <p:sp>
        <p:nvSpPr>
          <p:cNvPr id="40" name="Text 38"/>
          <p:cNvSpPr txBox="1"/>
          <p:nvPr/>
        </p:nvSpPr>
        <p:spPr>
          <a:xfrm>
            <a:off x="10591495" y="256946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화면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24448" y="3008376"/>
            <a:ext cx="422132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61608" y="300837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 구분 후 수정</a:t>
            </a:r>
            <a:endParaRPr lang="en-US" sz="1080" dirty="0"/>
          </a:p>
        </p:txBody>
      </p:sp>
      <p:sp>
        <p:nvSpPr>
          <p:cNvPr id="43" name="Text 41"/>
          <p:cNvSpPr txBox="1"/>
          <p:nvPr/>
        </p:nvSpPr>
        <p:spPr>
          <a:xfrm>
            <a:off x="10591495" y="30083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 / 해외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24448" y="3447288"/>
            <a:ext cx="4221328" cy="384048"/>
          </a:xfrm>
          <a:prstGeom prst="roundRect">
            <a:avLst>
              <a:gd name="adj" fmla="val 11905"/>
            </a:avLst>
          </a:prstGeom>
          <a:solidFill>
            <a:srgbClr val="E9F1FC"/>
          </a:solidFill>
          <a:ln w="12700">
            <a:solidFill>
              <a:srgbClr val="D6D6D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61608" y="3447288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재제출</a:t>
            </a:r>
            <a:endParaRPr lang="en-US" sz="1080" dirty="0"/>
          </a:p>
        </p:txBody>
      </p:sp>
      <p:sp>
        <p:nvSpPr>
          <p:cNvPr id="46" name="Text 44"/>
          <p:cNvSpPr txBox="1"/>
          <p:nvPr/>
        </p:nvSpPr>
        <p:spPr>
          <a:xfrm>
            <a:off x="10591495" y="34472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기동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4480560"/>
            <a:ext cx="531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조율에서 실제로 뚫은 것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48640" y="479145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D2DFF1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548640" y="47914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자이언트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2057400" y="4754880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Postman 화면 지연 로딩으로 1차 오판 발생 → 컬렉션 원본 JSON 대조 규칙 수립</a:t>
            </a:r>
            <a:endParaRPr lang="en-US" sz="980" dirty="0"/>
          </a:p>
        </p:txBody>
      </p:sp>
      <p:sp>
        <p:nvSpPr>
          <p:cNvPr id="51" name="Shape 49"/>
          <p:cNvSpPr/>
          <p:nvPr/>
        </p:nvSpPr>
        <p:spPr>
          <a:xfrm>
            <a:off x="548640" y="529437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D2DFF1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548640" y="52943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개발사(Geek)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2057400" y="5257800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구버전 기획서로 개발해 실오류 발생 → 배포일자·변경필드 델타 공유 규칙 수립</a:t>
            </a:r>
            <a:endParaRPr lang="en-US" sz="980" dirty="0"/>
          </a:p>
        </p:txBody>
      </p:sp>
      <p:sp>
        <p:nvSpPr>
          <p:cNvPr id="54" name="Text 52"/>
          <p:cNvSpPr txBox="1"/>
          <p:nvPr/>
        </p:nvSpPr>
        <p:spPr>
          <a:xfrm>
            <a:off x="6324448" y="4480560"/>
            <a:ext cx="531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일정이 밀린 진짜 원인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324448" y="4773168"/>
            <a:ext cx="5318608" cy="457200"/>
          </a:xfrm>
          <a:prstGeom prst="roundRect">
            <a:avLst>
              <a:gd name="adj" fmla="val 14000"/>
            </a:avLst>
          </a:prstGeom>
          <a:solidFill>
            <a:srgbClr val="F3E5CC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580480" y="4864608"/>
            <a:ext cx="480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9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관세청 · 자이언트 문서가 사전 안내 없이 갱신되며 일정이 반복 밀렸습니다.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324448" y="5285232"/>
            <a:ext cx="5318608" cy="457200"/>
          </a:xfrm>
          <a:prstGeom prst="roundRect">
            <a:avLst>
              <a:gd name="adj" fmla="val 14000"/>
            </a:avLst>
          </a:prstGeom>
          <a:solidFill>
            <a:srgbClr val="E9F1FC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580480" y="5376672"/>
            <a:ext cx="480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원본을 먼저, 재확인을 항상 원칙으로 삼았습니다.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48640" y="598932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1B4F9C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14400" y="59893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경로만 만든 것이 아니라, 오판을 잡아내고 되돌리는 원칙을 같은 비중으로 만들었습니다.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502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 스냅샷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502920"/>
            <a:ext cx="6613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완료율을 부풀리지 않고, 있는 그대로 공개합니다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1094415" cy="0"/>
          </a:xfrm>
          <a:prstGeom prst="line">
            <a:avLst/>
          </a:prstGeom>
          <a:noFill/>
          <a:ln w="12700">
            <a:solidFill>
              <a:srgbClr val="D6D6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31375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07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전 자체 단계별 테스트 API(TRA001 전송 → 오류조회 → 결제완료 원복 → 동수 삭제 → HWB 등록)로 직접 검증을 수행했습니다.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48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 P0 4건의 성격 (기준 2026-08-26)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69464"/>
            <a:ext cx="109728" cy="109728"/>
          </a:xfrm>
          <a:prstGeom prst="roundRect">
            <a:avLst/>
          </a:prstGeom>
          <a:solidFill>
            <a:srgbClr val="B4231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514600"/>
            <a:ext cx="6144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판매중개자 부호(brokerCode) — 채널별 확정값의 최종 반영 검증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48640" y="3008376"/>
            <a:ext cx="109728" cy="109728"/>
          </a:xfrm>
          <a:prstGeom prst="roundRect">
            <a:avLst/>
          </a:prstGeom>
          <a:solidFill>
            <a:srgbClr val="B4231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" y="2953512"/>
            <a:ext cx="6144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B(외부 28채널) 통관정보 전송 주체 미확정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3447288"/>
            <a:ext cx="109728" cy="109728"/>
          </a:xfrm>
          <a:prstGeom prst="roundRect">
            <a:avLst/>
          </a:prstGeom>
          <a:solidFill>
            <a:srgbClr val="B4231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3392424"/>
            <a:ext cx="6144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상품코드 매핑 — 고도몰 platSkuCode ↔ 신고 단품코드 관계 확정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09728" cy="109728"/>
          </a:xfrm>
          <a:prstGeom prst="roundRect">
            <a:avLst/>
          </a:prstGeom>
          <a:solidFill>
            <a:srgbClr val="B4231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3831336"/>
            <a:ext cx="6144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GGATE 등록 후 정정 · 삭제 경로 부재 대응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48640" y="4407408"/>
            <a:ext cx="6400800" cy="822960"/>
          </a:xfrm>
          <a:prstGeom prst="roundRect">
            <a:avLst>
              <a:gd name="adj" fmla="val 7778"/>
            </a:avLst>
          </a:prstGeom>
          <a:solidFill>
            <a:srgbClr val="F4F4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4498848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 4건이 남아 있다는 것도 대장에 그대로 남깁니다. 해결 46건과 함께 보여줄 때만 지금 상태를 정확히 판단할 수 있습니다.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52360" y="1417320"/>
            <a:ext cx="4160520" cy="3977640"/>
          </a:xfrm>
          <a:prstGeom prst="roundRect">
            <a:avLst>
              <a:gd name="adj" fmla="val 2299"/>
            </a:avLst>
          </a:prstGeom>
          <a:solidFill>
            <a:srgbClr val="1B4F9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26680" y="16459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BB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2026-08-26 (D-2)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26680" y="2057400"/>
            <a:ext cx="3611880" cy="822960"/>
          </a:xfrm>
          <a:prstGeom prst="roundRect">
            <a:avLst>
              <a:gd name="adj" fmla="val 7778"/>
            </a:avLst>
          </a:prstGeom>
          <a:solidFill>
            <a:srgbClr val="16437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909560" y="20574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20574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 · 오픈 차단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26680" y="3017520"/>
            <a:ext cx="3611880" cy="822960"/>
          </a:xfrm>
          <a:prstGeom prst="roundRect">
            <a:avLst>
              <a:gd name="adj" fmla="val 7778"/>
            </a:avLst>
          </a:prstGeom>
          <a:solidFill>
            <a:srgbClr val="16437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09560" y="30175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B8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0" y="30175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· 오픈 전 필수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26680" y="3977640"/>
            <a:ext cx="3611880" cy="822960"/>
          </a:xfrm>
          <a:prstGeom prst="roundRect">
            <a:avLst>
              <a:gd name="adj" fmla="val 7778"/>
            </a:avLst>
          </a:prstGeom>
          <a:solidFill>
            <a:srgbClr val="16437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909560" y="3977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B2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9326880" y="39776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· 확인 권고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726680" y="4937760"/>
            <a:ext cx="3611880" cy="822960"/>
          </a:xfrm>
          <a:prstGeom prst="roundRect">
            <a:avLst>
              <a:gd name="adj" fmla="val 7778"/>
            </a:avLst>
          </a:prstGeom>
          <a:solidFill>
            <a:srgbClr val="16437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09560" y="49377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CF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9326880" y="49377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· 기준 확정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5105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박종혁 · 관세청 전자상거래 통관 API 연동 · PM 실행 포트폴리오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31375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07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현장을 대장으로 바꾸고, 원본을 대조하고,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이후까지 보는 PM입니다.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프로젝트를 다시 한다면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9260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가이드를 놓고 전체 회의부터 열겠습니다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25526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정보만 오간 것이 일정 지연의 원인이었습니다. 각 개발사의 고충을 먼저 파악했다면 더 빨리 안정됐을 것입니다.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862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8862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아니라 원본부터 확인하겠습니다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21538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Postman 화면·기획 문서를 먼저 믿었던 것이 1차 오판의 원인이었습니다. 이제는 컬렉션 원본과 명세서 원문을 항상 먼저 봅니다.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463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8463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결정에 만료일을 붙이겠습니다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51755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 문언과 다른 값을 쓰기로 한 결정은 재검토 시점을 미리 정해뒀어야 반복 정정을 줄일 수 있었습니다.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박종혁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아이베(EIBE) SCM팀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2026-08-27T18:36:02Z</dcterms:created>
  <dcterms:modified xsi:type="dcterms:W3CDTF">2026-08-27T18:36:02Z</dcterms:modified>
</cp:coreProperties>
</file>