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809" cy="68580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904" y="932688"/>
            <a:ext cx="694944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1A1A1A"/>
                </a:solidFill>
                <a:latin typeface="Malgun Gothic"/>
              </a:rPr>
              <a:t>현장에서 겪은 운영 문제를
정책과 데이터 구조로 바꿔
실제로 돌아가게 만듭니다.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42032"/>
            <a:ext cx="6949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8000"/>
              </a:lnSpc>
              <a:spcAft>
                <a:spcPts val="0"/>
              </a:spcAft>
            </a:pPr>
            <a:r>
              <a:rPr sz="1280" b="0">
                <a:solidFill>
                  <a:srgbClr val="6E6E73"/>
                </a:solidFill>
                <a:latin typeface="Malgun Gothic"/>
              </a:rPr>
              <a:t>아이베(EIBE) SCM팀에서 수입·물류 실무를 하며 반복되는 병목을 직접 겪었고,</a:t>
            </a:r>
          </a:p>
          <a:p>
            <a:pPr algn="l">
              <a:spcAft>
                <a:spcPts val="0"/>
              </a:spcAft>
            </a:pPr>
            <a:r>
              <a:rPr sz="1280" b="0">
                <a:solidFill>
                  <a:srgbClr val="6E6E73"/>
                </a:solidFill>
                <a:latin typeface="Malgun Gothic"/>
              </a:rPr>
              <a:t>그 문제를 요구사항과 데이터 구조로 바꿔 외주 개발사·현업과 함께 시스템으로 만들었습니다.</a:t>
            </a:r>
          </a:p>
          <a:p>
            <a:pPr algn="l">
              <a:spcAft>
                <a:spcPts val="0"/>
              </a:spcAft>
            </a:pPr>
            <a:r>
              <a:rPr sz="1280" b="0">
                <a:solidFill>
                  <a:srgbClr val="6E6E73"/>
                </a:solidFill>
                <a:latin typeface="Malgun Gothic"/>
              </a:rPr>
              <a:t>규제 대응, 사업 확장에 따른 운영 디지털화, 수요예측 도구, SaaS 제품 기획까지 담당했습니다.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95935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Malgun Gothic"/>
              </a:rPr>
              <a:t>강점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24281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E6B45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456285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Malgun Gothic"/>
              </a:rPr>
              <a:t>현장 구조화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4901184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30" b="0">
                <a:solidFill>
                  <a:srgbClr val="6E6E73"/>
                </a:solidFill>
                <a:latin typeface="Malgun Gothic"/>
              </a:rPr>
              <a:t>수기 업무와 계약 예외를
요구사항으로 바꿉니다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5541264"/>
            <a:ext cx="2340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1">
                <a:solidFill>
                  <a:srgbClr val="1E6B45"/>
                </a:solidFill>
                <a:latin typeface="Malgun Gothic"/>
              </a:rPr>
              <a:t>B2B · 계약 예외를 설정값으로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7072" y="424281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B4F9C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7072" y="456285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Malgun Gothic"/>
              </a:rPr>
              <a:t>이해관계 조율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7072" y="4901184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30" b="0">
                <a:solidFill>
                  <a:srgbClr val="6E6E73"/>
                </a:solidFill>
                <a:latin typeface="Malgun Gothic"/>
              </a:rPr>
              <a:t>현업·개발사·공급사의
서로 다른 기준을 맞춥니다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7072" y="5541264"/>
            <a:ext cx="2340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1">
                <a:solidFill>
                  <a:srgbClr val="1B4F9C"/>
                </a:solidFill>
                <a:latin typeface="Malgun Gothic"/>
              </a:rPr>
              <a:t>관세청 · 4개 주체의 책임 분리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4240" y="4242816"/>
            <a:ext cx="329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B34700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4240" y="456285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Malgun Gothic"/>
              </a:rPr>
              <a:t>운영 안착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84240" y="4901184"/>
            <a:ext cx="23408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30" b="0">
                <a:solidFill>
                  <a:srgbClr val="6E6E73"/>
                </a:solidFill>
                <a:latin typeface="Malgun Gothic"/>
              </a:rPr>
              <a:t>배포가 아니라 현업이 쓰고
숫자가 바뀌는 것까지 봅니다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4240" y="5541264"/>
            <a:ext cx="2340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1">
                <a:solidFill>
                  <a:srgbClr val="B34700"/>
                </a:solidFill>
                <a:latin typeface="Malgun Gothic"/>
              </a:rPr>
              <a:t>대시보드 · 2개월 병행 검증 후 이관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904" y="5998464"/>
            <a:ext cx="6949440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" y="611733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Malgun Gothic"/>
              </a:rPr>
              <a:t>다루는 프로젝트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904" y="6382512"/>
            <a:ext cx="64008" cy="310896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" y="6364224"/>
            <a:ext cx="22677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B4F9C"/>
                </a:solidFill>
                <a:latin typeface="Malgun Gothic"/>
              </a:rPr>
              <a:t>규제 대응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" y="6574536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관세청 통관 API 연동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7072" y="6382512"/>
            <a:ext cx="64008" cy="310896"/>
          </a:xfrm>
          <a:prstGeom prst="rect">
            <a:avLst/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0808" y="6364224"/>
            <a:ext cx="22677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E6B45"/>
                </a:solidFill>
                <a:latin typeface="Malgun Gothic"/>
              </a:rPr>
              <a:t>운영 디지털화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0808" y="6574536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B2B 산후조리원 전용몰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84240" y="6382512"/>
            <a:ext cx="64008" cy="310896"/>
          </a:xfrm>
          <a:prstGeom prst="rect">
            <a:avLst/>
          </a:prstGeom>
          <a:solidFill>
            <a:srgbClr val="B3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57976" y="6364224"/>
            <a:ext cx="22677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B34700"/>
                </a:solidFill>
                <a:latin typeface="Malgun Gothic"/>
              </a:rPr>
              <a:t>제품 기획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57976" y="6574536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마켓빅시 BIGSEE 리서치 SaaS</a:t>
            </a:r>
          </a:p>
        </p:txBody>
      </p:sp>
      <p:pic>
        <p:nvPicPr>
          <p:cNvPr id="30" name="Picture 29" descr="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4" y="640080"/>
            <a:ext cx="1219849" cy="17373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522208" y="26243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Malgun Gothic"/>
              </a:rPr>
              <a:t>PROFILE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862072"/>
            <a:ext cx="329184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Malgun Gothic"/>
              </a:rPr>
              <a:t>박종혁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317296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010-7449-6865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22208" y="3383280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parkjonghyeok2000@gmail.com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22208" y="3666744"/>
            <a:ext cx="3200400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22208" y="376732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Malgun Gothic"/>
              </a:rPr>
              <a:t>CAREER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2208" y="400507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A1A1A"/>
                </a:solidFill>
                <a:latin typeface="Malgun Gothic"/>
              </a:rPr>
              <a:t>아이베(EIBE) · SCM팀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8" y="424281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2025.09 ~ 재직 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445312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SCM 실무 · 사내 IT 기획 병행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22208" y="4727448"/>
            <a:ext cx="3200400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22208" y="4828032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Malgun Gothic"/>
              </a:rPr>
              <a:t>EDUCATION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2208" y="5065776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A1A1A"/>
                </a:solidFill>
                <a:latin typeface="Malgun Gothic"/>
              </a:rPr>
              <a:t>고려사이버대 AI·데이터과학부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22208" y="5294376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2025.02 편입 · 4.1 / 4.5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22208" y="551383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A1A1A"/>
                </a:solidFill>
                <a:latin typeface="Malgun Gothic"/>
              </a:rPr>
              <a:t>부천대 컴퓨터소프트웨어과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2208" y="5742432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2019.03 ~ 2024.02 · 3.8 / 4.5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22208" y="6016752"/>
            <a:ext cx="3200400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22208" y="611733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Malgun Gothic"/>
              </a:rPr>
              <a:t>SKILL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22208" y="6355080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요구사항·정책 설계 · 데이터 구조 · QA/UAT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6556248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Python · FastAPI · SQLAlchemy · SQL · pandas · 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02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88036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6E6E73"/>
                </a:solidFill>
                <a:latin typeface="Malgun Gothic"/>
              </a:rP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3182112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1A1A1A"/>
                </a:solidFill>
                <a:latin typeface="Malgun Gothic"/>
              </a:rPr>
              <a:t>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49240" y="1609344"/>
            <a:ext cx="20116" cy="4352544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444752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7E7EA"/>
                </a:solidFill>
                <a:latin typeface="Malgun Gothic"/>
              </a:rP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5296204" y="1659636"/>
            <a:ext cx="126187" cy="126187"/>
          </a:xfrm>
          <a:prstGeom prst="ellipse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33288" y="159105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B4F9C"/>
                </a:solidFill>
                <a:latin typeface="Malgun Gothic"/>
              </a:rPr>
              <a:t>규제 대응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159105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Malgun Gothic"/>
              </a:rPr>
              <a:t>강점 · 이해관계 조율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33288" y="1874519"/>
            <a:ext cx="5852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관세청 사전 거래정보 신고(TRA) 연동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3288" y="228600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p 03 ~ 08  |  전체 구매 여정 및 로직 기획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3288" y="2551176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2026.02 ~ 08 · 개발비 약 4,000만원 · 데이터 4개 주체 · 조율 5개사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944368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7E7EA"/>
                </a:solidFill>
                <a:latin typeface="Malgun Gothic"/>
              </a:rPr>
              <a:t>02</a:t>
            </a:r>
          </a:p>
        </p:txBody>
      </p:sp>
      <p:sp>
        <p:nvSpPr>
          <p:cNvPr id="15" name="Oval 14"/>
          <p:cNvSpPr/>
          <p:nvPr/>
        </p:nvSpPr>
        <p:spPr>
          <a:xfrm>
            <a:off x="5296204" y="3159252"/>
            <a:ext cx="126187" cy="126187"/>
          </a:xfrm>
          <a:prstGeom prst="ellipse">
            <a:avLst/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3090672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E6B45"/>
                </a:solidFill>
                <a:latin typeface="Malgun Gothic"/>
              </a:rPr>
              <a:t>운영 디지털화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3090672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Malgun Gothic"/>
              </a:rPr>
              <a:t>강점 · 현장 구조화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3288" y="3374136"/>
            <a:ext cx="5852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B2B 산후조리원 전용몰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3288" y="3785615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p 09 ~ 14  |  기획·QA 총괄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33288" y="4050791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2026.06 기획 ~ 08.31 최종 검수 · 계약처 약 140개소 · 공급사 5곳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443984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E7E7EA"/>
                </a:solidFill>
                <a:latin typeface="Malgun Gothic"/>
              </a:rPr>
              <a:t>03</a:t>
            </a:r>
          </a:p>
        </p:txBody>
      </p:sp>
      <p:sp>
        <p:nvSpPr>
          <p:cNvPr id="22" name="Oval 21"/>
          <p:cNvSpPr/>
          <p:nvPr/>
        </p:nvSpPr>
        <p:spPr>
          <a:xfrm>
            <a:off x="5296204" y="4658868"/>
            <a:ext cx="126187" cy="126187"/>
          </a:xfrm>
          <a:prstGeom prst="ellipse">
            <a:avLst/>
          </a:prstGeom>
          <a:solidFill>
            <a:srgbClr val="B3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33288" y="459028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B34700"/>
                </a:solidFill>
                <a:latin typeface="Malgun Gothic"/>
              </a:rPr>
              <a:t>제품 기획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9288" y="459028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Malgun Gothic"/>
              </a:rPr>
              <a:t>강점 · 운영 안착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3288" y="4873752"/>
            <a:ext cx="5852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마켓빅시 BIGSEE 리서치 SaaS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5285232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Malgun Gothic"/>
              </a:rPr>
              <a:t>p 15 ~ 21  |  제품·사업 기획 (개발 구현은 동료 전담)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3288" y="5550408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진행 중 · 등록 사용자 약 20명 (활성·유료 미확인)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" y="6199632"/>
            <a:ext cx="109682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성과 수치는 각 프로젝트 장에서 측정 기간·모수·원천과 함께 제시합니다.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3152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D2DFF1"/>
                </a:solidFill>
                <a:latin typeface="Malgun Gothic"/>
              </a:rPr>
              <a:t>01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76809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Project 01.   규제 대응 — 주문부터 출고까지 전사 흐름 재설계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1600200"/>
            <a:ext cx="868680" cy="871423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600200"/>
            <a:ext cx="868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B4F9C"/>
                </a:solidFill>
                <a:latin typeface="Malgun Gothic"/>
              </a:rPr>
              <a:t>KCS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1579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1B4F9C"/>
                </a:solidFill>
                <a:latin typeface="Malgun Gothic"/>
              </a:rPr>
              <a:t>TRA · PER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27632"/>
            <a:ext cx="5897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50" b="1">
                <a:solidFill>
                  <a:srgbClr val="FFFFFF"/>
                </a:solidFill>
                <a:latin typeface="Malgun Gothic"/>
              </a:rPr>
              <a:t>네 주체가 나눠 갖던 데이터를 하나의 신고로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39112"/>
            <a:ext cx="5897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spcAft>
                <a:spcPts val="0"/>
              </a:spcAft>
            </a:pPr>
            <a:r>
              <a:rPr sz="1300" b="0">
                <a:solidFill>
                  <a:srgbClr val="D2DFF1"/>
                </a:solidFill>
                <a:latin typeface="Malgun Gothic"/>
              </a:rPr>
              <a:t>주문 한 건의 데이터가 자사몰·본인확인기관·해외 ERP·통관대행사에 흩어져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D2DFF1"/>
                </a:solidFill>
                <a:latin typeface="Malgun Gothic"/>
              </a:rPr>
              <a:t>어디도 신고 한 건을 혼자 완성할 수 없었습니다.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34056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8FB2E0"/>
                </a:solidFill>
                <a:latin typeface="Malgun Gothic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08376"/>
            <a:ext cx="5989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Malgun Gothic"/>
              </a:rPr>
              <a:t>신고 판단과 상태 통제의 중심을 해외 ERP가 아닌 국내 DB로 이전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37560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8FB2E0"/>
                </a:solidFill>
                <a:latin typeface="Malgun Gothic"/>
              </a:rPr>
              <a:t>Main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66160"/>
            <a:ext cx="5989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Malgun Gothic"/>
              </a:rPr>
              <a:t>자사몰·외부 판매채널에서 해외직구를 구매하는 고객과 운영팀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941063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8FB2E0"/>
                </a:solidFill>
                <a:latin typeface="Malgun Gothic"/>
              </a:rPr>
              <a:t>Project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169663"/>
            <a:ext cx="5989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Malgun Gothic"/>
              </a:rPr>
              <a:t>미신고 출고 0건 · 채널 확장에 견디는 제출 구조 · 오류 복구 가능한 운영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3995" y="1600200"/>
            <a:ext cx="3843223" cy="3100730"/>
          </a:xfrm>
          <a:prstGeom prst="roundRect">
            <a:avLst>
              <a:gd name="adj" fmla="val 3243"/>
            </a:avLst>
          </a:prstGeom>
          <a:solidFill>
            <a:srgbClr val="1643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8315" y="1810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D2DFF1"/>
                </a:solidFill>
                <a:latin typeface="Malgun Gothic"/>
              </a:rPr>
              <a:t>데이터를 나눠 가진 네 주체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8315" y="2221992"/>
            <a:ext cx="3294583" cy="429768"/>
          </a:xfrm>
          <a:prstGeom prst="roundRect">
            <a:avLst>
              <a:gd name="adj" fmla="val 14893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195" y="2221992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자사몰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9898" y="2221992"/>
            <a:ext cx="9601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2DFF1"/>
                </a:solidFill>
                <a:latin typeface="Malgun Gothic"/>
              </a:rPr>
              <a:t>주문·결제·고객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8315" y="2807208"/>
            <a:ext cx="3294583" cy="429768"/>
          </a:xfrm>
          <a:prstGeom prst="roundRect">
            <a:avLst>
              <a:gd name="adj" fmla="val 14893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195" y="2807208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본인확인기관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59898" y="2807208"/>
            <a:ext cx="9601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2DFF1"/>
                </a:solidFill>
                <a:latin typeface="Malgun Gothic"/>
              </a:rPr>
              <a:t>통관부호 검증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8315" y="3392424"/>
            <a:ext cx="3294583" cy="429768"/>
          </a:xfrm>
          <a:prstGeom prst="roundRect">
            <a:avLst>
              <a:gd name="adj" fmla="val 14893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1195" y="3392424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해외 ERP·WMS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59898" y="3392424"/>
            <a:ext cx="9601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2DFF1"/>
                </a:solidFill>
                <a:latin typeface="Malgun Gothic"/>
              </a:rPr>
              <a:t>상품·운송장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8315" y="3977640"/>
            <a:ext cx="3294583" cy="429768"/>
          </a:xfrm>
          <a:prstGeom prst="roundRect">
            <a:avLst>
              <a:gd name="adj" fmla="val 14893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195" y="3977640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통관대행사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9898" y="3977640"/>
            <a:ext cx="9601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D2DFF1"/>
                </a:solidFill>
                <a:latin typeface="Malgun Gothic"/>
              </a:rPr>
              <a:t>수입신고·병합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" y="5001768"/>
            <a:ext cx="10968228" cy="11430"/>
          </a:xfrm>
          <a:prstGeom prst="rect">
            <a:avLst/>
          </a:prstGeom>
          <a:solidFill>
            <a:srgbClr val="8F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" y="534009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2E0"/>
                </a:solidFill>
                <a:latin typeface="Malgun Gothic"/>
              </a:rPr>
              <a:t>기간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340096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1F6FC"/>
                </a:solidFill>
                <a:latin typeface="Malgun Gothic"/>
              </a:rPr>
              <a:t>2026.02 ~ 2026.08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904" y="559612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2E0"/>
                </a:solidFill>
                <a:latin typeface="Malgun Gothic"/>
              </a:rPr>
              <a:t>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596128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1F6FC"/>
                </a:solidFill>
                <a:latin typeface="Malgun Gothic"/>
              </a:rPr>
              <a:t>정책·API 해석 / 대안 비교 / 요구사항·데이터 계약 정의 / 관계사 조율 / QA / 운영정책 수립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" y="585216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2E0"/>
                </a:solidFill>
                <a:latin typeface="Malgun Gothic"/>
              </a:rPr>
              <a:t>협업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852160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1F6FC"/>
                </a:solidFill>
                <a:latin typeface="Malgun Gothic"/>
              </a:rPr>
              <a:t>자사몰 개발사 · ERP 개발사 · 물류 개발사 · 통관대행사 · 본인확인기관 (역할명 표기)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" y="610819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2E0"/>
                </a:solidFill>
                <a:latin typeface="Malgun Gothic"/>
              </a:rPr>
              <a:t>산출물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6108192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1F6FC"/>
                </a:solidFill>
                <a:latin typeface="Malgun Gothic"/>
              </a:rPr>
              <a:t>통합 기획서 · API 필드 매핑표 · 리스크/질의 대장 · 정책 변경 이력 · E2E 시퀀스 · QA 시나리오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904" y="63642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B2E0"/>
                </a:solidFill>
                <a:latin typeface="Malgun Gothic"/>
              </a:rPr>
              <a:t>예산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6364224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1F6FC"/>
                </a:solidFill>
                <a:latin typeface="Malgun Gothic"/>
              </a:rPr>
              <a:t>개발비 약 4,000만원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B4F9C"/>
                </a:solidFill>
                <a:latin typeface="Malgun Gothi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배경과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" y="1426464"/>
            <a:ext cx="10968228" cy="107899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5936" y="1563624"/>
            <a:ext cx="1045616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120" b="0">
                <a:solidFill>
                  <a:srgbClr val="1A1A1A"/>
                </a:solidFill>
                <a:latin typeface="Malgun Gothic"/>
              </a:rPr>
              <a:t>1.   관세법 제254조가 2024.12.31 개정되어 2026.01.01 시행됩니다. 간이통관을 이용하려면 관세청에 등록해야 합니다.</a:t>
            </a:r>
          </a:p>
          <a:p>
            <a:pPr algn="l">
              <a:spcAft>
                <a:spcPts val="0"/>
              </a:spcAft>
            </a:pPr>
            <a:r>
              <a:rPr sz="1120" b="0">
                <a:solidFill>
                  <a:srgbClr val="1A1A1A"/>
                </a:solidFill>
                <a:latin typeface="Malgun Gothic"/>
              </a:rPr>
              <a:t>2.   시행령 제258조는 주문번호·구매일자·수하인 성명·PCCC·품명·수량·결제금액을 결제 완료 후 수입 전까지 전자적으로 제공하도록 구체화했습니다.</a:t>
            </a:r>
          </a:p>
          <a:p>
            <a:pPr algn="l">
              <a:spcAft>
                <a:spcPts val="0"/>
              </a:spcAft>
            </a:pPr>
            <a:r>
              <a:rPr sz="1120" b="0">
                <a:solidFill>
                  <a:srgbClr val="1A1A1A"/>
                </a:solidFill>
                <a:latin typeface="Malgun Gothic"/>
              </a:rPr>
              <a:t>3.   전자상거래 통관플랫폼에서는 전자상거래업자부호가 신고서·통관목록의 필수값이 되고, PCCC 도용방지와 공급망 단위 위험관리가 적용됩니다.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2770632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Malgun Gothic"/>
              </a:rPr>
              <a:t>AS-IS 1 — 데이터와 책임이 회사별로 나뉘어 있었다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090672"/>
            <a:ext cx="5330952" cy="429768"/>
          </a:xfrm>
          <a:prstGeom prst="roundRect">
            <a:avLst>
              <a:gd name="adj" fmla="val 14893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1072" y="3090672"/>
            <a:ext cx="15544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자사몰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2128" y="3090672"/>
            <a:ext cx="2651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Malgun Gothic"/>
              </a:rPr>
              <a:t>주문 · 결제 · 고객 정보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6184" y="3177540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50" b="1">
                <a:solidFill>
                  <a:srgbClr val="1B4F9C"/>
                </a:solidFill>
                <a:latin typeface="Malgun Gothic"/>
              </a:rPr>
              <a:t>국내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3602736"/>
            <a:ext cx="5330952" cy="429768"/>
          </a:xfrm>
          <a:prstGeom prst="roundRect">
            <a:avLst>
              <a:gd name="adj" fmla="val 14893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" y="3602736"/>
            <a:ext cx="15544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본인확인기관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2128" y="3602736"/>
            <a:ext cx="2651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Malgun Gothic"/>
              </a:rPr>
              <a:t>개인통관고유부호 유효성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6184" y="3689604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50" b="1">
                <a:solidFill>
                  <a:srgbClr val="1B4F9C"/>
                </a:solidFill>
                <a:latin typeface="Malgun Gothic"/>
              </a:rPr>
              <a:t>국내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" y="4114800"/>
            <a:ext cx="5330952" cy="429768"/>
          </a:xfrm>
          <a:prstGeom prst="roundRect">
            <a:avLst>
              <a:gd name="adj" fmla="val 14893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" y="4114800"/>
            <a:ext cx="15544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ERP · WMS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2128" y="4114800"/>
            <a:ext cx="2651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Malgun Gothic"/>
              </a:rPr>
              <a:t>상품 · 포장 · 운송장 · 실중량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6184" y="4201668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50" b="1">
                <a:solidFill>
                  <a:srgbClr val="B42318"/>
                </a:solidFill>
                <a:latin typeface="Malgun Gothic"/>
              </a:rPr>
              <a:t>해외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904" y="4626864"/>
            <a:ext cx="5330952" cy="429768"/>
          </a:xfrm>
          <a:prstGeom prst="roundRect">
            <a:avLst>
              <a:gd name="adj" fmla="val 14893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" y="4626864"/>
            <a:ext cx="15544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통관대행사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2128" y="4626864"/>
            <a:ext cx="26517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Malgun Gothic"/>
              </a:rPr>
              <a:t>수입신고 · 후속 신고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6184" y="4713732"/>
            <a:ext cx="621792" cy="256032"/>
          </a:xfrm>
          <a:prstGeom prst="roundRect">
            <a:avLst>
              <a:gd name="adj" fmla="val 50000"/>
            </a:avLst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50" b="1">
                <a:solidFill>
                  <a:srgbClr val="1B4F9C"/>
                </a:solidFill>
                <a:latin typeface="Malgun Gothic"/>
              </a:rPr>
              <a:t>국내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7180" y="2770632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Malgun Gothic"/>
              </a:rPr>
              <a:t>AS-IS 2 — 기존 Excel 수기 신고의 한계</a:t>
            </a:r>
          </a:p>
        </p:txBody>
      </p:sp>
      <p:sp>
        <p:nvSpPr>
          <p:cNvPr id="26" name="Oval 25"/>
          <p:cNvSpPr/>
          <p:nvPr/>
        </p:nvSpPr>
        <p:spPr>
          <a:xfrm>
            <a:off x="6247180" y="3236976"/>
            <a:ext cx="91440" cy="91440"/>
          </a:xfrm>
          <a:prstGeom prst="ellipse">
            <a:avLst/>
          </a:prstGeom>
          <a:solidFill>
            <a:srgbClr val="8F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6636" y="3108960"/>
            <a:ext cx="5111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20" b="0">
                <a:solidFill>
                  <a:srgbClr val="1A1A1A"/>
                </a:solidFill>
                <a:latin typeface="Malgun Gothic"/>
              </a:rPr>
              <a:t>제출 상태 · 오류 · 재처리 이력을 시스템으로 추적할 수 없습니다.</a:t>
            </a:r>
          </a:p>
        </p:txBody>
      </p:sp>
      <p:sp>
        <p:nvSpPr>
          <p:cNvPr id="28" name="Oval 27"/>
          <p:cNvSpPr/>
          <p:nvPr/>
        </p:nvSpPr>
        <p:spPr>
          <a:xfrm>
            <a:off x="6247180" y="3675887"/>
            <a:ext cx="91440" cy="91440"/>
          </a:xfrm>
          <a:prstGeom prst="ellipse">
            <a:avLst/>
          </a:prstGeom>
          <a:solidFill>
            <a:srgbClr val="8F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6636" y="3547872"/>
            <a:ext cx="5111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20" b="0">
                <a:solidFill>
                  <a:srgbClr val="1A1A1A"/>
                </a:solidFill>
                <a:latin typeface="Malgun Gothic"/>
              </a:rPr>
              <a:t>판매 채널이 늘어날수록 수작업과 중복 제출 위험이 함께 커집니다.</a:t>
            </a:r>
          </a:p>
        </p:txBody>
      </p:sp>
      <p:sp>
        <p:nvSpPr>
          <p:cNvPr id="30" name="Oval 29"/>
          <p:cNvSpPr/>
          <p:nvPr/>
        </p:nvSpPr>
        <p:spPr>
          <a:xfrm>
            <a:off x="6247180" y="4114799"/>
            <a:ext cx="91440" cy="91440"/>
          </a:xfrm>
          <a:prstGeom prst="ellipse">
            <a:avLst/>
          </a:prstGeom>
          <a:solidFill>
            <a:srgbClr val="8F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6636" y="3986783"/>
            <a:ext cx="5111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20" b="0">
                <a:solidFill>
                  <a:srgbClr val="1A1A1A"/>
                </a:solidFill>
                <a:latin typeface="Malgun Gothic"/>
              </a:rPr>
              <a:t>누가 언제 무엇을 제출했는지 남지 않아 사후 감사에 대응하기 어렵습니다.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7180" y="4480560"/>
            <a:ext cx="5330952" cy="493776"/>
          </a:xfrm>
          <a:prstGeom prst="roundRect">
            <a:avLst>
              <a:gd name="adj" fmla="val 12962"/>
            </a:avLst>
          </a:prstGeom>
          <a:solidFill>
            <a:srgbClr val="F3E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6636" y="4480560"/>
            <a:ext cx="48920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A6400"/>
                </a:solidFill>
                <a:latin typeface="Malgun Gothic"/>
              </a:rPr>
              <a:t>비상 대응 수단으로는 유지하되 상시 운영 방식에서는 제외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904" y="5266944"/>
            <a:ext cx="10968228" cy="1042415"/>
          </a:xfrm>
          <a:prstGeom prst="rect">
            <a:avLst/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2512" y="5394960"/>
            <a:ext cx="585216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Aft>
                <a:spcPts val="0"/>
              </a:spcAft>
            </a:pPr>
            <a:r>
              <a:rPr sz="1350" b="1">
                <a:solidFill>
                  <a:srgbClr val="16437F"/>
                </a:solidFill>
                <a:latin typeface="Malgun Gothic"/>
              </a:rPr>
              <a:t>네 곳 중 어디도 신고 한 건을 혼자 완성할 수 없었습니다.
누가 어떤 데이터를 책임지고, 어디서 하나의 신고로 완성할 것인가.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431536"/>
            <a:ext cx="4718304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기능 요구가 아니라 데이터 소유권과 책임의 문제로 정의한 것이
이 프로젝트의 출발점이었고, 이후 모든 대안 비교의 판단 기준이 됐습니다.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B4F9C"/>
                </a:solidFill>
                <a:latin typeface="Malgun 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대안 비교와 책임 분담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03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426464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Malgun Gothic"/>
              </a:rPr>
              <a:t>검토한 세 가지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70992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대안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0224" y="170992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장점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6224" y="1709928"/>
            <a:ext cx="3291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170992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판단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2544" y="1709928"/>
            <a:ext cx="12755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" y="1984248"/>
            <a:ext cx="10968228" cy="12700"/>
          </a:xfrm>
          <a:prstGeom prst="rect">
            <a:avLst/>
          </a:prstGeom>
          <a:solidFill>
            <a:srgbClr val="8F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2075688"/>
            <a:ext cx="242316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해외 ERP 개발사 중심 통제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0224" y="2075688"/>
            <a:ext cx="21488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상품·출고 원천 데이터 활용이 쉬움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6224" y="2075688"/>
            <a:ext cx="31546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개인정보 국외 이전 우려 · 해외 개발조직의 API 개방 승인·권한 확보 난이도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8064" y="2075688"/>
            <a:ext cx="1417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개인정보 보호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2544" y="2075688"/>
            <a:ext cx="113842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제외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" y="2642616"/>
            <a:ext cx="242316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Excel 수기 제출 유지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0224" y="2642616"/>
            <a:ext cx="21488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즉시 대응 가능 · 추가 개발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6224" y="2642616"/>
            <a:ext cx="31546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제출 상태·재처리·감사 추적 불가 · 채널 확장 시 중복 제출 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8064" y="2642616"/>
            <a:ext cx="1417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운영 추적성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2544" y="2642616"/>
            <a:ext cx="113842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장애 시 폴백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" y="3168396"/>
            <a:ext cx="10968228" cy="566928"/>
          </a:xfrm>
          <a:prstGeom prst="rect">
            <a:avLst/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3209544"/>
            <a:ext cx="242316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국내 자사몰 DB 중심 통제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0224" y="3209544"/>
            <a:ext cx="214884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개인정보 최소화 · 제출 상태 통제 · 원천별 책임 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6224" y="3209544"/>
            <a:ext cx="31546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신규 인터페이스와 회사 간 데이터 계약이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48064" y="3209544"/>
            <a:ext cx="141732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세 기준 모두 충족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2544" y="3209544"/>
            <a:ext cx="1138428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채택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904" y="3735324"/>
            <a:ext cx="10968228" cy="12700"/>
          </a:xfrm>
          <a:prstGeom prst="rect">
            <a:avLst/>
          </a:prstGeom>
          <a:solidFill>
            <a:srgbClr val="8F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904" y="3794759"/>
            <a:ext cx="10968228" cy="3657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" y="3794759"/>
            <a:ext cx="105293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판단 기준 순서   ①  개인정보 최소화      ②  제출 상태 통제 가능성      ③  원천별 책임 분리      ④  개발 난이도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" y="427939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Malgun Gothic"/>
              </a:rPr>
              <a:t>결정 후 각 주체가 책임지는 범위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279392"/>
            <a:ext cx="47201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A9AA0"/>
                </a:solidFill>
                <a:latin typeface="Malgun Gothic"/>
              </a:rPr>
              <a:t>R 실행 책임  ·  A 최종 승인  ·  C 협의  ·  I 통보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" y="457200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역할 / 데이터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70224" y="457200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자사몰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1784" y="4572000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본인확인기관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3384" y="457200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ERP · WMS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2104" y="457200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통관대행사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2264" y="4572000"/>
            <a:ext cx="35158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비고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904" y="4846320"/>
            <a:ext cx="10968228" cy="12700"/>
          </a:xfrm>
          <a:prstGeom prst="rect">
            <a:avLst/>
          </a:prstGeom>
          <a:solidFill>
            <a:srgbClr val="8F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4937760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주문 · 결제 · 고객 정보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13124" y="496062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21784" y="4937760"/>
            <a:ext cx="13716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A9AA0"/>
                </a:solidFill>
                <a:latin typeface="Malgun Gothic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93384" y="4937760"/>
            <a:ext cx="11887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A9AA0"/>
                </a:solidFill>
                <a:latin typeface="Malgun Gothic"/>
              </a:rPr>
              <a:t>·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239304" y="4960620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D2D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16437F"/>
                </a:solidFill>
                <a:latin typeface="Malgun Gothic"/>
              </a:rPr>
              <a:t>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2264" y="4937760"/>
            <a:ext cx="33787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원천 보유 · 제출 주체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" y="5285232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개인통관고유부호 검증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13124" y="5308092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D2D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16437F"/>
                </a:solidFill>
                <a:latin typeface="Malgun Gothic"/>
              </a:rPr>
              <a:t>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24704" y="5308092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3384" y="5285232"/>
            <a:ext cx="118872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A9AA0"/>
                </a:solidFill>
                <a:latin typeface="Malgun Gothic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82104" y="5285232"/>
            <a:ext cx="1280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A9AA0"/>
                </a:solidFill>
                <a:latin typeface="Malgun Gothic"/>
              </a:rPr>
              <a:t>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62264" y="5285232"/>
            <a:ext cx="33787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국내에서만 처리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904" y="5632704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상품 · 포장 · 운송장 · 실중량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13124" y="5655564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D2D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16437F"/>
                </a:solidFill>
                <a:latin typeface="Malgun Gothic"/>
              </a:rPr>
              <a:t>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21784" y="5632704"/>
            <a:ext cx="13716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A9AA0"/>
                </a:solidFill>
                <a:latin typeface="Malgun Gothic"/>
              </a:rPr>
              <a:t>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04864" y="5655564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239304" y="5655564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D2D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16437F"/>
                </a:solidFill>
                <a:latin typeface="Malgun Gothic"/>
              </a:rPr>
              <a:t>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62264" y="5632704"/>
            <a:ext cx="33787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해외 시스템이 원천 책임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904" y="5980176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관세청 제출과 상태 관리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513124" y="6003036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21784" y="5980176"/>
            <a:ext cx="13716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A9AA0"/>
                </a:solidFill>
                <a:latin typeface="Malgun Gothic"/>
              </a:rPr>
              <a:t>·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04864" y="6003036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D2D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16437F"/>
                </a:solidFill>
                <a:latin typeface="Malgun Gothic"/>
              </a:rPr>
              <a:t>C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39304" y="6003036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D2D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16437F"/>
                </a:solidFill>
                <a:latin typeface="Malgun Gothic"/>
              </a:rPr>
              <a:t>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62264" y="5980176"/>
            <a:ext cx="33787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통제점을 국내로 이전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9904" y="6327648"/>
            <a:ext cx="24231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운송장 기준 병합 · 후속 신고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513124" y="6350508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D2D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16437F"/>
                </a:solidFill>
                <a:latin typeface="Malgun Gothic"/>
              </a:rPr>
              <a:t>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21784" y="6327648"/>
            <a:ext cx="13716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A9AA0"/>
                </a:solidFill>
                <a:latin typeface="Malgun Gothic"/>
              </a:rPr>
              <a:t>·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004864" y="6350508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D2D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16437F"/>
                </a:solidFill>
                <a:latin typeface="Malgun Gothic"/>
              </a:rPr>
              <a:t>C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39304" y="6350508"/>
            <a:ext cx="365760" cy="292608"/>
          </a:xfrm>
          <a:prstGeom prst="roundRect">
            <a:avLst>
              <a:gd name="adj" fmla="val 15625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62264" y="6327648"/>
            <a:ext cx="33787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주문번호 + 운송장으로 병합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9904" y="6656832"/>
            <a:ext cx="10968228" cy="12700"/>
          </a:xfrm>
          <a:prstGeom prst="rect">
            <a:avLst/>
          </a:prstGeom>
          <a:solidFill>
            <a:srgbClr val="8FB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B4F9C"/>
                </a:solidFill>
                <a:latin typeface="Malgun Gothi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E2E 흐름과 사용자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04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93392" y="1426464"/>
            <a:ext cx="1572768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93392" y="1426464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고객</a:t>
            </a:r>
          </a:p>
        </p:txBody>
      </p:sp>
      <p:sp>
        <p:nvSpPr>
          <p:cNvPr id="8" name="Rectangle 7"/>
          <p:cNvSpPr/>
          <p:nvPr/>
        </p:nvSpPr>
        <p:spPr>
          <a:xfrm>
            <a:off x="3621024" y="1426464"/>
            <a:ext cx="1572768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1426464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자사몰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48656" y="1426464"/>
            <a:ext cx="1572768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48656" y="1426464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본인확인기관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76288" y="1426464"/>
            <a:ext cx="1572768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1426464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ERP · WMS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426464"/>
            <a:ext cx="1572768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26464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관세청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31552" y="1426464"/>
            <a:ext cx="1572768" cy="34747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31552" y="1426464"/>
            <a:ext cx="157276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통관대행사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4" y="1856232"/>
            <a:ext cx="1298448" cy="512064"/>
          </a:xfrm>
          <a:prstGeom prst="rect">
            <a:avLst/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" y="1892808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437F"/>
                </a:solidFill>
                <a:latin typeface="Malgun Gothic"/>
              </a:rPr>
              <a:t>Stage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" y="21122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최초 1회 본인확인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93392" y="1856232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1856232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본인확인 요청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21024" y="1856232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2" y="1856232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인증키 발급 요청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48656" y="1856232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2664" y="1856232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인증키 반환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2231136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>
                <a:solidFill>
                  <a:srgbClr val="9A9AA0"/>
                </a:solidFill>
                <a:latin typeface="Malgun Gothic"/>
              </a:rPr>
              <a:t>인증키는 국내 회원 DB에 암호화 저장 · 원문 미저장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" y="2514600"/>
            <a:ext cx="1298448" cy="512064"/>
          </a:xfrm>
          <a:prstGeom prst="rect">
            <a:avLst/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" y="2551176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437F"/>
                </a:solidFill>
                <a:latin typeface="Malgun Gothic"/>
              </a:rPr>
              <a:t>Stage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" y="2770632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결제 시점 검증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93392" y="2514600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2514600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통관부호 입력·결제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21024" y="2514600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85032" y="2514600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간소화 검증 요청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48656" y="2514600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12664" y="2514600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검증 결과 회신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3392" y="2889504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>
                <a:solidFill>
                  <a:srgbClr val="9A9AA0"/>
                </a:solidFill>
                <a:latin typeface="Malgun Gothic"/>
              </a:rPr>
              <a:t>불일치·무효면 결제 차단 후 수정 또는 일반 인증으로 전환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" y="3172968"/>
            <a:ext cx="1298448" cy="512064"/>
          </a:xfrm>
          <a:prstGeom prst="rect">
            <a:avLst/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904" y="320954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437F"/>
                </a:solidFill>
                <a:latin typeface="Malgun Gothic"/>
              </a:rPr>
              <a:t>Stage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904" y="3429000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주문 수집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21024" y="3172968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85032" y="3172968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결제완료 주문 확정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76288" y="3172968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0296" y="3172968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주문 수집 · 상태 변경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93392" y="354787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>
                <a:solidFill>
                  <a:srgbClr val="9A9AA0"/>
                </a:solidFill>
                <a:latin typeface="Malgun Gothic"/>
              </a:rPr>
              <a:t>이 시점부터 고객 취소·환불 버튼 제거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9904" y="3831335"/>
            <a:ext cx="1298448" cy="512064"/>
          </a:xfrm>
          <a:prstGeom prst="rect">
            <a:avLst/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9904" y="3867911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437F"/>
                </a:solidFill>
                <a:latin typeface="Malgun Gothic"/>
              </a:rPr>
              <a:t>Stage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904" y="4087368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운송장 배정·제출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21024" y="3831335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85032" y="3831335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전건 배정 확인 후 제출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76288" y="3831335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0296" y="3831335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운송장·포장 확정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03920" y="3831335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7928" y="3831335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신고 접수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93392" y="420624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>
                <a:solidFill>
                  <a:srgbClr val="9A9AA0"/>
                </a:solidFill>
                <a:latin typeface="Malgun Gothic"/>
              </a:rPr>
              <a:t>일부만 배정되면 대기 상태 유지 · 부분 제출 차단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904" y="4489703"/>
            <a:ext cx="1298448" cy="512064"/>
          </a:xfrm>
          <a:prstGeom prst="rect">
            <a:avLst/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9904" y="4526279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437F"/>
                </a:solidFill>
                <a:latin typeface="Malgun Gothic"/>
              </a:rPr>
              <a:t>Stage 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904" y="4745736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오류 확인·복구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21024" y="4489703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85032" y="4489703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원천 구분 후 수정·재제출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03920" y="4489703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67928" y="4489703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오류 코드 회신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993392" y="4864607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>
                <a:solidFill>
                  <a:srgbClr val="9A9AA0"/>
                </a:solidFill>
                <a:latin typeface="Malgun Gothic"/>
              </a:rPr>
              <a:t>약 1분 내 회신 · 관리자 화면에서 원인 확인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9904" y="5148071"/>
            <a:ext cx="1298448" cy="512064"/>
          </a:xfrm>
          <a:prstGeom prst="rect">
            <a:avLst/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9904" y="5184647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6437F"/>
                </a:solidFill>
                <a:latin typeface="Malgun Gothic"/>
              </a:rPr>
              <a:t>Stage 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9904" y="5404103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병합·후속 신고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876288" y="5148071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0296" y="5148071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실물 물류 확정 전송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503920" y="5148071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67928" y="5148071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수입신고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31552" y="5148071"/>
            <a:ext cx="1572768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95560" y="5148071"/>
            <a:ext cx="14447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운송장+주문번호로 병합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993392" y="5522975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40" b="0">
                <a:solidFill>
                  <a:srgbClr val="9A9AA0"/>
                </a:solidFill>
                <a:latin typeface="Malgun Gothic"/>
              </a:rPr>
              <a:t>미신고 상태에서는 출고되지 않도록 차단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9904" y="5833871"/>
            <a:ext cx="4937760" cy="5120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9360" y="5833871"/>
            <a:ext cx="471830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algun Gothic"/>
              </a:rPr>
              <a:t>운송장 1건  =  해외 포장 1건  =  제출 1건  =  통관 신고 1건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52160" y="5870447"/>
            <a:ext cx="57259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회사마다 다르게 부르던 단계를 하나의 그림으로 맞춰,
개발 범위 협의의 기준 문서가 됐습니다.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B4F9C"/>
                </a:solidFill>
                <a:latin typeface="Malgun Gothi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요구사항과 실제 산출물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05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4264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Malgun Gothic"/>
              </a:rPr>
              <a:t>운영 정책 변경 — 당일 출고 주문 마감 11:00 → 09:00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728216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904" y="1792224"/>
            <a:ext cx="17823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algun Gothic"/>
              </a:rPr>
              <a:t>09:00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" y="2057400"/>
            <a:ext cx="167259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D2DFF1"/>
                </a:solidFill>
                <a:latin typeface="Malgun Gothic"/>
              </a:rPr>
              <a:t>주문 수집 마감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7086" y="1728216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7086" y="1792224"/>
            <a:ext cx="17823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437F"/>
                </a:solidFill>
                <a:latin typeface="Malgun Gothic"/>
              </a:rPr>
              <a:t>11:10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1950" y="2057400"/>
            <a:ext cx="167259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처리창 시작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4268" y="1728216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4268" y="1792224"/>
            <a:ext cx="17823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437F"/>
                </a:solidFill>
                <a:latin typeface="Malgun Gothic"/>
              </a:rPr>
              <a:t>11:40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9132" y="2057400"/>
            <a:ext cx="167259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오류 조회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1450" y="1728216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1450" y="1792224"/>
            <a:ext cx="17823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437F"/>
                </a:solidFill>
                <a:latin typeface="Malgun Gothic"/>
              </a:rPr>
              <a:t>11:50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6314" y="2057400"/>
            <a:ext cx="167259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처리창 마감 · 미해결 격리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8632" y="1728216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8632" y="1792224"/>
            <a:ext cx="17823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437F"/>
                </a:solidFill>
                <a:latin typeface="Malgun Gothic"/>
              </a:rPr>
              <a:t>12:00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3496" y="2057400"/>
            <a:ext cx="167259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출고 취소 마감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95814" y="1728216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95814" y="1792224"/>
            <a:ext cx="17823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6437F"/>
                </a:solidFill>
                <a:latin typeface="Malgun Gothic"/>
              </a:rPr>
              <a:t>13:00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0678" y="2057400"/>
            <a:ext cx="167259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출고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" y="2404872"/>
            <a:ext cx="109682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마감을 2시간 앞당기는 대신 주문 안내 문구·배너·CS 응대 기준을 함께 고쳤습니다.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" y="3035808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Malgun Gothic"/>
              </a:rPr>
              <a:t>데이터 계약 — 필드가 아니라 값의 의미를 고정했다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904" y="3364992"/>
            <a:ext cx="1554480" cy="530352"/>
          </a:xfrm>
          <a:prstGeom prst="rect">
            <a:avLst/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7920" y="3364992"/>
            <a:ext cx="12984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437F"/>
                </a:solidFill>
                <a:latin typeface="Malgun Gothic"/>
              </a:rPr>
              <a:t>고객 최종 결제액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01544" y="3364992"/>
            <a:ext cx="3639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60" b="0">
                <a:solidFill>
                  <a:srgbClr val="1A1A1A"/>
                </a:solidFill>
                <a:latin typeface="Malgun Gothic"/>
              </a:rPr>
              <a:t>운송장별 신고가액과 분리해 관리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" y="3968496"/>
            <a:ext cx="1554480" cy="530352"/>
          </a:xfrm>
          <a:prstGeom prst="rect">
            <a:avLst/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20" y="3968496"/>
            <a:ext cx="12984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437F"/>
                </a:solidFill>
                <a:latin typeface="Malgun Gothic"/>
              </a:rPr>
              <a:t>원주문번호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01544" y="3968496"/>
            <a:ext cx="3639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60" b="0">
                <a:solidFill>
                  <a:srgbClr val="1A1A1A"/>
                </a:solidFill>
                <a:latin typeface="Malgun Gothic"/>
              </a:rPr>
              <a:t>ERP 분할번호 · 운송장을 별도 식별자로 유지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904" y="4572000"/>
            <a:ext cx="1554480" cy="530352"/>
          </a:xfrm>
          <a:prstGeom prst="rect">
            <a:avLst/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920" y="4572000"/>
            <a:ext cx="12984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437F"/>
                </a:solidFill>
                <a:latin typeface="Malgun Gothic"/>
              </a:rPr>
              <a:t>인증 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01544" y="4572000"/>
            <a:ext cx="3639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60" b="0">
                <a:solidFill>
                  <a:srgbClr val="1A1A1A"/>
                </a:solidFill>
                <a:latin typeface="Malgun Gothic"/>
              </a:rPr>
              <a:t>해외에 전달하지 않고 국내에서 통관대행사로 직접 전달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904" y="5175504"/>
            <a:ext cx="1554480" cy="530352"/>
          </a:xfrm>
          <a:prstGeom prst="rect">
            <a:avLst/>
          </a:prstGeom>
          <a:solidFill>
            <a:srgbClr val="F1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20" y="5175504"/>
            <a:ext cx="1298448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437F"/>
                </a:solidFill>
                <a:latin typeface="Malgun Gothic"/>
              </a:rPr>
              <a:t>상품 · 실중량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01544" y="5175504"/>
            <a:ext cx="363931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60" b="0">
                <a:solidFill>
                  <a:srgbClr val="1A1A1A"/>
                </a:solidFill>
                <a:latin typeface="Malgun Gothic"/>
              </a:rPr>
              <a:t>해외 ERP·WMS가 책임지고 자사몰은 재계산하지 않음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7180" y="3035808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Malgun Gothic"/>
              </a:rPr>
              <a:t>이 문서들이 실제로 한 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7180" y="3364992"/>
            <a:ext cx="533095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66636" y="3447288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의사결정을 남긴다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6636" y="3712464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결정이 번복되면 이유와 날짜를 함께 기록해 같은 논쟁을 반복하지 않도록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47180" y="4169664"/>
            <a:ext cx="533095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66636" y="4251960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등급으로 관리한다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6636" y="4517136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오픈을 막는 P0와 오픈 전 정리 P1을 분리해 일정 판단의 근거로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47180" y="4974336"/>
            <a:ext cx="5330952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66636" y="5056632"/>
            <a:ext cx="4892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A1A1A"/>
                </a:solidFill>
                <a:latin typeface="Malgun Gothic"/>
              </a:rPr>
              <a:t>회사 간 계약이 된다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6636" y="5321808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필드 매핑표가 세 개발사의 개발 범위와 책임 경계를 정하는 기준 문서로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904" y="6144768"/>
            <a:ext cx="109682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0">
                <a:solidFill>
                  <a:srgbClr val="9A9AA0"/>
                </a:solidFill>
                <a:latin typeface="Malgun Gothic"/>
              </a:rPr>
              <a:t>협력사명은 자사몰 개발사 · ERP 개발사 · 물류 개발사 · 통관대행사 · 본인확인기관으로 치환한 사본을 사용했고 수치·계정 정보는 마스킹했습니다.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B4F9C"/>
                </a:solidFill>
                <a:latin typeface="Malgun Gothi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검증과 확장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06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426464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Malgun Gothic"/>
              </a:rPr>
              <a:t>운영 환경 30건 · 테스트 목적 30/30 통과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728216"/>
            <a:ext cx="5330952" cy="411480"/>
          </a:xfrm>
          <a:prstGeom prst="roundRect">
            <a:avLst>
              <a:gd name="adj" fmla="val 15555"/>
            </a:avLst>
          </a:prstGeom>
          <a:solidFill>
            <a:srgbClr val="E9F1FC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" y="1728216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6437F"/>
                </a:solidFill>
                <a:latin typeface="Malgun Gothic"/>
              </a:rPr>
              <a:t>정상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7264" y="1728216"/>
            <a:ext cx="34107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>
                <a:solidFill>
                  <a:srgbClr val="1A1A1A"/>
                </a:solidFill>
                <a:latin typeface="Malgun Gothic"/>
              </a:rPr>
              <a:t>정상 접수 성공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2203704"/>
            <a:ext cx="5330952" cy="411480"/>
          </a:xfrm>
          <a:prstGeom prst="roundRect">
            <a:avLst>
              <a:gd name="adj" fmla="val 15555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" y="220370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6437F"/>
                </a:solidFill>
                <a:latin typeface="Malgun Gothic"/>
              </a:rPr>
              <a:t>의도 오류 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47264" y="2203704"/>
            <a:ext cx="34107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>
                <a:solidFill>
                  <a:srgbClr val="1A1A1A"/>
                </a:solidFill>
                <a:latin typeface="Malgun Gothic"/>
              </a:rPr>
              <a:t>예상한 오류를 정확히 반환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2679192"/>
            <a:ext cx="5330952" cy="411480"/>
          </a:xfrm>
          <a:prstGeom prst="roundRect">
            <a:avLst>
              <a:gd name="adj" fmla="val 15555"/>
            </a:avLst>
          </a:prstGeom>
          <a:solidFill>
            <a:srgbClr val="E9F1FC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072" y="267919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6437F"/>
                </a:solidFill>
                <a:latin typeface="Malgun Gothic"/>
              </a:rPr>
              <a:t>오류 수정 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47264" y="2679192"/>
            <a:ext cx="341071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>
                <a:solidFill>
                  <a:srgbClr val="1A1A1A"/>
                </a:solidFill>
                <a:latin typeface="Malgun Gothic"/>
              </a:rPr>
              <a:t>원천 수정 후 새 제출번호로 재제출 성공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3200400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Malgun Gothic"/>
              </a:rPr>
              <a:t>핵심 E2E 시나리오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" y="3511296"/>
            <a:ext cx="5330952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" y="3511296"/>
            <a:ext cx="41422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60" b="0">
                <a:solidFill>
                  <a:srgbClr val="1A1A1A"/>
                </a:solidFill>
                <a:latin typeface="Malgun Gothic"/>
              </a:rPr>
              <a:t>간소화 · 일반 본인확인 분기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8168" y="3552444"/>
            <a:ext cx="731520" cy="265176"/>
          </a:xfrm>
          <a:prstGeom prst="roundRect">
            <a:avLst>
              <a:gd name="adj" fmla="val 48275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50" b="1">
                <a:solidFill>
                  <a:srgbClr val="1E7A46"/>
                </a:solidFill>
                <a:latin typeface="Malgun Gothic"/>
              </a:rPr>
              <a:t>PASS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904" y="3922776"/>
            <a:ext cx="5330952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072" y="3922776"/>
            <a:ext cx="41422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60" b="0">
                <a:solidFill>
                  <a:srgbClr val="1A1A1A"/>
                </a:solidFill>
                <a:latin typeface="Malgun Gothic"/>
              </a:rPr>
              <a:t>한 주문의 다중 운송장 분할 제출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8168" y="3963924"/>
            <a:ext cx="731520" cy="265176"/>
          </a:xfrm>
          <a:prstGeom prst="roundRect">
            <a:avLst>
              <a:gd name="adj" fmla="val 48275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50" b="1">
                <a:solidFill>
                  <a:srgbClr val="1E7A46"/>
                </a:solidFill>
                <a:latin typeface="Malgun Gothic"/>
              </a:rPr>
              <a:t>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904" y="4334256"/>
            <a:ext cx="5330952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" y="4334256"/>
            <a:ext cx="41422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60" b="0">
                <a:solidFill>
                  <a:srgbClr val="1A1A1A"/>
                </a:solidFill>
                <a:latin typeface="Malgun Gothic"/>
              </a:rPr>
              <a:t>운송장 미배정 · 부분배정 상태의 제출 차단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08168" y="4375404"/>
            <a:ext cx="731520" cy="265176"/>
          </a:xfrm>
          <a:prstGeom prst="roundRect">
            <a:avLst>
              <a:gd name="adj" fmla="val 48275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50" b="1">
                <a:solidFill>
                  <a:srgbClr val="1E7A46"/>
                </a:solidFill>
                <a:latin typeface="Malgun Gothic"/>
              </a:rPr>
              <a:t>PASS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904" y="4745736"/>
            <a:ext cx="5330952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072" y="4745736"/>
            <a:ext cx="41422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60" b="0">
                <a:solidFill>
                  <a:srgbClr val="1A1A1A"/>
                </a:solidFill>
                <a:latin typeface="Malgun Gothic"/>
              </a:rPr>
              <a:t>국내 통관 데이터와 해외 물류 데이터 병합 · 중복방지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08168" y="4786883"/>
            <a:ext cx="731520" cy="265176"/>
          </a:xfrm>
          <a:prstGeom prst="roundRect">
            <a:avLst>
              <a:gd name="adj" fmla="val 48275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50" b="1">
                <a:solidFill>
                  <a:srgbClr val="1E7A46"/>
                </a:solidFill>
                <a:latin typeface="Malgun Gothic"/>
              </a:rPr>
              <a:t>PASS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" y="5157216"/>
            <a:ext cx="5330952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" y="5157216"/>
            <a:ext cx="41422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60" b="0">
                <a:solidFill>
                  <a:srgbClr val="1A1A1A"/>
                </a:solidFill>
                <a:latin typeface="Malgun Gothic"/>
              </a:rPr>
              <a:t>자사몰 · 외부 채널별 데이터 프로필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08168" y="5198364"/>
            <a:ext cx="731520" cy="265176"/>
          </a:xfrm>
          <a:prstGeom prst="roundRect">
            <a:avLst>
              <a:gd name="adj" fmla="val 48275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50" b="1">
                <a:solidFill>
                  <a:srgbClr val="1E7A46"/>
                </a:solidFill>
                <a:latin typeface="Malgun Gothic"/>
              </a:rPr>
              <a:t>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7180" y="1426464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Malgun Gothic"/>
              </a:rPr>
              <a:t>오류 복구 루프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7180" y="1728216"/>
            <a:ext cx="3200400" cy="356616"/>
          </a:xfrm>
          <a:prstGeom prst="roundRect">
            <a:avLst>
              <a:gd name="adj" fmla="val 17948"/>
            </a:avLst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0060" y="1728216"/>
            <a:ext cx="2834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제출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8620" y="2075688"/>
            <a:ext cx="27432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FB2E0"/>
                </a:solidFill>
                <a:latin typeface="Malgun Gothic"/>
              </a:rPr>
              <a:t>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7180" y="2176272"/>
            <a:ext cx="3200400" cy="356616"/>
          </a:xfrm>
          <a:prstGeom prst="roundRect">
            <a:avLst>
              <a:gd name="adj" fmla="val 17948"/>
            </a:avLst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30060" y="2176272"/>
            <a:ext cx="2834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437F"/>
                </a:solidFill>
                <a:latin typeface="Malgun Gothic"/>
              </a:rPr>
              <a:t>오류 코드 회신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7308" y="2176272"/>
            <a:ext cx="202082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약 1분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8620" y="2523744"/>
            <a:ext cx="27432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FB2E0"/>
                </a:solidFill>
                <a:latin typeface="Malgun Gothic"/>
              </a:rPr>
              <a:t>▼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7180" y="2624328"/>
            <a:ext cx="3200400" cy="356616"/>
          </a:xfrm>
          <a:prstGeom prst="roundRect">
            <a:avLst>
              <a:gd name="adj" fmla="val 17948"/>
            </a:avLst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0060" y="2624328"/>
            <a:ext cx="2834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437F"/>
                </a:solidFill>
                <a:latin typeface="Malgun Gothic"/>
              </a:rPr>
              <a:t>관리자 화면에서 원인 확인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57308" y="2624328"/>
            <a:ext cx="202082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어떤 값이 왜 틀렸는지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38620" y="2971800"/>
            <a:ext cx="27432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FB2E0"/>
                </a:solidFill>
                <a:latin typeface="Malgun Gothic"/>
              </a:rPr>
              <a:t>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47180" y="3072384"/>
            <a:ext cx="3200400" cy="356616"/>
          </a:xfrm>
          <a:prstGeom prst="roundRect">
            <a:avLst>
              <a:gd name="adj" fmla="val 17948"/>
            </a:avLst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0060" y="3072384"/>
            <a:ext cx="2834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437F"/>
                </a:solidFill>
                <a:latin typeface="Malgun Gothic"/>
              </a:rPr>
              <a:t>원천 구분 후 수정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7308" y="3072384"/>
            <a:ext cx="202082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자사 / 해외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8620" y="3419856"/>
            <a:ext cx="274320" cy="100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0">
                <a:solidFill>
                  <a:srgbClr val="8FB2E0"/>
                </a:solidFill>
                <a:latin typeface="Malgun Gothic"/>
              </a:rPr>
              <a:t>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47180" y="3520440"/>
            <a:ext cx="3200400" cy="356616"/>
          </a:xfrm>
          <a:prstGeom prst="roundRect">
            <a:avLst>
              <a:gd name="adj" fmla="val 17948"/>
            </a:avLst>
          </a:prstGeom>
          <a:solidFill>
            <a:srgbClr val="E9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30060" y="3520440"/>
            <a:ext cx="2834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6437F"/>
                </a:solidFill>
                <a:latin typeface="Malgun Gothic"/>
              </a:rPr>
              <a:t>새 제출번호로 재제출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57308" y="3520440"/>
            <a:ext cx="202082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처리창 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47180" y="3922776"/>
            <a:ext cx="5330952" cy="603504"/>
          </a:xfrm>
          <a:prstGeom prst="roundRect">
            <a:avLst>
              <a:gd name="adj" fmla="val 10606"/>
            </a:avLst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6636" y="3922776"/>
            <a:ext cx="489204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2000"/>
              </a:lnSpc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Malgun Gothic"/>
              </a:rPr>
              <a:t>11:50까지 해결되지 않으면 수동 통관 목록으로 격리
자동 재제출과 자동 출고를 차단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47180" y="4709160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B4F9C"/>
                </a:solidFill>
                <a:latin typeface="Malgun Gothic"/>
              </a:rPr>
              <a:t>조율에서 실제로 뚫은 것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47180" y="5074920"/>
            <a:ext cx="1143000" cy="27432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ERP 개발사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27340" y="5020056"/>
            <a:ext cx="405079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세관 제출용과 정보 조회용 로직이 따로 돌아 조회가 느렸습니다.
두 로직을 잇는 중간 API를 새로 정의해 경로를 하나로 만들었습니다.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47180" y="5733288"/>
            <a:ext cx="1143000" cy="27432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통관대행사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27340" y="5678424"/>
            <a:ext cx="405079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API 필수값이 제출 기준에만 맞춰져 취합 로직과 맞지 않았습니다.
ERP용과 자사몰용 API를 각각 만들도록 요청해 분리했습니다.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315200"/>
          </a:xfrm>
          <a:prstGeom prst="rect">
            <a:avLst/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CDEAD9"/>
                </a:solidFill>
                <a:latin typeface="Malgun Gothic"/>
              </a:rPr>
              <a:t>01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76809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Project 02.   운영 디지털화 — 수기 운영을 설정형 시스템으로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1600200"/>
            <a:ext cx="868680" cy="871423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600200"/>
            <a:ext cx="868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E6B45"/>
                </a:solidFill>
                <a:latin typeface="Malgun Gothic"/>
              </a:rPr>
              <a:t>B2B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1579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1E6B45"/>
                </a:solidFill>
                <a:latin typeface="Malgun Gothic"/>
              </a:rPr>
              <a:t>회원제 폐쇄몰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27632"/>
            <a:ext cx="5897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50" b="1">
                <a:solidFill>
                  <a:srgbClr val="FFFFFF"/>
                </a:solidFill>
                <a:latin typeface="Malgun Gothic"/>
              </a:rPr>
              <a:t>산후조리원 전용 B2B 폐쇄몰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39112"/>
            <a:ext cx="5897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spcAft>
                <a:spcPts val="0"/>
              </a:spcAft>
            </a:pPr>
            <a:r>
              <a:rPr sz="1300" b="0">
                <a:solidFill>
                  <a:srgbClr val="CDEAD9"/>
                </a:solidFill>
                <a:latin typeface="Malgun Gothic"/>
              </a:rPr>
              <a:t>계약마다 달라지는 상품·단가·결제·포인트 규칙을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DEAD9"/>
                </a:solidFill>
                <a:latin typeface="Malgun Gothic"/>
              </a:rPr>
              <a:t>운영자가 직접 설정하는 정책 구조로 바꿨습니다.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34056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ED4B6"/>
                </a:solidFill>
                <a:latin typeface="Malgun Gothic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08376"/>
            <a:ext cx="5989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Malgun Gothic"/>
              </a:rPr>
              <a:t>계약 예외를 코드가 아니라 관리자 설정값으로 분해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37560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ED4B6"/>
                </a:solidFill>
                <a:latin typeface="Malgun Gothic"/>
              </a:rPr>
              <a:t>Main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566160"/>
            <a:ext cx="5989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Malgun Gothic"/>
              </a:rPr>
              <a:t>계약 조리원 담당자 · 내부 운영팀 · 공급사 5곳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941063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ED4B6"/>
                </a:solidFill>
                <a:latin typeface="Malgun Gothic"/>
              </a:rPr>
              <a:t>Project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169663"/>
            <a:ext cx="5989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Malgun Gothic"/>
              </a:rPr>
              <a:t>오출고 제거 · 입금 대조 자동화 · 신규 계약을 개발 없이 처리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3995" y="1600200"/>
            <a:ext cx="3843223" cy="3100730"/>
          </a:xfrm>
          <a:prstGeom prst="roundRect">
            <a:avLst>
              <a:gd name="adj" fmla="val 3243"/>
            </a:avLst>
          </a:prstGeom>
          <a:solidFill>
            <a:srgbClr val="17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8315" y="1810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DEAD9"/>
                </a:solidFill>
                <a:latin typeface="Malgun Gothic"/>
              </a:rPr>
              <a:t>30개소에서 되던 것이 140개소에서 깨졌다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8315" y="2221992"/>
            <a:ext cx="3294583" cy="429768"/>
          </a:xfrm>
          <a:prstGeom prst="roundRect">
            <a:avLst>
              <a:gd name="adj" fmla="val 14893"/>
            </a:avLst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195" y="2221992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매일 입금 대조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9898" y="2221992"/>
            <a:ext cx="9601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DEAD9"/>
                </a:solidFill>
                <a:latin typeface="Malgun Gothic"/>
              </a:rPr>
              <a:t>15~30분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8315" y="2807208"/>
            <a:ext cx="3294583" cy="429768"/>
          </a:xfrm>
          <a:prstGeom prst="roundRect">
            <a:avLst>
              <a:gd name="adj" fmla="val 14893"/>
            </a:avLst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195" y="2807208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월말 정산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59898" y="2807208"/>
            <a:ext cx="9601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DEAD9"/>
                </a:solidFill>
                <a:latin typeface="Malgun Gothic"/>
              </a:rPr>
              <a:t>2명 × 약 7시간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8315" y="3392424"/>
            <a:ext cx="3294583" cy="429768"/>
          </a:xfrm>
          <a:prstGeom prst="roundRect">
            <a:avLst>
              <a:gd name="adj" fmla="val 14893"/>
            </a:avLst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1195" y="3392424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오출고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59898" y="3392424"/>
            <a:ext cx="9601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DEAD9"/>
                </a:solidFill>
                <a:latin typeface="Malgun Gothic"/>
              </a:rPr>
              <a:t>월 2~3건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8315" y="3977640"/>
            <a:ext cx="3294583" cy="429768"/>
          </a:xfrm>
          <a:prstGeom prst="roundRect">
            <a:avLst>
              <a:gd name="adj" fmla="val 14893"/>
            </a:avLst>
          </a:prstGeom>
          <a:solidFill>
            <a:srgbClr val="1E6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195" y="3977640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발주량 취합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9898" y="3977640"/>
            <a:ext cx="9601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CDEAD9"/>
                </a:solidFill>
                <a:latin typeface="Malgun Gothic"/>
              </a:rPr>
              <a:t>수기 시트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" y="5001768"/>
            <a:ext cx="10968228" cy="11430"/>
          </a:xfrm>
          <a:prstGeom prst="rect">
            <a:avLst/>
          </a:prstGeom>
          <a:solidFill>
            <a:srgbClr val="9ED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" y="534009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9ED4B6"/>
                </a:solidFill>
                <a:latin typeface="Malgun Gothic"/>
              </a:rPr>
              <a:t>기간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340096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0F9F4"/>
                </a:solidFill>
                <a:latin typeface="Malgun Gothic"/>
              </a:rPr>
              <a:t>2026.06 기획 → 07.02 개발 착수 → 07.16 핵심 서비스 전체 가동 → 08.06~08.13 운영 고도화·QA → 08.31 최종 검수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904" y="559612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9ED4B6"/>
                </a:solidFill>
                <a:latin typeface="Malgun Gothic"/>
              </a:rPr>
              <a:t>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596128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0F9F4"/>
                </a:solidFill>
                <a:latin typeface="Malgun Gothic"/>
              </a:rPr>
              <a:t>문제 정의 / 플랫폼 대안 검토 / 서비스 정책·요구사항 정의 / 외주 개발 조율 / QA·UAT / 운영 정책 설계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" y="585216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9ED4B6"/>
                </a:solidFill>
                <a:latin typeface="Malgun Gothic"/>
              </a:rPr>
              <a:t>협업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852160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0F9F4"/>
                </a:solidFill>
                <a:latin typeface="Malgun Gothic"/>
              </a:rPr>
              <a:t>커머스 솔루션 구축사 · 내부 운영팀 · 영업 · 공급사 5곳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904" y="610819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9ED4B6"/>
                </a:solidFill>
                <a:latin typeface="Malgun Gothic"/>
              </a:rPr>
              <a:t>산출물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3040" y="6108192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0F9F4"/>
                </a:solidFill>
                <a:latin typeface="Malgun Gothic"/>
              </a:rPr>
              <a:t>요구사항 대장 · 과업지시서 · 4계정 정책 매트릭스 · 권한표 · UAT 시나리오 · 운영 매뉴얼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904" y="636422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9ED4B6"/>
                </a:solidFill>
                <a:latin typeface="Malgun Gothic"/>
              </a:rPr>
              <a:t>규모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6364224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0F9F4"/>
                </a:solidFill>
                <a:latin typeface="Malgun Gothic"/>
              </a:rPr>
              <a:t>계약 조리원 약 140개소 · 물품 지원 계약 약 77개소 · 공급사 5곳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E6B45"/>
                </a:solidFill>
                <a:latin typeface="Malgun Gothi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배경과 AS-IS 업무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02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4264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AS-IS — 여섯 단계가 모두 사람 손을 거쳤다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728216"/>
            <a:ext cx="1782317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3056" y="1792224"/>
            <a:ext cx="16360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Malgun Gothic"/>
              </a:rPr>
              <a:t>구글 폼 주문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056" y="2057400"/>
            <a:ext cx="16360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조리원이 직접 작성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2222" y="1728216"/>
            <a:ext cx="5486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ED4B6"/>
                </a:solidFill>
                <a:latin typeface="Malgun Gothic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7086" y="1728216"/>
            <a:ext cx="1782317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20238" y="1792224"/>
            <a:ext cx="16360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Malgun Gothic"/>
              </a:rPr>
              <a:t>시트 취합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0238" y="2057400"/>
            <a:ext cx="16360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운영팀 수기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9404" y="1728216"/>
            <a:ext cx="5486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ED4B6"/>
                </a:solidFill>
                <a:latin typeface="Malgun Gothi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84268" y="1728216"/>
            <a:ext cx="1782317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7420" y="1792224"/>
            <a:ext cx="16360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Malgun Gothic"/>
              </a:rPr>
              <a:t>입금 대조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7420" y="2057400"/>
            <a:ext cx="16360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계좌 내역 대조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6586" y="1728216"/>
            <a:ext cx="5486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ED4B6"/>
                </a:solidFill>
                <a:latin typeface="Malgun Gothic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1450" y="1728216"/>
            <a:ext cx="1782317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4602" y="1792224"/>
            <a:ext cx="16360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Malgun Gothic"/>
              </a:rPr>
              <a:t>거래명세서 메일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4602" y="2057400"/>
            <a:ext cx="16360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건별 발송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3768" y="1728216"/>
            <a:ext cx="5486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ED4B6"/>
                </a:solidFill>
                <a:latin typeface="Malgun Gothic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8632" y="1728216"/>
            <a:ext cx="1782317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31784" y="1792224"/>
            <a:ext cx="16360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Malgun Gothic"/>
              </a:rPr>
              <a:t>ERP 등록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1784" y="2057400"/>
            <a:ext cx="16360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재입력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0950" y="1728216"/>
            <a:ext cx="54864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ED4B6"/>
                </a:solidFill>
                <a:latin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95814" y="1728216"/>
            <a:ext cx="1782317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68966" y="1792224"/>
            <a:ext cx="16360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A1A1A"/>
                </a:solidFill>
                <a:latin typeface="Malgun Gothic"/>
              </a:rPr>
              <a:t>월말 정산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68966" y="2057400"/>
            <a:ext cx="16360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19" b="0">
                <a:solidFill>
                  <a:srgbClr val="6E6E73"/>
                </a:solidFill>
                <a:latin typeface="Malgun Gothic"/>
              </a:rPr>
              <a:t>수기 대조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" y="2423160"/>
            <a:ext cx="109682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단계마다 기록되는 파일이 달라 같은 주문을 여러 번 옮겨 적었고, 계약 조건은 담당자 기억에 의존했습니다.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904" y="3035808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수기 운영의 실제 부담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904" y="3364992"/>
            <a:ext cx="5330952" cy="50292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072" y="336499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A1A1A"/>
                </a:solidFill>
                <a:latin typeface="Malgun Gothic"/>
              </a:rPr>
              <a:t>매일 입금 대조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0416" y="3364992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E6B45"/>
                </a:solidFill>
                <a:latin typeface="Malgun Gothic"/>
              </a:rPr>
              <a:t>15 ~ 30분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64584" y="3364992"/>
            <a:ext cx="20391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계좌 내역과 주문을 눈으로 맞춤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904" y="3950208"/>
            <a:ext cx="5330952" cy="50292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072" y="3950208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A1A1A"/>
                </a:solidFill>
                <a:latin typeface="Malgun Gothic"/>
              </a:rPr>
              <a:t>월말 정산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0416" y="395020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E6B45"/>
                </a:solidFill>
                <a:latin typeface="Malgun Gothic"/>
              </a:rPr>
              <a:t>2명 × 약 7시간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4584" y="3950208"/>
            <a:ext cx="20391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주문·입금·정산 자료를 수기로 대조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904" y="4535424"/>
            <a:ext cx="5330952" cy="50292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1072" y="4535424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A1A1A"/>
                </a:solidFill>
                <a:latin typeface="Malgun Gothic"/>
              </a:rPr>
              <a:t>오출고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0416" y="4535424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E6B45"/>
                </a:solidFill>
                <a:latin typeface="Malgun Gothic"/>
              </a:rPr>
              <a:t>월 2 ~ 3건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64584" y="4535424"/>
            <a:ext cx="20391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담당자 기억으로 계약 조건 판단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904" y="5157216"/>
            <a:ext cx="5330952" cy="457200"/>
          </a:xfrm>
          <a:prstGeom prst="roundRect">
            <a:avLst>
              <a:gd name="adj" fmla="val 1400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072" y="5157216"/>
            <a:ext cx="49286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563A"/>
                </a:solidFill>
                <a:latin typeface="Malgun Gothic"/>
              </a:rPr>
              <a:t>가장 먼저 막아야 할 것을 오출고와 입금 대조로 정했습니다.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904" y="5742432"/>
            <a:ext cx="53309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빈도가 높고 팀원의 시간을 매일 가져가고 있었기 때문입니다.
실수 한 건이 곧 재출고 비용과 신뢰 손실로 이어졌습니다.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47180" y="3035808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문제를 어떻게 정의했나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47180" y="3364992"/>
            <a:ext cx="5330952" cy="932688"/>
          </a:xfrm>
          <a:prstGeom prst="rect">
            <a:avLst/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6636" y="3364992"/>
            <a:ext cx="4892040" cy="9326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230" b="1">
                <a:solidFill>
                  <a:srgbClr val="17563A"/>
                </a:solidFill>
                <a:latin typeface="Malgun Gothic"/>
              </a:rPr>
              <a:t>주문 접수 화면이 불편한 것이 아니라,
계약·결제·주문 상태를 사람이 매번 다시 판단하는
운영 구조가 문제였습니다.</a:t>
            </a:r>
          </a:p>
        </p:txBody>
      </p:sp>
      <p:sp>
        <p:nvSpPr>
          <p:cNvPr id="50" name="Oval 49"/>
          <p:cNvSpPr/>
          <p:nvPr/>
        </p:nvSpPr>
        <p:spPr>
          <a:xfrm>
            <a:off x="6247180" y="4549140"/>
            <a:ext cx="91440" cy="91440"/>
          </a:xfrm>
          <a:prstGeom prst="ellipse">
            <a:avLst/>
          </a:prstGeom>
          <a:solidFill>
            <a:srgbClr val="9ED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66636" y="4425696"/>
            <a:ext cx="51114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계약 조건이 계약서와 담당자 기억에만 있어 시스템이 검증할 수 없었습니다.</a:t>
            </a:r>
          </a:p>
        </p:txBody>
      </p:sp>
      <p:sp>
        <p:nvSpPr>
          <p:cNvPr id="52" name="Oval 51"/>
          <p:cNvSpPr/>
          <p:nvPr/>
        </p:nvSpPr>
        <p:spPr>
          <a:xfrm>
            <a:off x="6247180" y="4960620"/>
            <a:ext cx="91440" cy="91440"/>
          </a:xfrm>
          <a:prstGeom prst="ellipse">
            <a:avLst/>
          </a:prstGeom>
          <a:solidFill>
            <a:srgbClr val="9ED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66636" y="4837176"/>
            <a:ext cx="51114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결제 방식이 다른 상품이 한 주문에 섞여도 막을 방법이 없었습니다.</a:t>
            </a:r>
          </a:p>
        </p:txBody>
      </p:sp>
      <p:sp>
        <p:nvSpPr>
          <p:cNvPr id="54" name="Oval 53"/>
          <p:cNvSpPr/>
          <p:nvPr/>
        </p:nvSpPr>
        <p:spPr>
          <a:xfrm>
            <a:off x="6247180" y="5372100"/>
            <a:ext cx="91440" cy="91440"/>
          </a:xfrm>
          <a:prstGeom prst="ellipse">
            <a:avLst/>
          </a:prstGeom>
          <a:solidFill>
            <a:srgbClr val="9ED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6636" y="5248656"/>
            <a:ext cx="511149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주문 데이터가 폼·시트·메일·ERP에 흩어져 어디가 원본인지 불명확했습니다.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7180" y="5742432"/>
            <a:ext cx="533095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80" b="1">
                <a:solidFill>
                  <a:srgbClr val="17563A"/>
                </a:solidFill>
                <a:latin typeface="Malgun Gothic"/>
              </a:rPr>
              <a:t>사람의 판단에 의존하는 구조를
설정으로 검증되는 구조로 바꾸는 것이 목표였습니다.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E6B45"/>
                </a:solidFill>
                <a:latin typeface="Malgun 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대안 비교와 오픈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03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426464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검토한 세 가지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7099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대안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3104" y="170992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장점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56224" y="170992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한계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6544" y="170992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판단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02544" y="1709928"/>
            <a:ext cx="12755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결정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" y="1984248"/>
            <a:ext cx="10968228" cy="12700"/>
          </a:xfrm>
          <a:prstGeom prst="rect">
            <a:avLst/>
          </a:prstGeom>
          <a:solidFill>
            <a:srgbClr val="9ED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2075688"/>
            <a:ext cx="26060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맞춤형 웹서비스 직접 개발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3104" y="2075688"/>
            <a:ext cx="1965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요구사항을 그대로 구현 가능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6224" y="2075688"/>
            <a:ext cx="24231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서버 운영과 유지보수까지 직접 책임 · 일정과 비용 부담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544" y="2075688"/>
            <a:ext cx="2148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유지보수 책임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2544" y="2075688"/>
            <a:ext cx="11384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제외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" y="2679192"/>
            <a:ext cx="26060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타 쇼핑몰 솔루션 도입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3104" y="2679192"/>
            <a:ext cx="1965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구축 속도가 빠름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6224" y="2679192"/>
            <a:ext cx="24231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운영팀이 새 환경을 다시 학습해야 함 · 자사몰과 이원화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6544" y="2679192"/>
            <a:ext cx="2148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운영팀 러닝커브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02544" y="2679192"/>
            <a:ext cx="11384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제외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" y="3241548"/>
            <a:ext cx="10968228" cy="603504"/>
          </a:xfrm>
          <a:prstGeom prst="rect">
            <a:avLst/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3282696"/>
            <a:ext cx="26060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기존 커머스 솔루션 + 정책 커스텀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3104" y="3282696"/>
            <a:ext cx="19659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기존 자사몰과 동일 기반 · 러닝커브 최소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6224" y="3282696"/>
            <a:ext cx="242316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기본 기능 밖 정책은 별도 개발이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6544" y="3282696"/>
            <a:ext cx="2148840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러닝커브·인프라 충족
유지보수 분담 · 예산 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02544" y="3282696"/>
            <a:ext cx="1138428" cy="5212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채택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904" y="3845052"/>
            <a:ext cx="10968228" cy="12700"/>
          </a:xfrm>
          <a:prstGeom prst="rect">
            <a:avLst/>
          </a:prstGeom>
          <a:solidFill>
            <a:srgbClr val="9ED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9904" y="3904487"/>
            <a:ext cx="10968228" cy="3657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" y="3904487"/>
            <a:ext cx="1052931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결정 기준 순서   ①  운영팀 러닝커브      ②  기존 인프라 일치      ③  유지보수 책임 범위      ④  구축 비용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" y="4480560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오픈에 반드시 필요했던 다섯 가지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904" y="4791456"/>
            <a:ext cx="1022299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9525">
            <a:solidFill>
              <a:srgbClr val="9ED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" y="4846320"/>
            <a:ext cx="9308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" y="5102352"/>
            <a:ext cx="10222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1">
                <a:solidFill>
                  <a:srgbClr val="1A1A1A"/>
                </a:solidFill>
                <a:latin typeface="Malgun Gothic"/>
              </a:rPr>
              <a:t>계정별 상품 분리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87068" y="4791456"/>
            <a:ext cx="1022299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9525">
            <a:solidFill>
              <a:srgbClr val="9ED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32788" y="4846320"/>
            <a:ext cx="9308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87068" y="5102352"/>
            <a:ext cx="10222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1">
                <a:solidFill>
                  <a:srgbClr val="1A1A1A"/>
                </a:solidFill>
                <a:latin typeface="Malgun Gothic"/>
              </a:rPr>
              <a:t>결제 방식 제어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64231" y="4791456"/>
            <a:ext cx="1022299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9525">
            <a:solidFill>
              <a:srgbClr val="9ED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09951" y="4846320"/>
            <a:ext cx="9308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64231" y="5102352"/>
            <a:ext cx="10222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1">
                <a:solidFill>
                  <a:srgbClr val="1A1A1A"/>
                </a:solidFill>
                <a:latin typeface="Malgun Gothic"/>
              </a:rPr>
              <a:t>입금 자동 매칭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841394" y="4791456"/>
            <a:ext cx="1022299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9525">
            <a:solidFill>
              <a:srgbClr val="9ED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87114" y="4846320"/>
            <a:ext cx="9308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1394" y="5102352"/>
            <a:ext cx="10222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1">
                <a:solidFill>
                  <a:srgbClr val="1A1A1A"/>
                </a:solidFill>
                <a:latin typeface="Malgun Gothic"/>
              </a:rPr>
              <a:t>공급사 권한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18557" y="4791456"/>
            <a:ext cx="1022299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9525">
            <a:solidFill>
              <a:srgbClr val="9ED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64277" y="4846320"/>
            <a:ext cx="9308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18557" y="5102352"/>
            <a:ext cx="10222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19" b="1">
                <a:solidFill>
                  <a:srgbClr val="1A1A1A"/>
                </a:solidFill>
                <a:latin typeface="Malgun Gothic"/>
              </a:rPr>
              <a:t>주문 DB화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9904" y="5577840"/>
            <a:ext cx="5330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Malgun Gothic"/>
              </a:rPr>
              <a:t>이 다섯 가지가 안 되면 오픈하지 않는다는 기준으로 범위를 관리했습니다.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47180" y="4480560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42318"/>
                </a:solidFill>
                <a:latin typeface="Malgun Gothic"/>
              </a:rPr>
              <a:t>범위에서 뺀 것과 그 이유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47180" y="4846320"/>
            <a:ext cx="1554480" cy="329184"/>
          </a:xfrm>
          <a:prstGeom prst="roundRect">
            <a:avLst>
              <a:gd name="adj" fmla="val 16666"/>
            </a:avLst>
          </a:prstGeom>
          <a:solidFill>
            <a:srgbClr val="F3E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9A6400"/>
                </a:solidFill>
                <a:latin typeface="Malgun Gothic"/>
              </a:rPr>
              <a:t>PG 결제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29676" y="4791456"/>
            <a:ext cx="36484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마진이 낮아 수수료 부담이 커서 주 결제수단에서 제외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47180" y="5358384"/>
            <a:ext cx="1554480" cy="329184"/>
          </a:xfrm>
          <a:prstGeom prst="roundRect">
            <a:avLst>
              <a:gd name="adj" fmla="val 16666"/>
            </a:avLst>
          </a:prstGeom>
          <a:solidFill>
            <a:srgbClr val="F3E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9A6400"/>
                </a:solidFill>
                <a:latin typeface="Malgun Gothic"/>
              </a:rPr>
              <a:t>견적서 신규 개발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29676" y="5303520"/>
            <a:ext cx="36484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예산을 초과해 솔루션 기본 거래명세서로 대체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47180" y="5870448"/>
            <a:ext cx="1554480" cy="329184"/>
          </a:xfrm>
          <a:prstGeom prst="roundRect">
            <a:avLst>
              <a:gd name="adj" fmla="val 16666"/>
            </a:avLst>
          </a:prstGeom>
          <a:solidFill>
            <a:srgbClr val="F3E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1000" b="1">
                <a:solidFill>
                  <a:srgbClr val="9A6400"/>
                </a:solidFill>
                <a:latin typeface="Malgun Gothic"/>
              </a:rPr>
              <a:t>포인트 완전 자동화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29676" y="5815584"/>
            <a:ext cx="364845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계약 상태 변경 시 지급 번복 위험이 있어 관리자 확인 후 실행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E6B45"/>
                </a:solidFill>
                <a:latin typeface="Malgun Gothi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정책 매트릭스와 권한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04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426464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네 가지 계정 유형과 설정값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17099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계정 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8704" y="170992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노출 상품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304" y="1709928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결제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784" y="170992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6384" y="170992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공급사 노출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04" y="1984248"/>
            <a:ext cx="7406640" cy="12700"/>
          </a:xfrm>
          <a:prstGeom prst="rect">
            <a:avLst/>
          </a:prstGeom>
          <a:solidFill>
            <a:srgbClr val="9ED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904" y="2034540"/>
            <a:ext cx="7406640" cy="429768"/>
          </a:xfrm>
          <a:prstGeom prst="rect">
            <a:avLst/>
          </a:prstGeom>
          <a:solidFill>
            <a:srgbClr val="F0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" y="2075688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분유 (선불)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8704" y="2075688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분유 SKU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304" y="2075688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선불 · 무통장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4784" y="2075688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지원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6384" y="2075688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분유 공급사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2505456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분유 (후불)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38704" y="2505456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분유 SKU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304" y="2505456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후불 · 월 정산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4784" y="2505456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지원 포인트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6384" y="2505456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분유 공급사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904" y="2894076"/>
            <a:ext cx="7406640" cy="429768"/>
          </a:xfrm>
          <a:prstGeom prst="rect">
            <a:avLst/>
          </a:prstGeom>
          <a:solidFill>
            <a:srgbClr val="F0F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" y="2935224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물품 (선불)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8704" y="2935224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물품 SKU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304" y="2935224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선불 · 무통장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4784" y="2935224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미적용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6384" y="2935224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물품 공급사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904" y="3364991"/>
            <a:ext cx="1691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물품 (후불)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8704" y="3364991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물품 SKU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304" y="3364991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후불 · 월 정산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4784" y="3364991"/>
            <a:ext cx="12344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미적용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6384" y="3364991"/>
            <a:ext cx="11430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물품 공급사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904" y="3753611"/>
            <a:ext cx="7406640" cy="12700"/>
          </a:xfrm>
          <a:prstGeom prst="rect">
            <a:avLst/>
          </a:prstGeom>
          <a:solidFill>
            <a:srgbClr val="9ED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904" y="3822191"/>
            <a:ext cx="7406640" cy="640080"/>
          </a:xfrm>
          <a:prstGeom prst="rect">
            <a:avLst/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" y="3822191"/>
            <a:ext cx="6967728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유형을 코드에 고정한 것이 아닙니다. 영업매니저가 계약 조건을 전달하면 운영팀이 관리자 화면에서
상품·단가·결제·포인트·공급사 범위를 직접 설정합니다. 새 계약이 생겨도 개발이 필요 없습니다.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1426464"/>
            <a:ext cx="34399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공급사에 연 것과 닫은 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1709928"/>
            <a:ext cx="3439972" cy="950976"/>
          </a:xfrm>
          <a:prstGeom prst="roundRect">
            <a:avLst>
              <a:gd name="adj" fmla="val 6730"/>
            </a:avLst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57616" y="179222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7563A"/>
                </a:solidFill>
                <a:latin typeface="Malgun Gothic"/>
              </a:rPr>
              <a:t>허용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6" y="203911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30" b="0">
                <a:solidFill>
                  <a:srgbClr val="1A1A1A"/>
                </a:solidFill>
                <a:latin typeface="Malgun Gothic"/>
              </a:rPr>
              <a:t>배정된 주문 조회 · 목록 다운로드
주문 상태 변경 · 송장번호 입력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2743200"/>
            <a:ext cx="3439972" cy="1225296"/>
          </a:xfrm>
          <a:prstGeom prst="roundRect">
            <a:avLst>
              <a:gd name="adj" fmla="val 5223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7616" y="2825496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42318"/>
                </a:solidFill>
                <a:latin typeface="Malgun Gothic"/>
              </a:rPr>
              <a:t>차단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57616" y="3072384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30" b="0">
                <a:solidFill>
                  <a:srgbClr val="1A1A1A"/>
                </a:solidFill>
                <a:latin typeface="Malgun Gothic"/>
              </a:rPr>
              <a:t>계약 단가 · 정산 정보
타 공급사 주문
고객 개인정보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4050791"/>
            <a:ext cx="3439972" cy="566928"/>
          </a:xfrm>
          <a:prstGeom prst="rect">
            <a:avLst/>
          </a:prstGeom>
          <a:solidFill>
            <a:srgbClr val="17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050791"/>
            <a:ext cx="30742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Malgun Gothic"/>
              </a:rPr>
              <a:t>결제 방식이 다른 상품의
혼합 주문은 양방향 차단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" y="5084064"/>
            <a:ext cx="10968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하나의 주문 DB를 세 주체가 다른 범위로 본다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904" y="5394960"/>
            <a:ext cx="352958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1072" y="5449824"/>
            <a:ext cx="3127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7563A"/>
                </a:solidFill>
                <a:latin typeface="Malgun Gothic"/>
              </a:rPr>
              <a:t>조리원 담당자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072" y="5715000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내 주문 · 내 단가 · 거래명세서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31512" y="5394960"/>
            <a:ext cx="352958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32680" y="5449824"/>
            <a:ext cx="3127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7563A"/>
                </a:solidFill>
                <a:latin typeface="Malgun Gothic"/>
              </a:rPr>
              <a:t>내부 운영팀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32680" y="5715000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전체 주문 · 입금 매칭 · 정산 · 포인트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53120" y="5394960"/>
            <a:ext cx="3529584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54288" y="5449824"/>
            <a:ext cx="31272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7563A"/>
                </a:solidFill>
                <a:latin typeface="Malgun Gothic"/>
              </a:rPr>
              <a:t>공급사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54288" y="5715000"/>
            <a:ext cx="31272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배정된 주문 · 송장 입력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904" y="6144768"/>
            <a:ext cx="109682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9A9AA0"/>
                </a:solidFill>
                <a:latin typeface="Malgun Gothic"/>
              </a:rPr>
              <a:t>이전에는 폼·시트·메일·ERP에 흩어져 있어 무엇이 원본인지 매번 확인해야 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E6B45"/>
                </a:solidFill>
                <a:latin typeface="Malgun Gothi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사용자 여정과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05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00784" y="1426464"/>
            <a:ext cx="1947672" cy="347472"/>
          </a:xfrm>
          <a:prstGeom prst="rect">
            <a:avLst/>
          </a:prstGeom>
          <a:solidFill>
            <a:srgbClr val="17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00784" y="1426464"/>
            <a:ext cx="19476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주문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1426464"/>
            <a:ext cx="1947672" cy="347472"/>
          </a:xfrm>
          <a:prstGeom prst="rect">
            <a:avLst/>
          </a:prstGeom>
          <a:solidFill>
            <a:srgbClr val="17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426464"/>
            <a:ext cx="19476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결제 · 입금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05856" y="1426464"/>
            <a:ext cx="1947672" cy="347472"/>
          </a:xfrm>
          <a:prstGeom prst="rect">
            <a:avLst/>
          </a:prstGeom>
          <a:solidFill>
            <a:srgbClr val="17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05856" y="1426464"/>
            <a:ext cx="19476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확인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08392" y="1426464"/>
            <a:ext cx="1947672" cy="347472"/>
          </a:xfrm>
          <a:prstGeom prst="rect">
            <a:avLst/>
          </a:prstGeom>
          <a:solidFill>
            <a:srgbClr val="17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08392" y="1426464"/>
            <a:ext cx="19476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출고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10928" y="1426464"/>
            <a:ext cx="1947672" cy="347472"/>
          </a:xfrm>
          <a:prstGeom prst="rect">
            <a:avLst/>
          </a:prstGeom>
          <a:solidFill>
            <a:srgbClr val="175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0928" y="1426464"/>
            <a:ext cx="19476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</a:rPr>
              <a:t>정산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904" y="1856232"/>
            <a:ext cx="1033271" cy="786384"/>
          </a:xfrm>
          <a:prstGeom prst="rect">
            <a:avLst/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904" y="1856232"/>
            <a:ext cx="1033271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17563A"/>
                </a:solidFill>
                <a:latin typeface="Malgun Gothic"/>
              </a:rPr>
              <a:t>조리원 담당자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00784" y="1856232"/>
            <a:ext cx="1947672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92224" y="1856232"/>
            <a:ext cx="17647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계정 로그인 후
계약 상품만 노출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1856232"/>
            <a:ext cx="1947672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1856232"/>
            <a:ext cx="17647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선불 무통장 입금
또는 후불 확정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05856" y="1856232"/>
            <a:ext cx="1947672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97296" y="1856232"/>
            <a:ext cx="17647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주문 상태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08392" y="1856232"/>
            <a:ext cx="1947672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9831" y="1856232"/>
            <a:ext cx="17647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배송 안내 문자 수신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10928" y="1856232"/>
            <a:ext cx="1947672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02367" y="1856232"/>
            <a:ext cx="17647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거래명세서
목록에서 즉시 다운로드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904" y="2715768"/>
            <a:ext cx="1033271" cy="786384"/>
          </a:xfrm>
          <a:prstGeom prst="rect">
            <a:avLst/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" y="2715768"/>
            <a:ext cx="1033271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17563A"/>
                </a:solidFill>
                <a:latin typeface="Malgun Gothic"/>
              </a:rPr>
              <a:t>내부 운영팀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00784" y="2715768"/>
            <a:ext cx="1947672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92224" y="2715768"/>
            <a:ext cx="17647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계약 조건대로
계정·단가 설정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03320" y="2715768"/>
            <a:ext cx="1947672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59" y="2715768"/>
            <a:ext cx="17647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입금 자동 매칭
미매칭만 수기 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05856" y="2715768"/>
            <a:ext cx="1947672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2715768"/>
            <a:ext cx="17647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혼합주문 차단 확인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08392" y="2715768"/>
            <a:ext cx="1947672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9831" y="2715768"/>
            <a:ext cx="17647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공급사 배정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10928" y="2715768"/>
            <a:ext cx="1947672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02367" y="2715768"/>
            <a:ext cx="17647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미발주 계약처 자동 제외
포인트 확인 후 실행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904" y="3575304"/>
            <a:ext cx="1033271" cy="786384"/>
          </a:xfrm>
          <a:prstGeom prst="rect">
            <a:avLst/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904" y="3575304"/>
            <a:ext cx="1033271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17563A"/>
                </a:solidFill>
                <a:latin typeface="Malgun Gothic"/>
              </a:rPr>
              <a:t>공급사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05856" y="3575304"/>
            <a:ext cx="1947672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97296" y="3575304"/>
            <a:ext cx="17647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배정 주문 조회·다운로드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08392" y="3575304"/>
            <a:ext cx="1947672" cy="786384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99831" y="3575304"/>
            <a:ext cx="17647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60" b="0">
                <a:solidFill>
                  <a:srgbClr val="1A1A1A"/>
                </a:solidFill>
                <a:latin typeface="Malgun Gothic"/>
              </a:rPr>
              <a:t>송장번호 직접 입력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904" y="4480560"/>
            <a:ext cx="109682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Malgun Gothic"/>
              </a:rPr>
              <a:t>여정을 세 레인으로 나눠보니 같은 주문이 확인·출고 구간에서 세 주체를 동시에 거친다는 것이 드러났습니다. 이 구간에 혼합주문 차단과 공급사 권한을 배치했습니다.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" y="4864608"/>
            <a:ext cx="10968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실제 운영 화면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904" y="5175504"/>
            <a:ext cx="2624328" cy="804672"/>
          </a:xfrm>
          <a:prstGeom prst="roundRect">
            <a:avLst>
              <a:gd name="adj" fmla="val 7954"/>
            </a:avLst>
          </a:prstGeom>
          <a:solidFill>
            <a:srgbClr val="F4F4F6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2784" y="5266944"/>
            <a:ext cx="2258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관리자 설정 화면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2784" y="553212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60" b="0">
                <a:solidFill>
                  <a:srgbClr val="6E6E73"/>
                </a:solidFill>
                <a:latin typeface="Malgun Gothic"/>
              </a:rPr>
              <a:t>회원등급 · 상품 노출 · 계약 단가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98824" y="5175504"/>
            <a:ext cx="2624328" cy="804672"/>
          </a:xfrm>
          <a:prstGeom prst="roundRect">
            <a:avLst>
              <a:gd name="adj" fmla="val 7954"/>
            </a:avLst>
          </a:prstGeom>
          <a:solidFill>
            <a:srgbClr val="F4F4F6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81704" y="5266944"/>
            <a:ext cx="2258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주문 목록 · 거래명세서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81704" y="553212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60" b="0">
                <a:solidFill>
                  <a:srgbClr val="6E6E73"/>
                </a:solidFill>
                <a:latin typeface="Malgun Gothic"/>
              </a:rPr>
              <a:t>목록에서 즉시 다운로드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87744" y="5175504"/>
            <a:ext cx="2624328" cy="804672"/>
          </a:xfrm>
          <a:prstGeom prst="roundRect">
            <a:avLst>
              <a:gd name="adj" fmla="val 7954"/>
            </a:avLst>
          </a:prstGeom>
          <a:solidFill>
            <a:srgbClr val="F4F4F6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70624" y="5266944"/>
            <a:ext cx="2258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혼합주문 차단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70624" y="553212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60" b="0">
                <a:solidFill>
                  <a:srgbClr val="6E6E73"/>
                </a:solidFill>
                <a:latin typeface="Malgun Gothic"/>
              </a:rPr>
              <a:t>결제 방식이 다른 상품 혼합 시 안내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76664" y="5175504"/>
            <a:ext cx="2624328" cy="804672"/>
          </a:xfrm>
          <a:prstGeom prst="roundRect">
            <a:avLst>
              <a:gd name="adj" fmla="val 7954"/>
            </a:avLst>
          </a:prstGeom>
          <a:solidFill>
            <a:srgbClr val="F4F4F6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59544" y="5266944"/>
            <a:ext cx="2258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공급사 전용 화면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59544" y="553212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60" b="0">
                <a:solidFill>
                  <a:srgbClr val="6E6E73"/>
                </a:solidFill>
                <a:latin typeface="Malgun Gothic"/>
              </a:rPr>
              <a:t>배정 주문 조회 · 송장 입력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904" y="6089904"/>
            <a:ext cx="10968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0">
                <a:solidFill>
                  <a:srgbClr val="9A9AA0"/>
                </a:solidFill>
                <a:latin typeface="Malgun Gothic"/>
              </a:rPr>
              <a:t>네 화면 모두 실제 운영 화면이며 고객·단가·주문정보는 마스킹했습니다.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E6B45"/>
                </a:solidFill>
                <a:latin typeface="Malgun Gothi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검증과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06 / 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426464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오픈 전 반드시 통과시킨 시나리오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728216"/>
            <a:ext cx="5330952" cy="338328"/>
          </a:xfrm>
          <a:prstGeom prst="roundRect">
            <a:avLst>
              <a:gd name="adj" fmla="val 18918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784" y="1728216"/>
            <a:ext cx="418795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40" b="0">
                <a:solidFill>
                  <a:srgbClr val="1A1A1A"/>
                </a:solidFill>
                <a:latin typeface="Malgun Gothic"/>
              </a:rPr>
              <a:t>계정 유형별 정상 주문 · 상품 노출 분기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5600" y="1769364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1E7A46"/>
                </a:solidFill>
                <a:latin typeface="Malgun Gothic"/>
              </a:rPr>
              <a:t>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904" y="2121408"/>
            <a:ext cx="5330952" cy="338328"/>
          </a:xfrm>
          <a:prstGeom prst="roundRect">
            <a:avLst>
              <a:gd name="adj" fmla="val 18918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" y="2121408"/>
            <a:ext cx="418795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40" b="0">
                <a:solidFill>
                  <a:srgbClr val="1A1A1A"/>
                </a:solidFill>
                <a:latin typeface="Malgun Gothic"/>
              </a:rPr>
              <a:t>실제 입금 후 자동 매칭과 주문 상태 변경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5600" y="2162556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1E7A46"/>
                </a:solidFill>
                <a:latin typeface="Malgun Gothic"/>
              </a:rPr>
              <a:t>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2514600"/>
            <a:ext cx="5330952" cy="338328"/>
          </a:xfrm>
          <a:prstGeom prst="roundRect">
            <a:avLst>
              <a:gd name="adj" fmla="val 18918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" y="2514600"/>
            <a:ext cx="418795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40" b="0">
                <a:solidFill>
                  <a:srgbClr val="1A1A1A"/>
                </a:solidFill>
                <a:latin typeface="Malgun Gothic"/>
              </a:rPr>
              <a:t>결제 방식이 다른 상품의 혼합주문 차단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5600" y="255574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1E7A46"/>
                </a:solidFill>
                <a:latin typeface="Malgun Gothic"/>
              </a:rPr>
              <a:t>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904" y="2907792"/>
            <a:ext cx="5330952" cy="338328"/>
          </a:xfrm>
          <a:prstGeom prst="roundRect">
            <a:avLst>
              <a:gd name="adj" fmla="val 18918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784" y="2907792"/>
            <a:ext cx="418795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40" b="0">
                <a:solidFill>
                  <a:srgbClr val="1A1A1A"/>
                </a:solidFill>
                <a:latin typeface="Malgun Gothic"/>
              </a:rPr>
              <a:t>공급사 송장 입력 후 상태 변경과 안내 문자 발송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5600" y="294894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1E7A46"/>
                </a:solidFill>
                <a:latin typeface="Malgun Gothic"/>
              </a:rPr>
              <a:t>PASS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" y="3300984"/>
            <a:ext cx="5330952" cy="338328"/>
          </a:xfrm>
          <a:prstGeom prst="roundRect">
            <a:avLst>
              <a:gd name="adj" fmla="val 18918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" y="3300984"/>
            <a:ext cx="418795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40" b="0">
                <a:solidFill>
                  <a:srgbClr val="1A1A1A"/>
                </a:solidFill>
                <a:latin typeface="Malgun Gothic"/>
              </a:rPr>
              <a:t>후불 주문의 미입금 오인 방지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35600" y="3342132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1E7A46"/>
                </a:solidFill>
                <a:latin typeface="Malgun Gothic"/>
              </a:rPr>
              <a:t>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" y="3694176"/>
            <a:ext cx="5330952" cy="338328"/>
          </a:xfrm>
          <a:prstGeom prst="roundRect">
            <a:avLst>
              <a:gd name="adj" fmla="val 18918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784" y="3694176"/>
            <a:ext cx="418795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40" b="0">
                <a:solidFill>
                  <a:srgbClr val="1A1A1A"/>
                </a:solidFill>
                <a:latin typeface="Malgun Gothic"/>
              </a:rPr>
              <a:t>미발주 계약처의 정산 대상 제외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5600" y="3735324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1E7A46"/>
                </a:solidFill>
                <a:latin typeface="Malgun Gothic"/>
              </a:rPr>
              <a:t>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904" y="4133087"/>
            <a:ext cx="5330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7563A"/>
                </a:solidFill>
                <a:latin typeface="Malgun Gothic"/>
              </a:rPr>
              <a:t>무통장 자동 매칭과 안내 문자는 현재 실제 운영 중입니다.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7180" y="1426464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도입 후 변화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7180" y="1728216"/>
            <a:ext cx="5330952" cy="950976"/>
          </a:xfrm>
          <a:prstGeom prst="roundRect">
            <a:avLst>
              <a:gd name="adj" fmla="val 6730"/>
            </a:avLst>
          </a:prstGeom>
          <a:solidFill>
            <a:srgbClr val="E8F5EE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8348" y="18013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563A"/>
                </a:solidFill>
                <a:latin typeface="Malgun Gothic"/>
              </a:rPr>
              <a:t>오출고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8348" y="2084832"/>
            <a:ext cx="19202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월 2~3건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0028" y="199339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ED4B6"/>
                </a:solidFill>
                <a:latin typeface="Malgun Gothic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7500" y="192024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6B45"/>
                </a:solidFill>
                <a:latin typeface="Malgun Gothic"/>
              </a:rPr>
              <a:t>0건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8348" y="2395728"/>
            <a:ext cx="4928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>
                <a:solidFill>
                  <a:srgbClr val="9A9AA0"/>
                </a:solidFill>
                <a:latin typeface="Malgun Gothic"/>
              </a:rPr>
              <a:t>직전 6개월 월평균 대비 · 07-16 전체 가동 후 약 1개월 · 원천 운영팀 출고·CS 이력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47180" y="2779776"/>
            <a:ext cx="5330952" cy="950976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8348" y="28529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563A"/>
                </a:solidFill>
                <a:latin typeface="Malgun Gothic"/>
              </a:rPr>
              <a:t>월말 정산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8348" y="3136392"/>
            <a:ext cx="19202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2명 × 약 7시간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0028" y="304495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ED4B6"/>
                </a:solidFill>
                <a:latin typeface="Malgun Gothic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7500" y="297180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6B45"/>
                </a:solidFill>
                <a:latin typeface="Malgun Gothic"/>
              </a:rPr>
              <a:t>1명 × 30~60분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8348" y="3447288"/>
            <a:ext cx="4928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>
                <a:solidFill>
                  <a:srgbClr val="9A9AA0"/>
                </a:solidFill>
                <a:latin typeface="Malgun Gothic"/>
              </a:rPr>
              <a:t>경과 420분 · 총 14인시 · 원천 기존 수행자인 경영관리팀·운영팀 확인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47180" y="3831335"/>
            <a:ext cx="5330952" cy="950976"/>
          </a:xfrm>
          <a:prstGeom prst="roundRect">
            <a:avLst>
              <a:gd name="adj" fmla="val 6730"/>
            </a:avLst>
          </a:prstGeom>
          <a:solidFill>
            <a:srgbClr val="E8F5EE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8348" y="3904487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17563A"/>
                </a:solidFill>
                <a:latin typeface="Malgun Gothic"/>
              </a:rPr>
              <a:t>배송·주문·입금 문의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8348" y="4187951"/>
            <a:ext cx="19202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2주 32건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0028" y="409651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9ED4B6"/>
                </a:solidFill>
                <a:latin typeface="Malgun Gothic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7500" y="4023359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E6B45"/>
                </a:solidFill>
                <a:latin typeface="Malgun Gothic"/>
              </a:rPr>
              <a:t>2주 19건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8348" y="4498848"/>
            <a:ext cx="4928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60" b="0">
                <a:solidFill>
                  <a:srgbClr val="9A9AA0"/>
                </a:solidFill>
                <a:latin typeface="Malgun Gothic"/>
              </a:rPr>
              <a:t>2026.01~06 인입의 2주 환산 평균과 7~8월 배포 구간 2주 비교 · 초기 관찰값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904" y="4572000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E6B45"/>
                </a:solidFill>
                <a:latin typeface="Malgun Gothic"/>
              </a:rPr>
              <a:t>운영에서 실제로 없어진 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9904" y="488289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영업매니저의 수기 발주량 시트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90264" y="4882896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ED4B6"/>
                </a:solidFill>
                <a:latin typeface="Malgun Gothic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28592" y="4882896"/>
            <a:ext cx="21122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7563A"/>
                </a:solidFill>
                <a:latin typeface="Malgun Gothic"/>
              </a:rPr>
              <a:t>DB에서 바로 조회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904" y="532180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주문 없는 계약처 수기 제외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90264" y="5321808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ED4B6"/>
                </a:solidFill>
                <a:latin typeface="Malgun Gothic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28592" y="5321808"/>
            <a:ext cx="21122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7563A"/>
                </a:solidFill>
                <a:latin typeface="Malgun Gothic"/>
              </a:rPr>
              <a:t>정산에서 자동 제외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904" y="5760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공급사 송장 중간 전달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90264" y="5760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9ED4B6"/>
                </a:solidFill>
                <a:latin typeface="Malgun Gothic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28592" y="5760720"/>
            <a:ext cx="21122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7563A"/>
                </a:solidFill>
                <a:latin typeface="Malgun Gothic"/>
              </a:rPr>
              <a:t>공급사가 직접 입력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904" y="6309360"/>
            <a:ext cx="109682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0">
                <a:solidFill>
                  <a:srgbClr val="9A9AA0"/>
                </a:solidFill>
                <a:latin typeface="Malgun Gothic"/>
              </a:rPr>
              <a:t>계약상 기본 개발요구 22건은 08-31 최종 검수를 기준으로 운영 QA를 이어갔고, 08-13 시점 17건이 운영 서버 확인 전 상태였습니다.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82880" y="-182880"/>
            <a:ext cx="12618720" cy="7315200"/>
          </a:xfrm>
          <a:prstGeom prst="rect">
            <a:avLst/>
          </a:prstGeom>
          <a:solidFill>
            <a:srgbClr val="B3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F7D9BE"/>
                </a:solidFill>
                <a:latin typeface="Malgun Gothic"/>
              </a:rPr>
              <a:t>01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76809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Project 03.   제품 기획 — 현장에서 본 병목을 서비스로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1600200"/>
            <a:ext cx="868680" cy="871423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600200"/>
            <a:ext cx="8686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B34700"/>
                </a:solidFill>
                <a:latin typeface="Malgun Gothic"/>
              </a:rPr>
              <a:t>BIG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1579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>
                <a:solidFill>
                  <a:srgbClr val="B34700"/>
                </a:solidFill>
                <a:latin typeface="Malgun Gothic"/>
              </a:rPr>
              <a:t>마케팅 리서치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27632"/>
            <a:ext cx="5897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50" b="1">
                <a:solidFill>
                  <a:srgbClr val="FFFFFF"/>
                </a:solidFill>
                <a:latin typeface="Malgun Gothic"/>
              </a:rPr>
              <a:t>채널 조사를 매일 도는 제품으로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39112"/>
            <a:ext cx="5897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spcAft>
                <a:spcPts val="0"/>
              </a:spcAft>
            </a:pPr>
            <a:r>
              <a:rPr sz="1300" b="0">
                <a:solidFill>
                  <a:srgbClr val="F7D9BE"/>
                </a:solidFill>
                <a:latin typeface="Malgun Gothic"/>
              </a:rPr>
              <a:t>마케팅은 결국 소스를 얼마나 빨리 보느냐의 문제였습니다.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7D9BE"/>
                </a:solidFill>
                <a:latin typeface="Malgun Gothic"/>
              </a:rPr>
              <a:t>기존에 있던 크롤링 로직을 고도화해 매일 도는 형태로 바꿨습니다.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34056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0A878"/>
                </a:solidFill>
                <a:latin typeface="Malgun Gothic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008376"/>
            <a:ext cx="5989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Malgun Gothic"/>
              </a:rPr>
              <a:t>조사를 반복하는 사람은 채널마다 흩어진 숫자를 손으로 합치고</a:t>
            </a:r>
          </a:p>
          <a:p>
            <a:pPr algn="l"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Malgun Gothic"/>
              </a:rPr>
              <a:t>그 근거는 다음 조사로 이어지지 않는다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547872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0A878"/>
                </a:solidFill>
                <a:latin typeface="Malgun Gothic"/>
              </a:rPr>
              <a:t>Target 가설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776472"/>
            <a:ext cx="5989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Malgun Gothic"/>
              </a:rPr>
              <a:t>조사가 업무인 직무 — 광고대행사 실무자 (1순위 검증 가설, 확정 아님)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151376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0A878"/>
                </a:solidFill>
                <a:latin typeface="Malgun Gothic"/>
              </a:rPr>
              <a:t>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379976"/>
            <a:ext cx="59893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80" b="0">
                <a:solidFill>
                  <a:srgbClr val="FFFFFF"/>
                </a:solidFill>
                <a:latin typeface="Malgun Gothic"/>
              </a:rPr>
              <a:t>판매 대상 정의 · 이탈 지점 특정 · 판매 범위(P0) 확정 · 검증 기준 정의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3995" y="1600200"/>
            <a:ext cx="3843223" cy="3100730"/>
          </a:xfrm>
          <a:prstGeom prst="roundRect">
            <a:avLst>
              <a:gd name="adj" fmla="val 3243"/>
            </a:avLst>
          </a:prstGeom>
          <a:solidFill>
            <a:srgbClr val="8F3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8315" y="1810512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7D9BE"/>
                </a:solidFill>
                <a:latin typeface="Malgun Gothic"/>
              </a:rPr>
              <a:t>어떻게 시작됐나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8315" y="2221992"/>
            <a:ext cx="3294583" cy="429768"/>
          </a:xfrm>
          <a:prstGeom prst="roundRect">
            <a:avLst>
              <a:gd name="adj" fmla="val 14893"/>
            </a:avLst>
          </a:prstGeom>
          <a:solidFill>
            <a:srgbClr val="B3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195" y="2221992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현장에서 병목 관찰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59898" y="2221992"/>
            <a:ext cx="9601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7D9BE"/>
                </a:solidFill>
                <a:latin typeface="Malgun Gothic"/>
              </a:rPr>
              <a:t>SCM 실무 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8315" y="2807208"/>
            <a:ext cx="3294583" cy="429768"/>
          </a:xfrm>
          <a:prstGeom prst="roundRect">
            <a:avLst>
              <a:gd name="adj" fmla="val 14893"/>
            </a:avLst>
          </a:prstGeom>
          <a:solidFill>
            <a:srgbClr val="B3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1195" y="2807208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크롤링 로직 고도화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59898" y="2807208"/>
            <a:ext cx="9601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7D9BE"/>
                </a:solidFill>
                <a:latin typeface="Malgun Gothic"/>
              </a:rPr>
              <a:t>기존 로직 활용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8315" y="3392424"/>
            <a:ext cx="3294583" cy="429768"/>
          </a:xfrm>
          <a:prstGeom prst="roundRect">
            <a:avLst>
              <a:gd name="adj" fmla="val 14893"/>
            </a:avLst>
          </a:prstGeom>
          <a:solidFill>
            <a:srgbClr val="B3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1195" y="3392424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동료와 구체화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59898" y="3392424"/>
            <a:ext cx="9601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7D9BE"/>
                </a:solidFill>
                <a:latin typeface="Malgun Gothic"/>
              </a:rPr>
              <a:t>브레인스토밍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8315" y="3977640"/>
            <a:ext cx="3294583" cy="429768"/>
          </a:xfrm>
          <a:prstGeom prst="roundRect">
            <a:avLst>
              <a:gd name="adj" fmla="val 14893"/>
            </a:avLst>
          </a:prstGeom>
          <a:solidFill>
            <a:srgbClr val="B3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195" y="3977640"/>
            <a:ext cx="19659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algun Gothic"/>
              </a:rPr>
              <a:t>별도 서비스 개설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59898" y="3977640"/>
            <a:ext cx="96012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7D9BE"/>
                </a:solidFill>
                <a:latin typeface="Malgun Gothic"/>
              </a:rPr>
              <a:t>현재 운영 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" y="5001768"/>
            <a:ext cx="10968228" cy="11430"/>
          </a:xfrm>
          <a:prstGeom prst="rect">
            <a:avLst/>
          </a:prstGeom>
          <a:solidFill>
            <a:srgbClr val="E0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" y="534009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0A878"/>
                </a:solidFill>
                <a:latin typeface="Malgun Gothic"/>
              </a:rPr>
              <a:t>기간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340096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DF7EF"/>
                </a:solidFill>
                <a:latin typeface="Malgun Gothic"/>
              </a:rPr>
              <a:t>진행 중 · https://market-bigsee.com/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904" y="559612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0A878"/>
                </a:solidFill>
                <a:latin typeface="Malgun Gothic"/>
              </a:rPr>
              <a:t>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596128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DF7EF"/>
                </a:solidFill>
                <a:latin typeface="Malgun Gothic"/>
              </a:rPr>
              <a:t>아이디어 발의 · 제품·사업 기획 — 개발 구현은 동료 개발자가 전담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" y="585216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E0A878"/>
                </a:solidFill>
                <a:latin typeface="Malgun Gothic"/>
              </a:rPr>
              <a:t>담당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852160"/>
            <a:ext cx="101150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FDF7EF"/>
                </a:solidFill>
                <a:latin typeface="Malgun Gothic"/>
              </a:rPr>
              <a:t>문제 정의 / 기회 정의 / 타깃·페르소나 / 사용자 여정 / 제품 흐름 / AI 응답 정책 / 검증 기준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B34700"/>
                </a:solidFill>
                <a:latin typeface="Malgun Gothic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02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426464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AS-IS — 마케터가 키워드 하나를 조사하는 방식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728216"/>
            <a:ext cx="2149754" cy="804672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4496" y="1837944"/>
            <a:ext cx="274320" cy="274320"/>
          </a:xfrm>
          <a:prstGeom prst="ellipse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" y="18379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" y="2148840"/>
            <a:ext cx="182057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A1A1A"/>
                </a:solidFill>
                <a:latin typeface="Malgun Gothic"/>
              </a:rPr>
              <a:t>네이버 검색광고에서
검색량 · 경쟁도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4523" y="1728216"/>
            <a:ext cx="2149754" cy="804672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79115" y="1837944"/>
            <a:ext cx="274320" cy="274320"/>
          </a:xfrm>
          <a:prstGeom prst="ellipse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9115" y="18379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9115" y="2148840"/>
            <a:ext cx="182057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A1A1A"/>
                </a:solidFill>
                <a:latin typeface="Malgun Gothic"/>
              </a:rPr>
              <a:t>데이터랩에서
관심도 추이 따로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19141" y="1728216"/>
            <a:ext cx="2149754" cy="804672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83733" y="1837944"/>
            <a:ext cx="274320" cy="274320"/>
          </a:xfrm>
          <a:prstGeom prst="ellipse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3733" y="18379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3733" y="2148840"/>
            <a:ext cx="182057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A1A1A"/>
                </a:solidFill>
                <a:latin typeface="Malgun Gothic"/>
              </a:rPr>
              <a:t>유튜브 · 인스타를
눈으로 훑어 반응 가늠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728216"/>
            <a:ext cx="2149754" cy="804672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88352" y="1837944"/>
            <a:ext cx="274320" cy="274320"/>
          </a:xfrm>
          <a:prstGeom prst="ellipse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88352" y="18379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Malgun Gothi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2148840"/>
            <a:ext cx="182057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A1A1A"/>
                </a:solidFill>
                <a:latin typeface="Malgun Gothic"/>
              </a:rPr>
              <a:t>엑셀에 숫자를
손으로 옮겨 붙임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28378" y="1728216"/>
            <a:ext cx="2149754" cy="804672"/>
          </a:xfrm>
          <a:prstGeom prst="roundRect">
            <a:avLst>
              <a:gd name="adj" fmla="val 7954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92970" y="1837944"/>
            <a:ext cx="274320" cy="274320"/>
          </a:xfrm>
          <a:prstGeom prst="ellipse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92970" y="183794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Malgun Gothic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92970" y="2148840"/>
            <a:ext cx="182057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80" b="0">
                <a:solidFill>
                  <a:srgbClr val="1A1A1A"/>
                </a:solidFill>
                <a:latin typeface="Malgun Gothic"/>
              </a:rPr>
              <a:t>캡처를 모아
보고서 작성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" y="2606040"/>
            <a:ext cx="109682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>
                <a:solidFill>
                  <a:srgbClr val="6E6E73"/>
                </a:solidFill>
                <a:latin typeface="Malgun Gothic"/>
              </a:rPr>
              <a:t>다섯 개의 창을 열고 기준이 서로 다른 숫자를 손으로 합칩니다. 같은 키워드를 다음 달에 다시 조사하면 이 과정을 처음부터 반복합니다.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904" y="3200400"/>
            <a:ext cx="10968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그래서 생기는 문제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904" y="3511296"/>
            <a:ext cx="3529584" cy="1078992"/>
          </a:xfrm>
          <a:prstGeom prst="rect">
            <a:avLst/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7648" y="3602736"/>
            <a:ext cx="3054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B34700"/>
                </a:solidFill>
                <a:latin typeface="Malgun Gothic"/>
              </a:rPr>
              <a:t>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648" y="3858768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Malgun Gothic"/>
              </a:rPr>
              <a:t>조사 한 건에 반나절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" y="4187952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채널마다 화면과 지표 기준이 달라 매번 다시 익혀야 합니다.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31512" y="3511296"/>
            <a:ext cx="3529584" cy="1078992"/>
          </a:xfrm>
          <a:prstGeom prst="rect">
            <a:avLst/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9256" y="3602736"/>
            <a:ext cx="3054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B34700"/>
                </a:solidFill>
                <a:latin typeface="Malgun Gothic"/>
              </a:rPr>
              <a:t>근거 소실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9256" y="3858768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Malgun Gothic"/>
              </a:rPr>
              <a:t>출처와 수집일이 안 남음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69256" y="4187952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보고서에 숫자만 남고 어디서 언제 가져왔는지가 사라집니다.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53120" y="3511296"/>
            <a:ext cx="3529584" cy="1078992"/>
          </a:xfrm>
          <a:prstGeom prst="rect">
            <a:avLst/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0864" y="3602736"/>
            <a:ext cx="30540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B34700"/>
                </a:solidFill>
                <a:latin typeface="Malgun Gothic"/>
              </a:rPr>
              <a:t>비교 불가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0864" y="3858768"/>
            <a:ext cx="3054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A1A1A"/>
                </a:solidFill>
                <a:latin typeface="Malgun Gothic"/>
              </a:rPr>
              <a:t>다음 조사와 이어지지 않음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0864" y="4187952"/>
            <a:ext cx="30540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지난달과 같은 기준으로 비교할 수 없어 추세를 못 읽습니다.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904" y="4901184"/>
            <a:ext cx="10968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Problem Statement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904" y="5212080"/>
            <a:ext cx="10968228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2512" y="5212080"/>
            <a:ext cx="10383011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algun Gothic"/>
              </a:rPr>
              <a:t>조사를 반복하는 사람은 채널마다 흩어진 숫자를 손으로 합치느라 반나절을 쓰고,
그렇게 만든 근거는 다음 조사에 이어지지 않는다.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B34700"/>
                </a:solidFill>
                <a:latin typeface="Malgun Gothi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데스크 리서치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03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426464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시장 — 누가 이 조사를 반복하는가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904" y="1728216"/>
            <a:ext cx="5330952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" y="180136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A1A1A"/>
                </a:solidFill>
                <a:latin typeface="Malgun Gothic"/>
              </a:rPr>
              <a:t>국내 디지털 광고 시장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10304" y="180136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34700"/>
                </a:solidFill>
                <a:latin typeface="Malgun Gothic"/>
              </a:rPr>
              <a:t>성장 지속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9360" y="2057400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0">
                <a:solidFill>
                  <a:srgbClr val="6E6E73"/>
                </a:solidFill>
                <a:latin typeface="Malgun Gothic"/>
              </a:rPr>
              <a:t>광고비가 늘수록 사전 조사 수요도 함께 늘어납니다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2404872"/>
            <a:ext cx="5330952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" y="2478024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A1A1A"/>
                </a:solidFill>
                <a:latin typeface="Malgun Gothic"/>
              </a:rPr>
              <a:t>국내 광고회사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304" y="247802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34700"/>
                </a:solidFill>
                <a:latin typeface="Malgun Gothic"/>
              </a:rPr>
              <a:t>다수 · 소규모 중심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" y="2734056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0">
                <a:solidFill>
                  <a:srgbClr val="6E6E73"/>
                </a:solidFill>
                <a:latin typeface="Malgun Gothic"/>
              </a:rPr>
              <a:t>조사 전담 인력이 없는 곳일수록 도구 의존도가 높습니다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" y="3081528"/>
            <a:ext cx="5330952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" y="315468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A1A1A"/>
                </a:solidFill>
                <a:latin typeface="Malgun Gothic"/>
              </a:rPr>
              <a:t>마케팅 리서치 도구 시장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304" y="315468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B34700"/>
                </a:solidFill>
                <a:latin typeface="Malgun Gothic"/>
              </a:rPr>
              <a:t>글로벌 성장세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" y="3410712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0">
                <a:solidFill>
                  <a:srgbClr val="6E6E73"/>
                </a:solidFill>
                <a:latin typeface="Malgun Gothic"/>
              </a:rPr>
              <a:t>국내는 채널별 단일 도구가 대부분입니다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904" y="3785615"/>
            <a:ext cx="5330952" cy="73152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" y="3785615"/>
            <a:ext cx="4892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1A1A1A"/>
                </a:solidFill>
                <a:latin typeface="Malgun Gothic"/>
              </a:rPr>
              <a:t>리서치에서 세운 첫 가설
채널을 많이 조사하는 사람일수록 통합의 가치를 크게 느낀다. 따라서 조사가 잦은 직무에 먼저 팔린다.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7180" y="1426464"/>
            <a:ext cx="5330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도구 지형 — 국내는 두 갈래로 갈려 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7180" y="1728216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유형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0220" y="172821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대표 도구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7580" y="172821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다루는 범위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19180" y="1728216"/>
            <a:ext cx="758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결론까지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7180" y="2002536"/>
            <a:ext cx="5330952" cy="12700"/>
          </a:xfrm>
          <a:prstGeom prst="rect">
            <a:avLst/>
          </a:prstGeom>
          <a:solidFill>
            <a:srgbClr val="E0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7180" y="2093976"/>
            <a:ext cx="1325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1">
                <a:solidFill>
                  <a:srgbClr val="1A1A1A"/>
                </a:solidFill>
                <a:latin typeface="Malgun Gothic"/>
              </a:rPr>
              <a:t>검색량 도구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10220" y="2093976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블랙키위 · 키워드마스터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7580" y="2093976"/>
            <a:ext cx="12344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네이버 검색 중심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19180" y="2093976"/>
            <a:ext cx="6217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미제공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7180" y="2569464"/>
            <a:ext cx="1325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1">
                <a:solidFill>
                  <a:srgbClr val="1A1A1A"/>
                </a:solidFill>
                <a:latin typeface="Malgun Gothic"/>
              </a:rPr>
              <a:t>소셜 반응 도구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0220" y="2569464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썸트렌드 계열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7580" y="2569464"/>
            <a:ext cx="12344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SNS 언급 · 감성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19180" y="2569464"/>
            <a:ext cx="6217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미제공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7180" y="3044952"/>
            <a:ext cx="1325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1">
                <a:solidFill>
                  <a:srgbClr val="1A1A1A"/>
                </a:solidFill>
                <a:latin typeface="Malgun Gothic"/>
              </a:rPr>
              <a:t>글로벌 SEO 도구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10220" y="3044952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Ahrefs · SEMrush 계열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7580" y="3044952"/>
            <a:ext cx="12344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구글 중심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19180" y="3044952"/>
            <a:ext cx="6217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일부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47180" y="3479292"/>
            <a:ext cx="5330952" cy="475488"/>
          </a:xfrm>
          <a:prstGeom prst="rect">
            <a:avLst/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7180" y="3520440"/>
            <a:ext cx="13258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1">
                <a:solidFill>
                  <a:srgbClr val="1A1A1A"/>
                </a:solidFill>
                <a:latin typeface="Malgun Gothic"/>
              </a:rPr>
              <a:t>BIGSEE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0220" y="3520440"/>
            <a:ext cx="160020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5개 채널 통합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7580" y="3520440"/>
            <a:ext cx="12344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검색 + 반응 + 뉴스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19180" y="3520440"/>
            <a:ext cx="6217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AI 해설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47180" y="3954780"/>
            <a:ext cx="5330952" cy="12700"/>
          </a:xfrm>
          <a:prstGeom prst="rect">
            <a:avLst/>
          </a:prstGeom>
          <a:solidFill>
            <a:srgbClr val="E0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47180" y="4032504"/>
            <a:ext cx="5330952" cy="768096"/>
          </a:xfrm>
          <a:prstGeom prst="rect">
            <a:avLst/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66636" y="4032504"/>
            <a:ext cx="4892040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080" b="0">
                <a:solidFill>
                  <a:srgbClr val="8F3900"/>
                </a:solidFill>
                <a:latin typeface="Malgun Gothic"/>
              </a:rPr>
              <a:t>국내 도구는 검색량 아니면 SNS 반응 한쪽만 봅니다.
둘을 함께 보고 그래서 무엇을 할지까지 남기는 화면이 없었습니다.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904" y="4864608"/>
            <a:ext cx="10968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이 리서치로 정해진 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904" y="5175504"/>
            <a:ext cx="3529584" cy="969264"/>
          </a:xfrm>
          <a:prstGeom prst="roundRect">
            <a:avLst>
              <a:gd name="adj" fmla="val 6603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9360" y="525780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49984" y="525780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A1A1A"/>
                </a:solidFill>
                <a:latin typeface="Malgun Gothic"/>
              </a:rPr>
              <a:t>먼저 팔 대상을 조사 빈도로 좁힌다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360" y="5550408"/>
            <a:ext cx="309067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시장 크기가 아니라 조사를 반복하는 빈도가
통합 도구의 가치를 결정한다고 봤습니다.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31512" y="5175504"/>
            <a:ext cx="3529584" cy="969264"/>
          </a:xfrm>
          <a:prstGeom prst="roundRect">
            <a:avLst>
              <a:gd name="adj" fmla="val 6603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50968" y="525780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71592" y="525780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A1A1A"/>
                </a:solidFill>
                <a:latin typeface="Malgun Gothic"/>
              </a:rPr>
              <a:t>채널 추가가 아니라 결론 제공으로 간다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50968" y="5550408"/>
            <a:ext cx="309067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국내 도구가 이미 채널별로 존재하므로
같은 축에서 경쟁하지 않기로 했습니다.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53120" y="5175504"/>
            <a:ext cx="3529584" cy="969264"/>
          </a:xfrm>
          <a:prstGeom prst="roundRect">
            <a:avLst>
              <a:gd name="adj" fmla="val 6603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72576" y="525780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03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93200" y="5257800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30" b="1">
                <a:solidFill>
                  <a:srgbClr val="1A1A1A"/>
                </a:solidFill>
                <a:latin typeface="Malgun Gothic"/>
              </a:rPr>
              <a:t>경쟁 비교는 미검증으로 남긴다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2576" y="5550408"/>
            <a:ext cx="309067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공개 기능 페이지만 봤고 유료 플랜을
전수 비교하지 않았습니다.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904" y="6309360"/>
            <a:ext cx="109682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9A9AA0"/>
                </a:solidFill>
                <a:latin typeface="Malgun Gothic"/>
              </a:rPr>
              <a:t>출처 · DMC리포트 · KOBACO 2025 디지털 광고 시장 보고서 / 한국광고총연합회 2025 광고회사 현황조사 / IMARC 마케팅 리서치 시장 자료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B34700"/>
                </a:solidFill>
                <a:latin typeface="Malgun Gothi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포지셔닝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04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" y="1609344"/>
            <a:ext cx="7406640" cy="402336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904" y="3621024"/>
            <a:ext cx="7406640" cy="12700"/>
          </a:xfrm>
          <a:prstGeom prst="rect">
            <a:avLst/>
          </a:prstGeom>
          <a:solidFill>
            <a:srgbClr val="C8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3224" y="1609344"/>
            <a:ext cx="12801" cy="4023360"/>
          </a:xfrm>
          <a:prstGeom prst="rect">
            <a:avLst/>
          </a:prstGeom>
          <a:solidFill>
            <a:srgbClr val="C8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" y="1335024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실행까지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5696712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데이터 제공에서 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" y="335584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단일 채널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1520" y="335584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멀티 채널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5664" y="4096512"/>
            <a:ext cx="1737360" cy="475488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7104" y="4096512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썸트렌드 계열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5664" y="4718304"/>
            <a:ext cx="1737360" cy="475488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7104" y="4718304"/>
            <a:ext cx="15544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블랙키위 · 키워드마스터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4464" y="4334256"/>
            <a:ext cx="15087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95904" y="4334256"/>
            <a:ext cx="13258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Ahrefs · SEMrush
(구글 중심)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0464" y="4809744"/>
            <a:ext cx="1554480" cy="475488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1904" y="4809744"/>
            <a:ext cx="13716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범용 생성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47664" y="4005072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47664" y="405993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BIGSEE 현재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7664" y="432511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DEEE2"/>
                </a:solidFill>
                <a:latin typeface="Malgun Gothic"/>
              </a:rPr>
              <a:t>5채널 통합 조회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47664" y="1993392"/>
            <a:ext cx="2011680" cy="658368"/>
          </a:xfrm>
          <a:prstGeom prst="roundRect">
            <a:avLst>
              <a:gd name="adj" fmla="val 9722"/>
            </a:avLst>
          </a:prstGeom>
          <a:solidFill>
            <a:srgbClr val="8F3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47664" y="204825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목표 위치 (P0)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7664" y="231343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DEEE2"/>
                </a:solidFill>
                <a:latin typeface="Malgun Gothic"/>
              </a:rPr>
              <a:t>조사 → 실행 → 성과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26072" y="2688336"/>
            <a:ext cx="54864" cy="1280160"/>
          </a:xfrm>
          <a:prstGeom prst="rect">
            <a:avLst/>
          </a:prstGeom>
          <a:solidFill>
            <a:srgbClr val="B3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0896" y="2542032"/>
            <a:ext cx="5852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609344"/>
            <a:ext cx="32570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읽는 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1920240"/>
            <a:ext cx="3257092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2002536"/>
            <a:ext cx="2852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34700"/>
                </a:solidFill>
                <a:latin typeface="Malgun Gothic"/>
              </a:rPr>
              <a:t>가로축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2258568"/>
            <a:ext cx="2852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몇 개 채널을 한 번에 다루는가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2706624"/>
            <a:ext cx="3257092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22208" y="2788920"/>
            <a:ext cx="2852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34700"/>
                </a:solidFill>
                <a:latin typeface="Malgun Gothic"/>
              </a:rPr>
              <a:t>세로축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044952"/>
            <a:ext cx="2852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숫자를 주고 끝나는가, 다음 행동까지 남기는가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3493008"/>
            <a:ext cx="3257092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22208" y="3575304"/>
            <a:ext cx="2852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34700"/>
                </a:solidFill>
                <a:latin typeface="Malgun Gothic"/>
              </a:rPr>
              <a:t>빈칸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22208" y="3831336"/>
            <a:ext cx="2852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오른쪽 위 — 멀티채널이면서 실행까지 잇는 자리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4279392"/>
            <a:ext cx="3257092" cy="694944"/>
          </a:xfrm>
          <a:prstGeom prst="roundRect">
            <a:avLst>
              <a:gd name="adj" fmla="val 9210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4361688"/>
            <a:ext cx="28529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34700"/>
                </a:solidFill>
                <a:latin typeface="Malgun Gothic"/>
              </a:rPr>
              <a:t>현재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4617720"/>
            <a:ext cx="2852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BIGSEE는 오른쪽 아래. 통합은 됐지만 결론이 없다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5065776"/>
            <a:ext cx="3257092" cy="566928"/>
          </a:xfrm>
          <a:prstGeom prst="rect">
            <a:avLst/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22208" y="5065776"/>
            <a:ext cx="285475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1">
                <a:solidFill>
                  <a:srgbClr val="8F3900"/>
                </a:solidFill>
                <a:latin typeface="Malgun Gothic"/>
              </a:rPr>
              <a:t>채널을 더 붙이는 대신
세로축으로 올리기로 결정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B34700"/>
                </a:solidFill>
                <a:latin typeface="Malgun Gothi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타깃과 페르소나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05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426464"/>
            <a:ext cx="10968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타깃을 좁힌 기준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904" y="1709928"/>
            <a:ext cx="3529584" cy="71323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9360" y="1792224"/>
            <a:ext cx="3090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조사 빈도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60" y="2048256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월 1회 이하는 제외. 주 단위로 조사하는 직무만.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1512" y="1709928"/>
            <a:ext cx="3529584" cy="71323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0968" y="1792224"/>
            <a:ext cx="3090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결정 권한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968" y="2048256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조사 결과로 예산 · 일정을 실제로 움직이는가.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3120" y="1709928"/>
            <a:ext cx="3529584" cy="71323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2576" y="1792224"/>
            <a:ext cx="3090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1">
                <a:solidFill>
                  <a:srgbClr val="1A1A1A"/>
                </a:solidFill>
                <a:latin typeface="Malgun Gothic"/>
              </a:rPr>
              <a:t>대체 수단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2576" y="2048256"/>
            <a:ext cx="30906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80" b="0">
                <a:solidFill>
                  <a:srgbClr val="6E6E73"/>
                </a:solidFill>
                <a:latin typeface="Malgun Gothic"/>
              </a:rPr>
              <a:t>무료 도구로 버티는가, 이미 유료를 쓰는가.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2724912"/>
            <a:ext cx="10968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가설 페르소나 — 인터뷰 전 단계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904" y="3035808"/>
            <a:ext cx="3529584" cy="3255264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904" y="3035808"/>
            <a:ext cx="3529584" cy="54864"/>
          </a:xfrm>
          <a:prstGeom prst="rect">
            <a:avLst/>
          </a:prstGeom>
          <a:solidFill>
            <a:srgbClr val="B3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9360" y="3200400"/>
            <a:ext cx="475488" cy="274320"/>
          </a:xfrm>
          <a:prstGeom prst="roundRect">
            <a:avLst>
              <a:gd name="adj" fmla="val 20000"/>
            </a:avLst>
          </a:prstGeom>
          <a:solidFill>
            <a:srgbClr val="B34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P1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4576" y="32004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E6E73"/>
                </a:solidFill>
                <a:latin typeface="Malgun Gothic"/>
              </a:rPr>
              <a:t>1순위 검증 가설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" y="3566160"/>
            <a:ext cx="3090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Malgun Gothic"/>
              </a:rPr>
              <a:t>광고대행사 AE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9360" y="3941063"/>
            <a:ext cx="3090672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" y="4050791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조사 빈도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" y="427024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주 3~5건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" y="4654296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과업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" y="487375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제안서에 넣을 근거를 매번 새로 만든다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" y="525780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페인 포인트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" y="5477256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왜 이 키워드냐는 질문에 답할 출처가 없다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" y="585216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기대하는 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" y="6071616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출처 · 수집일이 찍힌 조사 근거와 제안서 초안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1512" y="3035808"/>
            <a:ext cx="3529584" cy="3255264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31512" y="3035808"/>
            <a:ext cx="3529584" cy="54864"/>
          </a:xfrm>
          <a:prstGeom prst="rect">
            <a:avLst/>
          </a:prstGeom>
          <a:solidFill>
            <a:srgbClr val="C8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50968" y="3200400"/>
            <a:ext cx="475488" cy="274320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50" b="1">
                <a:solidFill>
                  <a:srgbClr val="6E6E73"/>
                </a:solidFill>
                <a:latin typeface="Malgun Gothic"/>
              </a:rP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6184" y="32004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E6E73"/>
                </a:solidFill>
                <a:latin typeface="Malgun Gothic"/>
              </a:rPr>
              <a:t>2순위 비교군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0968" y="3566160"/>
            <a:ext cx="3090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Malgun Gothic"/>
              </a:rPr>
              <a:t>인하우스 마케터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50968" y="3941063"/>
            <a:ext cx="3090672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0968" y="4050791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조사 빈도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0968" y="427024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주 1~2건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0968" y="4654296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과업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0968" y="487375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캠페인 전 수요를 확인하고 광고비를 배분한다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0968" y="525780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페인 포인트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0968" y="5477256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채널마다 기준이 달라 어디에 더 쓸지 근거가 약하다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0968" y="585216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기대하는 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0968" y="6071616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채널 간 비교가 같은 기준으로 되는 화면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53120" y="3035808"/>
            <a:ext cx="3529584" cy="3255264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53120" y="3035808"/>
            <a:ext cx="3529584" cy="54864"/>
          </a:xfrm>
          <a:prstGeom prst="rect">
            <a:avLst/>
          </a:prstGeom>
          <a:solidFill>
            <a:srgbClr val="C8C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72576" y="3200400"/>
            <a:ext cx="475488" cy="274320"/>
          </a:xfrm>
          <a:prstGeom prst="roundRect">
            <a:avLst>
              <a:gd name="adj" fmla="val 20000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50" b="1">
                <a:solidFill>
                  <a:srgbClr val="6E6E73"/>
                </a:solidFill>
                <a:latin typeface="Malgun Gothic"/>
              </a:rPr>
              <a:t>P3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57792" y="32004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E6E73"/>
                </a:solidFill>
                <a:latin typeface="Malgun Gothic"/>
              </a:rPr>
              <a:t>3순위 비교군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2576" y="3566160"/>
            <a:ext cx="3090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Malgun Gothic"/>
              </a:rPr>
              <a:t>다채널 활성 셀러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2576" y="3941063"/>
            <a:ext cx="3090672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2576" y="4050791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조사 빈도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2576" y="4270248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주 2~3건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2576" y="4654296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과업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2576" y="4873752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상품을 올리기 전 수요와 경쟁을 본다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2576" y="525780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페인 포인트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2576" y="5477256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쇼핑 클릭과 검색량을 따로 보느라 판단이 늦다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2576" y="5852160"/>
            <a:ext cx="30906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기대하는 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2576" y="6071616"/>
            <a:ext cx="3090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SKU 단위로 묶여 저장되는 조사 결과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904" y="6419088"/>
            <a:ext cx="109682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19" b="0">
                <a:solidFill>
                  <a:srgbClr val="6E6E73"/>
                </a:solidFill>
                <a:latin typeface="Malgun Gothic"/>
              </a:rPr>
              <a:t>누구나 쓰는 도구라고 소개하면 광고 문장을 쓸 대상이 없습니다. 한 직무를 정해야 한 문장이 나옵니다.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B34700"/>
                </a:solidFill>
                <a:latin typeface="Malgun Gothi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사용자 여정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06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904" y="1426464"/>
            <a:ext cx="1782317" cy="365760"/>
          </a:xfrm>
          <a:prstGeom prst="rect">
            <a:avLst/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4768" y="1426464"/>
            <a:ext cx="167259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3900"/>
                </a:solidFill>
                <a:latin typeface="Malgun Gothic"/>
              </a:rPr>
              <a:t>키워드 정하기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768" y="1828800"/>
            <a:ext cx="16725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무엇을 조사할지 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" y="2121408"/>
            <a:ext cx="16725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9A9AA0"/>
                </a:solidFill>
                <a:latin typeface="Malgun Gothic"/>
              </a:rPr>
              <a:t>사내 요청 · 기획서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47086" y="1426464"/>
            <a:ext cx="1782317" cy="365760"/>
          </a:xfrm>
          <a:prstGeom prst="rect">
            <a:avLst/>
          </a:prstGeom>
          <a:solidFill>
            <a:srgbClr val="FD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1950" y="1426464"/>
            <a:ext cx="167259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3900"/>
                </a:solidFill>
                <a:latin typeface="Malgun Gothic"/>
              </a:rPr>
              <a:t>채널별 조회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1950" y="1828800"/>
            <a:ext cx="16725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다섯 채널을 각각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1950" y="2121408"/>
            <a:ext cx="16725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9A9AA0"/>
                </a:solidFill>
                <a:latin typeface="Malgun Gothic"/>
              </a:rPr>
              <a:t>각 플랫폼 · BIGSEE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4268" y="1426464"/>
            <a:ext cx="1782317" cy="365760"/>
          </a:xfrm>
          <a:prstGeom prst="rect">
            <a:avLst/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9132" y="1426464"/>
            <a:ext cx="167259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3900"/>
                </a:solidFill>
                <a:latin typeface="Malgun Gothic"/>
              </a:rPr>
              <a:t>결과 읽기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9132" y="1828800"/>
            <a:ext cx="16725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검색량 · 반응 · 뉴스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9132" y="2121408"/>
            <a:ext cx="16725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9A9AA0"/>
                </a:solidFill>
                <a:latin typeface="Malgun Gothic"/>
              </a:rPr>
              <a:t>BIGSEE 결과 화면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1450" y="1426464"/>
            <a:ext cx="1782317" cy="365760"/>
          </a:xfrm>
          <a:prstGeom prst="rect">
            <a:avLst/>
          </a:prstGeom>
          <a:solidFill>
            <a:srgbClr val="FD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6314" y="1426464"/>
            <a:ext cx="167259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3900"/>
                </a:solidFill>
                <a:latin typeface="Malgun Gothic"/>
              </a:rPr>
              <a:t>내보내기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6314" y="1828800"/>
            <a:ext cx="16725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CSV · HTML로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6314" y="2121408"/>
            <a:ext cx="16725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9A9AA0"/>
                </a:solidFill>
                <a:latin typeface="Malgun Gothic"/>
              </a:rPr>
              <a:t>내보내기 버튼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8632" y="1426464"/>
            <a:ext cx="1782317" cy="365760"/>
          </a:xfrm>
          <a:prstGeom prst="rect">
            <a:avLst/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3496" y="1426464"/>
            <a:ext cx="167259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3900"/>
                </a:solidFill>
                <a:latin typeface="Malgun Gothic"/>
              </a:rPr>
              <a:t>보고서 만들기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3496" y="1828800"/>
            <a:ext cx="16725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엑셀 · PPT로 옮겨 붙임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3496" y="2121408"/>
            <a:ext cx="16725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9A9AA0"/>
                </a:solidFill>
                <a:latin typeface="Malgun Gothic"/>
              </a:rPr>
              <a:t>사내 문서 · 메일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95814" y="1426464"/>
            <a:ext cx="1782317" cy="365760"/>
          </a:xfrm>
          <a:prstGeom prst="rect">
            <a:avLst/>
          </a:prstGeom>
          <a:solidFill>
            <a:srgbClr val="FD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0678" y="1426464"/>
            <a:ext cx="167259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F3900"/>
                </a:solidFill>
                <a:latin typeface="Malgun Gothic"/>
              </a:rPr>
              <a:t>실행 · 성과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0678" y="1828800"/>
            <a:ext cx="16725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광고 · 콘텐츠 집행 후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0678" y="2121408"/>
            <a:ext cx="167259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>
                <a:solidFill>
                  <a:srgbClr val="9A9AA0"/>
                </a:solidFill>
                <a:latin typeface="Malgun Gothic"/>
              </a:rPr>
              <a:t>광고 관리자 · GA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904" y="2468880"/>
            <a:ext cx="10968228" cy="107899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496" y="252374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A9AA0"/>
                </a:solidFill>
                <a:latin typeface="Malgun Gothic"/>
              </a:rPr>
              <a:t>감정선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501063" y="2930652"/>
            <a:ext cx="1837182" cy="210312"/>
          </a:xfrm>
          <a:prstGeom prst="line">
            <a:avLst/>
          </a:prstGeom>
          <a:ln w="19050">
            <a:solidFill>
              <a:srgbClr val="E0A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3338245" y="2720340"/>
            <a:ext cx="1837182" cy="420624"/>
          </a:xfrm>
          <a:prstGeom prst="line">
            <a:avLst/>
          </a:prstGeom>
          <a:ln w="19050">
            <a:solidFill>
              <a:srgbClr val="E0A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75427" y="2720340"/>
            <a:ext cx="1837182" cy="210312"/>
          </a:xfrm>
          <a:prstGeom prst="line">
            <a:avLst/>
          </a:prstGeom>
          <a:ln w="19050">
            <a:solidFill>
              <a:srgbClr val="E0A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012609" y="2930652"/>
            <a:ext cx="1837182" cy="210312"/>
          </a:xfrm>
          <a:prstGeom prst="line">
            <a:avLst/>
          </a:prstGeom>
          <a:ln w="19050">
            <a:solidFill>
              <a:srgbClr val="E0A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849791" y="3140964"/>
            <a:ext cx="1837182" cy="0"/>
          </a:xfrm>
          <a:prstGeom prst="line">
            <a:avLst/>
          </a:prstGeom>
          <a:ln w="19050">
            <a:solidFill>
              <a:srgbClr val="E0A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1432483" y="2862072"/>
            <a:ext cx="137160" cy="137160"/>
          </a:xfrm>
          <a:prstGeom prst="ellipse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" y="3022091"/>
            <a:ext cx="178231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Malgun Gothic"/>
              </a:rPr>
              <a:t>보통</a:t>
            </a:r>
          </a:p>
        </p:txBody>
      </p:sp>
      <p:sp>
        <p:nvSpPr>
          <p:cNvPr id="39" name="Oval 38"/>
          <p:cNvSpPr/>
          <p:nvPr/>
        </p:nvSpPr>
        <p:spPr>
          <a:xfrm>
            <a:off x="3269665" y="3072384"/>
            <a:ext cx="137160" cy="137160"/>
          </a:xfrm>
          <a:prstGeom prst="ellipse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47086" y="3232403"/>
            <a:ext cx="178231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Malgun Gothic"/>
              </a:rPr>
              <a:t>낮음</a:t>
            </a:r>
          </a:p>
        </p:txBody>
      </p:sp>
      <p:sp>
        <p:nvSpPr>
          <p:cNvPr id="41" name="Oval 40"/>
          <p:cNvSpPr/>
          <p:nvPr/>
        </p:nvSpPr>
        <p:spPr>
          <a:xfrm>
            <a:off x="5106847" y="2651760"/>
            <a:ext cx="137160" cy="137160"/>
          </a:xfrm>
          <a:prstGeom prst="ellipse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84268" y="2811779"/>
            <a:ext cx="178231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Malgun Gothic"/>
              </a:rPr>
              <a:t>높음</a:t>
            </a:r>
          </a:p>
        </p:txBody>
      </p:sp>
      <p:sp>
        <p:nvSpPr>
          <p:cNvPr id="43" name="Oval 42"/>
          <p:cNvSpPr/>
          <p:nvPr/>
        </p:nvSpPr>
        <p:spPr>
          <a:xfrm>
            <a:off x="6944029" y="2862072"/>
            <a:ext cx="137160" cy="137160"/>
          </a:xfrm>
          <a:prstGeom prst="ellipse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21450" y="3022091"/>
            <a:ext cx="178231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Malgun Gothic"/>
              </a:rPr>
              <a:t>보통</a:t>
            </a:r>
          </a:p>
        </p:txBody>
      </p:sp>
      <p:sp>
        <p:nvSpPr>
          <p:cNvPr id="45" name="Oval 44"/>
          <p:cNvSpPr/>
          <p:nvPr/>
        </p:nvSpPr>
        <p:spPr>
          <a:xfrm>
            <a:off x="8781211" y="3072384"/>
            <a:ext cx="137160" cy="137160"/>
          </a:xfrm>
          <a:prstGeom prst="ellipse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58632" y="3232403"/>
            <a:ext cx="178231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Malgun Gothic"/>
              </a:rPr>
              <a:t>낮음</a:t>
            </a:r>
          </a:p>
        </p:txBody>
      </p:sp>
      <p:sp>
        <p:nvSpPr>
          <p:cNvPr id="47" name="Oval 46"/>
          <p:cNvSpPr/>
          <p:nvPr/>
        </p:nvSpPr>
        <p:spPr>
          <a:xfrm>
            <a:off x="10618393" y="3072384"/>
            <a:ext cx="137160" cy="137160"/>
          </a:xfrm>
          <a:prstGeom prst="ellipse">
            <a:avLst/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95814" y="3232403"/>
            <a:ext cx="178231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Malgun Gothic"/>
              </a:rPr>
              <a:t>낮음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9904" y="3675887"/>
            <a:ext cx="10968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각 단계의 문제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9904" y="3986784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3056" y="3986784"/>
            <a:ext cx="163601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조사 목적이 문서로 안 남는다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447086" y="3986784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CEAEA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20238" y="3986784"/>
            <a:ext cx="163601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40" b="0">
                <a:solidFill>
                  <a:srgbClr val="B42318"/>
                </a:solidFill>
                <a:latin typeface="Malgun Gothic"/>
              </a:rPr>
              <a:t>탭 다섯 개, 기준이 제각각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84268" y="3986784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57420" y="3986784"/>
            <a:ext cx="163601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무엇이 좋은 수치인지 모른다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21450" y="3986784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FFFFF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94602" y="3986784"/>
            <a:ext cx="163601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40" b="0">
                <a:solidFill>
                  <a:srgbClr val="1A1A1A"/>
                </a:solidFill>
                <a:latin typeface="Malgun Gothic"/>
              </a:rPr>
              <a:t>등급에 따라 잠겨 있다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58632" y="3986784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CEAEA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31784" y="3986784"/>
            <a:ext cx="163601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40" b="0">
                <a:solidFill>
                  <a:srgbClr val="B42318"/>
                </a:solidFill>
                <a:latin typeface="Malgun Gothic"/>
              </a:rPr>
              <a:t>여기서 서비스 밖으로 나간다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95814" y="3986784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CEAEA"/>
          </a:solidFill>
          <a:ln w="9525">
            <a:solidFill>
              <a:srgbClr val="D6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68966" y="3986784"/>
            <a:ext cx="163601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40" b="0">
                <a:solidFill>
                  <a:srgbClr val="B42318"/>
                </a:solidFill>
                <a:latin typeface="Malgun Gothic"/>
              </a:rPr>
              <a:t>조사와 성과가 안 이어진다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904" y="4700016"/>
            <a:ext cx="10968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대응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9904" y="5010912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3056" y="5010912"/>
            <a:ext cx="163601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40" b="0">
                <a:solidFill>
                  <a:srgbClr val="8F3900"/>
                </a:solidFill>
                <a:latin typeface="Malgun Gothic"/>
              </a:rPr>
              <a:t>조사 브리프로 목적 고정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447086" y="5010912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20238" y="5010912"/>
            <a:ext cx="163601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40" b="0">
                <a:solidFill>
                  <a:srgbClr val="8F3900"/>
                </a:solidFill>
                <a:latin typeface="Malgun Gothic"/>
              </a:rPr>
              <a:t>한 화면 통합 (현재 제공)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284268" y="5010912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57420" y="5010912"/>
            <a:ext cx="163601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40" b="0">
                <a:solidFill>
                  <a:srgbClr val="8F3900"/>
                </a:solidFill>
                <a:latin typeface="Malgun Gothic"/>
              </a:rPr>
              <a:t>AI 해설 · 벤치마크 (제공)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121450" y="5010912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94602" y="5010912"/>
            <a:ext cx="163601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40" b="0">
                <a:solidFill>
                  <a:srgbClr val="8F3900"/>
                </a:solidFill>
                <a:latin typeface="Malgun Gothic"/>
              </a:rPr>
              <a:t>잠금 사유와 대안 안내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958632" y="5010912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31784" y="5010912"/>
            <a:ext cx="163601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Malgun Gothic"/>
              </a:rPr>
              <a:t>근거 기반 초안 자동 생성 (P0)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95814" y="5010912"/>
            <a:ext cx="1782317" cy="585216"/>
          </a:xfrm>
          <a:prstGeom prst="roundRect">
            <a:avLst>
              <a:gd name="adj" fmla="val 10937"/>
            </a:avLst>
          </a:prstGeom>
          <a:solidFill>
            <a:srgbClr val="E06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68966" y="5010912"/>
            <a:ext cx="163601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40" b="1">
                <a:solidFill>
                  <a:srgbClr val="FFFFFF"/>
                </a:solidFill>
                <a:latin typeface="Malgun Gothic"/>
              </a:rPr>
              <a:t>캠페인 · UTM · CRM (P0)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9904" y="5779008"/>
            <a:ext cx="109682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Malgun Gothic"/>
              </a:rPr>
              <a:t>감정이 두 번 꺾입니다. 두 번째 꺾임(보고서 · 실행)에서 사용자는 서비스를 떠나고, 그 뒤 무슨 일이 있었는지 제품은 알지 못합니다.
P0 범위를 5 · 6단계에 몰아넣은 이유입니다.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3620" y="7818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B34700"/>
                </a:solidFill>
                <a:latin typeface="Malgun Gothi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" y="78181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1A1A1A"/>
                </a:solidFill>
                <a:latin typeface="Malgun Gothic"/>
              </a:rPr>
              <a:t>가설과 검증 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07 / 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904" y="1179576"/>
            <a:ext cx="10968228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904" y="1426464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1424" y="1426464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가설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0464" y="142646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통과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5104" y="1426464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현재 증거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93984" y="1426464"/>
            <a:ext cx="11841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80" b="1">
                <a:solidFill>
                  <a:srgbClr val="6E6E73"/>
                </a:solidFill>
                <a:latin typeface="Malgun Gothic"/>
              </a:rPr>
              <a:t>상태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904" y="1700784"/>
            <a:ext cx="10968228" cy="12700"/>
          </a:xfrm>
          <a:prstGeom prst="rect">
            <a:avLst/>
          </a:prstGeom>
          <a:solidFill>
            <a:srgbClr val="E0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904" y="1751076"/>
            <a:ext cx="10968228" cy="438912"/>
          </a:xfrm>
          <a:prstGeom prst="rect">
            <a:avLst/>
          </a:prstGeom>
          <a:solidFill>
            <a:srgbClr val="FD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904" y="179222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B34700"/>
                </a:solidFill>
                <a:latin typeface="Malgun Gothic"/>
              </a:rPr>
              <a:t>H-001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1424" y="1792224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1A1A1A"/>
                </a:solidFill>
                <a:latin typeface="Malgun Gothic"/>
              </a:rPr>
              <a:t>대행사는 멀티채널 제안서 조사 문제에 돈을 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0464" y="1792224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8F3900"/>
                </a:solidFill>
                <a:latin typeface="Malgun Gothic"/>
              </a:rPr>
              <a:t>파일럿 제안 5건 중 3건 이상 결제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5104" y="1792224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공개 사용사례만 · 직접 증거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93984" y="1847088"/>
            <a:ext cx="841248" cy="265176"/>
          </a:xfrm>
          <a:prstGeom prst="roundRect">
            <a:avLst>
              <a:gd name="adj" fmla="val 48275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6E6E73"/>
                </a:solidFill>
                <a:latin typeface="Malgun Gothic"/>
              </a:rPr>
              <a:t>미시작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" y="22311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B34700"/>
                </a:solidFill>
                <a:latin typeface="Malgun Gothic"/>
              </a:rPr>
              <a:t>H-002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1424" y="2231136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1A1A1A"/>
                </a:solidFill>
                <a:latin typeface="Malgun Gothic"/>
              </a:rPr>
              <a:t>조사 시간을 의미 있게 줄인다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0464" y="2231136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8F3900"/>
                </a:solidFill>
                <a:latin typeface="Malgun Gothic"/>
              </a:rPr>
              <a:t>프로젝트당 중앙값 60분 이상 절감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5104" y="223113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미측정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93984" y="2286000"/>
            <a:ext cx="841248" cy="265176"/>
          </a:xfrm>
          <a:prstGeom prst="roundRect">
            <a:avLst>
              <a:gd name="adj" fmla="val 48275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6E6E73"/>
                </a:solidFill>
                <a:latin typeface="Malgun Gothic"/>
              </a:rPr>
              <a:t>미시작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904" y="2628900"/>
            <a:ext cx="10968228" cy="438912"/>
          </a:xfrm>
          <a:prstGeom prst="rect">
            <a:avLst/>
          </a:prstGeom>
          <a:solidFill>
            <a:srgbClr val="FD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" y="267004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B34700"/>
                </a:solidFill>
                <a:latin typeface="Malgun Gothic"/>
              </a:rPr>
              <a:t>H-003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1424" y="2670048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1A1A1A"/>
                </a:solidFill>
                <a:latin typeface="Malgun Gothic"/>
              </a:rPr>
              <a:t>유료 고객이 4주 동안 반복 사용한다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0464" y="267004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8F3900"/>
                </a:solidFill>
                <a:latin typeface="Malgun Gothic"/>
              </a:rPr>
              <a:t>유료 고객 60% 이상 4주차 활성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5104" y="2670048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미측정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93984" y="2724912"/>
            <a:ext cx="841248" cy="265176"/>
          </a:xfrm>
          <a:prstGeom prst="roundRect">
            <a:avLst>
              <a:gd name="adj" fmla="val 48275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6E6E73"/>
                </a:solidFill>
                <a:latin typeface="Malgun Gothic"/>
              </a:rPr>
              <a:t>미시작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904" y="310896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B34700"/>
                </a:solidFill>
                <a:latin typeface="Malgun Gothic"/>
              </a:rPr>
              <a:t>H-004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1424" y="3108960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1A1A1A"/>
                </a:solidFill>
                <a:latin typeface="Malgun Gothic"/>
              </a:rPr>
              <a:t>사용자별 직접원가가 매출의 25% 이하다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90464" y="3108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8F3900"/>
                </a:solidFill>
                <a:latin typeface="Malgun Gothic"/>
              </a:rPr>
              <a:t>2주 연속 직접원가 비율 25% 이하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5104" y="31089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비용 항목만 파악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93984" y="3163824"/>
            <a:ext cx="841248" cy="265176"/>
          </a:xfrm>
          <a:prstGeom prst="roundRect">
            <a:avLst>
              <a:gd name="adj" fmla="val 48275"/>
            </a:avLst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6E6E73"/>
                </a:solidFill>
                <a:latin typeface="Malgun Gothic"/>
              </a:rPr>
              <a:t>미시작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904" y="3506724"/>
            <a:ext cx="10968228" cy="438912"/>
          </a:xfrm>
          <a:prstGeom prst="rect">
            <a:avLst/>
          </a:prstGeom>
          <a:solidFill>
            <a:srgbClr val="FD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9904" y="35478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B34700"/>
                </a:solidFill>
                <a:latin typeface="Malgun Gothic"/>
              </a:rPr>
              <a:t>H-010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1424" y="3547872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1A1A1A"/>
                </a:solidFill>
                <a:latin typeface="Malgun Gothic"/>
              </a:rPr>
              <a:t>기존 약 20명 안에서 첫 고객군을 찾을 수 있다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90464" y="3547872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8F3900"/>
                </a:solidFill>
                <a:latin typeface="Malgun Gothic"/>
              </a:rPr>
              <a:t>동일 문제 6명 이상 · 데모 5건 중 유료 2건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5104" y="35478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등록 약 20명이라는 전달만 있음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93984" y="3602736"/>
            <a:ext cx="841248" cy="265176"/>
          </a:xfrm>
          <a:prstGeom prst="roundRect">
            <a:avLst>
              <a:gd name="adj" fmla="val 48275"/>
            </a:avLst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8F3900"/>
                </a:solidFill>
                <a:latin typeface="Malgun Gothic"/>
              </a:rPr>
              <a:t>진행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904" y="3986783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B34700"/>
                </a:solidFill>
                <a:latin typeface="Malgun Gothic"/>
              </a:rPr>
              <a:t>H-012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41424" y="3986783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1A1A1A"/>
                </a:solidFill>
                <a:latin typeface="Malgun Gothic"/>
              </a:rPr>
              <a:t>커뮤니티와 Meta 동시 시험으로 고객군을 비교한다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0464" y="3986783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8F3900"/>
                </a:solidFill>
                <a:latin typeface="Malgun Gothic"/>
              </a:rPr>
              <a:t>한 페르소나에서 유료 2건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25104" y="3986783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채널 공개 근거만 · 실적 없음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393984" y="4041647"/>
            <a:ext cx="841248" cy="265176"/>
          </a:xfrm>
          <a:prstGeom prst="roundRect">
            <a:avLst>
              <a:gd name="adj" fmla="val 48275"/>
            </a:avLst>
          </a:prstGeom>
          <a:solidFill>
            <a:srgbClr val="F3E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9A6400"/>
                </a:solidFill>
                <a:latin typeface="Malgun Gothic"/>
              </a:rPr>
              <a:t>준비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904" y="4384548"/>
            <a:ext cx="10968228" cy="438912"/>
          </a:xfrm>
          <a:prstGeom prst="rect">
            <a:avLst/>
          </a:prstGeom>
          <a:solidFill>
            <a:srgbClr val="FD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904" y="442569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B34700"/>
                </a:solidFill>
                <a:latin typeface="Malgun Gothic"/>
              </a:rPr>
              <a:t>H-013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41424" y="4425696"/>
            <a:ext cx="361187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1A1A1A"/>
                </a:solidFill>
                <a:latin typeface="Malgun Gothic"/>
              </a:rPr>
              <a:t>대행사가 인하우스·셀러보다 확장 가치가 높다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90464" y="4425696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1">
                <a:solidFill>
                  <a:srgbClr val="8F3900"/>
                </a:solidFill>
                <a:latin typeface="Malgun Gothic"/>
              </a:rPr>
              <a:t>결제·반복·팀 신호의 종합 우위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25104" y="4425696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Malgun Gothic"/>
              </a:rPr>
              <a:t>업무 빈도 가설만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393984" y="4480559"/>
            <a:ext cx="841248" cy="265176"/>
          </a:xfrm>
          <a:prstGeom prst="roundRect">
            <a:avLst>
              <a:gd name="adj" fmla="val 48275"/>
            </a:avLst>
          </a:prstGeom>
          <a:solidFill>
            <a:srgbClr val="FFF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  <a:r>
              <a:rPr sz="930" b="1">
                <a:solidFill>
                  <a:srgbClr val="8F3900"/>
                </a:solidFill>
                <a:latin typeface="Malgun Gothic"/>
              </a:rPr>
              <a:t>진행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904" y="4823460"/>
            <a:ext cx="10968228" cy="12700"/>
          </a:xfrm>
          <a:prstGeom prst="rect">
            <a:avLst/>
          </a:prstGeom>
          <a:solidFill>
            <a:srgbClr val="E0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9904" y="4928616"/>
            <a:ext cx="109682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60" b="0">
                <a:solidFill>
                  <a:srgbClr val="9A9AA0"/>
                </a:solidFill>
                <a:latin typeface="Malgun Gothic"/>
              </a:rPr>
              <a:t>전체 14건 중 7건 발췌 · 원본은 가설·검증 대장에 유지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904" y="5212080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B34700"/>
                </a:solidFill>
                <a:latin typeface="Malgun Gothic"/>
              </a:rPr>
              <a:t>검증 원칙</a:t>
            </a:r>
          </a:p>
        </p:txBody>
      </p:sp>
      <p:sp>
        <p:nvSpPr>
          <p:cNvPr id="54" name="Oval 53"/>
          <p:cNvSpPr/>
          <p:nvPr/>
        </p:nvSpPr>
        <p:spPr>
          <a:xfrm>
            <a:off x="609904" y="5641848"/>
            <a:ext cx="82296" cy="82296"/>
          </a:xfrm>
          <a:prstGeom prst="ellipse">
            <a:avLst/>
          </a:prstGeom>
          <a:solidFill>
            <a:srgbClr val="E0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1072" y="5522976"/>
            <a:ext cx="6492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1A1A1A"/>
                </a:solidFill>
                <a:latin typeface="Malgun Gothic"/>
              </a:rPr>
              <a:t>인터뷰의 호의적 반응보다 실제 결제·반복·게시를 강한 증거로 본다</a:t>
            </a:r>
          </a:p>
        </p:txBody>
      </p:sp>
      <p:sp>
        <p:nvSpPr>
          <p:cNvPr id="56" name="Oval 55"/>
          <p:cNvSpPr/>
          <p:nvPr/>
        </p:nvSpPr>
        <p:spPr>
          <a:xfrm>
            <a:off x="609904" y="6007608"/>
            <a:ext cx="82296" cy="82296"/>
          </a:xfrm>
          <a:prstGeom prst="ellipse">
            <a:avLst/>
          </a:prstGeom>
          <a:solidFill>
            <a:srgbClr val="E0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1072" y="5888736"/>
            <a:ext cx="6492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1A1A1A"/>
                </a:solidFill>
                <a:latin typeface="Malgun Gothic"/>
              </a:rPr>
              <a:t>최소 표본과 기간을 사전에 정하고, 한 번의 성공으로 통과시키지 않는다</a:t>
            </a:r>
          </a:p>
        </p:txBody>
      </p:sp>
      <p:sp>
        <p:nvSpPr>
          <p:cNvPr id="58" name="Oval 57"/>
          <p:cNvSpPr/>
          <p:nvPr/>
        </p:nvSpPr>
        <p:spPr>
          <a:xfrm>
            <a:off x="609904" y="6373368"/>
            <a:ext cx="82296" cy="82296"/>
          </a:xfrm>
          <a:prstGeom prst="ellipse">
            <a:avLst/>
          </a:prstGeom>
          <a:solidFill>
            <a:srgbClr val="E0A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1072" y="6254496"/>
            <a:ext cx="6492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30" b="0">
                <a:solidFill>
                  <a:srgbClr val="1A1A1A"/>
                </a:solidFill>
                <a:latin typeface="Malgun Gothic"/>
              </a:rPr>
              <a:t>목표 미달이어도 숨기지 않고 기각 · 수정 · 추가시험 중 하나로 판정한다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89520" y="5212080"/>
            <a:ext cx="3988612" cy="1408176"/>
          </a:xfrm>
          <a:prstGeom prst="rect">
            <a:avLst/>
          </a:prstGeom>
          <a:solidFill>
            <a:srgbClr val="8F3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08975" y="534009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algun Gothic"/>
              </a:rPr>
              <a:t>실제로 수정한 가설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08975" y="5650992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19" b="0">
                <a:solidFill>
                  <a:srgbClr val="F7D9BE"/>
                </a:solidFill>
                <a:latin typeface="Malgun Gothic"/>
              </a:rPr>
              <a:t>H-011 순차 집행을 폐기하고
H-012 동시 비교로 대체했습니다.
상태를 '수정'으로 남기고 지우지 않았습니다.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A3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66452" y="315468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A9AA0"/>
                </a:solidFill>
                <a:latin typeface="Malgun Gothic"/>
              </a:rPr>
              <a:t>22 /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60120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2600" b="1">
                <a:solidFill>
                  <a:srgbClr val="1A1A1A"/>
                </a:solidFill>
                <a:latin typeface="Malgun Gothic"/>
              </a:rPr>
              <a:t>현장을 구조로 바꾸고, 이해관계를 조율하고,
운영 안착까지 보는 PM입니다.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1284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2A3F6B"/>
                </a:solidFill>
                <a:latin typeface="Malgun Gothic"/>
              </a:rPr>
              <a:t>세 프로젝트를 지나며 실제로 바뀐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42032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9C4D8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542032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Malgun Gothic"/>
              </a:rPr>
              <a:t>계획을 세우고 들어가는 방식에서, 만들어 보고 고치는 방식으로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871215"/>
            <a:ext cx="6949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Malgun Gothic"/>
              </a:rPr>
              <a:t>예전에는 계획을 충분히 세운 뒤 착수했습니다. 지금은 프로토타입을 여러 번 돌리고 버전을 올립니다.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21024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9C4D8"/>
                </a:solidFill>
                <a:latin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3621024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Malgun Gothic"/>
              </a:rPr>
              <a:t>먼저 그리지 않고, 먼저 듣는다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950208"/>
            <a:ext cx="6949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Malgun Gothic"/>
              </a:rPr>
              <a:t>관세청 프로젝트를 다시 한다면 API 가이드를 놓고 전체 회의부터 열어 각 개발사의 고충을 먼저 파악하겠습니다.
부분 정보만 오간 것이 일정 지연의 원인이었습니다.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00016"/>
            <a:ext cx="4754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B9C4D8"/>
                </a:solidFill>
                <a:latin typeface="Malgun Gothi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4700016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Malgun Gothic"/>
              </a:rPr>
              <a:t>진행 상황을 글이 아니라 그림으로 공유한다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5029200"/>
            <a:ext cx="69494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Malgun Gothic"/>
              </a:rPr>
              <a:t>중간 공유가 부족하다는 지적을 받고, 요약과 시각화 중심으로 공유 형식을 바꿨습니다.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5870448"/>
            <a:ext cx="7863840" cy="12700"/>
          </a:xfrm>
          <a:prstGeom prst="rect">
            <a:avLst/>
          </a:prstGeom>
          <a:solidFill>
            <a:srgbClr val="D6D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6016752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9C4D8"/>
                </a:solidFill>
                <a:latin typeface="Malgun Gothic"/>
              </a:rPr>
              <a:t>함께 제출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6016752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Malgun Gothic"/>
              </a:rPr>
              <a:t>이력서 · 마켓빅시 AI 응답 정책 발췌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291072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B9C4D8"/>
                </a:solidFill>
                <a:latin typeface="Malgun Gothic"/>
              </a:rPr>
              <a:t>서비스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6291072"/>
            <a:ext cx="6766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A3F6B"/>
                </a:solidFill>
                <a:latin typeface="Malgun Gothic"/>
              </a:rPr>
              <a:t>https://market-bigsee.com/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016752"/>
            <a:ext cx="206837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E6E73"/>
                </a:solidFill>
                <a:latin typeface="Malgun Gothic"/>
              </a:rPr>
              <a:t>박종혁
parkjonghyeok2000@gmail.com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