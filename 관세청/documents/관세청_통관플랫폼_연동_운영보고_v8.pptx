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8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11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8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188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80" dirty="0">
                <a:solidFill>
                  <a:srgbClr val="A9DC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크로네 · 뉴트리시아몰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68680" y="187452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전용</a:t>
            </a:r>
            <a:endParaRPr lang="en-US" sz="4100" dirty="0"/>
          </a:p>
        </p:txBody>
      </p:sp>
      <p:sp>
        <p:nvSpPr>
          <p:cNvPr id="4" name="Text 2"/>
          <p:cNvSpPr/>
          <p:nvPr/>
        </p:nvSpPr>
        <p:spPr>
          <a:xfrm>
            <a:off x="868680" y="2596896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통관플랫폼 연동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68680" y="351129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BEE7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절차 변경 및 비용 보고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8680" y="5138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C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보고일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26일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931920" y="513892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C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정식 오픈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53949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28일 09:00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전체 현황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일정 · 변경 범위 · 비용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3502152" cy="1188720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17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2026.08.28  09:00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04672" y="1938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정식 오픈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" y="2176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시각 이후 주문부터 신규 절차 적용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97680" y="1389888"/>
            <a:ext cx="3502152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1517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02:00 ~ 08:00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535424" y="1938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관련사 API Test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35424" y="2176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당일 새벽 · 관세청 주관 실데이터 테스트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28432" y="1389888"/>
            <a:ext cx="3502152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517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43,500,000원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266176" y="19385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1년차 총비용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66176" y="21762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39,500,000 + 운영 4,000,000 (VAT 별도)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2779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범위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2599182" cy="246888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255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절차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3639312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후 </a:t>
            </a:r>
            <a:r>
              <a:rPr lang="en-US" sz="950" dirty="0" err="1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목록통관에서</a:t>
            </a: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 err="1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</a:t>
            </a: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신고로 전환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승인 건만 당일 출고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계도기간 2026-09-27 종료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58134" y="3108960"/>
            <a:ext cx="2599182" cy="246888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7590" y="3255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자사몰 로직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77590" y="3639312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시 개인통관부호 실시간 검증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수집·신고 배치 자동화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건 출고 취소 후 자동 재처리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9340" y="3108960"/>
            <a:ext cx="2599182" cy="246888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68796" y="3255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업무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68796" y="3639312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차단 응대 신설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상품준비중 이후 취소 불가 안내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이상 코드 5종 대응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40546" y="3108960"/>
            <a:ext cx="2599182" cy="246888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0002" y="3255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60002" y="3639312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39,500,000원 </a:t>
            </a:r>
            <a:b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(1차 계약 + 2차 견적)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연 4,000,000원 (NICE 년 선납)</a:t>
            </a:r>
            <a:endParaRPr lang="en-US" sz="9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부가세 별도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정책 변경 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기준 5개 영역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688336" y="13716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현행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986016" y="13716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2026.08.28 ~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85216" y="188366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87552" y="166420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단계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87168" y="1664208"/>
            <a:ext cx="3675888" cy="713232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8336" y="1664208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개인통관고유부호를 검증하지 않고 결제 완료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929384"/>
            <a:ext cx="310896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4848" y="1664208"/>
            <a:ext cx="4837176" cy="713232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166420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통과 건만 결제 완료. 불일치 시 결제 진행 불가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85216" y="270662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87552" y="248716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수집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487168" y="2487168"/>
            <a:ext cx="3675888" cy="713232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88336" y="2487168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엑셀을 통한 ERP 업로드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752344"/>
            <a:ext cx="310896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4848" y="2487168"/>
            <a:ext cx="4837176" cy="713232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248716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↔ 고도몰 API 자동 수집 (매 영업일 09:00)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" y="352958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7552" y="331012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시점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487168" y="3310128"/>
            <a:ext cx="3675888" cy="713232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88336" y="3310128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후 목록통관 신고 (통관 지연)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575304"/>
            <a:ext cx="310896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84848" y="3310128"/>
            <a:ext cx="4837176" cy="713232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331012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10~11시 사전 신고. 승인 건만 13:00 출고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5216" y="435254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4352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7552" y="413308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주문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487168" y="4133088"/>
            <a:ext cx="3675888" cy="713232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88336" y="4133088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수기 개별 처리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398264"/>
            <a:ext cx="310896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84848" y="4133088"/>
            <a:ext cx="4837176" cy="713232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86016" y="413308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취소 후 자동 재수집·재신고. 실패리스트 일일 확인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85216" y="517550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" y="5175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87552" y="4956048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미갱신 부호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2487168" y="4956048"/>
            <a:ext cx="3675888" cy="713232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88336" y="4956048"/>
            <a:ext cx="3273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309360" y="5221224"/>
            <a:ext cx="310896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84848" y="4956048"/>
            <a:ext cx="4837176" cy="713232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86016" y="49560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Z99999 허용코드 사용. 2026-09-27 계도기간 종료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58704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 시점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029968" y="5870448"/>
            <a:ext cx="9592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8월 28일 09:00 이후 접수되는 주문부터 적용합니다. 그 이전 주문은 종전 절차로 처리합니다.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정책 변경 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접점 및 CS 업무 변화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겪는 변화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3502152" cy="1609344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단계 차단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212140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개인통관고유부호와 명의·전화번호가 일치하지 않으면 결제 자체가 진행되지 않음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종전 · 미검증 상태로 결제 완료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02152" cy="1609344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</a:t>
            </a:r>
            <a:r>
              <a:rPr lang="en-US" sz="1400" b="1" dirty="0" err="1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</a:t>
            </a: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당일 출고 가능 시간 </a:t>
            </a:r>
            <a:r>
              <a:rPr lang="en-US" sz="1400" b="1" dirty="0" err="1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5424" y="212140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상품준비중 전환 이후 마이페이지에서 </a:t>
            </a:r>
            <a:r>
              <a:rPr lang="en-US" sz="1000" dirty="0" err="1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취소·환불·주소변경</a:t>
            </a:r>
            <a: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불가</a:t>
            </a:r>
            <a:endParaRPr lang="en-US" sz="1000" dirty="0">
              <a:solidFill>
                <a:srgbClr val="1B242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1450" indent="-171450">
              <a:lnSpc>
                <a:spcPct val="126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</a:t>
            </a:r>
            <a:r>
              <a:rPr lang="en-US" altLang="ko-KR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r>
              <a:rPr lang="ko-KR" alt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 </a:t>
            </a:r>
            <a:r>
              <a:rPr lang="en-US" altLang="ko-KR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-&gt; 09</a:t>
            </a:r>
            <a:r>
              <a:rPr lang="ko-KR" alt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시로 당일 출고 가능시간 변경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35424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종전 · 배송 시작 전까지 상시 취소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28432" y="1645920"/>
            <a:ext cx="3502152" cy="1609344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안내 신설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66176" y="212140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26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세관 회신 코드에 따라 증빙 요청·세금 </a:t>
            </a:r>
            <a:r>
              <a:rPr lang="en-US" sz="1000" dirty="0" err="1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납부</a:t>
            </a:r>
            <a: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b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</a:br>
            <a:r>
              <a:rPr lang="en-US" sz="1000" dirty="0" err="1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안내·반송</a:t>
            </a:r>
            <a:r>
              <a:rPr lang="en-US" sz="1000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안내가 새로 발생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66176" y="28895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종전 · 통관 관련 고객 안내 없음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438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신설되는 CS 업무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730752"/>
            <a:ext cx="2599182" cy="1700784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858768"/>
            <a:ext cx="274320" cy="274320"/>
          </a:xfrm>
          <a:prstGeom prst="ellipse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차단 응대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6384" y="424281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실패 사유를 확인해 부호·명의·전화번호 불일치 안내 후 재입력 유도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6384" y="512064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 · 결제 단계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58134" y="3730752"/>
            <a:ext cx="2599182" cy="1700784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7590" y="3858768"/>
            <a:ext cx="274320" cy="274320"/>
          </a:xfrm>
          <a:prstGeom prst="ellipse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7590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25062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재인증 유도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77590" y="424281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 오류로 결제가 막힌 건은 주문 취소 후 재결제 안내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77590" y="512064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 · 결제 직후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49340" y="3730752"/>
            <a:ext cx="2599182" cy="1700784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68796" y="3858768"/>
            <a:ext cx="274320" cy="274320"/>
          </a:xfrm>
          <a:prstGeom prst="ellipse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8796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16268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실패리스트 일일 확인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68796" y="424281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거래실패리스트를 매일 확인해 오류 값 보정. 자동 제외·재시도 상한 없음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68796" y="512064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 · 매일 오전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940546" y="3730752"/>
            <a:ext cx="2599182" cy="1700784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60002" y="3858768"/>
            <a:ext cx="274320" cy="274320"/>
          </a:xfrm>
          <a:prstGeom prst="ellipse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60002" y="3858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507474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불가 안내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60002" y="4242816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상품준비중 전환 이후 취소 차단에 따른 문의 응대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160002" y="5120640"/>
            <a:ext cx="2212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 · 주문 익일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연동 구조 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 ·  종전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자사몰이 동수에 넘기면 이후 통관까지 동수·자이언트가 대행하는 단선 구조입니다.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2119122" cy="1335024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304288"/>
            <a:ext cx="1716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고도몰 자사몰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2688336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발생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2999232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개인통관부호 미검증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42082" y="2651760"/>
            <a:ext cx="347472" cy="201168"/>
          </a:xfrm>
          <a:prstGeom prst="right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30018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엑셀 업로드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45586" y="2084832"/>
            <a:ext cx="2119122" cy="1335024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6754" y="2304288"/>
            <a:ext cx="1716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중국 물류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746754" y="2688336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등록 · 송장 발행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6754" y="2999232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 창고 · 포장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20740" y="2651760"/>
            <a:ext cx="347472" cy="201168"/>
          </a:xfrm>
          <a:prstGeom prst="right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08676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정보 전체 전달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24244" y="2084832"/>
            <a:ext cx="2119122" cy="1335024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5412" y="2304288"/>
            <a:ext cx="1716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통관사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25412" y="2688336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정보 일괄 수신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5412" y="2999232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동수가 전 항목 대행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99398" y="2651760"/>
            <a:ext cx="347472" cy="201168"/>
          </a:xfrm>
          <a:prstGeom prst="right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87334" y="1719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후 신고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502902" y="2084832"/>
            <a:ext cx="2119122" cy="1335024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04070" y="2304288"/>
            <a:ext cx="17167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· 세관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04070" y="2688336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목록통관 신고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04070" y="2999232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F97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이후 사후 신고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구조의 한계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133088"/>
            <a:ext cx="3502152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4279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수기 개입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45902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데이터를 사람이 엑셀로 옮겨 담아 누락·오기·지연 발생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4133088"/>
            <a:ext cx="3502152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35424" y="4279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책임 위임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35424" y="45902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자사몰이 통관 데이터를 직접 책임지지 않고 동수·자이언트에 위임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028432" y="4133088"/>
            <a:ext cx="3502152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66176" y="42793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신고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66176" y="459028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후 신고하므로 통관 단계에서야 문제 확인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56144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사유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29968" y="5614416"/>
            <a:ext cx="9592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관세법 개정으로 전자상거래업자에게 거래정보 직접 신고 의무가 생겨, 대행 구조로는 요건을 충족할 수 없습니다.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연동 구조 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 ·  직접 전송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자사몰이 중심에서 인증 · 신고 · 통관 정보를 각 기관에 직접 전송합니다.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468880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09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· 중계기관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847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본인확인기관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· 중계기관 선정 필요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53144" y="1481328"/>
            <a:ext cx="2468880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36024" y="160934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· 신고 수신처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336024" y="184708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36024" y="224942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 신고 의무 대상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4553712"/>
            <a:ext cx="2468880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681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· 중국 창고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49808" y="49194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중국 물류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5321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· ERP · 송장 발행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53144" y="4553712"/>
            <a:ext cx="2468880" cy="1188720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46817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· 신고 대행사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336024" y="49194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통관사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336024" y="53218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세관 제출 · 통관 결과 회신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01184" y="2962656"/>
            <a:ext cx="2377440" cy="1316736"/>
          </a:xfrm>
          <a:prstGeom prst="rect">
            <a:avLst/>
          </a:prstGeom>
          <a:solidFill>
            <a:srgbClr val="18864A"/>
          </a:solidFill>
          <a:ln w="3175">
            <a:solidFill>
              <a:srgbClr val="1886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320040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뉴트리시아</a:t>
            </a:r>
            <a:endParaRPr lang="en-US" sz="17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47488" y="38404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BEE7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전자상거래업자</a:t>
            </a:r>
            <a:endParaRPr lang="en-US" sz="9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BEE7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전송 의무</a:t>
            </a:r>
            <a:endParaRPr lang="en-US" sz="9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6FF3C632-6219-D892-E6A5-4522D0D76EB6}"/>
              </a:ext>
            </a:extLst>
          </p:cNvPr>
          <p:cNvGrpSpPr/>
          <p:nvPr/>
        </p:nvGrpSpPr>
        <p:grpSpPr>
          <a:xfrm>
            <a:off x="2599944" y="2989181"/>
            <a:ext cx="2322576" cy="274320"/>
            <a:chOff x="3163824" y="1453896"/>
            <a:chExt cx="2322576" cy="274320"/>
          </a:xfrm>
        </p:grpSpPr>
        <p:sp>
          <p:nvSpPr>
            <p:cNvPr id="36" name="Shape 34"/>
            <p:cNvSpPr/>
            <p:nvPr/>
          </p:nvSpPr>
          <p:spPr>
            <a:xfrm>
              <a:off x="3163824" y="1472184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3163824" y="1472184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1</a:t>
              </a:r>
              <a:endParaRPr lang="en-US" sz="10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3474720" y="1453896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개인정보 인증 요청</a:t>
              </a:r>
              <a:endParaRPr lang="en-US" sz="950" dirty="0"/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C743E609-8D24-B2F7-0229-79147FCCE08F}"/>
              </a:ext>
            </a:extLst>
          </p:cNvPr>
          <p:cNvGrpSpPr/>
          <p:nvPr/>
        </p:nvGrpSpPr>
        <p:grpSpPr>
          <a:xfrm>
            <a:off x="8284465" y="2942191"/>
            <a:ext cx="2093976" cy="274320"/>
            <a:chOff x="7223760" y="1453896"/>
            <a:chExt cx="2093976" cy="274320"/>
          </a:xfrm>
        </p:grpSpPr>
        <p:sp>
          <p:nvSpPr>
            <p:cNvPr id="42" name="Shape 40"/>
            <p:cNvSpPr/>
            <p:nvPr/>
          </p:nvSpPr>
          <p:spPr>
            <a:xfrm>
              <a:off x="7223760" y="1472184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7223760" y="1472184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5</a:t>
              </a:r>
              <a:endParaRPr lang="en-US" sz="10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7534656" y="1453896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거래정보 제출</a:t>
              </a:r>
              <a:endParaRPr lang="en-US" sz="95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BC449737-5A85-59A0-E0D4-4C15A86F6729}"/>
              </a:ext>
            </a:extLst>
          </p:cNvPr>
          <p:cNvGrpSpPr/>
          <p:nvPr/>
        </p:nvGrpSpPr>
        <p:grpSpPr>
          <a:xfrm>
            <a:off x="8289036" y="3348881"/>
            <a:ext cx="2093976" cy="274320"/>
            <a:chOff x="7223760" y="1783080"/>
            <a:chExt cx="2093976" cy="274320"/>
          </a:xfrm>
        </p:grpSpPr>
        <p:sp>
          <p:nvSpPr>
            <p:cNvPr id="45" name="Shape 43"/>
            <p:cNvSpPr/>
            <p:nvPr/>
          </p:nvSpPr>
          <p:spPr>
            <a:xfrm>
              <a:off x="7223760" y="1801368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46" name="Text 44"/>
            <p:cNvSpPr/>
            <p:nvPr/>
          </p:nvSpPr>
          <p:spPr>
            <a:xfrm>
              <a:off x="7223760" y="180136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</a:rPr>
                <a:t>8</a:t>
              </a:r>
              <a:endParaRPr lang="en-US" sz="10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7534656" y="178308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통관 결과 회신</a:t>
              </a:r>
              <a:endParaRPr lang="en-US" sz="950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CD549CE-B682-F5CC-340D-7764C3DC14EC}"/>
              </a:ext>
            </a:extLst>
          </p:cNvPr>
          <p:cNvGrpSpPr/>
          <p:nvPr/>
        </p:nvGrpSpPr>
        <p:grpSpPr>
          <a:xfrm>
            <a:off x="2602996" y="3603607"/>
            <a:ext cx="2322576" cy="274320"/>
            <a:chOff x="3163824" y="5257800"/>
            <a:chExt cx="2322576" cy="274320"/>
          </a:xfrm>
        </p:grpSpPr>
        <p:sp>
          <p:nvSpPr>
            <p:cNvPr id="48" name="Shape 46"/>
            <p:cNvSpPr/>
            <p:nvPr/>
          </p:nvSpPr>
          <p:spPr>
            <a:xfrm>
              <a:off x="3163824" y="5276088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3163824" y="527608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</a:t>
              </a:r>
              <a:endParaRPr lang="en-US" sz="10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3474720" y="5257800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주문 정보 전송</a:t>
              </a:r>
              <a:endParaRPr lang="en-US" sz="950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3DEEB941-D334-C544-6801-0A639A56ACD4}"/>
              </a:ext>
            </a:extLst>
          </p:cNvPr>
          <p:cNvGrpSpPr/>
          <p:nvPr/>
        </p:nvGrpSpPr>
        <p:grpSpPr>
          <a:xfrm>
            <a:off x="2606912" y="3974157"/>
            <a:ext cx="2322576" cy="274320"/>
            <a:chOff x="3163824" y="5586984"/>
            <a:chExt cx="2322576" cy="274320"/>
          </a:xfrm>
        </p:grpSpPr>
        <p:sp>
          <p:nvSpPr>
            <p:cNvPr id="51" name="Shape 49"/>
            <p:cNvSpPr/>
            <p:nvPr/>
          </p:nvSpPr>
          <p:spPr>
            <a:xfrm>
              <a:off x="3163824" y="5605272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52" name="Text 50"/>
            <p:cNvSpPr/>
            <p:nvPr/>
          </p:nvSpPr>
          <p:spPr>
            <a:xfrm>
              <a:off x="3163824" y="5605272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4</a:t>
              </a:r>
              <a:endParaRPr lang="en-US" sz="10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3474720" y="5586984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운송장 번호 수신</a:t>
              </a:r>
              <a:endParaRPr lang="en-US" sz="950" dirty="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15D46FF2-83AD-158F-CFCF-4164AAE5B457}"/>
              </a:ext>
            </a:extLst>
          </p:cNvPr>
          <p:cNvGrpSpPr/>
          <p:nvPr/>
        </p:nvGrpSpPr>
        <p:grpSpPr>
          <a:xfrm>
            <a:off x="11145012" y="3522182"/>
            <a:ext cx="2093976" cy="274320"/>
            <a:chOff x="7223760" y="5257800"/>
            <a:chExt cx="2093976" cy="274320"/>
          </a:xfrm>
        </p:grpSpPr>
        <p:sp>
          <p:nvSpPr>
            <p:cNvPr id="54" name="Shape 52"/>
            <p:cNvSpPr/>
            <p:nvPr/>
          </p:nvSpPr>
          <p:spPr>
            <a:xfrm>
              <a:off x="7223760" y="5276088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7223760" y="527608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</a:rPr>
                <a:t>7</a:t>
              </a:r>
              <a:endParaRPr lang="en-US" sz="10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7534656" y="525780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세관 신고</a:t>
              </a:r>
              <a:endParaRPr lang="en-US" altLang="ko-KR" sz="95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endParaRPr>
            </a:p>
          </p:txBody>
        </p:sp>
      </p:grpSp>
      <p:sp>
        <p:nvSpPr>
          <p:cNvPr id="62" name="Text 60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D6AD99B8-685C-C271-C86B-3E8D9DE10348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3034285" y="1437131"/>
            <a:ext cx="658370" cy="3124204"/>
          </a:xfrm>
          <a:prstGeom prst="bentConnector2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9F108622-7CAA-BFDE-AA9F-1F4040E98816}"/>
              </a:ext>
            </a:extLst>
          </p:cNvPr>
          <p:cNvCxnSpPr>
            <a:cxnSpLocks/>
            <a:endCxn id="13" idx="0"/>
          </p:cNvCxnSpPr>
          <p:nvPr/>
        </p:nvCxnSpPr>
        <p:spPr>
          <a:xfrm rot="10800000" flipV="1">
            <a:off x="1801368" y="3912736"/>
            <a:ext cx="3099818" cy="640975"/>
          </a:xfrm>
          <a:prstGeom prst="bentConnector2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AEF81CF-0065-1784-4106-1ACA676C8D1F}"/>
              </a:ext>
            </a:extLst>
          </p:cNvPr>
          <p:cNvGrpSpPr/>
          <p:nvPr/>
        </p:nvGrpSpPr>
        <p:grpSpPr>
          <a:xfrm>
            <a:off x="5212080" y="1641348"/>
            <a:ext cx="2322576" cy="274320"/>
            <a:chOff x="3163824" y="1453896"/>
            <a:chExt cx="2322576" cy="274320"/>
          </a:xfrm>
        </p:grpSpPr>
        <p:sp>
          <p:nvSpPr>
            <p:cNvPr id="80" name="Shape 34">
              <a:extLst>
                <a:ext uri="{FF2B5EF4-FFF2-40B4-BE49-F238E27FC236}">
                  <a16:creationId xmlns:a16="http://schemas.microsoft.com/office/drawing/2014/main" id="{DC6D7980-5D25-2D28-E39A-3D61BB211DC0}"/>
                </a:ext>
              </a:extLst>
            </p:cNvPr>
            <p:cNvSpPr/>
            <p:nvPr/>
          </p:nvSpPr>
          <p:spPr>
            <a:xfrm>
              <a:off x="3163824" y="1472184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81" name="Text 35">
              <a:extLst>
                <a:ext uri="{FF2B5EF4-FFF2-40B4-BE49-F238E27FC236}">
                  <a16:creationId xmlns:a16="http://schemas.microsoft.com/office/drawing/2014/main" id="{2A01AB06-30C4-252D-F14E-B30DEA615C87}"/>
                </a:ext>
              </a:extLst>
            </p:cNvPr>
            <p:cNvSpPr/>
            <p:nvPr/>
          </p:nvSpPr>
          <p:spPr>
            <a:xfrm>
              <a:off x="3163824" y="1472184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</a:rPr>
                <a:t>2</a:t>
              </a:r>
              <a:endParaRPr lang="en-US" sz="1000" dirty="0"/>
            </a:p>
          </p:txBody>
        </p:sp>
        <p:sp>
          <p:nvSpPr>
            <p:cNvPr id="82" name="Text 36">
              <a:extLst>
                <a:ext uri="{FF2B5EF4-FFF2-40B4-BE49-F238E27FC236}">
                  <a16:creationId xmlns:a16="http://schemas.microsoft.com/office/drawing/2014/main" id="{62A000E3-52BC-6211-05DE-3A0FE4287824}"/>
                </a:ext>
              </a:extLst>
            </p:cNvPr>
            <p:cNvSpPr/>
            <p:nvPr/>
          </p:nvSpPr>
          <p:spPr>
            <a:xfrm>
              <a:off x="3474720" y="1453896"/>
              <a:ext cx="2011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개인정보 인증 요청</a:t>
              </a:r>
              <a:endParaRPr lang="en-US" sz="950" dirty="0"/>
            </a:p>
          </p:txBody>
        </p:sp>
      </p:grp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1B833C9B-F4AB-79CD-3E3F-1EA454F7A740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7278624" y="2670048"/>
            <a:ext cx="3108960" cy="658368"/>
          </a:xfrm>
          <a:prstGeom prst="bentConnector2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E5AC2EB9-F335-6733-E253-E8B9E42A4AE4}"/>
              </a:ext>
            </a:extLst>
          </p:cNvPr>
          <p:cNvGrpSpPr/>
          <p:nvPr/>
        </p:nvGrpSpPr>
        <p:grpSpPr>
          <a:xfrm>
            <a:off x="8284465" y="3916678"/>
            <a:ext cx="2093976" cy="274320"/>
            <a:chOff x="7223760" y="5257800"/>
            <a:chExt cx="2093976" cy="274320"/>
          </a:xfrm>
        </p:grpSpPr>
        <p:sp>
          <p:nvSpPr>
            <p:cNvPr id="91" name="Shape 52">
              <a:extLst>
                <a:ext uri="{FF2B5EF4-FFF2-40B4-BE49-F238E27FC236}">
                  <a16:creationId xmlns:a16="http://schemas.microsoft.com/office/drawing/2014/main" id="{42133F89-4139-DAE9-8E75-3ECFCE4141AE}"/>
                </a:ext>
              </a:extLst>
            </p:cNvPr>
            <p:cNvSpPr/>
            <p:nvPr/>
          </p:nvSpPr>
          <p:spPr>
            <a:xfrm>
              <a:off x="7223760" y="5276088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92" name="Text 53">
              <a:extLst>
                <a:ext uri="{FF2B5EF4-FFF2-40B4-BE49-F238E27FC236}">
                  <a16:creationId xmlns:a16="http://schemas.microsoft.com/office/drawing/2014/main" id="{9FFC7D82-77A3-3E58-A3AC-3D1A6BCB0FBF}"/>
                </a:ext>
              </a:extLst>
            </p:cNvPr>
            <p:cNvSpPr/>
            <p:nvPr/>
          </p:nvSpPr>
          <p:spPr>
            <a:xfrm>
              <a:off x="7223760" y="527608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</a:t>
              </a:r>
              <a:endParaRPr lang="en-US" sz="1000" dirty="0"/>
            </a:p>
          </p:txBody>
        </p:sp>
        <p:sp>
          <p:nvSpPr>
            <p:cNvPr id="93" name="Text 54">
              <a:extLst>
                <a:ext uri="{FF2B5EF4-FFF2-40B4-BE49-F238E27FC236}">
                  <a16:creationId xmlns:a16="http://schemas.microsoft.com/office/drawing/2014/main" id="{8118DFE8-4063-DFD7-8A8B-6608F918CBC9}"/>
                </a:ext>
              </a:extLst>
            </p:cNvPr>
            <p:cNvSpPr/>
            <p:nvPr/>
          </p:nvSpPr>
          <p:spPr>
            <a:xfrm>
              <a:off x="7534656" y="525780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통관 정보 전송</a:t>
              </a:r>
              <a:endParaRPr lang="en-US" sz="950" dirty="0"/>
            </a:p>
          </p:txBody>
        </p:sp>
      </p:grp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0582F20C-10FE-B392-5A69-0D29BABE7EE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7266431" y="3877056"/>
            <a:ext cx="3121153" cy="676656"/>
          </a:xfrm>
          <a:prstGeom prst="bentConnector2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C60FD45-76B5-26CE-71A3-A599C8D48FB8}"/>
              </a:ext>
            </a:extLst>
          </p:cNvPr>
          <p:cNvCxnSpPr>
            <a:cxnSpLocks/>
          </p:cNvCxnSpPr>
          <p:nvPr/>
        </p:nvCxnSpPr>
        <p:spPr>
          <a:xfrm>
            <a:off x="11101251" y="2635214"/>
            <a:ext cx="0" cy="1883664"/>
          </a:xfrm>
          <a:prstGeom prst="straightConnector1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5C1732C5-D441-1C9E-B876-F5CCF2EB2522}"/>
              </a:ext>
            </a:extLst>
          </p:cNvPr>
          <p:cNvCxnSpPr>
            <a:cxnSpLocks/>
            <a:stCxn id="9" idx="1"/>
            <a:endCxn id="5" idx="3"/>
          </p:cNvCxnSpPr>
          <p:nvPr/>
        </p:nvCxnSpPr>
        <p:spPr>
          <a:xfrm flipH="1">
            <a:off x="3035808" y="2075688"/>
            <a:ext cx="6117336" cy="0"/>
          </a:xfrm>
          <a:prstGeom prst="straightConnector1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74CC4FAB-CE65-887E-F0B2-0D61DBAA0C42}"/>
              </a:ext>
            </a:extLst>
          </p:cNvPr>
          <p:cNvCxnSpPr>
            <a:cxnSpLocks/>
          </p:cNvCxnSpPr>
          <p:nvPr/>
        </p:nvCxnSpPr>
        <p:spPr>
          <a:xfrm>
            <a:off x="3035808" y="5321808"/>
            <a:ext cx="6131053" cy="4354"/>
          </a:xfrm>
          <a:prstGeom prst="straightConnector1">
            <a:avLst/>
          </a:prstGeom>
          <a:ln w="28575">
            <a:solidFill>
              <a:srgbClr val="18864A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F839A3CA-B3EB-3573-45BF-79D27FC9F298}"/>
              </a:ext>
            </a:extLst>
          </p:cNvPr>
          <p:cNvGrpSpPr/>
          <p:nvPr/>
        </p:nvGrpSpPr>
        <p:grpSpPr>
          <a:xfrm>
            <a:off x="5632704" y="5477256"/>
            <a:ext cx="2093976" cy="274320"/>
            <a:chOff x="7223760" y="5257800"/>
            <a:chExt cx="2093976" cy="274320"/>
          </a:xfrm>
        </p:grpSpPr>
        <p:sp>
          <p:nvSpPr>
            <p:cNvPr id="111" name="Shape 52">
              <a:extLst>
                <a:ext uri="{FF2B5EF4-FFF2-40B4-BE49-F238E27FC236}">
                  <a16:creationId xmlns:a16="http://schemas.microsoft.com/office/drawing/2014/main" id="{68EE5C78-56FA-9EE3-EB36-6BBE68F9BA84}"/>
                </a:ext>
              </a:extLst>
            </p:cNvPr>
            <p:cNvSpPr/>
            <p:nvPr/>
          </p:nvSpPr>
          <p:spPr>
            <a:xfrm>
              <a:off x="7223760" y="5276088"/>
              <a:ext cx="237744" cy="237744"/>
            </a:xfrm>
            <a:prstGeom prst="ellipse">
              <a:avLst/>
            </a:prstGeom>
            <a:solidFill>
              <a:srgbClr val="29AD39"/>
            </a:solidFill>
            <a:ln w="6350">
              <a:solidFill>
                <a:srgbClr val="29AD39"/>
              </a:solidFill>
              <a:prstDash val="solid"/>
            </a:ln>
          </p:spPr>
        </p:sp>
        <p:sp>
          <p:nvSpPr>
            <p:cNvPr id="112" name="Text 53">
              <a:extLst>
                <a:ext uri="{FF2B5EF4-FFF2-40B4-BE49-F238E27FC236}">
                  <a16:creationId xmlns:a16="http://schemas.microsoft.com/office/drawing/2014/main" id="{EECDB0CA-25E4-A6E2-04D8-990718B113E1}"/>
                </a:ext>
              </a:extLst>
            </p:cNvPr>
            <p:cNvSpPr/>
            <p:nvPr/>
          </p:nvSpPr>
          <p:spPr>
            <a:xfrm>
              <a:off x="7223760" y="5276088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</a:rPr>
                <a:t>6</a:t>
              </a:r>
              <a:endParaRPr lang="en-US" sz="1000" dirty="0"/>
            </a:p>
          </p:txBody>
        </p:sp>
        <p:sp>
          <p:nvSpPr>
            <p:cNvPr id="113" name="Text 54">
              <a:extLst>
                <a:ext uri="{FF2B5EF4-FFF2-40B4-BE49-F238E27FC236}">
                  <a16:creationId xmlns:a16="http://schemas.microsoft.com/office/drawing/2014/main" id="{8A717A3B-C601-0283-7519-1CB05A1D53F2}"/>
                </a:ext>
              </a:extLst>
            </p:cNvPr>
            <p:cNvSpPr/>
            <p:nvPr/>
          </p:nvSpPr>
          <p:spPr>
            <a:xfrm>
              <a:off x="7534656" y="525780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950" b="1" dirty="0">
                  <a:solidFill>
                    <a:srgbClr val="1B242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통관 정보 전송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운영 플로우 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결제부터 사전 신고까지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결제 순간의 실시간 검증과 익일 오전의 수집 · 신고 배치입니다.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07008" cy="1920240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시점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482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결제 시점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2304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· 부호 입력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결제 단계에서 개인통관고유부호 입력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84832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2514" y="1956816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0842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5434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5434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2906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개인통관부호 검증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5434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경유 관세청 실시간 조회. 명의·전화번호까지 대조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15434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43116" y="1956816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1444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46036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6036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3508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인증번호 확보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46036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일회용 인증번호 6자리 수령·보관. 신고·특송사 등록에 사용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46036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73718" y="1956816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2046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76638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663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24110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완료 (p1)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76638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시점부터 취소·환불 차단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76638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920240" y="2724912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95728" y="2633472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2816352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불일치 · 사용 불가 부호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054096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진행 불가. 부호·명의·전화번호 재확인 안내 후 재입력 유도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17436" y="2724912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92924" y="2633472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00316" y="2816352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장애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00316" y="3054096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불가 시 주문 우선 완료 처리 후 사후 검증 대기 큐 등록. 인증번호는 익일 배치 수령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3547872"/>
            <a:ext cx="1207008" cy="1920240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7673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익일 오전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6928" y="41148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~ 11:00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43891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및 사전 신고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920240" y="3547872"/>
            <a:ext cx="2953512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4832" y="371246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84832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32304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 주문 수집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84832" y="409651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ERP가 결제완료 주문 자동 수집. 상품준비중(g1) 전환 및 포장별 운송장 채번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084832" y="44622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동수 ERP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56048" y="4023360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94376" y="3547872"/>
            <a:ext cx="2953512" cy="1133856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58968" y="3712464"/>
            <a:ext cx="274320" cy="274320"/>
          </a:xfrm>
          <a:prstGeom prst="ellipse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5896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06440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배치 검증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58968" y="409651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전일 장애로 미검증된 주문의 인증번호를 사후 수령해 정상 흐름에 합류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58968" y="44622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 관리자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330184" y="4023360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68512" y="3547872"/>
            <a:ext cx="2953512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33104" y="371246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33104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180576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10~11시  사전 신고 제출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833104" y="409651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주문별·포장별 관세청 거래정보 사전 제출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833104" y="44622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920240" y="4791456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95728" y="4700016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03120" y="4882896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사후 검증 실패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103120" y="5120640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불가 시간 또는 처리 오류 반환 시 운영자 통보 후 재시도. 미해소 건은 신고 보류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917436" y="4791456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92924" y="4700016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00316" y="4882896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운송장 미할당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100316" y="5120640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주문의 포장 중 하나라도 운송장 미할당 시 전건 대기. 부분 제출 금지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6928" y="5632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원칙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029968" y="5632704"/>
            <a:ext cx="9592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흐름을 막지 않고 대기 큐로 분리한 뒤 배치에서 복구합니다. 복구되지 않은 건은 신고·출고를 보류하고 운영자에게 통보합니다.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운영 플로우 ②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판정부터 통관 완료까지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152144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판정에 따른 출고 분기와 출고 이후의 통관 · 배송 단계입니다.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207008" cy="1920240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0078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익일 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04825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11:40 ~ 13:00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및 출고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32304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11:40  결과 조회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건의 오류 내역을 관세청으로부터 회신 수신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084832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2514" y="1956816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0842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5434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5434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62906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11:50  승인 판정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5434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건만 다음 단계 진행. 실패 건은 취소 루프로 이관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15434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43116" y="1956816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1444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46036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6036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3508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특송사 통관 등록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46036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부호·인증번호·수하인 전송 후 동수 물류정보와 병합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46036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자사몰 + 동수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173718" y="1956816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512046" y="1481328"/>
            <a:ext cx="2109978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76638" y="1645920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76638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24110" y="1609344"/>
            <a:ext cx="1433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13:00  출고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76638" y="2029968"/>
            <a:ext cx="178079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부착 후 현장 출고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676638" y="2395728"/>
            <a:ext cx="17807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동수 WMS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920240" y="2724912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95728" y="2633472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2816352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신고 오류 건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054096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취소 후 거래실패리스트 적재. 익일 재수집·재신고 루프 진입, 재시도 상한 없음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17436" y="2724912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92924" y="2633472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00316" y="2816352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12:00  취소 반영 마감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00316" y="3054096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창고 작업 착수 후에는 취소 요청 실패로 유선 처리. 판정부터 마감까지 여유 10분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3547872"/>
            <a:ext cx="1207008" cy="1920240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37673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이후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66928" y="411480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당일 17:00 ~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438912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및 배송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920240" y="3547872"/>
            <a:ext cx="2953512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84832" y="371246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84832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32304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17~18시  세관 수입신고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084832" y="409651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항공 운송정보와 함께 세관 제출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084832" y="44622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동수 물류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56048" y="4023360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294376" y="3547872"/>
            <a:ext cx="2953512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58968" y="371246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58968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806440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진행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58968" y="409651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화물 진행 상태 및 통관 이상 코드 수신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458968" y="44622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특송사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330184" y="4023360"/>
            <a:ext cx="256032" cy="182880"/>
          </a:xfrm>
          <a:prstGeom prst="rightArrow">
            <a:avLst/>
          </a:prstGeom>
          <a:solidFill>
            <a:srgbClr val="29AD39"/>
          </a:solidFill>
          <a:ln w="6350">
            <a:solidFill>
              <a:srgbClr val="29AD3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68512" y="3547872"/>
            <a:ext cx="2953512" cy="1133856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33104" y="3712464"/>
            <a:ext cx="274320" cy="274320"/>
          </a:xfrm>
          <a:prstGeom prst="ellipse">
            <a:avLst/>
          </a:prstGeom>
          <a:solidFill>
            <a:srgbClr val="18864A"/>
          </a:solidFill>
          <a:ln w="6350">
            <a:solidFill>
              <a:srgbClr val="1886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33104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9180576" y="36758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수입신고 수리 · 국내 배송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833104" y="4096512"/>
            <a:ext cx="2624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완료 후 국내 택배 송장 자동 연동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833104" y="4462272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· 동수 WMS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920240" y="4791456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395728" y="4700016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03120" y="4882896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이상 코드 수신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2103120" y="5120640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상이·부호 상이·세금 발생·서류 보완 코드는 코드별 CS 큐 자동 생성. 상세는 09쪽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917436" y="4791456"/>
            <a:ext cx="4704588" cy="676656"/>
          </a:xfrm>
          <a:prstGeom prst="rect">
            <a:avLst/>
          </a:prstGeom>
          <a:solidFill>
            <a:srgbClr val="F2F4F3"/>
          </a:solidFill>
          <a:ln w="3175">
            <a:solidFill>
              <a:srgbClr val="F2F4F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392924" y="4700016"/>
            <a:ext cx="201168" cy="73152"/>
          </a:xfrm>
          <a:prstGeom prst="downArrow">
            <a:avLst/>
          </a:prstGeom>
          <a:solidFill>
            <a:srgbClr val="B7BEBA"/>
          </a:solidFill>
          <a:ln w="6350">
            <a:solidFill>
              <a:srgbClr val="B7BEB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00316" y="4882896"/>
            <a:ext cx="4338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E78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통관 불가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100316" y="5120640"/>
            <a:ext cx="43388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환불 검토 및 반송 처리 후 고객 안내를 거쳐 주문 종결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66928" y="56327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일일 확인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029968" y="5632704"/>
            <a:ext cx="9592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거래실패리스트 — 신고 오류로 출고 취소된 건    ② 사후 검증 대기 큐 — 관세청 장애로 인증번호를 못 받은 건    ③ 통관 이상 코드 큐 — 세관 회신 건.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  구축 비용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계약 및 2차 추가개발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962656" cy="1700784"/>
          </a:xfrm>
          <a:prstGeom prst="rect">
            <a:avLst/>
          </a:prstGeom>
          <a:solidFill>
            <a:srgbClr val="18864A"/>
          </a:solidFill>
          <a:ln w="3175">
            <a:solidFill>
              <a:srgbClr val="188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45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C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구축비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39,500,000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414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7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(VAT 별도)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C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VAT 포함 43,450,000원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481328"/>
          <a:ext cx="7781544" cy="17007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문서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 (VAT 별도)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계약서 (2026.06.01 ~ 08.31)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9주 · 3명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32,300,000원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86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체결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추가개발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견적서 2026-08-10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3주 · 2명 · 17일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7,200,000원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886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계약 체결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886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39,500,000원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3401568"/>
            <a:ext cx="3502152" cy="1572768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9" name="Text 8"/>
          <p:cNvSpPr/>
          <p:nvPr/>
        </p:nvSpPr>
        <p:spPr>
          <a:xfrm>
            <a:off x="804672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지급 조건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04672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계약금 50% 16,150,000원 (계약일로부터 15일 이내)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잔금 50% 16,150,000원 (개발 완료 이후 15일 이내)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지급 전 세금계산서 발행, 부가세 별도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97680" y="3401568"/>
            <a:ext cx="3502152" cy="1572768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추가개발 범위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35424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HWB 검색 API 기반 제출 로직 변경 (3.5일)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통합인증 서비스 개발 및 CI 연동 (4일)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 제출 로직 변경 · 관리자 조회 화면 (9.5일)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028432" y="3401568"/>
            <a:ext cx="3502152" cy="1572768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66176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 근거 · 보수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66176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SW기술자 임금실태조사 기준 직접인건비 + 제경비 20% + 기술료 10%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견적 32,311,505원 → 계약 체결 32,300,000원</a:t>
            </a:r>
            <a:endParaRPr lang="en-US" sz="9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 완료 후 6개월 무상 하자보수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5212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지불 주체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029968" y="5212080"/>
            <a:ext cx="9592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뉴트리시아 이유진 매니저와 최종 비용 공유를 완료했습니다.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 운영 비용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NICE 개인통관고유부호 검증 · 본인확인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2962656" cy="1700784"/>
          </a:xfrm>
          <a:prstGeom prst="rect">
            <a:avLst/>
          </a:prstGeom>
          <a:solidFill>
            <a:srgbClr val="18864A"/>
          </a:solidFill>
          <a:ln w="3175">
            <a:solidFill>
              <a:srgbClr val="188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459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DC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4,400,000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241401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E7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/ 년 (VAT 포함)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C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공급가액 4,000,000원 · 월 환산 366,667원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481328"/>
          <a:ext cx="7781544" cy="1700784"/>
        </p:xfrm>
        <a:graphic>
          <a:graphicData uri="http://schemas.openxmlformats.org/drawingml/2006/table">
            <a:tbl>
              <a:tblPr/>
              <a:tblGrid>
                <a:gridCol w="238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품목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공급가액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부가세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청구금액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기본제공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초과 단가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개인통관고유부호 유효성검증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100,000건 / 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40원 / 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휴대폰 본인확인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20,000건 / 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53원 / 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4,000,000원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B242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886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4,400,000원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3401568"/>
            <a:ext cx="3502152" cy="1572768"/>
          </a:xfrm>
          <a:prstGeom prst="rect">
            <a:avLst/>
          </a:prstGeom>
          <a:solidFill>
            <a:srgbClr val="F4F6F5"/>
          </a:solidFill>
          <a:ln w="3175">
            <a:solidFill>
              <a:srgbClr val="F4F6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개인통관고유부호 검증</a:t>
            </a:r>
            <a:endParaRPr lang="en-US" sz="1200" dirty="0"/>
          </a:p>
        </p:txBody>
      </p:sp>
      <p:sp>
        <p:nvSpPr>
          <p:cNvPr id="9" name="Text 9"/>
          <p:cNvSpPr/>
          <p:nvPr/>
        </p:nvSpPr>
        <p:spPr>
          <a:xfrm>
            <a:off x="804672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시점 주문 건당 1 ~ 2회 호출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6,000건 기준 연 72,000건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제공 100,000건 이내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97680" y="3401568"/>
            <a:ext cx="3502152" cy="1572768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35424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본인확인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35424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회원가입·최초 직구 시 1회 호출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신규 인증 20,000명 초과 시 건당 53원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회원 유입량에 따라 초과 발생 가능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28432" y="3401568"/>
            <a:ext cx="3502152" cy="1572768"/>
          </a:xfrm>
          <a:prstGeom prst="rect">
            <a:avLst/>
          </a:prstGeom>
          <a:solidFill>
            <a:srgbClr val="EDF7EF"/>
          </a:solidFill>
          <a:ln w="3175">
            <a:solidFill>
              <a:srgbClr val="EDF7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66176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88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미반영 항목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66176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자이언트 GGATE 이용료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동수 ERP 연동 분담금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451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하자보수 6개월 종료 후 유지보수비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7A1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관세청 전자상거래 통관플랫폼 연동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881360" y="6419088"/>
            <a:ext cx="740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9AD3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1579</Words>
  <Application>Microsoft Office PowerPoint</Application>
  <PresentationFormat>와이드스크린</PresentationFormat>
  <Paragraphs>355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관세청 전자상거래 전용 통관플랫폼 연동 운영 보고</dc:title>
  <dc:subject>PptxGenJS Presentation</dc:subject>
  <dc:creator>크로네</dc:creator>
  <cp:lastModifiedBy>admin</cp:lastModifiedBy>
  <cp:revision>10</cp:revision>
  <dcterms:created xsi:type="dcterms:W3CDTF">2026-08-26T01:01:11Z</dcterms:created>
  <dcterms:modified xsi:type="dcterms:W3CDTF">2026-08-26T04:53:54Z</dcterms:modified>
</cp:coreProperties>
</file>