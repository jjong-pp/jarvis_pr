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68" r:id="rId5"/>
    <p:sldId id="272" r:id="rId6"/>
    <p:sldId id="273" r:id="rId7"/>
    <p:sldId id="271" r:id="rId8"/>
    <p:sldId id="277" r:id="rId9"/>
    <p:sldId id="276" r:id="rId10"/>
    <p:sldId id="278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D3A"/>
    <a:srgbClr val="E08000"/>
    <a:srgbClr val="EBF1F8"/>
    <a:srgbClr val="1B2A4A"/>
    <a:srgbClr val="718096"/>
    <a:srgbClr val="1A2B4C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6242" autoAdjust="0"/>
  </p:normalViewPr>
  <p:slideViewPr>
    <p:cSldViewPr snapToGrid="0" snapToObjects="1">
      <p:cViewPr varScale="1">
        <p:scale>
          <a:sx n="146" d="100"/>
          <a:sy n="146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3" d="100"/>
          <a:sy n="63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389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598EF-ABA5-1B54-B3C0-C33357C9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A5AE7-AF16-B9C5-7484-0AD4479A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99D87-B285-73DC-2A3E-BBF8FBCA3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AFB92-E2B9-F342-7C87-A6839ED03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02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2">
            <a:extLst>
              <a:ext uri="{FF2B5EF4-FFF2-40B4-BE49-F238E27FC236}">
                <a16:creationId xmlns:a16="http://schemas.microsoft.com/office/drawing/2014/main" id="{3C90053D-159A-1472-1691-5F77393DED5B}"/>
              </a:ext>
            </a:extLst>
          </p:cNvPr>
          <p:cNvSpPr/>
          <p:nvPr userDrawn="1"/>
        </p:nvSpPr>
        <p:spPr>
          <a:xfrm>
            <a:off x="142875" y="49149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전자상거래 </a:t>
            </a:r>
            <a:r>
              <a:rPr lang="en-US" sz="80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통관플랫폼</a:t>
            </a:r>
            <a:r>
              <a:rPr lang="en-US" sz="8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lang="en-US" sz="8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</a:t>
            </a:r>
            <a:r>
              <a:rPr lang="en-US" sz="80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젝트</a:t>
            </a:r>
            <a:endParaRPr lang="en-US" sz="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39723A-3F62-4400-EDB7-CEB2211645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58034" y="4784054"/>
            <a:ext cx="685966" cy="3594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200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관세청 전자상거래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200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전용 통관플랫폼 연동.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9525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1A1A6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2026.08.15 시행 대응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1A1A6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v3.0</a:t>
            </a:r>
            <a:endParaRPr lang="en-US" sz="12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9468A98-502F-84CC-C0EE-514FF51AE6CD}"/>
              </a:ext>
            </a:extLst>
          </p:cNvPr>
          <p:cNvSpPr/>
          <p:nvPr/>
        </p:nvSpPr>
        <p:spPr>
          <a:xfrm>
            <a:off x="480060" y="3429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BRIEFING</a:t>
            </a:r>
            <a:endParaRPr lang="en-US" sz="825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84B713D5-1985-51FA-A4DE-05142F295667}"/>
              </a:ext>
            </a:extLst>
          </p:cNvPr>
          <p:cNvSpPr/>
          <p:nvPr/>
        </p:nvSpPr>
        <p:spPr>
          <a:xfrm>
            <a:off x="5897880" y="3429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kern="0" spc="150" dirty="0">
                <a:solidFill>
                  <a:srgbClr val="B8C5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2026.05.08</a:t>
            </a:r>
            <a:endParaRPr lang="en-US" sz="7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B031CA3-1340-07AB-BF76-6EFE7A0D8366}"/>
              </a:ext>
            </a:extLst>
          </p:cNvPr>
          <p:cNvSpPr/>
          <p:nvPr/>
        </p:nvSpPr>
        <p:spPr>
          <a:xfrm>
            <a:off x="480060" y="685800"/>
            <a:ext cx="8161020" cy="13716"/>
          </a:xfrm>
          <a:prstGeom prst="rect">
            <a:avLst/>
          </a:prstGeom>
          <a:solidFill>
            <a:srgbClr val="2C528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kern="0" spc="-250" dirty="0">
                <a:solidFill>
                  <a:srgbClr val="1D1D1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Agenda.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0" y="685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01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74920" y="685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40" dirty="0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법적 배경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0" y="685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관세법 제254조 개정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18414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02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7492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40" dirty="0" err="1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사업</a:t>
            </a:r>
            <a:r>
              <a:rPr lang="en-US" sz="1700" b="1" kern="0" spc="-40" dirty="0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 목</a:t>
            </a:r>
            <a:r>
              <a:rPr lang="ko-KR" altLang="en-US" sz="1700" b="1" kern="0" spc="-40" dirty="0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표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법령 </a:t>
            </a:r>
            <a:r>
              <a:rPr lang="en-US" sz="1100" kern="0" spc="-20" dirty="0" err="1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준수와</a:t>
            </a: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 </a:t>
            </a:r>
            <a:r>
              <a:rPr lang="ko-KR" alt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추가 목표</a:t>
            </a: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 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68706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 pitchFamily="34" charset="0"/>
                <a:ea typeface="SF Pro Text"/>
                <a:cs typeface="SF Pro Text" pitchFamily="34" charset="-120"/>
              </a:rPr>
              <a:t>03</a:t>
            </a:r>
            <a:endParaRPr lang="en-US" sz="1200" dirty="0">
              <a:ea typeface="SF Pro Tex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40" dirty="0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AS - IS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현행 구매 여정의 한계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218998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94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04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40" dirty="0">
                <a:solidFill>
                  <a:srgbClr val="1D1D1F"/>
                </a:solidFill>
                <a:latin typeface="SF Pro Display" pitchFamily="34" charset="0"/>
                <a:ea typeface="SF Pro Text"/>
                <a:cs typeface="SF Pro Display" pitchFamily="34" charset="-120"/>
              </a:rPr>
              <a:t>TO - BE</a:t>
            </a:r>
            <a:endParaRPr lang="en-US" sz="1700" dirty="0">
              <a:ea typeface="SF Pro Tex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20" dirty="0">
                <a:solidFill>
                  <a:srgbClr val="86868B"/>
                </a:solidFill>
                <a:latin typeface="SF Pro Text" pitchFamily="34" charset="0"/>
                <a:ea typeface="SF Pro Text"/>
                <a:cs typeface="SF Pro Text" pitchFamily="34" charset="-120"/>
              </a:rPr>
              <a:t>개정 후 신규 프로세스</a:t>
            </a:r>
            <a:endParaRPr lang="en-US" sz="1100" dirty="0">
              <a:ea typeface="SF Pro Tex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269290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 pitchFamily="34" charset="-122"/>
                <a:cs typeface="SF Pro Text" pitchFamily="34" charset="-120"/>
              </a:rPr>
              <a:t>05</a:t>
            </a:r>
            <a:endParaRPr lang="en-US" sz="1200" dirty="0">
              <a:latin typeface="SF Pro Tex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7492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40" dirty="0">
                <a:solidFill>
                  <a:srgbClr val="1D1D1F"/>
                </a:solidFill>
                <a:latin typeface="SF Pro Text"/>
                <a:ea typeface="SF Pro Text"/>
                <a:cs typeface="SF Pro Display" pitchFamily="34" charset="-120"/>
              </a:rPr>
              <a:t>참여 업체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5개 주체의 역할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0" y="319582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00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06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492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kern="0" spc="-40" dirty="0">
                <a:solidFill>
                  <a:srgbClr val="1D1D1F"/>
                </a:solidFill>
                <a:latin typeface="SF Pro Text"/>
                <a:ea typeface="SF Pro Text"/>
              </a:rPr>
              <a:t>전송 주체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정부 데이터 전송 주체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0" y="369874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703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07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7492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kern="0" spc="-40" dirty="0">
                <a:solidFill>
                  <a:srgbClr val="1D1D1F"/>
                </a:solidFill>
                <a:latin typeface="SF Pro Text"/>
                <a:ea typeface="SF Pro Text"/>
              </a:rPr>
              <a:t>투자 비용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전반 투자 비용과 운영 비용</a:t>
            </a:r>
            <a:endParaRPr lang="en-US" sz="1100" dirty="0">
              <a:latin typeface="SF Pro Text"/>
              <a:ea typeface="SF Pro Tex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0" y="4201668"/>
            <a:ext cx="4297680" cy="0"/>
          </a:xfrm>
          <a:prstGeom prst="line">
            <a:avLst/>
          </a:prstGeom>
          <a:noFill/>
          <a:ln w="9525">
            <a:solidFill>
              <a:srgbClr val="E8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206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08</a:t>
            </a:r>
            <a:endParaRPr lang="en-US" sz="1200" dirty="0">
              <a:latin typeface="SF Pro Text"/>
              <a:ea typeface="SF Pro Tex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74920" y="4206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kern="0" spc="-40" dirty="0">
                <a:solidFill>
                  <a:srgbClr val="1D1D1F"/>
                </a:solidFill>
                <a:latin typeface="SF Pro Text"/>
                <a:ea typeface="SF Pro Text"/>
              </a:rPr>
              <a:t>마일스톤</a:t>
            </a:r>
            <a:endParaRPr lang="en-US" sz="1700" dirty="0">
              <a:latin typeface="SF Pro Text"/>
              <a:ea typeface="SF Pro Tex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8368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kern="0" spc="-20" dirty="0" err="1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추진</a:t>
            </a:r>
            <a:r>
              <a:rPr lang="en-US" altLang="ko-KR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 </a:t>
            </a:r>
            <a:r>
              <a:rPr lang="en-US" altLang="ko-KR" sz="1100" kern="0" spc="-20" dirty="0" err="1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일정과</a:t>
            </a:r>
            <a:r>
              <a:rPr lang="en-US" altLang="ko-KR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 </a:t>
            </a:r>
            <a:r>
              <a:rPr lang="ko-KR" altLang="en-US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주요</a:t>
            </a:r>
            <a:r>
              <a:rPr lang="en-US" altLang="ko-KR" sz="1100" kern="0" spc="-20" dirty="0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 </a:t>
            </a:r>
            <a:r>
              <a:rPr lang="en-US" altLang="ko-KR" sz="1100" kern="0" spc="-20" dirty="0" err="1">
                <a:solidFill>
                  <a:srgbClr val="86868B"/>
                </a:solidFill>
                <a:latin typeface="SF Pro Text"/>
                <a:ea typeface="SF Pro Text"/>
                <a:cs typeface="SF Pro Text" pitchFamily="34" charset="-120"/>
              </a:rPr>
              <a:t>날짜</a:t>
            </a:r>
            <a:endParaRPr lang="en-US" altLang="ko-KR" sz="1100" dirty="0">
              <a:latin typeface="SF Pro Text"/>
              <a:ea typeface="SF Pro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REGULATORY CHANGE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배경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2900" y="1405890"/>
            <a:ext cx="37719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1405890"/>
            <a:ext cx="37719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82930" y="147447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·  과거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2930" y="1885950"/>
            <a:ext cx="3291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통관사 위임, 사후 신고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82930" y="236601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시점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543050" y="236601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물건이 한국 세관에 도착한 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2930" y="267462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주체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543050" y="267462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통관사(자이언트)가 대리 수집·신고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2930" y="298323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543050" y="298323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→ </a:t>
            </a:r>
            <a:r>
              <a:rPr lang="ko-KR" alt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</a:t>
            </a:r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통관사 → 정부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2930" y="329184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검증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543050" y="329184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검증, 허위 신고 적발 어려움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86250" y="2468880"/>
            <a:ext cx="548640" cy="342900"/>
          </a:xfrm>
          <a:prstGeom prst="rtTriangle">
            <a:avLst/>
          </a:prstGeom>
          <a:solidFill>
            <a:srgbClr val="C05621"/>
          </a:solidFill>
          <a:ln/>
        </p:spPr>
      </p:sp>
      <p:sp>
        <p:nvSpPr>
          <p:cNvPr id="19" name="Text 17"/>
          <p:cNvSpPr/>
          <p:nvPr/>
        </p:nvSpPr>
        <p:spPr>
          <a:xfrm>
            <a:off x="4149090" y="2880360"/>
            <a:ext cx="8229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225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06340" y="1405890"/>
            <a:ext cx="37719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6340" y="1405890"/>
            <a:ext cx="3771900" cy="3429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2" name="Text 20"/>
          <p:cNvSpPr/>
          <p:nvPr/>
        </p:nvSpPr>
        <p:spPr>
          <a:xfrm>
            <a:off x="5246370" y="147447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·  2026.08.15~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46370" y="1885950"/>
            <a:ext cx="3291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직접, 결제 시점 사전 제출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246370" y="236601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시점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206490" y="236601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결제 버튼을 누르는 즉시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46370" y="267462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주체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206490" y="267462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전자상거래업자(당사)가 직접 전송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46370" y="298323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206490" y="298323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→ </a:t>
            </a:r>
            <a:r>
              <a:rPr lang="ko-KR" altLang="en-US" sz="90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</a:t>
            </a:r>
            <a:r>
              <a:rPr lang="en-US" sz="9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정부 (직접)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46370" y="3291840"/>
            <a:ext cx="9601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검증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206490" y="3291840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검증, 허위 신고 사전 차단</a:t>
            </a:r>
            <a:endParaRPr lang="en-US" sz="900" dirty="0"/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FC484E1C-AACE-2DDC-7EA0-29B6D23ECC1A}"/>
              </a:ext>
            </a:extLst>
          </p:cNvPr>
          <p:cNvSpPr/>
          <p:nvPr/>
        </p:nvSpPr>
        <p:spPr>
          <a:xfrm>
            <a:off x="298609" y="7500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rgbClr val="718096"/>
                </a:solidFill>
              </a:rPr>
              <a:t>관세법 및 개인정보 보호법에 따른 </a:t>
            </a:r>
            <a:r>
              <a:rPr lang="ko-KR" altLang="en-US" sz="1050" b="1" u="sng" dirty="0" err="1">
                <a:solidFill>
                  <a:srgbClr val="FF0000"/>
                </a:solidFill>
              </a:rPr>
              <a:t>실거래</a:t>
            </a:r>
            <a:r>
              <a:rPr lang="ko-KR" altLang="en-US" sz="1050" b="1" u="sng" dirty="0">
                <a:solidFill>
                  <a:srgbClr val="FF0000"/>
                </a:solidFill>
              </a:rPr>
              <a:t> 데이터 교차 검증과 본인인증 의무를 준수하기 위한 법적 강제 사안</a:t>
            </a:r>
            <a:r>
              <a:rPr lang="en-US" altLang="ko-KR" sz="1050" b="1" u="sng" dirty="0">
                <a:solidFill>
                  <a:srgbClr val="FF0000"/>
                </a:solidFill>
              </a:rPr>
              <a:t>. 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03FCB2-E156-8ACB-78F6-9918C6F1DA92}"/>
              </a:ext>
            </a:extLst>
          </p:cNvPr>
          <p:cNvSpPr txBox="1"/>
          <p:nvPr/>
        </p:nvSpPr>
        <p:spPr>
          <a:xfrm>
            <a:off x="1701640" y="649635"/>
            <a:ext cx="3383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(</a:t>
            </a:r>
            <a:r>
              <a:rPr lang="ko-KR" altLang="en-US" sz="1000" b="1" dirty="0"/>
              <a:t>관세법 제</a:t>
            </a:r>
            <a:r>
              <a:rPr lang="en-US" altLang="ko-KR" sz="1000" b="1" dirty="0"/>
              <a:t>254</a:t>
            </a:r>
            <a:r>
              <a:rPr lang="ko-KR" altLang="en-US" sz="1000" b="1" dirty="0"/>
              <a:t>조의</a:t>
            </a:r>
            <a:r>
              <a:rPr lang="en-US" altLang="ko-KR" sz="1000" b="1" dirty="0"/>
              <a:t>2, </a:t>
            </a:r>
            <a:r>
              <a:rPr lang="ko-KR" altLang="en-US" sz="1000" b="1" dirty="0"/>
              <a:t>전자상거래물품 특별통관 고시 등</a:t>
            </a:r>
            <a:r>
              <a:rPr lang="en-US" altLang="ko-KR" sz="1000" b="1" dirty="0"/>
              <a:t>)</a:t>
            </a:r>
            <a:endParaRPr lang="ko-KR" altLang="en-US" sz="1000" dirty="0"/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1ECE7C8D-123F-CB25-68A6-ED878DFE3EC5}"/>
              </a:ext>
            </a:extLst>
          </p:cNvPr>
          <p:cNvSpPr/>
          <p:nvPr/>
        </p:nvSpPr>
        <p:spPr>
          <a:xfrm>
            <a:off x="342900" y="3956412"/>
            <a:ext cx="8435340" cy="72009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48FE6FAB-7E52-7AD3-F62E-5EDBA55EB8ED}"/>
              </a:ext>
            </a:extLst>
          </p:cNvPr>
          <p:cNvSpPr/>
          <p:nvPr/>
        </p:nvSpPr>
        <p:spPr>
          <a:xfrm>
            <a:off x="582930" y="4106633"/>
            <a:ext cx="78867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</a:t>
            </a:r>
            <a:r>
              <a:rPr lang="en-US" sz="127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</a:t>
            </a:r>
            <a:r>
              <a:rPr lang="en-US" sz="1275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시점부터</a:t>
            </a:r>
            <a:r>
              <a:rPr 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거래정보</a:t>
            </a:r>
            <a:r>
              <a:rPr 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데이터를 </a:t>
            </a:r>
            <a:r>
              <a:rPr lang="en-US" sz="1275" dirty="0" err="1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75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75" dirty="0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41F5DA0C-2F28-4831-CD88-F8C16136A3C3}"/>
              </a:ext>
            </a:extLst>
          </p:cNvPr>
          <p:cNvSpPr/>
          <p:nvPr/>
        </p:nvSpPr>
        <p:spPr>
          <a:xfrm>
            <a:off x="582930" y="4346663"/>
            <a:ext cx="788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결제 시스템과 정부 시스템을 직접 잇는 새 </a:t>
            </a:r>
            <a:r>
              <a:rPr lang="en-US" sz="90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STRATEGIC OPPORTUNITY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96012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정부에 데이터를 먼저,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제공하</a:t>
            </a:r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 </a:t>
            </a:r>
            <a:r>
              <a:rPr lang="ko-KR" alt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해외직구</a:t>
            </a:r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사업 영위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" y="1405890"/>
            <a:ext cx="421767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1405890"/>
            <a:ext cx="54864" cy="233172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8" name="Text 6"/>
          <p:cNvSpPr/>
          <p:nvPr/>
        </p:nvSpPr>
        <p:spPr>
          <a:xfrm>
            <a:off x="582930" y="161163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BENEFIT 01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82930" y="181737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통관 분류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2930" y="2091690"/>
            <a:ext cx="37719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-24</a:t>
            </a:r>
            <a:r>
              <a:rPr lang="en-US" sz="45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82930" y="301752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</a:t>
            </a:r>
            <a:r>
              <a:rPr lang="en-US" sz="1050" b="1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통관 시간 단축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2930" y="3257550"/>
            <a:ext cx="37376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데이터를 선제공하는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업체는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25" b="1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</a:t>
            </a:r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b="1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</a:t>
            </a:r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대상으로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 우선 처리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4697730" y="1405890"/>
            <a:ext cx="408051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7730" y="1405890"/>
            <a:ext cx="54864" cy="233172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1163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BENEFIT 02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37760" y="181737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개인통관부호</a:t>
            </a:r>
            <a:r>
              <a:rPr 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실시간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91690"/>
            <a:ext cx="37719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771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통관부호 오류 CS 발생 건수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257550"/>
            <a:ext cx="37033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시점에 관세청 서버와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b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개인통관부호로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altLang="ko-KR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통관 소멸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342900" y="3909060"/>
            <a:ext cx="8435340" cy="75438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22" name="Text 20"/>
          <p:cNvSpPr/>
          <p:nvPr/>
        </p:nvSpPr>
        <p:spPr>
          <a:xfrm>
            <a:off x="582930" y="4065817"/>
            <a:ext cx="788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5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법적 준수보다 </a:t>
            </a: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 절감 + 고객 </a:t>
            </a:r>
            <a:r>
              <a:rPr lang="en-US" sz="135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</a:t>
            </a: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방지</a:t>
            </a:r>
            <a:r>
              <a:rPr lang="ko-KR" alt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영역</a:t>
            </a:r>
            <a:endParaRPr lang="en-US" sz="1350" dirty="0">
              <a:solidFill>
                <a:srgbClr val="1B2A4A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2930" y="4305847"/>
            <a:ext cx="7886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사업의 목표 </a:t>
            </a:r>
            <a:r>
              <a:rPr 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법적 의무 준수, (2) 통관 </a:t>
            </a:r>
            <a:r>
              <a:rPr lang="en-US" sz="900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</a:t>
            </a:r>
            <a:r>
              <a:rPr 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(3) </a:t>
            </a:r>
            <a:r>
              <a:rPr lang="ko-KR" alt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</a:t>
            </a:r>
            <a:r>
              <a:rPr 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 </a:t>
            </a:r>
            <a:r>
              <a:rPr lang="ko-KR" altLang="en-US" sz="900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인입</a:t>
            </a:r>
            <a:r>
              <a:rPr lang="ko-KR" altLang="en-US" sz="9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차단</a:t>
            </a:r>
            <a:endParaRPr lang="en-US" sz="900" dirty="0">
              <a:solidFill>
                <a:srgbClr val="1B2A4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63440" y="24003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JOURNEY · AS-IS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프로세스 (AS-IS)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2900" y="1175658"/>
            <a:ext cx="1522476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1253" y="956202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8" name="Shape 6"/>
          <p:cNvSpPr/>
          <p:nvPr/>
        </p:nvSpPr>
        <p:spPr>
          <a:xfrm>
            <a:off x="915543" y="990492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915543" y="99049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" y="1449978"/>
            <a:ext cx="138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단계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11480" y="1655718"/>
            <a:ext cx="138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85800" y="2067198"/>
            <a:ext cx="836676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170068"/>
            <a:ext cx="1275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내 상품 탐색 후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 진입.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쇼핑 흐름과 동일.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865376" y="1861458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071116" y="1175658"/>
            <a:ext cx="1522476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9469" y="956202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3759" y="990492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8" name="Text 16"/>
          <p:cNvSpPr/>
          <p:nvPr/>
        </p:nvSpPr>
        <p:spPr>
          <a:xfrm>
            <a:off x="2643759" y="99049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139696" y="1449978"/>
            <a:ext cx="138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139696" y="1655718"/>
            <a:ext cx="138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완료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2414016" y="2067198"/>
            <a:ext cx="836676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2170068"/>
            <a:ext cx="1275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개인정보·PCCC 입력 후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진행.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시점 PCCC 검증 없이 통과.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593592" y="1861458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799332" y="1175658"/>
            <a:ext cx="1522476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7685" y="956202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371975" y="990492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7" name="Text 25"/>
          <p:cNvSpPr/>
          <p:nvPr/>
        </p:nvSpPr>
        <p:spPr>
          <a:xfrm>
            <a:off x="4371975" y="99049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3867912" y="1449978"/>
            <a:ext cx="138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단계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67912" y="1655718"/>
            <a:ext cx="138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물품 출고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4142232" y="2067198"/>
            <a:ext cx="836676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1" name="Text 29"/>
          <p:cNvSpPr/>
          <p:nvPr/>
        </p:nvSpPr>
        <p:spPr>
          <a:xfrm>
            <a:off x="3922776" y="2170068"/>
            <a:ext cx="1275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창고에서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패킹 및 HBL 송장 발행.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운송 시작.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321808" y="1861458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5527548" y="1175658"/>
            <a:ext cx="1522476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65901" y="956202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100191" y="990492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6" name="Text 34"/>
          <p:cNvSpPr/>
          <p:nvPr/>
        </p:nvSpPr>
        <p:spPr>
          <a:xfrm>
            <a:off x="6100191" y="99049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596128" y="1449978"/>
            <a:ext cx="138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단계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596128" y="1655718"/>
            <a:ext cx="138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세관 도착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5870448" y="2067198"/>
            <a:ext cx="836676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40" name="Text 38"/>
          <p:cNvSpPr/>
          <p:nvPr/>
        </p:nvSpPr>
        <p:spPr>
          <a:xfrm>
            <a:off x="5650992" y="2170068"/>
            <a:ext cx="1275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세관 도착 후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수하인 정보 검사 시작.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 처음으로 PCCC 검증.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7050024" y="1861458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7255764" y="1175658"/>
            <a:ext cx="1522476" cy="1817370"/>
          </a:xfrm>
          <a:prstGeom prst="rect">
            <a:avLst/>
          </a:prstGeom>
          <a:solidFill>
            <a:srgbClr val="FFF5F5"/>
          </a:solidFill>
          <a:ln w="22225">
            <a:solidFill>
              <a:srgbClr val="C5303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94117" y="956202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44" name="Shape 42"/>
          <p:cNvSpPr/>
          <p:nvPr/>
        </p:nvSpPr>
        <p:spPr>
          <a:xfrm>
            <a:off x="7828407" y="990492"/>
            <a:ext cx="377190" cy="37719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45" name="Text 43"/>
          <p:cNvSpPr/>
          <p:nvPr/>
        </p:nvSpPr>
        <p:spPr>
          <a:xfrm>
            <a:off x="7828407" y="99049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7324344" y="1449978"/>
            <a:ext cx="13853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검증 단계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324344" y="1655718"/>
            <a:ext cx="13853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통관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7598664" y="2067198"/>
            <a:ext cx="836676" cy="10287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49" name="Text 47"/>
          <p:cNvSpPr/>
          <p:nvPr/>
        </p:nvSpPr>
        <p:spPr>
          <a:xfrm>
            <a:off x="7379208" y="2170068"/>
            <a:ext cx="1275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오류 발견 시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처리 진행.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중단 및 CS 발생.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342900" y="3322862"/>
            <a:ext cx="843534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2900" y="3322862"/>
            <a:ext cx="68580" cy="10972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" y="3425731"/>
            <a:ext cx="891540" cy="85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1440180" y="3460022"/>
            <a:ext cx="7269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차단이 구조적으로 불가능한 구조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440180" y="3758838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시점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PCCC 검증이 마지막 단계 → 사전 차단 메커니즘 자체가 부재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40180" y="3944004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시점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세관 도착 후 발견 → 이미 고객에게 배송 예정일 안내된 후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440180" y="4129170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취소·환불 CS + 고객 신뢰도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저하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미통관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악성 재고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63440" y="24003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JOURNEY · TO-BE · 2026.08.15~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개정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(TO-BE)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2900" y="1254045"/>
            <a:ext cx="1903095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1563" y="1034589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8" name="Shape 6"/>
          <p:cNvSpPr/>
          <p:nvPr/>
        </p:nvSpPr>
        <p:spPr>
          <a:xfrm>
            <a:off x="1105853" y="1068879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9" name="Text 7"/>
          <p:cNvSpPr/>
          <p:nvPr/>
        </p:nvSpPr>
        <p:spPr>
          <a:xfrm>
            <a:off x="1105853" y="1068879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" y="1528365"/>
            <a:ext cx="17659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단계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11480" y="1734105"/>
            <a:ext cx="17659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입력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685800" y="2145585"/>
            <a:ext cx="1217295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248455"/>
            <a:ext cx="16562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우편번호·PCCC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 진입 후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280285" y="1939845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520315" y="1254045"/>
            <a:ext cx="1903095" cy="1817370"/>
          </a:xfrm>
          <a:prstGeom prst="rect">
            <a:avLst/>
          </a:prstGeom>
          <a:solidFill>
            <a:srgbClr val="F0FFF4"/>
          </a:solidFill>
          <a:ln w="22225">
            <a:solidFill>
              <a:srgbClr val="2F855A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8978" y="1034589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3268" y="1068879"/>
            <a:ext cx="377190" cy="37719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8" name="Text 16"/>
          <p:cNvSpPr/>
          <p:nvPr/>
        </p:nvSpPr>
        <p:spPr>
          <a:xfrm>
            <a:off x="3283268" y="1068879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588895" y="1528365"/>
            <a:ext cx="17659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검증 단계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588895" y="1734105"/>
            <a:ext cx="17659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검증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2863215" y="2145585"/>
            <a:ext cx="1217295" cy="10287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2" name="Text 20"/>
          <p:cNvSpPr/>
          <p:nvPr/>
        </p:nvSpPr>
        <p:spPr>
          <a:xfrm>
            <a:off x="2643759" y="2248455"/>
            <a:ext cx="16562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클릭과 동시에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PCCC 실명 </a:t>
            </a:r>
            <a:r>
              <a:rPr lang="en-US" sz="825" dirty="0" err="1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825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794635" y="2762805"/>
            <a:ext cx="1354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225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KEY MOMENT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57700" y="1939845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697730" y="1254045"/>
            <a:ext cx="1903095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26393" y="1034589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60683" y="1068879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9" name="Text 27"/>
          <p:cNvSpPr/>
          <p:nvPr/>
        </p:nvSpPr>
        <p:spPr>
          <a:xfrm>
            <a:off x="5460683" y="1068879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766310" y="1528365"/>
            <a:ext cx="17659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단계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766310" y="1734105"/>
            <a:ext cx="17659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완료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40630" y="2145585"/>
            <a:ext cx="1217295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3" name="Text 31"/>
          <p:cNvSpPr/>
          <p:nvPr/>
        </p:nvSpPr>
        <p:spPr>
          <a:xfrm>
            <a:off x="4821174" y="2248455"/>
            <a:ext cx="16562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6자리 인증번호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→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(SMS 또는 CI 연동 시 생략)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635115" y="1939845"/>
            <a:ext cx="205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875145" y="1254045"/>
            <a:ext cx="1903095" cy="181737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03808" y="1034589"/>
            <a:ext cx="445770" cy="445770"/>
          </a:xfrm>
          <a:prstGeom prst="ellipse">
            <a:avLst/>
          </a:prstGeom>
          <a:solidFill>
            <a:srgbClr val="FAFAFA"/>
          </a:solidFill>
          <a:ln/>
        </p:spPr>
      </p:sp>
      <p:sp>
        <p:nvSpPr>
          <p:cNvPr id="37" name="Shape 35"/>
          <p:cNvSpPr/>
          <p:nvPr/>
        </p:nvSpPr>
        <p:spPr>
          <a:xfrm>
            <a:off x="7638098" y="1068879"/>
            <a:ext cx="377190" cy="37719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8" name="Text 36"/>
          <p:cNvSpPr/>
          <p:nvPr/>
        </p:nvSpPr>
        <p:spPr>
          <a:xfrm>
            <a:off x="7638098" y="1068879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6943725" y="1528365"/>
            <a:ext cx="17659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88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단계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6943725" y="1734105"/>
            <a:ext cx="17659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25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전송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7218045" y="2145585"/>
            <a:ext cx="1217295" cy="10287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42" name="Text 40"/>
          <p:cNvSpPr/>
          <p:nvPr/>
        </p:nvSpPr>
        <p:spPr>
          <a:xfrm>
            <a:off x="6998589" y="2248455"/>
            <a:ext cx="16562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63개 항목을 관세청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결제 완료.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342900" y="3211835"/>
            <a:ext cx="843534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" y="3211835"/>
            <a:ext cx="68580" cy="10972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" y="3314705"/>
            <a:ext cx="822960" cy="904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4400" dirty="0"/>
          </a:p>
        </p:txBody>
      </p:sp>
      <p:sp>
        <p:nvSpPr>
          <p:cNvPr id="48" name="Text 46"/>
          <p:cNvSpPr/>
          <p:nvPr/>
        </p:nvSpPr>
        <p:spPr>
          <a:xfrm>
            <a:off x="1440180" y="3348995"/>
            <a:ext cx="7269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시점 사전 차단으로 </a:t>
            </a:r>
            <a:r>
              <a:rPr lang="en-US" sz="1650" b="1" dirty="0" err="1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sz="165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50" b="1" dirty="0" err="1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440180" y="3686999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시점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결제 단계 PCCC 실시간 검증 → 세관 도착 전 오류 변수 사전 제거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440180" y="3872165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결제 완료와 동시에 63개 항목 정부 전송 → 사전 통관 준비 완료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440180" y="4057331"/>
            <a:ext cx="72694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825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통관부호 오류 CS 사실상 0건 + 통관 시간 24시간 단축 + 사전 차단 가능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42900" y="4377695"/>
            <a:ext cx="8435340" cy="431084"/>
          </a:xfrm>
          <a:prstGeom prst="rect">
            <a:avLst/>
          </a:prstGeom>
          <a:solidFill>
            <a:srgbClr val="FFFAF0"/>
          </a:solidFill>
          <a:ln w="6350">
            <a:solidFill>
              <a:srgbClr val="C0562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" y="4377694"/>
            <a:ext cx="8229600" cy="431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15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CS 정책 개선 필요  </a:t>
            </a:r>
            <a:r>
              <a:rPr lang="en-US" sz="750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│  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완료 후 주소·연락처 </a:t>
            </a:r>
            <a:r>
              <a:rPr lang="en-US" sz="75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75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수정 시 '전체 주문 취소 후 </a:t>
            </a:r>
            <a:r>
              <a:rPr lang="en-US" sz="75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재인증·재결제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en-US" sz="75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유도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배너 기재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(CS </a:t>
            </a:r>
            <a:r>
              <a:rPr lang="ko-KR" alt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</a:t>
            </a:r>
            <a:r>
              <a:rPr lang="en-US" sz="75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뉴얼</a:t>
            </a:r>
            <a:r>
              <a:rPr lang="en-US" sz="75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업데이트)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연동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구매간소화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96012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본인인증(CI)을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관세청과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SMS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" y="1405890"/>
            <a:ext cx="37719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1405890"/>
            <a:ext cx="3771900" cy="3429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82930" y="147447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</a:t>
            </a:r>
            <a:r>
              <a:rPr lang="en-US" sz="900" b="1" kern="0" spc="30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</a:t>
            </a:r>
            <a:r>
              <a:rPr lang="en-US" sz="900" b="1" kern="0" spc="300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lang="ko-KR" altLang="en-US" sz="900" b="1" kern="0" spc="30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2930" y="1885950"/>
            <a:ext cx="32918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 인증 발송 + 입력 단계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2930" y="2407158"/>
            <a:ext cx="123444" cy="123444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788670" y="236601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진입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2930" y="2647188"/>
            <a:ext cx="123444" cy="123444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788670" y="260604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입력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2930" y="2887218"/>
            <a:ext cx="123444" cy="123444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88670" y="284607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 발송 대기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2898318"/>
            <a:ext cx="9601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i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+10~30초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2930" y="3127248"/>
            <a:ext cx="123444" cy="123444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788670" y="30861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6자리 입력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2930" y="3367278"/>
            <a:ext cx="123444" cy="123444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788670" y="332613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완료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0360" y="3060787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이탈 발생 가능 지점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49090" y="2434590"/>
            <a:ext cx="4800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4663440" y="1405890"/>
            <a:ext cx="41148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405890"/>
            <a:ext cx="4114800" cy="3429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5" name="Text 23"/>
          <p:cNvSpPr/>
          <p:nvPr/>
        </p:nvSpPr>
        <p:spPr>
          <a:xfrm>
            <a:off x="4903470" y="147447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C6F6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·  CI 연동 구매간소화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03470" y="1885950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 인증 단계 생략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903470" y="2407158"/>
            <a:ext cx="123444" cy="12344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28" name="Text 26"/>
          <p:cNvSpPr/>
          <p:nvPr/>
        </p:nvSpPr>
        <p:spPr>
          <a:xfrm>
            <a:off x="5109210" y="236601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진입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03470" y="2647188"/>
            <a:ext cx="123444" cy="12344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5109210" y="260604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PCCC 입력 (CI 자동 매칭)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03470" y="2887218"/>
            <a:ext cx="123444" cy="12344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32" name="Text 30"/>
          <p:cNvSpPr/>
          <p:nvPr/>
        </p:nvSpPr>
        <p:spPr>
          <a:xfrm>
            <a:off x="5109210" y="2846070"/>
            <a:ext cx="3429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완료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03470" y="3188970"/>
            <a:ext cx="3771900" cy="445770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34" name="Text 32"/>
          <p:cNvSpPr/>
          <p:nvPr/>
        </p:nvSpPr>
        <p:spPr>
          <a:xfrm>
            <a:off x="5006340" y="3202686"/>
            <a:ext cx="3634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 </a:t>
            </a:r>
            <a:r>
              <a:rPr lang="en-US" sz="1050" b="1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→ 3단계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42900" y="3909060"/>
            <a:ext cx="8435340" cy="754380"/>
          </a:xfrm>
          <a:prstGeom prst="rect">
            <a:avLst/>
          </a:prstGeom>
          <a:solidFill>
            <a:srgbClr val="FEEBC8"/>
          </a:solidFill>
          <a:ln w="9525">
            <a:solidFill>
              <a:srgbClr val="C056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930" y="4085415"/>
            <a:ext cx="78867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</a:t>
            </a:r>
            <a:r>
              <a:rPr lang="ko-KR" altLang="en-US" sz="12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lang="en-US" sz="12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현재 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지침 단계에서 </a:t>
            </a:r>
            <a:r>
              <a:rPr lang="en-US" sz="120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</a:t>
            </a:r>
            <a:r>
              <a:rPr lang="en-US" sz="120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</a:t>
            </a:r>
            <a:r>
              <a:rPr lang="en-US" sz="12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2930" y="4325445"/>
            <a:ext cx="7886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시스템은 SMS / CI 양쪽 케이스 모두 대응 </a:t>
            </a:r>
            <a:r>
              <a:rPr lang="en-US" sz="900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가능하도록</a:t>
            </a:r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및 개발 중</a:t>
            </a:r>
            <a:r>
              <a:rPr lang="en-US" altLang="ko-KR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81454" y="1274137"/>
            <a:ext cx="2160000" cy="79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454" y="137080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중계기관</a:t>
            </a:r>
            <a:endParaRPr lang="en-US" sz="7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81454" y="151710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본인확인기관</a:t>
            </a:r>
            <a:endParaRPr 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81454" y="182800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중계기관 선정 필요</a:t>
            </a:r>
            <a:endParaRPr lang="en-US" sz="75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02547" y="1273540"/>
            <a:ext cx="2160000" cy="792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0040" y="1364267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· 데이터 수신처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70040" y="151057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0040" y="1821467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신고 의무 대상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74596" y="2422623"/>
            <a:ext cx="2160000" cy="792000"/>
          </a:xfrm>
          <a:prstGeom prst="rect">
            <a:avLst/>
          </a:prstGeom>
          <a:solidFill>
            <a:srgbClr val="E8F5E8"/>
          </a:solidFill>
          <a:ln w="19050">
            <a:solidFill>
              <a:srgbClr val="2D7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2149" y="2488592"/>
            <a:ext cx="216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뉴트리시아 공식몰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74596" y="2869083"/>
            <a:ext cx="215999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전자상거래업자 · 직접 전송 의무 (Geeks)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1454" y="3685541"/>
            <a:ext cx="2160000" cy="792000"/>
          </a:xfrm>
          <a:prstGeom prst="rect">
            <a:avLst/>
          </a:prstGeom>
          <a:solidFill>
            <a:srgbClr val="FFF5E6"/>
          </a:solidFill>
          <a:ln w="12700">
            <a:solidFill>
              <a:srgbClr val="E08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097" y="3769543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A66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· 중국 창고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6097" y="3915847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4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 ( 중국 물류 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6097" y="4245031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창고 · ERP · 송장 발행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99860" y="3685540"/>
            <a:ext cx="2160000" cy="792000"/>
          </a:xfrm>
          <a:prstGeom prst="rect">
            <a:avLst/>
          </a:prstGeom>
          <a:solidFill>
            <a:srgbClr val="EEF0FF"/>
          </a:solidFill>
          <a:ln w="12700">
            <a:solidFill>
              <a:srgbClr val="4455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9546" y="3767727"/>
            <a:ext cx="216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55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 · </a:t>
            </a:r>
            <a:r>
              <a:rPr lang="en-US" sz="750" dirty="0" err="1">
                <a:solidFill>
                  <a:srgbClr val="4455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</a:t>
            </a:r>
            <a:r>
              <a:rPr lang="en-US" sz="750" dirty="0">
                <a:solidFill>
                  <a:srgbClr val="4455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750" dirty="0">
                <a:solidFill>
                  <a:srgbClr val="4455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대행사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46426" y="3910693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3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 ( 통관사 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7986" y="424503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 </a:t>
            </a:r>
            <a:r>
              <a:rPr lang="en-US" sz="750" dirty="0" err="1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</a:t>
            </a:r>
            <a:r>
              <a:rPr lang="ko-KR" alt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</a:t>
            </a:r>
            <a:r>
              <a:rPr lang="en-US" sz="7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수신 · 신고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68803" y="245634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개인정보 인증</a:t>
            </a:r>
            <a:endParaRPr lang="en-US" sz="750" b="1" dirty="0">
              <a:solidFill>
                <a:srgbClr val="2D7D3A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52800" y="14162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개인정보 결과 제출</a:t>
            </a:r>
            <a:endParaRPr lang="en-US" sz="75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75034" y="277315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주문 정보 전송</a:t>
            </a:r>
            <a:endParaRPr lang="en-US" sz="750" b="1" dirty="0"/>
          </a:p>
        </p:txBody>
      </p:sp>
      <p:sp>
        <p:nvSpPr>
          <p:cNvPr id="33" name="Text 31"/>
          <p:cNvSpPr/>
          <p:nvPr/>
        </p:nvSpPr>
        <p:spPr>
          <a:xfrm>
            <a:off x="1875034" y="2960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08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운송장 번호 수신</a:t>
            </a:r>
            <a:endParaRPr lang="en-US" sz="750" b="1" dirty="0">
              <a:solidFill>
                <a:srgbClr val="E0800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033" y="2469701"/>
            <a:ext cx="9348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거래정보 제출</a:t>
            </a:r>
            <a:endParaRPr lang="en-US" sz="750" b="1" dirty="0">
              <a:solidFill>
                <a:srgbClr val="2D7D3A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67910" y="2969667"/>
            <a:ext cx="96987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통관 정보 전송</a:t>
            </a:r>
            <a:endParaRPr lang="en-US" sz="750" b="1" dirty="0">
              <a:solidFill>
                <a:srgbClr val="2D7D3A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34157" y="2713368"/>
            <a:ext cx="982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455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통관 결과 제출</a:t>
            </a:r>
            <a:endParaRPr lang="en-US" sz="750" b="1" dirty="0"/>
          </a:p>
        </p:txBody>
      </p:sp>
      <p:sp>
        <p:nvSpPr>
          <p:cNvPr id="40" name="Shape 38"/>
          <p:cNvSpPr/>
          <p:nvPr/>
        </p:nvSpPr>
        <p:spPr>
          <a:xfrm>
            <a:off x="2669894" y="4066575"/>
            <a:ext cx="3819652" cy="10054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027680" y="3875461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기존 시스템 통합 ( 삭제대상 )</a:t>
            </a:r>
            <a:endParaRPr lang="en-US" sz="75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28145BD7-B286-E71C-B3D6-FB53575DB18E}"/>
              </a:ext>
            </a:extLst>
          </p:cNvPr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</a:rPr>
              <a:t>PARTNER</a:t>
            </a:r>
            <a:r>
              <a:rPr lang="ko-KR" alt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</a:rPr>
              <a:t>ARCHITECTURE</a:t>
            </a:r>
            <a:endParaRPr lang="en-US" sz="75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0BC66BAD-D2B3-430A-4D58-A9BA2AF2DC48}"/>
              </a:ext>
            </a:extLst>
          </p:cNvPr>
          <p:cNvSpPr/>
          <p:nvPr/>
        </p:nvSpPr>
        <p:spPr>
          <a:xfrm>
            <a:off x="342900" y="480060"/>
            <a:ext cx="352370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</a:rPr>
              <a:t>참여 업체 구조 및 역할</a:t>
            </a:r>
            <a:endParaRPr lang="en-US" sz="240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38AE7B85-EBFE-EA9B-141A-6C7516E15A09}"/>
              </a:ext>
            </a:extLst>
          </p:cNvPr>
          <p:cNvSpPr/>
          <p:nvPr/>
        </p:nvSpPr>
        <p:spPr>
          <a:xfrm>
            <a:off x="365760" y="901827"/>
            <a:ext cx="2560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주체 간의 데이터 흐름과 책임 영역</a:t>
            </a:r>
            <a:endParaRPr lang="en-US" sz="1050" dirty="0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970B729-3FD5-BBA1-A135-C500B1451627}"/>
              </a:ext>
            </a:extLst>
          </p:cNvPr>
          <p:cNvCxnSpPr>
            <a:cxnSpLocks/>
            <a:stCxn id="10" idx="1"/>
            <a:endCxn id="6" idx="3"/>
          </p:cNvCxnSpPr>
          <p:nvPr/>
        </p:nvCxnSpPr>
        <p:spPr>
          <a:xfrm flipH="1">
            <a:off x="2641454" y="1669540"/>
            <a:ext cx="3861093" cy="597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7A1A2CBD-30F5-24F8-E8DD-882692AC78F4}"/>
              </a:ext>
            </a:extLst>
          </p:cNvPr>
          <p:cNvCxnSpPr>
            <a:cxnSpLocks/>
            <a:stCxn id="6" idx="2"/>
            <a:endCxn id="16" idx="1"/>
          </p:cNvCxnSpPr>
          <p:nvPr/>
        </p:nvCxnSpPr>
        <p:spPr>
          <a:xfrm rot="16200000" flipH="1">
            <a:off x="2269134" y="1358456"/>
            <a:ext cx="605335" cy="2020695"/>
          </a:xfrm>
          <a:prstGeom prst="bentConnector2">
            <a:avLst/>
          </a:prstGeom>
          <a:ln w="19050">
            <a:solidFill>
              <a:srgbClr val="2D7D3A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CD892287-687B-E5CF-9490-BF3972433494}"/>
              </a:ext>
            </a:extLst>
          </p:cNvPr>
          <p:cNvCxnSpPr>
            <a:cxnSpLocks/>
            <a:stCxn id="18" idx="0"/>
            <a:endCxn id="17" idx="1"/>
          </p:cNvCxnSpPr>
          <p:nvPr/>
        </p:nvCxnSpPr>
        <p:spPr>
          <a:xfrm rot="5400000" flipH="1" flipV="1">
            <a:off x="2210088" y="2321033"/>
            <a:ext cx="715874" cy="2013142"/>
          </a:xfrm>
          <a:prstGeom prst="bentConnector2">
            <a:avLst/>
          </a:prstGeom>
          <a:ln w="19050">
            <a:solidFill>
              <a:srgbClr val="E08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5B2383A5-2A5C-1423-237C-4B3E80318952}"/>
              </a:ext>
            </a:extLst>
          </p:cNvPr>
          <p:cNvCxnSpPr>
            <a:cxnSpLocks/>
            <a:stCxn id="22" idx="0"/>
            <a:endCxn id="17" idx="3"/>
          </p:cNvCxnSpPr>
          <p:nvPr/>
        </p:nvCxnSpPr>
        <p:spPr>
          <a:xfrm rot="16200000" flipV="1">
            <a:off x="6299292" y="2404971"/>
            <a:ext cx="715873" cy="1845265"/>
          </a:xfrm>
          <a:prstGeom prst="bentConnector2">
            <a:avLst/>
          </a:prstGeom>
          <a:ln w="19050">
            <a:solidFill>
              <a:srgbClr val="2D7D3A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E70C833-5335-F961-6D77-4F9B896D66C6}"/>
              </a:ext>
            </a:extLst>
          </p:cNvPr>
          <p:cNvCxnSpPr>
            <a:cxnSpLocks/>
            <a:stCxn id="10" idx="2"/>
            <a:endCxn id="16" idx="3"/>
          </p:cNvCxnSpPr>
          <p:nvPr/>
        </p:nvCxnSpPr>
        <p:spPr>
          <a:xfrm rot="5400000">
            <a:off x="6359382" y="1448307"/>
            <a:ext cx="605932" cy="1840398"/>
          </a:xfrm>
          <a:prstGeom prst="bentConnector2">
            <a:avLst/>
          </a:prstGeom>
          <a:ln w="19050">
            <a:solidFill>
              <a:srgbClr val="2D7D3A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82A1219-8B1C-9E17-8E09-99ADB807F0B6}"/>
              </a:ext>
            </a:extLst>
          </p:cNvPr>
          <p:cNvCxnSpPr>
            <a:cxnSpLocks/>
          </p:cNvCxnSpPr>
          <p:nvPr/>
        </p:nvCxnSpPr>
        <p:spPr>
          <a:xfrm flipH="1">
            <a:off x="8347811" y="2066137"/>
            <a:ext cx="2439" cy="1618984"/>
          </a:xfrm>
          <a:prstGeom prst="straightConnector1">
            <a:avLst/>
          </a:prstGeom>
          <a:ln w="19050"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1DA4-4465-5FD5-DBA3-1E56A004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01BC22-0185-507E-A4D5-A77CDB93F708}"/>
              </a:ext>
            </a:extLst>
          </p:cNvPr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KEY DECISION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83FE27-7B7B-F4F1-1C67-422BB38E158B}"/>
              </a:ext>
            </a:extLst>
          </p:cNvPr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전송 </a:t>
            </a:r>
            <a:r>
              <a:rPr lang="en-US" sz="2400" b="1" dirty="0" err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567E59-952D-5157-1566-465AEB1F0640}"/>
              </a:ext>
            </a:extLst>
          </p:cNvPr>
          <p:cNvSpPr/>
          <p:nvPr/>
        </p:nvSpPr>
        <p:spPr>
          <a:xfrm>
            <a:off x="371476" y="1342390"/>
            <a:ext cx="40680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F855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E3C4925-6938-B1C6-FACC-1AB26EFDAA1E}"/>
              </a:ext>
            </a:extLst>
          </p:cNvPr>
          <p:cNvSpPr/>
          <p:nvPr/>
        </p:nvSpPr>
        <p:spPr>
          <a:xfrm>
            <a:off x="342900" y="970918"/>
            <a:ext cx="4114800" cy="37719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51C3DC-AEBD-67BF-CF00-D9BFC399A459}"/>
              </a:ext>
            </a:extLst>
          </p:cNvPr>
          <p:cNvSpPr/>
          <p:nvPr/>
        </p:nvSpPr>
        <p:spPr>
          <a:xfrm>
            <a:off x="582930" y="1060072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RECOMMEND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9410712-848D-0B95-4EF7-DBF79F6E0586}"/>
              </a:ext>
            </a:extLst>
          </p:cNvPr>
          <p:cNvSpPr/>
          <p:nvPr/>
        </p:nvSpPr>
        <p:spPr>
          <a:xfrm>
            <a:off x="3360420" y="103949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안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704B09-B771-7B13-54FD-2443C2191B49}"/>
              </a:ext>
            </a:extLst>
          </p:cNvPr>
          <p:cNvSpPr/>
          <p:nvPr/>
        </p:nvSpPr>
        <p:spPr>
          <a:xfrm>
            <a:off x="582930" y="1455256"/>
            <a:ext cx="3634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Geek Studio 통합 모델</a:t>
            </a:r>
            <a:endParaRPr lang="en-US" sz="16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BD24B8-7733-4653-8546-85DCD0844EA5}"/>
              </a:ext>
            </a:extLst>
          </p:cNvPr>
          <p:cNvSpPr/>
          <p:nvPr/>
        </p:nvSpPr>
        <p:spPr>
          <a:xfrm>
            <a:off x="582930" y="1795936"/>
            <a:ext cx="3634740" cy="377190"/>
          </a:xfrm>
          <a:prstGeom prst="rect">
            <a:avLst/>
          </a:prstGeom>
          <a:solidFill>
            <a:srgbClr val="C6F6D5">
              <a:alpha val="40000"/>
            </a:srgbClr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9372432-D55C-E5C3-C5E2-B2322E993CB8}"/>
              </a:ext>
            </a:extLst>
          </p:cNvPr>
          <p:cNvSpPr/>
          <p:nvPr/>
        </p:nvSpPr>
        <p:spPr>
          <a:xfrm>
            <a:off x="685800" y="1795936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9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ED0267-B95C-FFA1-2D10-0AE8E3F1D948}"/>
              </a:ext>
            </a:extLst>
          </p:cNvPr>
          <p:cNvSpPr/>
          <p:nvPr/>
        </p:nvSpPr>
        <p:spPr>
          <a:xfrm>
            <a:off x="2091690" y="1795936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CI 국내 보관, 해외 이관 없음</a:t>
            </a:r>
            <a:endParaRPr lang="en-US" sz="825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39877AF-AF3E-CDBB-D811-078FB556BDFF}"/>
              </a:ext>
            </a:extLst>
          </p:cNvPr>
          <p:cNvSpPr/>
          <p:nvPr/>
        </p:nvSpPr>
        <p:spPr>
          <a:xfrm>
            <a:off x="582930" y="2241706"/>
            <a:ext cx="3634740" cy="377190"/>
          </a:xfrm>
          <a:prstGeom prst="rect">
            <a:avLst/>
          </a:prstGeom>
          <a:solidFill>
            <a:srgbClr val="C6F6D5">
              <a:alpha val="40000"/>
            </a:srgbClr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FEB783A-42E8-2B58-01E5-0C5BEA875B5A}"/>
              </a:ext>
            </a:extLst>
          </p:cNvPr>
          <p:cNvSpPr/>
          <p:nvPr/>
        </p:nvSpPr>
        <p:spPr>
          <a:xfrm>
            <a:off x="685800" y="2241706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endParaRPr lang="en-US" sz="975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7680661-FA9A-D099-9ACE-984D1EA8E5AB}"/>
              </a:ext>
            </a:extLst>
          </p:cNvPr>
          <p:cNvSpPr/>
          <p:nvPr/>
        </p:nvSpPr>
        <p:spPr>
          <a:xfrm>
            <a:off x="2091690" y="2241706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시스템 통제, 동기화 실패 위험 없음</a:t>
            </a:r>
            <a:endParaRPr lang="en-US" sz="825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009C615-9151-16F6-C253-E5D7E684DE24}"/>
              </a:ext>
            </a:extLst>
          </p:cNvPr>
          <p:cNvSpPr/>
          <p:nvPr/>
        </p:nvSpPr>
        <p:spPr>
          <a:xfrm>
            <a:off x="582930" y="2687476"/>
            <a:ext cx="3634740" cy="377190"/>
          </a:xfrm>
          <a:prstGeom prst="rect">
            <a:avLst/>
          </a:prstGeom>
          <a:solidFill>
            <a:srgbClr val="C6F6D5">
              <a:alpha val="40000"/>
            </a:srgbClr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5C6B365-1C7D-0957-07C2-1E60F9457AB5}"/>
              </a:ext>
            </a:extLst>
          </p:cNvPr>
          <p:cNvSpPr/>
          <p:nvPr/>
        </p:nvSpPr>
        <p:spPr>
          <a:xfrm>
            <a:off x="685800" y="2687476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통제권</a:t>
            </a:r>
            <a:endParaRPr lang="en-US" sz="975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7BC13D6-7A1A-8645-112A-92D17785D936}"/>
              </a:ext>
            </a:extLst>
          </p:cNvPr>
          <p:cNvSpPr/>
          <p:nvPr/>
        </p:nvSpPr>
        <p:spPr>
          <a:xfrm>
            <a:off x="2091690" y="2687476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코드·재제출·큐 즉각 대응 가능</a:t>
            </a:r>
            <a:endParaRPr lang="en-US" sz="825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8EC6EB-FB9A-502B-1379-7F41C93B5BC1}"/>
              </a:ext>
            </a:extLst>
          </p:cNvPr>
          <p:cNvSpPr/>
          <p:nvPr/>
        </p:nvSpPr>
        <p:spPr>
          <a:xfrm>
            <a:off x="582930" y="3936998"/>
            <a:ext cx="3634740" cy="240030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B97BF38-7831-DD31-0019-10042C725FFE}"/>
              </a:ext>
            </a:extLst>
          </p:cNvPr>
          <p:cNvSpPr/>
          <p:nvPr/>
        </p:nvSpPr>
        <p:spPr>
          <a:xfrm>
            <a:off x="685800" y="3936998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</a:t>
            </a:r>
            <a:r>
              <a:rPr lang="en-US" sz="825" b="1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</a:t>
            </a:r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93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r>
              <a:rPr lang="en-US" altLang="ko-KR" sz="93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+2,000,000</a:t>
            </a:r>
            <a:r>
              <a:rPr lang="en-US" sz="93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</a:t>
            </a:r>
            <a:r>
              <a:rPr lang="en-US" sz="93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sz="825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 진행 </a:t>
            </a:r>
            <a:r>
              <a:rPr lang="en-US" sz="825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중인</a:t>
            </a:r>
            <a:r>
              <a:rPr lang="en-US" sz="825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25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 추가</a:t>
            </a:r>
            <a:r>
              <a:rPr lang="en-US" sz="825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825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B0CFFD9-E206-0856-96EA-9AFD27156002}"/>
              </a:ext>
            </a:extLst>
          </p:cNvPr>
          <p:cNvSpPr/>
          <p:nvPr/>
        </p:nvSpPr>
        <p:spPr>
          <a:xfrm>
            <a:off x="4663440" y="1342390"/>
            <a:ext cx="41148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55D4AB1-83A5-BF34-7F71-725EC57B4B6F}"/>
              </a:ext>
            </a:extLst>
          </p:cNvPr>
          <p:cNvSpPr/>
          <p:nvPr/>
        </p:nvSpPr>
        <p:spPr>
          <a:xfrm>
            <a:off x="4663440" y="970910"/>
            <a:ext cx="4114800" cy="37719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67D7CAA-D3DC-807A-1E89-CECB92FA35EE}"/>
              </a:ext>
            </a:extLst>
          </p:cNvPr>
          <p:cNvSpPr/>
          <p:nvPr/>
        </p:nvSpPr>
        <p:spPr>
          <a:xfrm>
            <a:off x="4903470" y="1060064"/>
            <a:ext cx="24003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NOT RECOMMENDED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F5810B1-8BD5-BCEC-750F-B67032D18C19}"/>
              </a:ext>
            </a:extLst>
          </p:cNvPr>
          <p:cNvSpPr/>
          <p:nvPr/>
        </p:nvSpPr>
        <p:spPr>
          <a:xfrm>
            <a:off x="7680960" y="103949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안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63D28F-FD0A-CAA8-FA69-9AB68D87A7D4}"/>
              </a:ext>
            </a:extLst>
          </p:cNvPr>
          <p:cNvSpPr/>
          <p:nvPr/>
        </p:nvSpPr>
        <p:spPr>
          <a:xfrm>
            <a:off x="4903470" y="1469544"/>
            <a:ext cx="3634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동수(중국) 분산 모델</a:t>
            </a:r>
            <a:endParaRPr lang="en-US" sz="16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3AE00F7-D096-DDA2-7EA3-4E369FB5EFAA}"/>
              </a:ext>
            </a:extLst>
          </p:cNvPr>
          <p:cNvSpPr/>
          <p:nvPr/>
        </p:nvSpPr>
        <p:spPr>
          <a:xfrm>
            <a:off x="4903470" y="1795933"/>
            <a:ext cx="3634740" cy="377190"/>
          </a:xfrm>
          <a:prstGeom prst="rect">
            <a:avLst/>
          </a:prstGeom>
          <a:solidFill>
            <a:srgbClr val="FED7D7">
              <a:alpha val="40000"/>
            </a:srgbClr>
          </a:solidFill>
          <a:ln/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EBFF671-6D7C-43E0-48A5-E102915C2CFF}"/>
              </a:ext>
            </a:extLst>
          </p:cNvPr>
          <p:cNvSpPr/>
          <p:nvPr/>
        </p:nvSpPr>
        <p:spPr>
          <a:xfrm>
            <a:off x="5006340" y="1795933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975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D3405C4-9919-C9C8-8C11-9B0936758B6B}"/>
              </a:ext>
            </a:extLst>
          </p:cNvPr>
          <p:cNvSpPr/>
          <p:nvPr/>
        </p:nvSpPr>
        <p:spPr>
          <a:xfrm>
            <a:off x="6412230" y="1795933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해외 이관 →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endParaRPr lang="en-US" sz="825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9A15616-2D79-7BBA-21A2-A7BDE2619709}"/>
              </a:ext>
            </a:extLst>
          </p:cNvPr>
          <p:cNvSpPr/>
          <p:nvPr/>
        </p:nvSpPr>
        <p:spPr>
          <a:xfrm>
            <a:off x="4903470" y="2241703"/>
            <a:ext cx="3634740" cy="377190"/>
          </a:xfrm>
          <a:prstGeom prst="rect">
            <a:avLst/>
          </a:prstGeom>
          <a:solidFill>
            <a:srgbClr val="FED7D7">
              <a:alpha val="40000"/>
            </a:srgbClr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EC4BD98-87D2-4E79-DD36-E1D20DD07412}"/>
              </a:ext>
            </a:extLst>
          </p:cNvPr>
          <p:cNvSpPr/>
          <p:nvPr/>
        </p:nvSpPr>
        <p:spPr>
          <a:xfrm>
            <a:off x="5006340" y="2241703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endParaRPr lang="en-US" sz="975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38A0620-6D57-920E-9B11-B90426567D7D}"/>
              </a:ext>
            </a:extLst>
          </p:cNvPr>
          <p:cNvSpPr/>
          <p:nvPr/>
        </p:nvSpPr>
        <p:spPr>
          <a:xfrm>
            <a:off x="6412230" y="2241703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국내↔해외 두 시스템 동기화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25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399D0B5-4EC3-7D32-8AA7-0A9A16480653}"/>
              </a:ext>
            </a:extLst>
          </p:cNvPr>
          <p:cNvSpPr/>
          <p:nvPr/>
        </p:nvSpPr>
        <p:spPr>
          <a:xfrm>
            <a:off x="4903470" y="2687473"/>
            <a:ext cx="3634740" cy="377190"/>
          </a:xfrm>
          <a:prstGeom prst="rect">
            <a:avLst/>
          </a:prstGeom>
          <a:solidFill>
            <a:srgbClr val="FED7D7">
              <a:alpha val="40000"/>
            </a:srgbClr>
          </a:solidFill>
          <a:ln/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502ABC7-FFB6-1DA4-3874-FA9BC9E3C75C}"/>
              </a:ext>
            </a:extLst>
          </p:cNvPr>
          <p:cNvSpPr/>
          <p:nvPr/>
        </p:nvSpPr>
        <p:spPr>
          <a:xfrm>
            <a:off x="5006340" y="2687473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통제권</a:t>
            </a:r>
            <a:endParaRPr lang="en-US" sz="975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994177E-D1A5-B4F1-1C38-882BD229CD0D}"/>
              </a:ext>
            </a:extLst>
          </p:cNvPr>
          <p:cNvSpPr/>
          <p:nvPr/>
        </p:nvSpPr>
        <p:spPr>
          <a:xfrm>
            <a:off x="6412230" y="2687473"/>
            <a:ext cx="21259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대응에 해외 서버 경유 필요, 속도 저하</a:t>
            </a:r>
            <a:endParaRPr lang="en-US" sz="825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74B05A5-D09B-2F7B-B385-1DCD5B41B3AB}"/>
              </a:ext>
            </a:extLst>
          </p:cNvPr>
          <p:cNvSpPr/>
          <p:nvPr/>
        </p:nvSpPr>
        <p:spPr>
          <a:xfrm>
            <a:off x="4903470" y="3936998"/>
            <a:ext cx="3634740" cy="240030"/>
          </a:xfrm>
          <a:prstGeom prst="rect">
            <a:avLst/>
          </a:prstGeom>
          <a:solidFill>
            <a:srgbClr val="FED7D7">
              <a:alpha val="50000"/>
            </a:srgbClr>
          </a:solidFill>
          <a:ln/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8A7D21D-C459-3E49-7CC4-9A8AB875F330}"/>
              </a:ext>
            </a:extLst>
          </p:cNvPr>
          <p:cNvSpPr/>
          <p:nvPr/>
        </p:nvSpPr>
        <p:spPr>
          <a:xfrm>
            <a:off x="5006340" y="3936998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</a:t>
            </a:r>
            <a:r>
              <a:rPr lang="en-US" sz="825" b="1" dirty="0" err="1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</a:t>
            </a:r>
            <a:r>
              <a:rPr lang="en-US" sz="825" b="1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ko-KR" altLang="en-US" sz="97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</a:rPr>
              <a:t>약 </a:t>
            </a:r>
            <a:r>
              <a:rPr lang="en-US" sz="97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</a:rPr>
              <a:t>+</a:t>
            </a:r>
            <a:r>
              <a:rPr lang="en-US" sz="975" b="1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4,000,000원</a:t>
            </a:r>
            <a:r>
              <a:rPr lang="en-US" sz="825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(중국 ERP 연동 필요)</a:t>
            </a:r>
            <a:endParaRPr lang="en-US" sz="825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8BF39E4-0460-7A0C-A607-DC70C9DBAC20}"/>
              </a:ext>
            </a:extLst>
          </p:cNvPr>
          <p:cNvSpPr/>
          <p:nvPr/>
        </p:nvSpPr>
        <p:spPr>
          <a:xfrm>
            <a:off x="342900" y="4507075"/>
            <a:ext cx="8435340" cy="287468"/>
          </a:xfrm>
          <a:prstGeom prst="rect">
            <a:avLst/>
          </a:prstGeom>
          <a:solidFill>
            <a:srgbClr val="EBF1F8"/>
          </a:solidFill>
          <a:ln/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6602F80-B979-2D1E-846A-41D049A9B9D8}"/>
              </a:ext>
            </a:extLst>
          </p:cNvPr>
          <p:cNvSpPr/>
          <p:nvPr/>
        </p:nvSpPr>
        <p:spPr>
          <a:xfrm>
            <a:off x="582930" y="4462780"/>
            <a:ext cx="80238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│  </a:t>
            </a:r>
            <a:r>
              <a:rPr lang="en-US" sz="105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B안은</a:t>
            </a: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통관 파트너쉽 프로세스 우위 이지만</a:t>
            </a:r>
            <a:r>
              <a:rPr lang="en-US" altLang="ko-KR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050" b="1" dirty="0" err="1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보안·평판</a:t>
            </a: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리스크를 떠안는 구조 →  </a:t>
            </a:r>
            <a:r>
              <a:rPr lang="en-US" sz="105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r>
              <a:rPr lang="en-US" sz="10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9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C20F97C4-F251-CBB3-81A0-3C90193E5F38}"/>
              </a:ext>
            </a:extLst>
          </p:cNvPr>
          <p:cNvSpPr/>
          <p:nvPr/>
        </p:nvSpPr>
        <p:spPr>
          <a:xfrm>
            <a:off x="685800" y="3412643"/>
            <a:ext cx="8915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75" dirty="0"/>
          </a:p>
        </p:txBody>
      </p:sp>
      <p:sp>
        <p:nvSpPr>
          <p:cNvPr id="14" name="Shape 24">
            <a:extLst>
              <a:ext uri="{FF2B5EF4-FFF2-40B4-BE49-F238E27FC236}">
                <a16:creationId xmlns:a16="http://schemas.microsoft.com/office/drawing/2014/main" id="{D9955293-3767-DDD0-DFB2-08607483BD4C}"/>
              </a:ext>
            </a:extLst>
          </p:cNvPr>
          <p:cNvSpPr/>
          <p:nvPr/>
        </p:nvSpPr>
        <p:spPr>
          <a:xfrm>
            <a:off x="582930" y="3178303"/>
            <a:ext cx="3636000" cy="611530"/>
          </a:xfrm>
          <a:prstGeom prst="rect">
            <a:avLst/>
          </a:prstGeom>
          <a:solidFill>
            <a:srgbClr val="FFF8E6"/>
          </a:solidFill>
          <a:ln w="12700">
            <a:solidFill>
              <a:srgbClr val="F0A000"/>
            </a:solidFill>
            <a:prstDash val="solid"/>
          </a:ln>
        </p:spPr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A87005ED-65F4-6D3A-8E1A-B9BEAC080EE5}"/>
              </a:ext>
            </a:extLst>
          </p:cNvPr>
          <p:cNvSpPr/>
          <p:nvPr/>
        </p:nvSpPr>
        <p:spPr>
          <a:xfrm>
            <a:off x="582930" y="3178303"/>
            <a:ext cx="3634740" cy="6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7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협조 필요사항</a:t>
            </a:r>
            <a:r>
              <a:rPr lang="en-US" sz="800" b="1" dirty="0">
                <a:solidFill>
                  <a:srgbClr val="C07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 창고 ERP 연동 협조 필수</a:t>
            </a:r>
            <a:endParaRPr lang="en-US" sz="800" dirty="0"/>
          </a:p>
          <a:p>
            <a:pPr marL="0" indent="0">
              <a:buNone/>
            </a:pP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송장번호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 API 를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협조가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800" dirty="0"/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F0F7C2E0-E022-D2B2-1551-E7E9139E215E}"/>
              </a:ext>
            </a:extLst>
          </p:cNvPr>
          <p:cNvSpPr/>
          <p:nvPr/>
        </p:nvSpPr>
        <p:spPr>
          <a:xfrm>
            <a:off x="4902210" y="3177833"/>
            <a:ext cx="3636000" cy="612000"/>
          </a:xfrm>
          <a:prstGeom prst="rect">
            <a:avLst/>
          </a:prstGeom>
          <a:solidFill>
            <a:srgbClr val="F0FFF0"/>
          </a:solidFill>
          <a:ln w="12700">
            <a:solidFill>
              <a:srgbClr val="44AA44"/>
            </a:solidFill>
            <a:prstDash val="solid"/>
          </a:ln>
        </p:spPr>
      </p:sp>
      <p:sp>
        <p:nvSpPr>
          <p:cNvPr id="42" name="Text 47">
            <a:extLst>
              <a:ext uri="{FF2B5EF4-FFF2-40B4-BE49-F238E27FC236}">
                <a16:creationId xmlns:a16="http://schemas.microsoft.com/office/drawing/2014/main" id="{47F5BACA-7E12-666F-1390-35C5BB0FFB19}"/>
              </a:ext>
            </a:extLst>
          </p:cNvPr>
          <p:cNvSpPr/>
          <p:nvPr/>
        </p:nvSpPr>
        <p:spPr>
          <a:xfrm>
            <a:off x="4902210" y="3178303"/>
            <a:ext cx="3658860" cy="611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</a:t>
            </a:r>
            <a:r>
              <a:rPr lang="en-US" sz="1000" b="1" dirty="0" err="1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r>
              <a:rPr lang="en-US" sz="800" b="1" dirty="0">
                <a:solidFill>
                  <a:srgbClr val="2D7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통관사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와의 검증된 협업 프로세스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운영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중인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↔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자이언트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라인의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실명성·안정성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r>
              <a:rPr lang="en-US" sz="8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9607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2">
            <a:extLst>
              <a:ext uri="{FF2B5EF4-FFF2-40B4-BE49-F238E27FC236}">
                <a16:creationId xmlns:a16="http://schemas.microsoft.com/office/drawing/2014/main" id="{8C99CE04-241D-404E-E385-574CA832B466}"/>
              </a:ext>
            </a:extLst>
          </p:cNvPr>
          <p:cNvSpPr/>
          <p:nvPr/>
        </p:nvSpPr>
        <p:spPr>
          <a:xfrm>
            <a:off x="342900" y="480060"/>
            <a:ext cx="352370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400" b="1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</a:rPr>
              <a:t>투자 </a:t>
            </a:r>
            <a:r>
              <a:rPr lang="ko-KR" alt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</a:rPr>
              <a:t>및 운영 비용</a:t>
            </a:r>
            <a:endParaRPr lang="en-US" sz="2400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E8110489-131F-6EBB-2602-0C293C255238}"/>
              </a:ext>
            </a:extLst>
          </p:cNvPr>
          <p:cNvSpPr/>
          <p:nvPr/>
        </p:nvSpPr>
        <p:spPr>
          <a:xfrm>
            <a:off x="365760" y="901827"/>
            <a:ext cx="53701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구축 초기 투자비 및 오픈 이후 예상 운영비</a:t>
            </a:r>
            <a:endParaRPr lang="en-US" sz="1050" dirty="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12788B7E-8863-B396-6120-8E7B83E059BD}"/>
              </a:ext>
            </a:extLst>
          </p:cNvPr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</a:rPr>
              <a:t>COST OVERVIEW</a:t>
            </a:r>
            <a:endParaRPr lang="en-US" sz="750" dirty="0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8F819975-28BB-B3E4-3FEC-F4E110475744}"/>
              </a:ext>
            </a:extLst>
          </p:cNvPr>
          <p:cNvSpPr/>
          <p:nvPr/>
        </p:nvSpPr>
        <p:spPr>
          <a:xfrm>
            <a:off x="420624" y="1298448"/>
            <a:ext cx="4041648" cy="2542032"/>
          </a:xfrm>
          <a:prstGeom prst="rect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D1FAE5">
                <a:alpha val="50000"/>
              </a:srgbClr>
            </a:solidFill>
            <a:prstDash val="solid"/>
          </a:ln>
        </p:spPr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CEBE8A35-AF4C-FEE2-AE93-057EB68B1991}"/>
              </a:ext>
            </a:extLst>
          </p:cNvPr>
          <p:cNvSpPr/>
          <p:nvPr/>
        </p:nvSpPr>
        <p:spPr>
          <a:xfrm>
            <a:off x="384048" y="1261872"/>
            <a:ext cx="4041648" cy="2542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9433E804-DB89-8DFD-9B5E-1C71D821F8BA}"/>
              </a:ext>
            </a:extLst>
          </p:cNvPr>
          <p:cNvSpPr/>
          <p:nvPr/>
        </p:nvSpPr>
        <p:spPr>
          <a:xfrm>
            <a:off x="384048" y="1261872"/>
            <a:ext cx="4041648" cy="502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7DB3C91B-25AF-8A94-34BB-98448FD61207}"/>
              </a:ext>
            </a:extLst>
          </p:cNvPr>
          <p:cNvSpPr/>
          <p:nvPr/>
        </p:nvSpPr>
        <p:spPr>
          <a:xfrm>
            <a:off x="384048" y="1312164"/>
            <a:ext cx="4041648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796771E7-11B1-122E-C1E0-F732A464B9F3}"/>
              </a:ext>
            </a:extLst>
          </p:cNvPr>
          <p:cNvSpPr/>
          <p:nvPr/>
        </p:nvSpPr>
        <p:spPr>
          <a:xfrm>
            <a:off x="585216" y="13533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INVESTMENT  01</a:t>
            </a:r>
            <a:endParaRPr lang="en-US" sz="750" dirty="0"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50CC5558-379E-F395-9508-FB19471D6F4F}"/>
              </a:ext>
            </a:extLst>
          </p:cNvPr>
          <p:cNvSpPr/>
          <p:nvPr/>
        </p:nvSpPr>
        <p:spPr>
          <a:xfrm>
            <a:off x="585216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구축비</a:t>
            </a:r>
            <a:endParaRPr lang="en-US" sz="1653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DED7341B-82FB-8DE3-61FF-64F25028F4F0}"/>
              </a:ext>
            </a:extLst>
          </p:cNvPr>
          <p:cNvSpPr/>
          <p:nvPr/>
        </p:nvSpPr>
        <p:spPr>
          <a:xfrm>
            <a:off x="585216" y="1956816"/>
            <a:ext cx="3639312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69830C63-5D7F-ED39-A949-C42E9C86999D}"/>
              </a:ext>
            </a:extLst>
          </p:cNvPr>
          <p:cNvSpPr/>
          <p:nvPr/>
        </p:nvSpPr>
        <p:spPr>
          <a:xfrm>
            <a:off x="548640" y="20116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17,013,815</a:t>
            </a:r>
            <a:endParaRPr lang="en-US" sz="3800" dirty="0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B67FDB00-E388-E6C7-E528-E6B7E396D04D}"/>
              </a:ext>
            </a:extLst>
          </p:cNvPr>
          <p:cNvSpPr/>
          <p:nvPr/>
        </p:nvSpPr>
        <p:spPr>
          <a:xfrm>
            <a:off x="3209544" y="2304289"/>
            <a:ext cx="1088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 (VAT 별도)</a:t>
            </a:r>
            <a:endParaRPr lang="en-US" sz="900" dirty="0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3A80634A-76EA-A563-29A8-60FA8598349F}"/>
              </a:ext>
            </a:extLst>
          </p:cNvPr>
          <p:cNvSpPr/>
          <p:nvPr/>
        </p:nvSpPr>
        <p:spPr>
          <a:xfrm>
            <a:off x="585216" y="26628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Geek Studio </a:t>
            </a: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· 기획 · 퍼블리싱 · API 연계 개발 (PER/TRA)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배치 로직 · 자이언트사 연계 포함</a:t>
            </a:r>
            <a:endParaRPr lang="en-US" sz="850" dirty="0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146F63ED-0914-BBBA-BF47-6212C7B03B82}"/>
              </a:ext>
            </a:extLst>
          </p:cNvPr>
          <p:cNvSpPr/>
          <p:nvPr/>
        </p:nvSpPr>
        <p:spPr>
          <a:xfrm>
            <a:off x="585216" y="3101756"/>
            <a:ext cx="3639312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A9BE85A0-02F5-ED6D-A597-E4E85605C384}"/>
              </a:ext>
            </a:extLst>
          </p:cNvPr>
          <p:cNvSpPr/>
          <p:nvPr/>
        </p:nvSpPr>
        <p:spPr>
          <a:xfrm>
            <a:off x="585216" y="3174908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퍼블리싱 · </a:t>
            </a: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en-US" sz="8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</a:t>
            </a:r>
            <a:endParaRPr lang="en-US" sz="800" dirty="0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46E3E523-6777-0CA4-58B9-C9AE65276068}"/>
              </a:ext>
            </a:extLst>
          </p:cNvPr>
          <p:cNvSpPr/>
          <p:nvPr/>
        </p:nvSpPr>
        <p:spPr>
          <a:xfrm>
            <a:off x="3538728" y="3174908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800" dirty="0"/>
          </a:p>
        </p:txBody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86B251D8-5B65-C2F1-4F56-5A02406FA3BE}"/>
              </a:ext>
            </a:extLst>
          </p:cNvPr>
          <p:cNvSpPr/>
          <p:nvPr/>
        </p:nvSpPr>
        <p:spPr>
          <a:xfrm>
            <a:off x="585216" y="3339500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배치 · 자이언트사 연계</a:t>
            </a:r>
            <a:endParaRPr lang="en-US" sz="800" dirty="0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FD0F2236-36EA-072F-B2A9-77AB00833429}"/>
              </a:ext>
            </a:extLst>
          </p:cNvPr>
          <p:cNvSpPr/>
          <p:nvPr/>
        </p:nvSpPr>
        <p:spPr>
          <a:xfrm>
            <a:off x="3538728" y="3339500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80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C596A2C3-C4AD-27F1-EF70-B81EB10C9875}"/>
              </a:ext>
            </a:extLst>
          </p:cNvPr>
          <p:cNvSpPr/>
          <p:nvPr/>
        </p:nvSpPr>
        <p:spPr>
          <a:xfrm>
            <a:off x="585216" y="3504092"/>
            <a:ext cx="2926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동수 </a:t>
            </a:r>
            <a:r>
              <a:rPr lang="en-US" altLang="ko-KR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연계</a:t>
            </a:r>
            <a:endParaRPr lang="en-US" sz="800" dirty="0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E8A7F0ED-110C-E418-C041-2D181830AAE3}"/>
              </a:ext>
            </a:extLst>
          </p:cNvPr>
          <p:cNvSpPr/>
          <p:nvPr/>
        </p:nvSpPr>
        <p:spPr>
          <a:xfrm>
            <a:off x="3538728" y="3504092"/>
            <a:ext cx="777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</a:rPr>
              <a:t>미포함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78" name="Shape 24">
            <a:extLst>
              <a:ext uri="{FF2B5EF4-FFF2-40B4-BE49-F238E27FC236}">
                <a16:creationId xmlns:a16="http://schemas.microsoft.com/office/drawing/2014/main" id="{BB004226-DE7A-0D88-87F2-6102F4864AF0}"/>
              </a:ext>
            </a:extLst>
          </p:cNvPr>
          <p:cNvSpPr/>
          <p:nvPr/>
        </p:nvSpPr>
        <p:spPr>
          <a:xfrm>
            <a:off x="4754880" y="1298448"/>
            <a:ext cx="4041648" cy="2542032"/>
          </a:xfrm>
          <a:prstGeom prst="rect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D1FAE5">
                <a:alpha val="50000"/>
              </a:srgbClr>
            </a:solidFill>
            <a:prstDash val="solid"/>
          </a:ln>
        </p:spPr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3DE0343C-6D1E-0DB4-0825-01904C3AAD30}"/>
              </a:ext>
            </a:extLst>
          </p:cNvPr>
          <p:cNvSpPr/>
          <p:nvPr/>
        </p:nvSpPr>
        <p:spPr>
          <a:xfrm>
            <a:off x="4718304" y="1261872"/>
            <a:ext cx="4041648" cy="2542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0" name="Shape 26">
            <a:extLst>
              <a:ext uri="{FF2B5EF4-FFF2-40B4-BE49-F238E27FC236}">
                <a16:creationId xmlns:a16="http://schemas.microsoft.com/office/drawing/2014/main" id="{65A07F3A-99BC-B4D4-97F7-C5DD2B37A754}"/>
              </a:ext>
            </a:extLst>
          </p:cNvPr>
          <p:cNvSpPr/>
          <p:nvPr/>
        </p:nvSpPr>
        <p:spPr>
          <a:xfrm>
            <a:off x="4718304" y="1261872"/>
            <a:ext cx="4041648" cy="502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1" name="Shape 27">
            <a:extLst>
              <a:ext uri="{FF2B5EF4-FFF2-40B4-BE49-F238E27FC236}">
                <a16:creationId xmlns:a16="http://schemas.microsoft.com/office/drawing/2014/main" id="{469FD51A-F7BD-61CD-1C3D-FED02D42AF25}"/>
              </a:ext>
            </a:extLst>
          </p:cNvPr>
          <p:cNvSpPr/>
          <p:nvPr/>
        </p:nvSpPr>
        <p:spPr>
          <a:xfrm>
            <a:off x="4718304" y="1312164"/>
            <a:ext cx="4041648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4EB6B916-583F-05C0-B23E-28F2044A2EFA}"/>
              </a:ext>
            </a:extLst>
          </p:cNvPr>
          <p:cNvSpPr/>
          <p:nvPr/>
        </p:nvSpPr>
        <p:spPr>
          <a:xfrm>
            <a:off x="4919472" y="13533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 02</a:t>
            </a:r>
            <a:endParaRPr lang="en-US" sz="750" dirty="0"/>
          </a:p>
        </p:txBody>
      </p:sp>
      <p:sp>
        <p:nvSpPr>
          <p:cNvPr id="83" name="Text 29">
            <a:extLst>
              <a:ext uri="{FF2B5EF4-FFF2-40B4-BE49-F238E27FC236}">
                <a16:creationId xmlns:a16="http://schemas.microsoft.com/office/drawing/2014/main" id="{348BB3A4-E556-973E-CF8B-691927D96AF0}"/>
              </a:ext>
            </a:extLst>
          </p:cNvPr>
          <p:cNvSpPr/>
          <p:nvPr/>
        </p:nvSpPr>
        <p:spPr>
          <a:xfrm>
            <a:off x="4919472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sz="1653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운영비</a:t>
            </a:r>
            <a:r>
              <a:rPr lang="en-US" sz="165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(CI </a:t>
            </a:r>
            <a:r>
              <a:rPr lang="en-US" altLang="ko-KR" sz="1600" dirty="0"/>
              <a:t>· </a:t>
            </a:r>
            <a:r>
              <a:rPr lang="en-US" sz="1653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 인증)</a:t>
            </a:r>
            <a:endParaRPr lang="en-US" sz="1653" dirty="0"/>
          </a:p>
        </p:txBody>
      </p:sp>
      <p:sp>
        <p:nvSpPr>
          <p:cNvPr id="84" name="Shape 30">
            <a:extLst>
              <a:ext uri="{FF2B5EF4-FFF2-40B4-BE49-F238E27FC236}">
                <a16:creationId xmlns:a16="http://schemas.microsoft.com/office/drawing/2014/main" id="{7CE1FB1B-179E-133A-2DEA-66A98A3340D3}"/>
              </a:ext>
            </a:extLst>
          </p:cNvPr>
          <p:cNvSpPr/>
          <p:nvPr/>
        </p:nvSpPr>
        <p:spPr>
          <a:xfrm>
            <a:off x="4919472" y="1956816"/>
            <a:ext cx="3639312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85" name="Text 31">
            <a:extLst>
              <a:ext uri="{FF2B5EF4-FFF2-40B4-BE49-F238E27FC236}">
                <a16:creationId xmlns:a16="http://schemas.microsoft.com/office/drawing/2014/main" id="{083F9BBC-FFC0-108D-838A-616604590E40}"/>
              </a:ext>
            </a:extLst>
          </p:cNvPr>
          <p:cNvSpPr/>
          <p:nvPr/>
        </p:nvSpPr>
        <p:spPr>
          <a:xfrm>
            <a:off x="4846320" y="20116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150,000</a:t>
            </a:r>
            <a:endParaRPr lang="en-US" sz="3800" dirty="0"/>
          </a:p>
        </p:txBody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90F99CBC-C8C0-83E5-52BF-F05D40BF125F}"/>
              </a:ext>
            </a:extLst>
          </p:cNvPr>
          <p:cNvSpPr/>
          <p:nvPr/>
        </p:nvSpPr>
        <p:spPr>
          <a:xfrm>
            <a:off x="6788404" y="2311799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 / 월  (추정치 · 아래 산출 기준)</a:t>
            </a:r>
            <a:endParaRPr lang="en-US" sz="900" dirty="0"/>
          </a:p>
        </p:txBody>
      </p:sp>
      <p:sp>
        <p:nvSpPr>
          <p:cNvPr id="87" name="Text 33">
            <a:extLst>
              <a:ext uri="{FF2B5EF4-FFF2-40B4-BE49-F238E27FC236}">
                <a16:creationId xmlns:a16="http://schemas.microsoft.com/office/drawing/2014/main" id="{E837E4F9-2AD5-F0ED-C902-DADA989FB48C}"/>
              </a:ext>
            </a:extLst>
          </p:cNvPr>
          <p:cNvSpPr/>
          <p:nvPr/>
        </p:nvSpPr>
        <p:spPr>
          <a:xfrm>
            <a:off x="4919472" y="26628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개인통관부호 </a:t>
            </a:r>
            <a:r>
              <a:rPr lang="en-US" sz="8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유효성</a:t>
            </a: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중계기관 이용료</a:t>
            </a:r>
            <a:r>
              <a:rPr lang="en-US" sz="8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
</a:t>
            </a:r>
            <a:r>
              <a:rPr lang="ko-KR" altLang="en-US" sz="8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선정 및 접촉 중</a:t>
            </a:r>
            <a:endParaRPr lang="en-US" sz="850" dirty="0">
              <a:solidFill>
                <a:srgbClr val="FF0000"/>
              </a:solidFill>
            </a:endParaRPr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E4B44FAB-2683-6DAC-0489-C8B9F6F722D8}"/>
              </a:ext>
            </a:extLst>
          </p:cNvPr>
          <p:cNvSpPr/>
          <p:nvPr/>
        </p:nvSpPr>
        <p:spPr>
          <a:xfrm>
            <a:off x="4919472" y="3101756"/>
            <a:ext cx="3639312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89" name="Text 35">
            <a:extLst>
              <a:ext uri="{FF2B5EF4-FFF2-40B4-BE49-F238E27FC236}">
                <a16:creationId xmlns:a16="http://schemas.microsoft.com/office/drawing/2014/main" id="{A2BBC99D-BA2A-7956-EFCF-346C0BB5AC66}"/>
              </a:ext>
            </a:extLst>
          </p:cNvPr>
          <p:cNvSpPr/>
          <p:nvPr/>
        </p:nvSpPr>
        <p:spPr>
          <a:xfrm>
            <a:off x="4919472" y="3174908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단가  (시장 평균)</a:t>
            </a:r>
            <a:endParaRPr lang="en-US" sz="800" dirty="0"/>
          </a:p>
        </p:txBody>
      </p:sp>
      <p:sp>
        <p:nvSpPr>
          <p:cNvPr id="90" name="Text 36">
            <a:extLst>
              <a:ext uri="{FF2B5EF4-FFF2-40B4-BE49-F238E27FC236}">
                <a16:creationId xmlns:a16="http://schemas.microsoft.com/office/drawing/2014/main" id="{D3D77C29-EFFC-16FB-762A-9461637E4FDD}"/>
              </a:ext>
            </a:extLst>
          </p:cNvPr>
          <p:cNvSpPr/>
          <p:nvPr/>
        </p:nvSpPr>
        <p:spPr>
          <a:xfrm>
            <a:off x="7552944" y="3174908"/>
            <a:ext cx="1097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50원</a:t>
            </a:r>
            <a:endParaRPr lang="en-US" sz="800" dirty="0"/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6EA2C1E4-9470-042B-DE6C-7749AF2A8349}"/>
              </a:ext>
            </a:extLst>
          </p:cNvPr>
          <p:cNvSpPr/>
          <p:nvPr/>
        </p:nvSpPr>
        <p:spPr>
          <a:xfrm>
            <a:off x="4919472" y="3339500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예상 </a:t>
            </a:r>
            <a:r>
              <a:rPr lang="en-US" sz="8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</a:t>
            </a: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</a:t>
            </a:r>
            <a:r>
              <a:rPr lang="en-US" altLang="ko-KR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개월 평균 </a:t>
            </a:r>
            <a:r>
              <a:rPr lang="ko-KR" altLang="en-US" sz="8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백단위</a:t>
            </a:r>
            <a:r>
              <a:rPr lang="ko-KR" alt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올림</a:t>
            </a: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800" dirty="0"/>
          </a:p>
        </p:txBody>
      </p:sp>
      <p:sp>
        <p:nvSpPr>
          <p:cNvPr id="92" name="Text 38">
            <a:extLst>
              <a:ext uri="{FF2B5EF4-FFF2-40B4-BE49-F238E27FC236}">
                <a16:creationId xmlns:a16="http://schemas.microsoft.com/office/drawing/2014/main" id="{79BF71D3-6CA4-AB70-C992-DE07D20A44B6}"/>
              </a:ext>
            </a:extLst>
          </p:cNvPr>
          <p:cNvSpPr/>
          <p:nvPr/>
        </p:nvSpPr>
        <p:spPr>
          <a:xfrm>
            <a:off x="7552944" y="3339500"/>
            <a:ext cx="1097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3,000건</a:t>
            </a:r>
            <a:endParaRPr lang="en-US" sz="800" dirty="0"/>
          </a:p>
        </p:txBody>
      </p:sp>
      <p:sp>
        <p:nvSpPr>
          <p:cNvPr id="93" name="Shape 39">
            <a:extLst>
              <a:ext uri="{FF2B5EF4-FFF2-40B4-BE49-F238E27FC236}">
                <a16:creationId xmlns:a16="http://schemas.microsoft.com/office/drawing/2014/main" id="{935D0700-6CF8-4E99-CAB7-6F2F72528A7A}"/>
              </a:ext>
            </a:extLst>
          </p:cNvPr>
          <p:cNvSpPr/>
          <p:nvPr/>
        </p:nvSpPr>
        <p:spPr>
          <a:xfrm>
            <a:off x="4882896" y="3494948"/>
            <a:ext cx="3712464" cy="173736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94" name="Text 40">
            <a:extLst>
              <a:ext uri="{FF2B5EF4-FFF2-40B4-BE49-F238E27FC236}">
                <a16:creationId xmlns:a16="http://schemas.microsoft.com/office/drawing/2014/main" id="{501CECDD-0704-8B1F-B439-A1D55CE2B532}"/>
              </a:ext>
            </a:extLst>
          </p:cNvPr>
          <p:cNvSpPr/>
          <p:nvPr/>
        </p:nvSpPr>
        <p:spPr>
          <a:xfrm>
            <a:off x="4919472" y="3504092"/>
            <a:ext cx="2560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예상 </a:t>
            </a:r>
            <a:r>
              <a:rPr lang="en-US" sz="800" b="1" dirty="0" err="1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(3,000건 × 50원)</a:t>
            </a:r>
            <a:endParaRPr lang="en-US" sz="800" dirty="0"/>
          </a:p>
        </p:txBody>
      </p:sp>
      <p:sp>
        <p:nvSpPr>
          <p:cNvPr id="95" name="Text 41">
            <a:extLst>
              <a:ext uri="{FF2B5EF4-FFF2-40B4-BE49-F238E27FC236}">
                <a16:creationId xmlns:a16="http://schemas.microsoft.com/office/drawing/2014/main" id="{7133CC42-BA30-441E-5191-21560729C780}"/>
              </a:ext>
            </a:extLst>
          </p:cNvPr>
          <p:cNvSpPr/>
          <p:nvPr/>
        </p:nvSpPr>
        <p:spPr>
          <a:xfrm>
            <a:off x="7552944" y="3504092"/>
            <a:ext cx="10972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150,000원</a:t>
            </a:r>
            <a:endParaRPr lang="en-US" sz="800" dirty="0"/>
          </a:p>
        </p:txBody>
      </p:sp>
      <p:sp>
        <p:nvSpPr>
          <p:cNvPr id="96" name="Shape 42">
            <a:extLst>
              <a:ext uri="{FF2B5EF4-FFF2-40B4-BE49-F238E27FC236}">
                <a16:creationId xmlns:a16="http://schemas.microsoft.com/office/drawing/2014/main" id="{10A96AFB-FF69-8AE4-48CA-42BF92F8BBFD}"/>
              </a:ext>
            </a:extLst>
          </p:cNvPr>
          <p:cNvSpPr/>
          <p:nvPr/>
        </p:nvSpPr>
        <p:spPr>
          <a:xfrm>
            <a:off x="384048" y="3931920"/>
            <a:ext cx="8375904" cy="749808"/>
          </a:xfrm>
          <a:prstGeom prst="rect">
            <a:avLst/>
          </a:prstGeom>
          <a:solidFill>
            <a:srgbClr val="EBF1F8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8" name="Text 44">
            <a:extLst>
              <a:ext uri="{FF2B5EF4-FFF2-40B4-BE49-F238E27FC236}">
                <a16:creationId xmlns:a16="http://schemas.microsoft.com/office/drawing/2014/main" id="{4C3E72B6-793C-0787-52CD-5E7A170B09DD}"/>
              </a:ext>
            </a:extLst>
          </p:cNvPr>
          <p:cNvSpPr/>
          <p:nvPr/>
        </p:nvSpPr>
        <p:spPr>
          <a:xfrm>
            <a:off x="482021" y="40497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요약</a:t>
            </a:r>
            <a:endParaRPr lang="en-US" sz="1050" dirty="0"/>
          </a:p>
        </p:txBody>
      </p:sp>
      <p:sp>
        <p:nvSpPr>
          <p:cNvPr id="99" name="Text 45">
            <a:extLst>
              <a:ext uri="{FF2B5EF4-FFF2-40B4-BE49-F238E27FC236}">
                <a16:creationId xmlns:a16="http://schemas.microsoft.com/office/drawing/2014/main" id="{53552E70-EA4B-30F3-F959-EB9EC80B6BA0}"/>
              </a:ext>
            </a:extLst>
          </p:cNvPr>
          <p:cNvSpPr/>
          <p:nvPr/>
        </p:nvSpPr>
        <p:spPr>
          <a:xfrm>
            <a:off x="482021" y="42762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구축비 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17,013,815원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</a:t>
            </a:r>
            <a:r>
              <a:rPr lang="ko-KR" altLang="en-US" sz="95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뉴트리시아</a:t>
            </a:r>
            <a:r>
              <a:rPr lang="ko-KR" alt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청구 협의 완료</a:t>
            </a:r>
            <a:r>
              <a:rPr lang="en-US" altLang="ko-KR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|    월 </a:t>
            </a:r>
            <a:r>
              <a:rPr lang="en-US" sz="95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운영비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150,000원 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월 (</a:t>
            </a:r>
            <a:r>
              <a:rPr lang="ko-KR" alt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</a:t>
            </a:r>
            <a:r>
              <a:rPr lang="ko-KR" altLang="en-US" sz="95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책임사</a:t>
            </a:r>
            <a:r>
              <a:rPr lang="ko-KR" alt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협의 필요</a:t>
            </a:r>
            <a:r>
              <a:rPr lang="en-US" sz="9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95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92140" y="2400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b="1" kern="0" spc="150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900" y="480060"/>
            <a:ext cx="84353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및 마일스톤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2900" y="960120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테스트 완료 — </a:t>
            </a:r>
            <a:r>
              <a:rPr lang="en-US" sz="1050" b="1" dirty="0" err="1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r>
              <a:rPr lang="en-US" sz="1050" b="1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D-99</a:t>
            </a:r>
            <a:r>
              <a:rPr 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오픈에 맞춰 준비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029968"/>
            <a:ext cx="7749540" cy="5486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1" y="2029968"/>
            <a:ext cx="1394918" cy="54864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8" name="Shape 6"/>
          <p:cNvSpPr/>
          <p:nvPr/>
        </p:nvSpPr>
        <p:spPr>
          <a:xfrm>
            <a:off x="1086993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2F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8715" y="1995678"/>
            <a:ext cx="123444" cy="123444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593217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04.13~24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6057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자율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0377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2F8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종료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2636901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2C52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8623" y="1995678"/>
            <a:ext cx="123444" cy="123444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2143125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05.11~15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005965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통합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0285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3954323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2C52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0547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05.15~22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323387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자율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97707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5194250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2C5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5972" y="1995678"/>
            <a:ext cx="123444" cy="123444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474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06.04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563314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등록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발급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37634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6511671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7895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07월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880735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55055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718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8061579" y="1933956"/>
            <a:ext cx="246888" cy="246888"/>
          </a:xfrm>
          <a:prstGeom prst="ellipse">
            <a:avLst/>
          </a:prstGeom>
          <a:solidFill>
            <a:srgbClr val="FAFAFA"/>
          </a:solidFill>
          <a:ln w="31750">
            <a:solidFill>
              <a:srgbClr val="C53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3301" y="1995678"/>
            <a:ext cx="123444" cy="123444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3" name="Text 31"/>
          <p:cNvSpPr/>
          <p:nvPr/>
        </p:nvSpPr>
        <p:spPr>
          <a:xfrm>
            <a:off x="7567803" y="1474470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08.15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430643" y="2263140"/>
            <a:ext cx="1508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오픈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04963" y="274320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150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LIVE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2211020" y="1748790"/>
            <a:ext cx="13716" cy="27432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7" name="Text 35"/>
          <p:cNvSpPr/>
          <p:nvPr/>
        </p:nvSpPr>
        <p:spPr>
          <a:xfrm>
            <a:off x="1943558" y="161163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kern="0" spc="225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342900" y="3449320"/>
            <a:ext cx="2743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" y="3449320"/>
            <a:ext cx="2743200" cy="411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" y="358648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2C52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60" y="37922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5/22 통합 테스트 종료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" y="4100830"/>
            <a:ext cx="2468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전체 </a:t>
            </a:r>
            <a:r>
              <a:rPr lang="en-US" altLang="ko-KR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테스트를 위한 최종 프로토타입 개발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3188970" y="3449320"/>
            <a:ext cx="2743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88970" y="3449320"/>
            <a:ext cx="2743200" cy="4114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45" name="Text 43"/>
          <p:cNvSpPr/>
          <p:nvPr/>
        </p:nvSpPr>
        <p:spPr>
          <a:xfrm>
            <a:off x="3326130" y="358648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C056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26130" y="37922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6/4 운영 토큰 확보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26130" y="4100830"/>
            <a:ext cx="2468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확보 후 정식 </a:t>
            </a:r>
            <a:r>
              <a:rPr lang="en-US" altLang="ko-KR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</a:t>
            </a:r>
            <a:r>
              <a:rPr lang="ko-KR" alt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테스트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6035040" y="3449320"/>
            <a:ext cx="27432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449320"/>
            <a:ext cx="2743200" cy="411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0" name="Text 48"/>
          <p:cNvSpPr/>
          <p:nvPr/>
        </p:nvSpPr>
        <p:spPr>
          <a:xfrm>
            <a:off x="6172200" y="358648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C53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 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72200" y="37922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2B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8/15 정부 정식 시행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72200" y="4100830"/>
            <a:ext cx="24688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미준비 시 통관 거부·전수검사 즉시 </a:t>
            </a:r>
            <a:r>
              <a:rPr lang="en-US" sz="825" dirty="0" err="1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</a:t>
            </a:r>
            <a:r>
              <a:rPr lang="en-US" sz="825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1322</Words>
  <Application>Microsoft Office PowerPoint</Application>
  <PresentationFormat>화면 슬라이드 쇼(16:9)</PresentationFormat>
  <Paragraphs>297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SF Pro Display</vt:lpstr>
      <vt:lpstr>SF Pro Text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관세청 전자상거래 통관플랫폼 연동 — 경영진 브리핑</dc:title>
  <dc:subject>PptxGenJS Presentation</dc:subject>
  <dc:creator>PptxGenJS</dc:creator>
  <cp:lastModifiedBy>admin</cp:lastModifiedBy>
  <cp:revision>45</cp:revision>
  <dcterms:created xsi:type="dcterms:W3CDTF">2026-05-06T05:54:15Z</dcterms:created>
  <dcterms:modified xsi:type="dcterms:W3CDTF">2026-05-08T02:53:08Z</dcterms:modified>
</cp:coreProperties>
</file>