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크로네 · 뉴트리시아몰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6916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39572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통관플랫폼 연동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3291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완료 보고 및 오픈 전 잔여 과제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0749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53309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24일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11880" y="50749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오픈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53309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28일 09:00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50749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버전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6520" y="53309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v5.0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5330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· 박종혁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순서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결과, 운영 변화, 잔여 과제, 비용의 네 부분으로 구성한다.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3153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01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요약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5856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전체 진행 현황 및 판단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08776" y="1600200"/>
            <a:ext cx="543153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3096" y="1801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68896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변화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68896" y="225856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정책 변경 사항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일일 운영 절차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데이터 소유 경계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CS 대응 변화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신규 관리자 기능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3153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044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9227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과제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36168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오픈 차단 리스크 P0 10건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대응 계획 및 회신 마감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3703320"/>
            <a:ext cx="543153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39044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68896" y="39227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· 일정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68896" y="436168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 구축 비용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 운영 비용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 남은 일정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현황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진행 현황 및 판단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개발은 완료 단계이며, 잔여 과제는 4사 간 규제·계약 문서의 확정이다.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2638044" cy="1188720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1214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오픈까지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359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2026.08.28 09:00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0420" y="1536192"/>
            <a:ext cx="2638044" cy="1188720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1588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10건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1588" y="21214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차단 리스크 P0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1588" y="2359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전량 계약·규제 항목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536192"/>
            <a:ext cx="2638044" cy="1188720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16건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73368" y="21214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전 정리 필요 P1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73368" y="2359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구현·운영 절차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83980" y="1536192"/>
            <a:ext cx="2638044" cy="1188720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5148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43,500,000원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85148" y="21214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1년차 총비용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85148" y="2359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VAT 별도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99232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616952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개발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PER001 실시간 검증 · TRA001/TRA003 배치 · 주문상태 p1→g1→g5 · 자이언트 통관정보 쓰기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6E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 · 유형 확정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29개 채널 판매주체·제출자 유형 마스터 · 플랫폼 주문 PCCC 취득 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47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협력사 계약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동수 신고 단품·HBL 매핑 · 자이언트 분리 쓰기 및 병합 규격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47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구축 39,500,000원(1차 계약 + 2차 견적) · NICE 운영 연 4,000,000원 견적 접수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6E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705856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570585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55648" y="570585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가부는 2026-08-26 24:00까지 관세청·자이언트·동수·플랫폼 4사의 서면 회신 확보 여부로 결정한다.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정책 변경 사항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TO-BE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오픈과 함께 고객 결제, 주문 취소, 신고 시점의 운영 기준이 변경된다.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206240"/>
                <a:gridCol w="519379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AS-IS  (현행)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 (2026.08.28~)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개인통관고유부호 미검증 상태로 결제 완료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PER001 실시간 검증 통과 건만 결제 완료. 불일치 시 결제 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취소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 시작 전까지 상시 취소·변경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g1(상품준비중) 전환 이후 취소·환불·주소변경 차단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신고 시점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출고 후 목록통관 신고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10~11시 사전 신고, 승인 건만 13:00 출고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오류 주문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수기 개별 처리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 원복 후 재처리. 거래실패리스트 적재 및 CS팀 일일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미갱신 부호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Z99999 허용코드 사용. 2026-09-14 24:00 계도기간 종료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53949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영향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55648" y="53949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이탈, 취소 불가 문의, 통관 이상 코드 안내가 신규 CS 업무로 추가된다. 관련 응대 기준은 07쪽에 정리했다.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일일 운영 절차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배치 및 통제 지점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시점 실시간 검증과 09:00~18:00 배치 8단계로 운영한다.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3075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PER001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 검증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40357" y="1572768"/>
            <a:ext cx="13075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0357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40357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40357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수집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g1 전환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2074" y="1572768"/>
            <a:ext cx="13075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2074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10~11시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2074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2074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역수집 후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TRA001 제출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23790" y="1572768"/>
            <a:ext cx="13075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3790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11:40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23790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3790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TRA003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조회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15507" y="1572768"/>
            <a:ext cx="1307592" cy="1481328"/>
          </a:xfrm>
          <a:prstGeom prst="rect">
            <a:avLst/>
          </a:prstGeom>
          <a:solidFill>
            <a:srgbClr val="FAEEEA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5507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11:50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15507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15507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승인·실패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처리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07224" y="1572768"/>
            <a:ext cx="13075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12:00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07224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07224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반영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98941" y="1572768"/>
            <a:ext cx="13075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98941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13:00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98941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98941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부착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290658" y="1572768"/>
            <a:ext cx="13075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0658" y="17007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17~18시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90658" y="199339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290658" y="22677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MAWB 전송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수입신고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통제 지점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3675888"/>
            <a:ext cx="357530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3822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11:50 → 12:00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8096" y="4133088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건 삭제 통보부터 동수 취소 반영 마감까지 여유가 10분이다. 창고 작업 착수 이후에는 삭제 API가 Fail을 반환하며 유선 처리가 필요하다.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06824" y="3675888"/>
            <a:ext cx="357530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3822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HBL 일괄 반환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26280" y="4133088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주문의 모든 포장에 HBL이 할당되기 전까지 HBL_WAITING 상태를 유지하고 부분 제출을 금지한다. 값/null 혼재 응답은 격리 대상이다.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65008" y="3675888"/>
            <a:ext cx="357530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84464" y="3822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AUT001 접근토큰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84464" y="4133088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만료, 계정당 최대 3개 발급. 선갱신에 실패하면 당일 TRA 배치가 중단된다.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394960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53949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755648" y="53949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창고 작업 착수 시각을 확인해 11:50 판정 시각이 안전한지 검증하고, 불가할 경우 TRA003 조회 시각을 앞당긴다.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데이터 소유 경계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4사 데이터 소유 및 책임 범위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HBL에 4개 주체가 각자의 필드를 기록한다.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6380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2638044" cy="749808"/>
          </a:xfrm>
          <a:prstGeom prst="rect">
            <a:avLst/>
          </a:prstGeom>
          <a:solidFill>
            <a:srgbClr val="0F2544"/>
          </a:solidFill>
          <a:ln w="9525">
            <a:solidFill>
              <a:srgbClr val="0F2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82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 자사몰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956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· 수하인 · 통관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2432304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PER001/002/003 인증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AUT001 접근토큰 발급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pccCode · tempAuthNo 전달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TRA001 / TRA003 제출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고도몰 송장·주문상태 갱신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0420" y="1572768"/>
            <a:ext cx="26380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0420" y="1572768"/>
            <a:ext cx="2638044" cy="749808"/>
          </a:xfrm>
          <a:prstGeom prst="rect">
            <a:avLst/>
          </a:prstGeom>
          <a:solidFill>
            <a:srgbClr val="0F2544"/>
          </a:solidFill>
          <a:ln w="9525">
            <a:solidFill>
              <a:srgbClr val="0F2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1588" y="1682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EIBE ERP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1588" y="1956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· 상품 · 물류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1588" y="2432304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고도몰 주문 수집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HBL 채번 및 일괄 반환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수하인 성명·주소·연락처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단품 · HS코드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 · 포장 · 송하인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572768"/>
            <a:ext cx="26380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572768"/>
            <a:ext cx="2638044" cy="749808"/>
          </a:xfrm>
          <a:prstGeom prst="rect">
            <a:avLst/>
          </a:prstGeom>
          <a:solidFill>
            <a:srgbClr val="0F2544"/>
          </a:solidFill>
          <a:ln w="9525">
            <a:solidFill>
              <a:srgbClr val="0F25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682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GGATE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1956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병합 · 세관 제출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73368" y="2432304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HWB 등록 · 검색 · 수정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Geek·동수 데이터 병합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DKW / DKX 세관 제출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화물 진행 상태 조회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이상 코드 회신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83980" y="1572768"/>
            <a:ext cx="26380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3980" y="1572768"/>
            <a:ext cx="2638044" cy="749808"/>
          </a:xfrm>
          <a:prstGeom prst="rect">
            <a:avLst/>
          </a:prstGeom>
          <a:solidFill>
            <a:srgbClr val="0F2544"/>
          </a:solidFill>
          <a:ln w="9525">
            <a:solidFill>
              <a:srgbClr val="0F2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5148" y="1682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· NICE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5148" y="1956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· 수리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85148" y="2432304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개인통관고유부호 검증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TRA001 사전 신고 접수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TRA003 오류 내역 회신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수입신고 수리</a:t>
            </a:r>
            <a:endParaRPr lang="en-US" sz="10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계도기간 코드 운영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23036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미확정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55648" y="523036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Geek과 동수가 같은 hwbNo에 각각 기록하는 구조이며, 분리 쓰기 endpoint·도착 순서·멱등 upsert·FINAL 상태가 계약으로 확정되지 않았다. (P0)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CS 대응 변화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이상 코드 및 신규 CS 업무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입출항 검색 응답의 통관 이상 코드가 CS 큐로 유입된다.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이상 코드 (gngMsgCode)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5852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상이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증빙 서류 요청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개인통관부호 상이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재확인 및 부호 재입력 안내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세금 발생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관세 · 부가세 납부 안내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 보완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 증빙 요청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통관 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환불 검토 및 반송 처리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20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CS 업무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20840" y="1883664"/>
            <a:ext cx="49194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22008" y="19476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차단 응대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22008" y="2203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PER001 실패 시 부호·명의·전화번호 불일치 안내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2660904"/>
            <a:ext cx="49194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22008" y="2724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재발송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22008" y="29809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PCCC 오류 건 고객 재인증 유도 (문자 발송 기능은 P2)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20840" y="3438144"/>
            <a:ext cx="49194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2008" y="3502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실패리스트 일일 확인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22008" y="37581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거래실패리스트를 매일 확인해 오류 값 보정. 재시도 상한 없음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20840" y="4215384"/>
            <a:ext cx="49194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22008" y="4279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불가 안내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922008" y="4535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 전환 이후 마이페이지 취소 차단에 따른 문의 응대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5230368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23036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미확정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755648" y="523036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코드별 자동 안내 문구, 조회 배치 주기, 응대 SLA가 확정되지 않았다. 오픈 전 확정하지 않으면 문의가 전부 수기 대응으로 처리된다. (P1)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신규 관리자 기능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오픈과 함께 추가되는 화면 및 알림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운영팀에 6개 기능이 추가되며, 이 중 2건은 매일 확인이 필요하다.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357530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7922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실패리스트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212848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사유 · 최초 실패일 · 재시도 세대를 표출한다. CS팀 일일 보정 대상이다.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90779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확인 필요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06824" y="1609344"/>
            <a:ext cx="357530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5192" y="17922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통관조회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212848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상세에서 자이언트 화물 진행 상태를 즉시 조회한다.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609344"/>
            <a:ext cx="357530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23376" y="17922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이상 CS 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2212848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gngMsgCode와 pccError를 저장하고 코드별 응대 큐를 자동 생성한다.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02752" y="290779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확인 필요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357530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07008" y="3639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HBL 상태 관리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4059936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HBL_WAITING → HBL_READY → TRA_SENT 전이 및 격리 상태를 표시한다.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6824" y="3456432"/>
            <a:ext cx="357530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65192" y="3639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위반 격리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44568" y="4059936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HBL 값/null 혼재 응답을 CONTRACT_ERROR로 격리하고 제출을 차단한다.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65008" y="3456432"/>
            <a:ext cx="357530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23376" y="3639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알림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02752" y="4059936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API Fail, 토큰 갱신 실패, 자이언트 전송 실패를 즉시 통보한다.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468112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46811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전제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55648" y="546811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상한과 자동 제외를 두지 않기로 확정했다. 거래 실패리스트 일일 확인이 운영 필수 절차가 된다.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잔여 과제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차단 리스크 P0 10건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10건 모두 기술 결함이 아니라 4사 간 규제·계약 확정 미완 항목이다.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31536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· 유형 확정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084832"/>
            <a:ext cx="4956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29개 채널 유형·제출자·판매업체·brokerCode 마스터 부재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A 후보의 TRA 제출자·OAuth 주체·결과 회수 경로 미확정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08776" y="1572768"/>
            <a:ext cx="5431536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취득 경로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32136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956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주문 PCCC 및 6자리 인증번호 취득·전달 경로 부재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최종 결제액과 동수·자이언트 신고물품가 원천 혼용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5431536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계약 이행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5건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" y="4041648"/>
            <a:ext cx="4956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고도몰 주문상품 ↔ 신고 단품·HBL 매핑 계약 부재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원주문번호 · ERP 분할번호 · HBL 역할 미분리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주문에서 HBL 값/null 혼재 반환 (일괄 반환 계약 위반)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삭제 API가 창고 작업 착수 후 Fail 반환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prod_srno 항목 미반환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8776" y="3529584"/>
            <a:ext cx="5431536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계약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32136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1건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4041648"/>
            <a:ext cx="4956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Geek·동수 분리 쓰기 endpoint · 병합 규칙 · 멱등 upsert · FINAL 상태 미확정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5778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방침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55648" y="557784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테스트 서버는 2026-08-21 종료됐다. 2026-08-26 24:00까지 서면 회신이 확보되지 않는 항목은 해당 채널을 차단하거나, 시범운영 기간의 기존 서식 목록통관 병행을 대안으로 적용한다.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대응 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대상별 확보 항목 및 마감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과제는 대부분 서면 회신 확보로 해소된다.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891272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확보해야 할 회신 · 산출물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관세청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유형 서면 재확인 · sale_ents_id 필수 조건 · 계도기간 종료일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자이언트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분리 쓰기 endpoint · 병합 규칙 · PATCH 배포일 · brokerCode 정의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신고 단품 매핑 계약 · HBL 일괄 반환 이행 · prod_srno 채번 · 창고 착수 시각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플랫폼 (네이버 등)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PCCC 및 6자리 인증번호 제공 가능 여부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Geek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토큰 갱신 · PER002/003 · 주문 변경 감지 구현 및 QA 완료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원천 스냅샷 확정 · CS 스크립트 · 실패리스트 운영 절차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내부 (비용)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추가개발 계약 체결 · NICE 년선납 청약 (견적 유효기간 09.14)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53949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55648" y="53949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시범운영 공지상 기존 서식 목록통관이 병행 허용된다. 계약 미확정 시 전면 중단이 아니라 채널별 단계적 전환을 적용한다.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 구축 비용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계약 및 2차 추가개발 견적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개발 계약서, 견적서 2026-06-09, 추가개발 견적서 2026-08-10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017520" cy="1700784"/>
          </a:xfrm>
          <a:prstGeom prst="rect">
            <a:avLst/>
          </a:prstGeom>
          <a:solidFill>
            <a:srgbClr val="0F2544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구축비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39,500,000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(VAT 별도)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VAT 포함 43,450,000원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39896" y="1572768"/>
          <a:ext cx="790041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1463040"/>
                <a:gridCol w="1481328"/>
                <a:gridCol w="84124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문서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(VAT 별도)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개발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계약서 (2026.06.01 ~ 08.31)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9주 · 3명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32,300,000원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6E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 체결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추가개발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견적서 2026-08-10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 · 2명 · 17일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7,200,000원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47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견적 접수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2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39,500,000원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456432"/>
            <a:ext cx="357530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584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 조건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" y="3895344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계약금 50% 16,150,000원 (계약일로부터 15일 이내)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잔금 50% 16,150,000원 (개발 완료 이후 15일 이내)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지급 전 세금계산서 발행, 부가세 별도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06824" y="3456432"/>
            <a:ext cx="357530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3584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추가개발 범위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3895344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HWB 검색 API 기반 제출 로직 변경 (3.5일)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통합인증 서비스 개발 및 CI 연동 (4일)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 제출 로직 변경 · 관리자 조회 화면 (9.5일)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65008" y="3456432"/>
            <a:ext cx="357530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3584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근거 · 보수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84464" y="3895344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SW기술자 임금실태조사 기준 직접인건비 + 제경비 20% + 기술료 10%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견적 32,311,505원 → 계약 체결 32,300,000원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완료 후 6개월 무상 하자보수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5230368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23036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755648" y="523036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추가개발 7,200,000원은 견적 단계이며 계약이 체결되지 않았다. 오픈 전 계약 체결 여부와 정산 시점을 확정해야 한다.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 운영 비용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개인통관고유부호 검증 · 본인확인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나이스평가정보 견적서 2026-08-14, 년선납 조건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017520" cy="1700784"/>
          </a:xfrm>
          <a:prstGeom prst="rect">
            <a:avLst/>
          </a:prstGeom>
          <a:solidFill>
            <a:srgbClr val="0F2544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4,400,000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/ 년 (VAT 포함)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공급가액 4,000,000원 · 월 환산 366,667원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39896" y="1572768"/>
          <a:ext cx="7900416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1207008"/>
                <a:gridCol w="1060704"/>
                <a:gridCol w="1207008"/>
                <a:gridCol w="1207008"/>
                <a:gridCol w="9875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공급가액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부가세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청구금액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기본제공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초과 단가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개인통관고유부호 유효성검증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100,000건 / 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40원 / 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휴대폰 본인확인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20,000건 / 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53원 / 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3A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2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4,400,000원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456432"/>
            <a:ext cx="357530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584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개인통관고유부호 검증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" y="3895344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시점 주문 건당 1회 호출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3,000건 기준 연 36,000건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제공 100,000건 이내 (여유 64,000건)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06824" y="3456432"/>
            <a:ext cx="357530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3584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본인확인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3895344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회원가입·최초 직구 시 1회 호출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신규 인증 20,000명 초과 시 건당 53원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회원 유입량에 따라 초과 발생 가능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65008" y="3456432"/>
            <a:ext cx="357530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3584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미반영 항목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84464" y="3895344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GGATE 이용료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ERP 연동 분담금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하자보수 6개월 종료 후 유지보수비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5230368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23036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755648" y="523036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 유효기간은 작성일로부터 1개월(2026-09-14)이며 오픈 전 청약이 필요하다. 소진 전망은 월 주문 3,000건 가정치이며 실적 확정 후 재산정한다.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 남은 일정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오픈까지 D-4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서버는 종료됐으며, 남은 일정은 회신 확보와 QA로 구성된다.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755648" cy="15179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0078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테스트 서버 종료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18588" y="1572768"/>
            <a:ext cx="175564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8588" y="170078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18588" y="19751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10028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계약 회신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88536" y="1572768"/>
            <a:ext cx="175564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170078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88536" y="19751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379976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· 자이언트 회신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58484" y="1572768"/>
            <a:ext cx="175564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8484" y="170078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58484" y="19751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08.27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49924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Geek QA 완료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28432" y="1572768"/>
            <a:ext cx="1755648" cy="1517904"/>
          </a:xfrm>
          <a:prstGeom prst="rect">
            <a:avLst/>
          </a:prstGeom>
          <a:solidFill>
            <a:srgbClr val="FAEEEA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170078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28432" y="19751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08.28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119872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오픈 09:00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98380" y="1572768"/>
            <a:ext cx="175564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8380" y="170078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D+17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98380" y="19751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09.14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989820" y="23774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Z99999 계도기간 종료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346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직전 체크포인트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712464"/>
            <a:ext cx="11091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371246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08.26 24:00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15184" y="3712464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 10건 중 서면 회신 미확보 건을 확정하고 채널 차단 또는 목록통관 병행 여부를 판단한다.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279392"/>
            <a:ext cx="11091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27939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08.28 03:00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615184" y="4279392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관세청이 허용한 새벽 창구에서 업체별 실데이터 테스트를 수행한다.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11091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8463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08.28 09:00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15184" y="4846320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오픈. 첫 배치 사이클은 익일 09:00부터 정상 진입한다.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541264"/>
            <a:ext cx="11091672" cy="603504"/>
          </a:xfrm>
          <a:prstGeom prst="rect">
            <a:avLst/>
          </a:prstGeom>
          <a:solidFill>
            <a:srgbClr val="EDF1F7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554126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사항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755648" y="554126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2026-08-26까지 관세청·자이언트·동수·플랫폼 4사의 서면 회신 확보에 협조가 필요하다. 회신 결과에 따라 오픈 범위를 채널 단위로 조정한다.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282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 통관플랫폼 연동 · 결과 보고 v5.0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881360" y="6428232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9B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관세청 전자상거래 전용 통관플랫폼 연동 결과 보고</dc:title>
  <dc:subject>PptxGenJS Presentation</dc:subject>
  <dc:creator>크로네</dc:creator>
  <cp:lastModifiedBy>크로네</cp:lastModifiedBy>
  <cp:revision>1</cp:revision>
  <dcterms:created xsi:type="dcterms:W3CDTF">2026-08-24T08:20:07Z</dcterms:created>
  <dcterms:modified xsi:type="dcterms:W3CDTF">2026-08-24T08:20:07Z</dcterms:modified>
</cp:coreProperties>
</file>