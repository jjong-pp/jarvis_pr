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36576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C05621"/>
                </a:solidFill>
                <a:latin typeface="Malgun Gothic"/>
              </a:rPr>
              <a:t>EXECUTIVE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329184"/>
            <a:ext cx="36576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B8C5D6"/>
                </a:solidFill>
                <a:latin typeface="Malgun Gothic"/>
              </a:rPr>
              <a:t>2026.08.24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8368"/>
            <a:ext cx="8046720" cy="10972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관세청 전자상거래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93392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전용 통관플랫폼 연동.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077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5D6"/>
                </a:solidFill>
                <a:latin typeface="Malgun Gothic"/>
              </a:rPr>
              <a:t>개발 완료 결과 · 운영 정책 변화 · 잔여 리스크 브리핑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462272"/>
            <a:ext cx="8046720" cy="10972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5D6"/>
                </a:solidFill>
                <a:latin typeface="Malgun Gothic"/>
              </a:rPr>
              <a:t>2026.08.28 09:00 오픈 대응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5720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B8C5D6"/>
                </a:solidFill>
                <a:latin typeface="Malgun Gothic"/>
              </a:rPr>
              <a:t>v4.0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58368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1A2B4C"/>
                </a:solidFill>
                <a:latin typeface="Malgun Gothic"/>
              </a:rPr>
              <a:t>Agenda.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5621"/>
                </a:solidFill>
                <a:latin typeface="Malgun Gothic"/>
              </a:rPr>
              <a:t>오픈 D-4.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718096"/>
                </a:solidFill>
                <a:latin typeface="Malgun Gothic"/>
              </a:rPr>
              <a:t>개발은 마감 단계에 들어섰고,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718096"/>
                </a:solidFill>
                <a:latin typeface="Malgun Gothic"/>
              </a:rPr>
              <a:t>남은 것은 운영 정책과 미결 계약이다.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Malgun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5836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2B4C"/>
                </a:solidFill>
                <a:latin typeface="Malgun Gothic"/>
              </a:rPr>
              <a:t>결과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70408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algun Gothic"/>
              </a:rPr>
              <a:t>오픈 시점 현재 상태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078992"/>
            <a:ext cx="4206240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1932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Malgun Gothi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156716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2B4C"/>
                </a:solidFill>
                <a:latin typeface="Malgun Gothic"/>
              </a:rPr>
              <a:t>정책 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20243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algun Gothic"/>
              </a:rPr>
              <a:t>고객·CS가 겪는 변화 5건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577340"/>
            <a:ext cx="4206240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916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Malgun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6550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2B4C"/>
                </a:solidFill>
                <a:latin typeface="Malgun Gothic"/>
              </a:rPr>
              <a:t>일일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700784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algun Gothic"/>
              </a:rPr>
              <a:t>09:00~18:00 시간대 로직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075688"/>
            <a:ext cx="4206240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18998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Malgun Gothic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15341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2B4C"/>
                </a:solidFill>
                <a:latin typeface="Malgun Gothic"/>
              </a:rPr>
              <a:t>담당 분리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1991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algun Gothic"/>
              </a:rPr>
              <a:t>4사 데이터 소유 경계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574036"/>
            <a:ext cx="4206240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68833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Malgun Gothic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65176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2B4C"/>
                </a:solidFill>
                <a:latin typeface="Malgun Gothic"/>
              </a:rPr>
              <a:t>CS 대응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697479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algun Gothic"/>
              </a:rPr>
              <a:t>통관 이상 코드별 처리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3072384"/>
            <a:ext cx="4206240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18668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Malgun Gothic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15010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2B4C"/>
                </a:solidFill>
                <a:latin typeface="Malgun Gothic"/>
              </a:rPr>
              <a:t>관리자 기능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195827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algun Gothic"/>
              </a:rPr>
              <a:t>신규 화면·알림 6종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3570732"/>
            <a:ext cx="4206240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685031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Malgun Gothic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648456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2B4C"/>
                </a:solidFill>
                <a:latin typeface="Malgun Gothic"/>
              </a:rPr>
              <a:t>잔여 리스크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69417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algun Gothic"/>
              </a:rPr>
              <a:t>오픈 차단 P0 10건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4069080"/>
            <a:ext cx="4206240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41833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Malgun Gothic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14680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2B4C"/>
                </a:solidFill>
                <a:latin typeface="Malgun Gothic"/>
              </a:rPr>
              <a:t>투자·운영비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192524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algun Gothic"/>
              </a:rPr>
              <a:t>누적 투자와 월 운영비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480974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CBD5E0"/>
                </a:solidFill>
                <a:latin typeface="Malgun Gothic"/>
              </a:rPr>
              <a:t>관세청 전용 통관플랫폼 연동 · 결과 브리핑 v4.0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38928" y="480974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CBD5E0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90288" y="237744"/>
            <a:ext cx="42062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2C5282"/>
                </a:solidFill>
                <a:latin typeface="Malgun Gothic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57200"/>
            <a:ext cx="84307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2B4C"/>
                </a:solidFill>
                <a:latin typeface="Malgun Gothic"/>
              </a:rPr>
              <a:t>결과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932688"/>
            <a:ext cx="8430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18096"/>
                </a:solidFill>
                <a:latin typeface="Malgun Gothic"/>
              </a:rPr>
              <a:t>개발은 완료 단계. 오픈 가부는 4사 미결 계약 10건에 달려 있음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316736"/>
            <a:ext cx="1956816" cy="96926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444752"/>
            <a:ext cx="16276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A2B4C"/>
                </a:solidFill>
                <a:latin typeface="Malgun Gothic"/>
              </a:rPr>
              <a:t>D-4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956816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algun Gothic"/>
              </a:rPr>
              <a:t>2026.08.28 09:00 오픈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87168" y="1316736"/>
            <a:ext cx="1956816" cy="96926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0048" y="1444752"/>
            <a:ext cx="16276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A34A"/>
                </a:solidFill>
                <a:latin typeface="Malgun Gothic"/>
              </a:rPr>
              <a:t>30건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1956816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algun Gothic"/>
              </a:rPr>
              <a:t>확정·해결 완료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26864" y="1316736"/>
            <a:ext cx="1956816" cy="96926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9744" y="1444752"/>
            <a:ext cx="16276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C53030"/>
                </a:solidFill>
                <a:latin typeface="Malgun Gothic"/>
              </a:rPr>
              <a:t>10건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9744" y="1956816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algun Gothic"/>
              </a:rPr>
              <a:t>오픈 차단 P0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59" y="1316736"/>
            <a:ext cx="1956816" cy="96926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444752"/>
            <a:ext cx="16276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C05621"/>
                </a:solidFill>
                <a:latin typeface="Malgun Gothic"/>
              </a:rPr>
              <a:t>16건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956816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algun Gothic"/>
              </a:rPr>
              <a:t>오픈 전 필수 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2450592"/>
            <a:ext cx="8430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2B4C"/>
                </a:solidFill>
                <a:latin typeface="Malgun Gothic"/>
              </a:rPr>
              <a:t>핵심 판단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" y="2706624"/>
            <a:ext cx="566928" cy="219456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75234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16A34A"/>
                </a:solidFill>
                <a:latin typeface="Malgun Gothic"/>
              </a:rPr>
              <a:t>완료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743200"/>
            <a:ext cx="7754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PER001 결제 시점 실시간 검증, TRA001/003 배치, 상태 전이(p1→g1→g5), 자이언트 쓰기까지 개발 반영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" y="2980944"/>
            <a:ext cx="566928" cy="219456"/>
          </a:xfrm>
          <a:prstGeom prst="roundRect">
            <a:avLst>
              <a:gd name="adj" fmla="val 8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0266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C53030"/>
                </a:solidFill>
                <a:latin typeface="Malgun Gothic"/>
              </a:rPr>
              <a:t>미결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3017520"/>
            <a:ext cx="7754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29개 채널 유형·제출자·판매업체 규제 마스터와 플랫폼 주문 PCCC·인증번호 취득 경로 미확정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" y="3255263"/>
            <a:ext cx="566928" cy="219456"/>
          </a:xfrm>
          <a:prstGeom prst="roundRect">
            <a:avLst>
              <a:gd name="adj" fmla="val 8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30098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C53030"/>
                </a:solidFill>
                <a:latin typeface="Malgun Gothic"/>
              </a:rPr>
              <a:t>미결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3291839"/>
            <a:ext cx="7754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동수 신고 단품·HBL 매핑 계약, 자이언트 분리 쓰기·병합 계약이 문서로 확정되지 않음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" y="3529583"/>
            <a:ext cx="566928" cy="219456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357530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C05621"/>
                </a:solidFill>
                <a:latin typeface="Malgun Gothic"/>
              </a:rPr>
              <a:t>전제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3566159"/>
            <a:ext cx="7754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Z99999 PER 허용은 2026-09-14 24:00 종료. 이후 인증 실패에 따른 결제 이탈 증가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3950208"/>
            <a:ext cx="8430768" cy="658368"/>
          </a:xfrm>
          <a:prstGeom prst="roundRect">
            <a:avLst>
              <a:gd name="adj" fmla="val 8000"/>
            </a:avLst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" y="4078224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5621"/>
                </a:solidFill>
                <a:latin typeface="Malgun Gothic"/>
              </a:rPr>
              <a:t>결론  </a:t>
            </a:r>
            <a:r>
              <a:rPr sz="1250" b="1">
                <a:solidFill>
                  <a:srgbClr val="1A2B4C"/>
                </a:solidFill>
                <a:latin typeface="Malgun Gothic"/>
              </a:rPr>
              <a:t>개발 잔여가 아니라 계약 잔여가 오픈 리스크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" y="4361688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4사 간 데이터 소유·전달 계약 10건을 서면 확정하면 오픈 가능하다. 기술 구현은 검증 단계에 진입했다.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" y="480974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CBD5E0"/>
                </a:solidFill>
                <a:latin typeface="Malgun Gothic"/>
              </a:rPr>
              <a:t>관세청 전용 통관플랫폼 연동 · 결과 브리핑 v4.0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38928" y="480974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CBD5E0"/>
                </a:solidFill>
                <a:latin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90288" y="237744"/>
            <a:ext cx="42062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2C5282"/>
                </a:solidFill>
                <a:latin typeface="Malgun Gothic"/>
              </a:rPr>
              <a:t>POLICY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57200"/>
            <a:ext cx="84307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2B4C"/>
                </a:solidFill>
                <a:latin typeface="Malgun Gothic"/>
              </a:rPr>
              <a:t>무엇이 바뀌는가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932688"/>
            <a:ext cx="8430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18096"/>
                </a:solidFill>
                <a:latin typeface="Malgun Gothic"/>
              </a:rPr>
              <a:t>고객 구매 여정과 CS 응대 기준이 바뀌는 지점 5건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280160"/>
            <a:ext cx="1417320" cy="256032"/>
          </a:xfrm>
          <a:prstGeom prst="roundRect">
            <a:avLst>
              <a:gd name="adj" fmla="val 8000"/>
            </a:avLst>
          </a:prstGeom>
          <a:solidFill>
            <a:srgbClr val="1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3304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64792" y="1280160"/>
            <a:ext cx="3017520" cy="256032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64792" y="1330452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718096"/>
                </a:solidFill>
                <a:latin typeface="Malgun Gothic"/>
              </a:rPr>
              <a:t>AS-IS  ·  현행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82312" y="1280160"/>
            <a:ext cx="3995928" cy="256032"/>
          </a:xfrm>
          <a:prstGeom prst="roundRect">
            <a:avLst>
              <a:gd name="adj" fmla="val 8000"/>
            </a:avLst>
          </a:prstGeom>
          <a:solidFill>
            <a:srgbClr val="EBF1F8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1330452"/>
            <a:ext cx="3995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C05621"/>
                </a:solidFill>
                <a:latin typeface="Malgun Gothic"/>
              </a:rPr>
              <a:t>TO-BE  ·  2026.08.28~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" y="1554480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1691639"/>
            <a:ext cx="1307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A2B4C"/>
                </a:solidFill>
                <a:latin typeface="Malgun Gothic"/>
              </a:rPr>
              <a:t>결제 승인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64792" y="1554480"/>
            <a:ext cx="3017520" cy="45720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83664" y="1691639"/>
            <a:ext cx="2798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18096"/>
                </a:solidFill>
                <a:latin typeface="Malgun Gothic"/>
              </a:rPr>
              <a:t>통관부호 미검증 통과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82312" y="1554480"/>
            <a:ext cx="399592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2C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01184" y="1673352"/>
            <a:ext cx="3767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202C"/>
                </a:solidFill>
                <a:latin typeface="Malgun Gothic"/>
              </a:rPr>
              <a:t>결제 시점 PER001 실시간 검증 · 불일치 시 결제 차단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" y="2043684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2180844"/>
            <a:ext cx="1307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A2B4C"/>
                </a:solidFill>
                <a:latin typeface="Malgun Gothic"/>
              </a:rPr>
              <a:t>주문 수정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64792" y="2043684"/>
            <a:ext cx="3017520" cy="45720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83664" y="2180844"/>
            <a:ext cx="2798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18096"/>
                </a:solidFill>
                <a:latin typeface="Malgun Gothic"/>
              </a:rPr>
              <a:t>배송 전까지 자유 변경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82312" y="2043684"/>
            <a:ext cx="399592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2C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01184" y="2162556"/>
            <a:ext cx="3767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202C"/>
                </a:solidFill>
                <a:latin typeface="Malgun Gothic"/>
              </a:rPr>
              <a:t>g1(상품준비중)부터 취소·환불·배송지 수정 차단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" y="2532888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" y="2670048"/>
            <a:ext cx="1307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A2B4C"/>
                </a:solidFill>
                <a:latin typeface="Malgun Gothic"/>
              </a:rPr>
              <a:t>신고 시점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64792" y="2532888"/>
            <a:ext cx="3017520" cy="45720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83664" y="2670048"/>
            <a:ext cx="2798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18096"/>
                </a:solidFill>
                <a:latin typeface="Malgun Gothic"/>
              </a:rPr>
              <a:t>세관 도착 후 사후 신고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82312" y="2532888"/>
            <a:ext cx="399592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2C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01184" y="2651760"/>
            <a:ext cx="3767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202C"/>
                </a:solidFill>
                <a:latin typeface="Malgun Gothic"/>
              </a:rPr>
              <a:t>결제 익일 10~11시 사전 제출 · 오류 시 당일 출고 보류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" y="3022092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" y="3159252"/>
            <a:ext cx="1307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A2B4C"/>
                </a:solidFill>
                <a:latin typeface="Malgun Gothic"/>
              </a:rPr>
              <a:t>오류 주문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64792" y="3022092"/>
            <a:ext cx="3017520" cy="45720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83664" y="3159252"/>
            <a:ext cx="2798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18096"/>
                </a:solidFill>
                <a:latin typeface="Malgun Gothic"/>
              </a:rPr>
              <a:t>수기 통관 처리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82312" y="3022092"/>
            <a:ext cx="399592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2C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01184" y="3140964"/>
            <a:ext cx="3767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202C"/>
                </a:solidFill>
                <a:latin typeface="Malgun Gothic"/>
              </a:rPr>
              <a:t>p1 원복 후 익일 재수집 · 재시도 상한 없이 CS 일일 보정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7472" y="3511296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336" y="3648456"/>
            <a:ext cx="1307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A2B4C"/>
                </a:solidFill>
                <a:latin typeface="Malgun Gothic"/>
              </a:rPr>
              <a:t>인증 유예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764792" y="3511296"/>
            <a:ext cx="3017520" cy="45720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83664" y="3648456"/>
            <a:ext cx="2798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18096"/>
                </a:solidFill>
                <a:latin typeface="Malgun Gothic"/>
              </a:rPr>
              <a:t>해당 없음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82312" y="3511296"/>
            <a:ext cx="399592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2C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01184" y="3630168"/>
            <a:ext cx="3767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202C"/>
                </a:solidFill>
                <a:latin typeface="Malgun Gothic"/>
              </a:rPr>
              <a:t>Z99999 허용 2026-09-14 24:00 종료 → 인증 실패 이탈 증가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7472" y="4005072"/>
            <a:ext cx="8430768" cy="640080"/>
          </a:xfrm>
          <a:prstGeom prst="roundRect">
            <a:avLst>
              <a:gd name="adj" fmla="val 8000"/>
            </a:avLst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5216" y="4133087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5621"/>
                </a:solidFill>
                <a:latin typeface="Malgun Gothic"/>
              </a:rPr>
              <a:t>CS 영향  </a:t>
            </a:r>
            <a:r>
              <a:rPr sz="1250" b="1">
                <a:solidFill>
                  <a:srgbClr val="1A2B4C"/>
                </a:solidFill>
                <a:latin typeface="Malgun Gothic"/>
              </a:rPr>
              <a:t>문의 유형이 배송 지연에서 인증·통관 사유로 이동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" y="4416552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결제 차단, 인증 재발송, 통관 이상 코드 안내가 신규 응대 유형으로 추가된다.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" y="480974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CBD5E0"/>
                </a:solidFill>
                <a:latin typeface="Malgun Gothic"/>
              </a:rPr>
              <a:t>관세청 전용 통관플랫폼 연동 · 결과 브리핑 v4.0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38928" y="480974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CBD5E0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90288" y="237744"/>
            <a:ext cx="42062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2C5282"/>
                </a:solidFill>
                <a:latin typeface="Malgun Gothic"/>
              </a:rPr>
              <a:t>DAILY 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57200"/>
            <a:ext cx="84307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2B4C"/>
                </a:solidFill>
                <a:latin typeface="Malgun Gothic"/>
              </a:rPr>
              <a:t>일일 운영 타임라인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932688"/>
            <a:ext cx="8430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18096"/>
                </a:solidFill>
                <a:latin typeface="Malgun Gothic"/>
              </a:rPr>
              <a:t>결제 시점 실시간 검증 + 매일 09:00~18:00 배치 8단계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444752"/>
            <a:ext cx="969264" cy="1042415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" y="1444752"/>
            <a:ext cx="969264" cy="274320"/>
          </a:xfrm>
          <a:prstGeom prst="roundRect">
            <a:avLst>
              <a:gd name="adj" fmla="val 8000"/>
            </a:avLst>
          </a:prstGeom>
          <a:solidFill>
            <a:srgbClr val="1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495044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결제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810512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718096"/>
                </a:solidFill>
                <a:latin typeface="Malgun Gothic"/>
              </a:rPr>
              <a:t>실시간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2029968"/>
            <a:ext cx="8778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1A2B4C"/>
                </a:solidFill>
                <a:latin typeface="Malgun Gothic"/>
              </a:rPr>
              <a:t>PER001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3020" y="1938528"/>
            <a:ext cx="1188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CBD5E0"/>
                </a:solidFill>
                <a:latin typeface="Malgun Gothic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99032" y="1444752"/>
            <a:ext cx="969264" cy="1042415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99032" y="1444752"/>
            <a:ext cx="969264" cy="274320"/>
          </a:xfrm>
          <a:prstGeom prst="roundRect">
            <a:avLst>
              <a:gd name="adj" fmla="val 8000"/>
            </a:avLst>
          </a:prstGeom>
          <a:solidFill>
            <a:srgbClr val="1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9032" y="1495044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09:00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1810512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718096"/>
                </a:solidFill>
                <a:latin typeface="Malgun Gothic"/>
              </a:rPr>
              <a:t>동수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2029968"/>
            <a:ext cx="8778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1A2B4C"/>
                </a:solidFill>
                <a:latin typeface="Malgun Gothic"/>
              </a:rPr>
              <a:t>주문 수집 · g1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4580" y="1938528"/>
            <a:ext cx="1188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CBD5E0"/>
                </a:solidFill>
                <a:latin typeface="Malgun Gothic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50592" y="1444752"/>
            <a:ext cx="969264" cy="1042415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50592" y="1444752"/>
            <a:ext cx="969264" cy="274320"/>
          </a:xfrm>
          <a:prstGeom prst="roundRect">
            <a:avLst>
              <a:gd name="adj" fmla="val 8000"/>
            </a:avLst>
          </a:prstGeom>
          <a:solidFill>
            <a:srgbClr val="1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50592" y="1495044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10-11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1810512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718096"/>
                </a:solidFill>
                <a:latin typeface="Malgun Gothic"/>
              </a:rPr>
              <a:t>Geek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96312" y="2029968"/>
            <a:ext cx="8778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1A2B4C"/>
                </a:solidFill>
                <a:latin typeface="Malgun Gothic"/>
              </a:rPr>
              <a:t>역수집 · TRA001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6140" y="1938528"/>
            <a:ext cx="1188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CBD5E0"/>
                </a:solidFill>
                <a:latin typeface="Malgun Gothic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02152" y="1444752"/>
            <a:ext cx="969264" cy="1042415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02152" y="1444752"/>
            <a:ext cx="969264" cy="274320"/>
          </a:xfrm>
          <a:prstGeom prst="roundRect">
            <a:avLst>
              <a:gd name="adj" fmla="val 8000"/>
            </a:avLst>
          </a:prstGeom>
          <a:solidFill>
            <a:srgbClr val="1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2152" y="1495044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11:40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2" y="1810512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718096"/>
                </a:solidFill>
                <a:latin typeface="Malgun Gothic"/>
              </a:rPr>
              <a:t>Geek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7872" y="2029968"/>
            <a:ext cx="8778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1A2B4C"/>
                </a:solidFill>
                <a:latin typeface="Malgun Gothic"/>
              </a:rPr>
              <a:t>TRA003 오류조회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7700" y="1938528"/>
            <a:ext cx="1188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CBD5E0"/>
                </a:solidFill>
                <a:latin typeface="Malgun Gothic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53712" y="1444752"/>
            <a:ext cx="969264" cy="1042415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53712" y="1444752"/>
            <a:ext cx="969264" cy="274320"/>
          </a:xfrm>
          <a:prstGeom prst="roundRect">
            <a:avLst>
              <a:gd name="adj" fmla="val 8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3712" y="1495044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11:50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9432" y="1810512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718096"/>
                </a:solidFill>
                <a:latin typeface="Malgun Gothic"/>
              </a:rPr>
              <a:t>Geek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2" y="2029968"/>
            <a:ext cx="8778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1A2B4C"/>
                </a:solidFill>
                <a:latin typeface="Malgun Gothic"/>
              </a:rPr>
              <a:t>승인/실패 분기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09260" y="1938528"/>
            <a:ext cx="1188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CBD5E0"/>
                </a:solidFill>
                <a:latin typeface="Malgun Gothic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05272" y="1444752"/>
            <a:ext cx="969264" cy="1042415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605272" y="1444752"/>
            <a:ext cx="969264" cy="274320"/>
          </a:xfrm>
          <a:prstGeom prst="roundRect">
            <a:avLst>
              <a:gd name="adj" fmla="val 8000"/>
            </a:avLst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05272" y="1495044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12:00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50992" y="1810512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718096"/>
                </a:solidFill>
                <a:latin typeface="Malgun Gothic"/>
              </a:rPr>
              <a:t>동수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50992" y="2029968"/>
            <a:ext cx="8778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1A2B4C"/>
                </a:solidFill>
                <a:latin typeface="Malgun Gothic"/>
              </a:rPr>
              <a:t>취소 반영 마감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0820" y="1938528"/>
            <a:ext cx="1188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CBD5E0"/>
                </a:solidFill>
                <a:latin typeface="Malgun Gothic"/>
              </a:rPr>
              <a:t>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56832" y="1444752"/>
            <a:ext cx="969264" cy="1042415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656832" y="1444752"/>
            <a:ext cx="969264" cy="274320"/>
          </a:xfrm>
          <a:prstGeom prst="roundRect">
            <a:avLst>
              <a:gd name="adj" fmla="val 8000"/>
            </a:avLst>
          </a:prstGeom>
          <a:solidFill>
            <a:srgbClr val="1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56832" y="1495044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13:00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02552" y="1810512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718096"/>
                </a:solidFill>
                <a:latin typeface="Malgun Gothic"/>
              </a:rPr>
              <a:t>동수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02552" y="2029968"/>
            <a:ext cx="8778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1A2B4C"/>
                </a:solidFill>
                <a:latin typeface="Malgun Gothic"/>
              </a:rPr>
              <a:t>현장 출고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12379" y="1938528"/>
            <a:ext cx="1188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CBD5E0"/>
                </a:solidFill>
                <a:latin typeface="Malgun Gothic"/>
              </a:rPr>
              <a:t>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08392" y="1444752"/>
            <a:ext cx="969264" cy="1042415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708392" y="1444752"/>
            <a:ext cx="969264" cy="274320"/>
          </a:xfrm>
          <a:prstGeom prst="roundRect">
            <a:avLst>
              <a:gd name="adj" fmla="val 8000"/>
            </a:avLst>
          </a:prstGeom>
          <a:solidFill>
            <a:srgbClr val="1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08392" y="1495044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17-18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54112" y="1810512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718096"/>
                </a:solidFill>
                <a:latin typeface="Malgun Gothic"/>
              </a:rPr>
              <a:t>동수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54112" y="2029968"/>
            <a:ext cx="8778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1A2B4C"/>
                </a:solidFill>
                <a:latin typeface="Malgun Gothic"/>
              </a:rPr>
              <a:t>자이언트 쓰기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" y="2761488"/>
            <a:ext cx="8430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2B4C"/>
                </a:solidFill>
                <a:latin typeface="Malgun Gothic"/>
              </a:rPr>
              <a:t>구간별 통제 지점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7472" y="3017520"/>
            <a:ext cx="2642616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5488" y="3127248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53030"/>
                </a:solidFill>
                <a:latin typeface="Malgun Gothic"/>
              </a:rPr>
              <a:t>11:50 → 12:00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" y="3328416"/>
            <a:ext cx="23865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오류 건 삭제 통보부터 동수 취소 마감까지 10분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172968" y="3017520"/>
            <a:ext cx="2642616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00984" y="3127248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05621"/>
                </a:solidFill>
                <a:latin typeface="Malgun Gothic"/>
              </a:rPr>
              <a:t>HBL 대기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00984" y="3328416"/>
            <a:ext cx="23865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전 포장 HBL 확보 전까지 HBL_WAITING 유지 · 일부 제출 금지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98464" y="3017520"/>
            <a:ext cx="2642616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26479" y="3127248"/>
            <a:ext cx="2386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C5282"/>
                </a:solidFill>
                <a:latin typeface="Malgun Gothic"/>
              </a:rPr>
              <a:t>접근 토큰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26479" y="3328416"/>
            <a:ext cx="23865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AUT001 24시간 만료 · 활성 2개 FIFO · 선갱신 실패 시 배치 중단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47472" y="3877056"/>
            <a:ext cx="8430768" cy="676656"/>
          </a:xfrm>
          <a:prstGeom prst="roundRect">
            <a:avLst>
              <a:gd name="adj" fmla="val 8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5216" y="4005072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53030"/>
                </a:solidFill>
                <a:latin typeface="Malgun Gothic"/>
              </a:rPr>
              <a:t>운영 부담  </a:t>
            </a:r>
            <a:r>
              <a:rPr sz="1250" b="1">
                <a:solidFill>
                  <a:srgbClr val="1A2B4C"/>
                </a:solidFill>
                <a:latin typeface="Malgun Gothic"/>
              </a:rPr>
              <a:t>매일 11:50 판정과 12:00 마감이 실질 마감선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5216" y="4288536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이 10분 안에 오류 건이 정리되지 않으면 미신고 상태로 출고된다. 삭제 API Fail 시 유선 처리가 필요하다.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7472" y="480974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CBD5E0"/>
                </a:solidFill>
                <a:latin typeface="Malgun Gothic"/>
              </a:rPr>
              <a:t>관세청 전용 통관플랫폼 연동 · 결과 브리핑 v4.0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38928" y="480974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CBD5E0"/>
                </a:solidFill>
                <a:latin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90288" y="237744"/>
            <a:ext cx="42062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2C5282"/>
                </a:solidFill>
                <a:latin typeface="Malgun Gothic"/>
              </a:rPr>
              <a:t>DATA OWNERSHIP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57200"/>
            <a:ext cx="84307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2B4C"/>
                </a:solidFill>
                <a:latin typeface="Malgun Gothic"/>
              </a:rPr>
              <a:t>데이터 소유 경계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932688"/>
            <a:ext cx="8430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18096"/>
                </a:solidFill>
                <a:latin typeface="Malgun Gothic"/>
              </a:rPr>
              <a:t>같은 HBL 하나를 4개 주체가 나눠 쓴다 — 소유 필드가 겹치면 통관이 막힌다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280160"/>
            <a:ext cx="1956816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" y="1280160"/>
            <a:ext cx="1956816" cy="420624"/>
          </a:xfrm>
          <a:prstGeom prst="roundRect">
            <a:avLst>
              <a:gd name="adj" fmla="val 8000"/>
            </a:avLst>
          </a:prstGeom>
          <a:solidFill>
            <a:srgbClr val="1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353312"/>
            <a:ext cx="17007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Malgun Gothic"/>
              </a:rPr>
              <a:t>Geek 자사몰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540764"/>
            <a:ext cx="17007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E6ECF4"/>
                </a:solidFill>
                <a:latin typeface="Malgun Gothic"/>
              </a:rPr>
              <a:t>고객 · 수하인 · 통관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801368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80136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PER001/002/003 인증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167128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16712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pccCode · tempAuthNo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532888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253288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수하인 성명·주소·연락처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898648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28986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TRA001 / TRA003 제출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264408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algun Gothic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자이언트 통관정보 쓰기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87168" y="1280160"/>
            <a:ext cx="1956816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487168" y="1280160"/>
            <a:ext cx="1956816" cy="420624"/>
          </a:xfrm>
          <a:prstGeom prst="roundRect">
            <a:avLst>
              <a:gd name="adj" fmla="val 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15184" y="1353312"/>
            <a:ext cx="17007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Malgun Gothic"/>
              </a:rPr>
              <a:t>동수 EIBE ERP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5184" y="1540764"/>
            <a:ext cx="17007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E6ECF4"/>
                </a:solidFill>
                <a:latin typeface="Malgun Gothic"/>
              </a:rPr>
              <a:t>주문 · 상품 · 물류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15184" y="1801368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F855A"/>
                </a:solidFill>
                <a:latin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180136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09:00 고도몰 주문 수집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15184" y="2167128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F855A"/>
                </a:solidFill>
                <a:latin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6712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HBL 채번 · 일괄 반환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15184" y="2532888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F855A"/>
                </a:solidFill>
                <a:latin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253288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신고 단품 · HS코드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2898648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F855A"/>
                </a:solidFill>
                <a:latin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8986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금액 · 포장 · 송하인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15184" y="3264408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F855A"/>
                </a:solidFill>
                <a:latin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주문 삭제 API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26864" y="1280160"/>
            <a:ext cx="1956816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626864" y="1280160"/>
            <a:ext cx="1956816" cy="420624"/>
          </a:xfrm>
          <a:prstGeom prst="roundRect">
            <a:avLst>
              <a:gd name="adj" fmla="val 8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79" y="1353312"/>
            <a:ext cx="17007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Malgun Gothic"/>
              </a:rPr>
              <a:t>자이언트 GGATE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79" y="1540764"/>
            <a:ext cx="17007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E6ECF4"/>
                </a:solidFill>
                <a:latin typeface="Malgun Gothic"/>
              </a:rPr>
              <a:t>병합 · 세관 제출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79" y="1801368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5621"/>
                </a:solidFill>
                <a:latin typeface="Malgun Gothic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82896" y="180136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HWB 등록 · 검색 · 수정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79" y="2167128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5621"/>
                </a:solidFill>
                <a:latin typeface="Malgun Gothic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82896" y="216712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Geek + 동수 데이터 병합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79" y="2532888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5621"/>
                </a:solidFill>
                <a:latin typeface="Malgun Gothic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82896" y="253288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DKW / DKX 세관 제출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79" y="2898648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5621"/>
                </a:solidFill>
                <a:latin typeface="Malgun Gothic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82896" y="28986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통관 이상 코드 회신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79" y="3264408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5621"/>
                </a:solidFill>
                <a:latin typeface="Malgun Gothic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8289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화물 진행 상태 조회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66559" y="1280160"/>
            <a:ext cx="1956816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766559" y="1280160"/>
            <a:ext cx="1956816" cy="420624"/>
          </a:xfrm>
          <a:prstGeom prst="roundRect">
            <a:avLst>
              <a:gd name="adj" fmla="val 8000"/>
            </a:avLst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94575" y="1353312"/>
            <a:ext cx="17007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Malgun Gothic"/>
              </a:rPr>
              <a:t>관세청 · NICE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94575" y="1540764"/>
            <a:ext cx="17007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E6ECF4"/>
                </a:solidFill>
                <a:latin typeface="Malgun Gothic"/>
              </a:rPr>
              <a:t>검증 · 수리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94575" y="1801368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C5282"/>
                </a:solidFill>
                <a:latin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22592" y="180136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AUT001 접근토큰 발급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94575" y="2167128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C5282"/>
                </a:solidFill>
                <a:latin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22592" y="216712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PER001 부호 검증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94575" y="2532888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C5282"/>
                </a:solidFill>
                <a:latin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22592" y="253288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TRA001 사전 신고 접수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94575" y="2898648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C5282"/>
                </a:solidFill>
                <a:latin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22592" y="28986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TRA003 오류 회신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94575" y="3264408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C5282"/>
                </a:solidFill>
                <a:latin typeface="Malgun Gothic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22592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수입신고 수리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47472" y="3840480"/>
            <a:ext cx="8430768" cy="713232"/>
          </a:xfrm>
          <a:prstGeom prst="roundRect">
            <a:avLst>
              <a:gd name="adj" fmla="val 8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5216" y="3968496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53030"/>
                </a:solidFill>
                <a:latin typeface="Malgun Gothic"/>
              </a:rPr>
              <a:t>미결  </a:t>
            </a:r>
            <a:r>
              <a:rPr sz="1250" b="1">
                <a:solidFill>
                  <a:srgbClr val="1A2B4C"/>
                </a:solidFill>
                <a:latin typeface="Malgun Gothic"/>
              </a:rPr>
              <a:t>자이언트 분리 쓰기 · 병합 계약이 문서로 확정되지 않음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5216" y="425196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Geek과 동수가 같은 hwbNo에 각각 쓰는 구조인데 endpoint·도착 순서·멱등 upsert·FINAL 상태가 미정이다.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7472" y="480974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CBD5E0"/>
                </a:solidFill>
                <a:latin typeface="Malgun Gothic"/>
              </a:rPr>
              <a:t>관세청 전용 통관플랫폼 연동 · 결과 브리핑 v4.0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38928" y="480974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CBD5E0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90288" y="237744"/>
            <a:ext cx="42062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2C5282"/>
                </a:solidFill>
                <a:latin typeface="Malgun Gothic"/>
              </a:rPr>
              <a:t>CS 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57200"/>
            <a:ext cx="84307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2B4C"/>
                </a:solidFill>
                <a:latin typeface="Malgun Gothic"/>
              </a:rPr>
              <a:t>CS 대응 변화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932688"/>
            <a:ext cx="8430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18096"/>
                </a:solidFill>
                <a:latin typeface="Malgun Gothic"/>
              </a:rPr>
              <a:t>통관 이상 코드가 CS 큐로 유입된다 — 코드별 응대 시나리오가 필요하다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261872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2B4C"/>
                </a:solidFill>
                <a:latin typeface="Malgun Gothic"/>
              </a:rPr>
              <a:t>통관 이상 코드 (gngMsgCode)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536192"/>
            <a:ext cx="4114800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" y="1536192"/>
            <a:ext cx="475488" cy="402336"/>
          </a:xfrm>
          <a:prstGeom prst="roundRect">
            <a:avLst>
              <a:gd name="adj" fmla="val 8000"/>
            </a:avLst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645919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591056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2B4C"/>
                </a:solidFill>
                <a:latin typeface="Malgun Gothic"/>
              </a:rPr>
              <a:t>개인통관부호 상이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1755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고객 재확인 · 부호 재입력 안내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" y="1965960"/>
            <a:ext cx="4114800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" y="1965960"/>
            <a:ext cx="475488" cy="402336"/>
          </a:xfrm>
          <a:prstGeom prst="roundRect">
            <a:avLst>
              <a:gd name="adj" fmla="val 8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2075688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020824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2B4C"/>
                </a:solidFill>
                <a:latin typeface="Malgun Gothic"/>
              </a:rPr>
              <a:t>세금 발생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185415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관세·부가세 납부 안내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2395728"/>
            <a:ext cx="4114800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7472" y="2395728"/>
            <a:ext cx="475488" cy="402336"/>
          </a:xfrm>
          <a:prstGeom prst="roundRect">
            <a:avLst>
              <a:gd name="adj" fmla="val 8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50545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2450592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2B4C"/>
                </a:solidFill>
                <a:latin typeface="Malgun Gothic"/>
              </a:rPr>
              <a:t>가격 상이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261518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증빙 서류 요청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" y="2825496"/>
            <a:ext cx="4114800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7472" y="2825496"/>
            <a:ext cx="475488" cy="402336"/>
          </a:xfrm>
          <a:prstGeom prst="roundRect">
            <a:avLst>
              <a:gd name="adj" fmla="val 8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935224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2880360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2B4C"/>
                </a:solidFill>
                <a:latin typeface="Malgun Gothic"/>
              </a:rPr>
              <a:t>서류 보완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3044952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추가 증빙 요청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3255263"/>
            <a:ext cx="4114800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7472" y="3255263"/>
            <a:ext cx="475488" cy="402336"/>
          </a:xfrm>
          <a:prstGeom prst="roundRect">
            <a:avLst>
              <a:gd name="adj" fmla="val 8000"/>
            </a:avLst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3364991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3310127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2B4C"/>
                </a:solidFill>
                <a:latin typeface="Malgun Gothic"/>
              </a:rPr>
              <a:t>통관 불가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" y="347472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환불 검토 · 반송 처리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1261872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2B4C"/>
                </a:solidFill>
                <a:latin typeface="Malgun Gothic"/>
              </a:rPr>
              <a:t>신규 CS 업무 4종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63440" y="1536192"/>
            <a:ext cx="4114800" cy="402336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91456" y="1591056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53030"/>
                </a:solidFill>
                <a:latin typeface="Malgun Gothic"/>
              </a:rPr>
              <a:t>결제 차단 응대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91456" y="175564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PER001 실패 시 부호·명의·전화번호 불일치 안내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63440" y="1965960"/>
            <a:ext cx="4114800" cy="402336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91456" y="2020824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05621"/>
                </a:solidFill>
                <a:latin typeface="Malgun Gothic"/>
              </a:rPr>
              <a:t>인증 재발송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91456" y="2185415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PCCC 오류 건 고객 재인증 유도 (문자 발송 기능 P2)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63440" y="2395728"/>
            <a:ext cx="4114800" cy="402336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91456" y="245059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2B4C"/>
                </a:solidFill>
                <a:latin typeface="Malgun Gothic"/>
              </a:rPr>
              <a:t>실패리스트 일일 확인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91456" y="2615184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거래실패리스트를 매일 확인해 오류 값 보정 — 상한 없음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63440" y="2825496"/>
            <a:ext cx="4114800" cy="402336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91456" y="288036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2B4C"/>
                </a:solidFill>
                <a:latin typeface="Malgun Gothic"/>
              </a:rPr>
              <a:t>취소 불가 안내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91456" y="3044952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g1 이후 마이페이지 취소 차단에 따른 문의 응대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7472" y="3749039"/>
            <a:ext cx="8430768" cy="676656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5216" y="3877055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5621"/>
                </a:solidFill>
                <a:latin typeface="Malgun Gothic"/>
              </a:rPr>
              <a:t>P1 미확정  </a:t>
            </a:r>
            <a:r>
              <a:rPr sz="1250" b="1">
                <a:solidFill>
                  <a:srgbClr val="1A2B4C"/>
                </a:solidFill>
                <a:latin typeface="Malgun Gothic"/>
              </a:rPr>
              <a:t>코드별 자동 안내 문구 · 조회 주기 · SLA가 확정되지 않음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" y="416052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오픈 전 CS 스크립트와 조회 배치 주기를 확정해야 문의가 전부 수기 대응으로 몰리지 않는다.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" y="480974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CBD5E0"/>
                </a:solidFill>
                <a:latin typeface="Malgun Gothic"/>
              </a:rPr>
              <a:t>관세청 전용 통관플랫폼 연동 · 결과 브리핑 v4.0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38928" y="480974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CBD5E0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90288" y="237744"/>
            <a:ext cx="42062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2C5282"/>
                </a:solidFill>
                <a:latin typeface="Malgun Gothic"/>
              </a:rPr>
              <a:t>ADMIN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57200"/>
            <a:ext cx="84307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2B4C"/>
                </a:solidFill>
                <a:latin typeface="Malgun Gothic"/>
              </a:rPr>
              <a:t>신규 관리자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932688"/>
            <a:ext cx="8430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18096"/>
                </a:solidFill>
                <a:latin typeface="Malgun Gothic"/>
              </a:rPr>
              <a:t>오픈과 함께 운영팀에 추가되는 화면·알림 6종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298448"/>
            <a:ext cx="2642616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3776" y="1444751"/>
            <a:ext cx="274320" cy="274320"/>
          </a:xfrm>
          <a:prstGeom prst="ellipse">
            <a:avLst/>
          </a:prstGeom>
          <a:solidFill>
            <a:srgbClr val="1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49504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48132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algun Gothic"/>
              </a:rPr>
              <a:t>거래 실패리스트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810512"/>
            <a:ext cx="23500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오류 사유 · 최초 실패일 · 재시도 세대 표출. CS팀 일일 보정 대상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2968" y="1298448"/>
            <a:ext cx="2642616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19272" y="1444751"/>
            <a:ext cx="274320" cy="274320"/>
          </a:xfrm>
          <a:prstGeom prst="ellipse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149504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1" y="148132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algun Gothic"/>
              </a:rPr>
              <a:t>실시간 통관조회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1810512"/>
            <a:ext cx="23500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주문 상세에서 자이언트 화물 진행 상태를 즉시 조회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98464" y="1298448"/>
            <a:ext cx="2642616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44768" y="1444751"/>
            <a:ext cx="274320" cy="274320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149504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7" y="148132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algun Gothic"/>
              </a:rPr>
              <a:t>통관 이상 CS 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1810512"/>
            <a:ext cx="23500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gngMsgCode · pccError 저장 후 코드별 응대 큐 자동 생성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" y="2468880"/>
            <a:ext cx="2642616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3776" y="2615184"/>
            <a:ext cx="274320" cy="274320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" y="2665476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65176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algun Gothic"/>
              </a:rPr>
              <a:t>HBL 상태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" y="2980944"/>
            <a:ext cx="23500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HBL_WAITING → HBL_READY → TRA_SENT 전이 및 격리 표시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72968" y="2468880"/>
            <a:ext cx="2642616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319272" y="2615184"/>
            <a:ext cx="274320" cy="274320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9272" y="2665476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5031" y="265176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algun Gothic"/>
              </a:rPr>
              <a:t>계약 위반 격리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2980944"/>
            <a:ext cx="23500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HBL 값/null 혼재 응답을 CONTRACT_ERROR로 격리 · 제출 차단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98464" y="2468880"/>
            <a:ext cx="2642616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44768" y="2615184"/>
            <a:ext cx="274320" cy="274320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4768" y="2665476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7" y="265176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algun Gothic"/>
              </a:rPr>
              <a:t>운영자 알림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2980944"/>
            <a:ext cx="23500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삭제 API Fail · 토큰 갱신 실패 · 자이언트 전송 실패 즉시 통보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7472" y="3749039"/>
            <a:ext cx="8430768" cy="676656"/>
          </a:xfrm>
          <a:prstGeom prst="roundRect">
            <a:avLst>
              <a:gd name="adj" fmla="val 8000"/>
            </a:avLst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" y="3877055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algun Gothic"/>
              </a:rPr>
              <a:t>운영 전제  </a:t>
            </a:r>
            <a:r>
              <a:rPr sz="1250" b="1">
                <a:solidFill>
                  <a:srgbClr val="1A2B4C"/>
                </a:solidFill>
                <a:latin typeface="Malgun Gothic"/>
              </a:rPr>
              <a:t>자동 차단이 아니라 사람이 매일 보는 구조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" y="416052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재시도 상한과 자동 제외를 두지 않기로 확정했다. 실패리스트 일일 확인이 운영 필수 절차가 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" y="480974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CBD5E0"/>
                </a:solidFill>
                <a:latin typeface="Malgun Gothic"/>
              </a:rPr>
              <a:t>관세청 전용 통관플랫폼 연동 · 결과 브리핑 v4.0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38928" y="480974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CBD5E0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90288" y="237744"/>
            <a:ext cx="42062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2C5282"/>
                </a:solidFill>
                <a:latin typeface="Malgun Gothic"/>
              </a:rPr>
              <a:t>OPEN BLOCKER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57200"/>
            <a:ext cx="84307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2B4C"/>
                </a:solidFill>
                <a:latin typeface="Malgun Gothic"/>
              </a:rPr>
              <a:t>오픈 차단 리스크 P0 10건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932688"/>
            <a:ext cx="8430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18096"/>
                </a:solidFill>
                <a:latin typeface="Malgun Gothic"/>
              </a:rPr>
              <a:t>전부 기술 결함이 아니라 4사 간 계약·규제 확정 미완 항목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280160"/>
            <a:ext cx="4114800" cy="1115568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" y="1280160"/>
            <a:ext cx="411480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36245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53030"/>
                </a:solidFill>
                <a:latin typeface="Malgun Gothic"/>
              </a:rPr>
              <a:t>규제 · 유형 확정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1380744"/>
            <a:ext cx="7680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Malgun Gothic"/>
              </a:rPr>
              <a:t>2건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682495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53030"/>
                </a:solidFill>
                <a:latin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82495"/>
            <a:ext cx="36758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29개 채널 유형·제출자·판매업체·broker 규제 마스터 부재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860803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53030"/>
                </a:solidFill>
                <a:latin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60803"/>
            <a:ext cx="36758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플랫폼 A 후보의 실제 TRA 제출자·OAuth 주체 미확정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280160"/>
            <a:ext cx="4114800" cy="1115568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3440" y="1280160"/>
            <a:ext cx="411480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1" y="136245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53030"/>
                </a:solidFill>
                <a:latin typeface="Malgun Gothic"/>
              </a:rPr>
              <a:t>데이터 취득 경로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380744"/>
            <a:ext cx="7680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Malgun Gothic"/>
              </a:rPr>
              <a:t>2건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1" y="1682495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53030"/>
                </a:solidFill>
                <a:latin typeface="Malgun Gothic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1682495"/>
            <a:ext cx="36758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플랫폼 주문 PCCC·6자리 인증번호 취득·전달 경로 부재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1" y="1860803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53030"/>
                </a:solidFill>
                <a:latin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1860803"/>
            <a:ext cx="36758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KCS 고객 최종 결제액과 동수·GIANT 신고물품가 원천 혼용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" y="2523744"/>
            <a:ext cx="4114800" cy="1115568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7472" y="2523744"/>
            <a:ext cx="411480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2606039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05621"/>
                </a:solidFill>
                <a:latin typeface="Malgun Gothic"/>
              </a:rPr>
              <a:t>동수 계약 이행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2624327"/>
            <a:ext cx="7680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Malgun Gothic"/>
              </a:rPr>
              <a:t>4건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2926079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5621"/>
                </a:solidFill>
                <a:latin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926079"/>
            <a:ext cx="36758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고도몰 주문상품 ↔ 신고 단품·HBL 매핑 계약 부재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" y="3104387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5621"/>
                </a:solidFill>
                <a:latin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04387"/>
            <a:ext cx="36758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원주문번호 · ERP 분할번호 · HBL 역할 미분리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3282695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5621"/>
                </a:solidFill>
                <a:latin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282695"/>
            <a:ext cx="36758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HBL 값/null 혼재 반환 — 일괄 반환 계약 위반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3461003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5621"/>
                </a:solidFill>
                <a:latin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461003"/>
            <a:ext cx="36758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prod_srno 미반환 · 삭제 API 착수 후 Fail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63440" y="2523744"/>
            <a:ext cx="4114800" cy="1115568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663440" y="2523744"/>
            <a:ext cx="411480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28031" y="2606039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05621"/>
                </a:solidFill>
                <a:latin typeface="Malgun Gothic"/>
              </a:rPr>
              <a:t>자이언트 계약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2624327"/>
            <a:ext cx="7680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Malgun Gothic"/>
              </a:rPr>
              <a:t>2건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1" y="2926079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5621"/>
                </a:solidFill>
                <a:latin typeface="Malgun Gothic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56048" y="2926079"/>
            <a:ext cx="36758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Geek·동수 분리 쓰기·병합 endpoint 계약 부재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28031" y="3104387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5621"/>
                </a:solidFill>
                <a:latin typeface="Malgun Gothic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56048" y="3104387"/>
            <a:ext cx="36758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도착 순서 · 멱등 upsert · FINAL 상태 미정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7472" y="3913632"/>
            <a:ext cx="8430768" cy="640080"/>
          </a:xfrm>
          <a:prstGeom prst="roundRect">
            <a:avLst>
              <a:gd name="adj" fmla="val 8000"/>
            </a:avLst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5216" y="4041648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5621"/>
                </a:solidFill>
                <a:latin typeface="Malgun Gothic"/>
              </a:rPr>
              <a:t>판단  </a:t>
            </a:r>
            <a:r>
              <a:rPr sz="1250" b="1">
                <a:solidFill>
                  <a:srgbClr val="1A2B4C"/>
                </a:solidFill>
                <a:latin typeface="Malgun Gothic"/>
              </a:rPr>
              <a:t>오픈 가부는 8/26까지 서면 회신 확보 여부로 결정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" y="4325112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테스트 서버는 8/21 종료. 계약 확정이 늦어지면 시범운영 기간의 기존 서식 목록통관 병행을 폴백으로 검토한다.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" y="480974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CBD5E0"/>
                </a:solidFill>
                <a:latin typeface="Malgun Gothic"/>
              </a:rPr>
              <a:t>관세청 전용 통관플랫폼 연동 · 결과 브리핑 v4.0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38928" y="480974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CBD5E0"/>
                </a:solidFill>
                <a:latin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90288" y="237744"/>
            <a:ext cx="42062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2C5282"/>
                </a:solidFill>
                <a:latin typeface="Malgun Gothic"/>
              </a:rP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57200"/>
            <a:ext cx="84307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2B4C"/>
                </a:solidFill>
                <a:latin typeface="Malgun Gothic"/>
              </a:rPr>
              <a:t>대응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932688"/>
            <a:ext cx="8430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18096"/>
                </a:solidFill>
                <a:latin typeface="Malgun Gothic"/>
              </a:rPr>
              <a:t>대상별로 확보해야 할 서면 회신과 마감일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280160"/>
            <a:ext cx="8430768" cy="274320"/>
          </a:xfrm>
          <a:prstGeom prst="roundRect">
            <a:avLst>
              <a:gd name="adj" fmla="val 8000"/>
            </a:avLst>
          </a:prstGeom>
          <a:solidFill>
            <a:srgbClr val="1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339596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Malgun Gothic"/>
              </a:rPr>
              <a:t>대상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39596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Malgun Gothic"/>
              </a:rPr>
              <a:t>확보해야 할 회신 · 산출물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1339596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마감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554480"/>
            <a:ext cx="8430768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65506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algun Gothic"/>
              </a:rPr>
              <a:t>관세청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59636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A 유형 서면 재확인 · sale_ents_id 필수 조건 · 계도기간 종료일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636776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1677924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C53030"/>
                </a:solidFill>
                <a:latin typeface="Malgun Gothic"/>
              </a:rPr>
              <a:t>08.26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" y="1961388"/>
            <a:ext cx="8430768" cy="384048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206197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algun Gothic"/>
              </a:rPr>
              <a:t>자이언트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066544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분리 쓰기 endpoint · 병합 규칙 · PATCH 배포일 · brokerCode 정의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9248" y="2043684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084832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C53030"/>
                </a:solidFill>
                <a:latin typeface="Malgun Gothic"/>
              </a:rPr>
              <a:t>08.26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" y="2368296"/>
            <a:ext cx="8430768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" y="246887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algun Gothic"/>
              </a:rPr>
              <a:t>동수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2473452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신고 단품 매핑 계약 · HBL 일괄 반환 이행 · prod_srno 채번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99248" y="2450591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2491739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C53030"/>
                </a:solidFill>
                <a:latin typeface="Malgun Gothic"/>
              </a:rPr>
              <a:t>08.25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" y="2775203"/>
            <a:ext cx="8430768" cy="384048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2875787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algun Gothic"/>
              </a:rPr>
              <a:t>플랫폼(네이버 등)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288036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주문 PCCC · 6자리 인증번호 제공 가능 여부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99248" y="2857499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289864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C05621"/>
                </a:solidFill>
                <a:latin typeface="Malgun Gothic"/>
              </a:rPr>
              <a:t>08.26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" y="3182111"/>
            <a:ext cx="8430768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" y="3282695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algun Gothic"/>
              </a:rPr>
              <a:t>Geek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87268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토큰 갱신 · PER002/003 · 주문 변경 감지 구현 및 QA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99248" y="3264407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99248" y="3305555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C05621"/>
                </a:solidFill>
                <a:latin typeface="Malgun Gothic"/>
              </a:rPr>
              <a:t>08.27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" y="3589019"/>
            <a:ext cx="8430768" cy="384048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" y="3689603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algun Gothic"/>
              </a:rPr>
              <a:t>내부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3694175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금액 원천 스냅샷 확정 · CS 스크립트 · 실패리스트 운영 절차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99248" y="3671315"/>
            <a:ext cx="713232" cy="219456"/>
          </a:xfrm>
          <a:prstGeom prst="roundRect">
            <a:avLst>
              <a:gd name="adj" fmla="val 8000"/>
            </a:avLst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99248" y="3712463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A2B4C"/>
                </a:solidFill>
                <a:latin typeface="Malgun Gothic"/>
              </a:rPr>
              <a:t>08.27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7472" y="4041648"/>
            <a:ext cx="8430768" cy="640080"/>
          </a:xfrm>
          <a:prstGeom prst="roundRect">
            <a:avLst>
              <a:gd name="adj" fmla="val 8000"/>
            </a:avLst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5216" y="4169663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C5282"/>
                </a:solidFill>
                <a:latin typeface="Malgun Gothic"/>
              </a:rPr>
              <a:t>폴백  </a:t>
            </a:r>
            <a:r>
              <a:rPr sz="1250" b="1">
                <a:solidFill>
                  <a:srgbClr val="1A2B4C"/>
                </a:solidFill>
                <a:latin typeface="Malgun Gothic"/>
              </a:rPr>
              <a:t>계약 미확정 시 기존 서식 목록통관 병행 검토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" y="4453128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관세청 시범운영 공지상 기존 서식 목록통관이 병행 허용된다. 전면 중단이 아니라 단계적 전환을 택할 수 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" y="480974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CBD5E0"/>
                </a:solidFill>
                <a:latin typeface="Malgun Gothic"/>
              </a:rPr>
              <a:t>관세청 전용 통관플랫폼 연동 · 결과 브리핑 v4.0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38928" y="480974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CBD5E0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90288" y="237744"/>
            <a:ext cx="42062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2C5282"/>
                </a:solidFill>
                <a:latin typeface="Malgun Gothic"/>
              </a:rPr>
              <a:t>COST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57200"/>
            <a:ext cx="84307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2B4C"/>
                </a:solidFill>
                <a:latin typeface="Malgun Gothic"/>
              </a:rPr>
              <a:t>투자 및 운영 비용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932688"/>
            <a:ext cx="8430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18096"/>
                </a:solidFill>
                <a:latin typeface="Malgun Gothic"/>
              </a:rPr>
              <a:t>1차 구축비와 2차 추가개발비, 오픈 이후 예상 운영비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280160"/>
            <a:ext cx="4114800" cy="1865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16A34A"/>
                </a:solidFill>
                <a:latin typeface="Malgun Gothic"/>
              </a:rPr>
              <a:t>INVESTMENT 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202C"/>
                </a:solidFill>
                <a:latin typeface="Malgun Gothic"/>
              </a:rPr>
              <a:t>누적 투자비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56816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6A34A"/>
                </a:solidFill>
                <a:latin typeface="Malgun Gothic"/>
              </a:rPr>
              <a:t>24,265,840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5059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A202C"/>
                </a:solidFill>
                <a:latin typeface="Malgun Gothic"/>
              </a:rPr>
              <a:t>원  (VAT 별도)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88336"/>
            <a:ext cx="2606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algun Gothic"/>
              </a:rPr>
              <a:t>1차 계약 체결액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2688336"/>
            <a:ext cx="11338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66534"/>
                </a:solidFill>
                <a:latin typeface="Malgun Gothic"/>
              </a:rPr>
              <a:t>16,150,000원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839212"/>
            <a:ext cx="2606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algun Gothic"/>
              </a:rPr>
              <a:t>1차 견적 기준 구축비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2839212"/>
            <a:ext cx="11338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66534"/>
                </a:solidFill>
                <a:latin typeface="Malgun Gothic"/>
              </a:rPr>
              <a:t>17,013,815원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990088"/>
            <a:ext cx="2606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algun Gothic"/>
              </a:rPr>
              <a:t>2차 추가개발 견적 (08.10)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2990088"/>
            <a:ext cx="11338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66534"/>
                </a:solidFill>
                <a:latin typeface="Malgun Gothic"/>
              </a:rPr>
              <a:t>7,252,025원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280160"/>
            <a:ext cx="4114800" cy="1865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2896" y="144475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16A34A"/>
                </a:solidFill>
                <a:latin typeface="Malgun Gothic"/>
              </a:rPr>
              <a:t>OPERATION 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2896" y="164592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202C"/>
                </a:solidFill>
                <a:latin typeface="Malgun Gothic"/>
              </a:rPr>
              <a:t>월 운영비 (PCCC 검증)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2896" y="1956816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6A34A"/>
                </a:solidFill>
                <a:latin typeface="Malgun Gothic"/>
              </a:rPr>
              <a:t>150,000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2896" y="245059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A202C"/>
                </a:solidFill>
                <a:latin typeface="Malgun Gothic"/>
              </a:rPr>
              <a:t>원 / 월  (추정치 · 아래 산출 기준)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2896" y="2688336"/>
            <a:ext cx="2606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algun Gothic"/>
              </a:rPr>
              <a:t>건당 단가 (시장 평균)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216" y="2688336"/>
            <a:ext cx="11338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66534"/>
                </a:solidFill>
                <a:latin typeface="Malgun Gothic"/>
              </a:rPr>
              <a:t>약 50원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2896" y="2839212"/>
            <a:ext cx="2606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algun Gothic"/>
              </a:rPr>
              <a:t>월 예상 건수 (최근 3개월 평균)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2839212"/>
            <a:ext cx="11338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66534"/>
                </a:solidFill>
                <a:latin typeface="Malgun Gothic"/>
              </a:rPr>
              <a:t>약 3,000건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82896" y="2990088"/>
            <a:ext cx="2606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algun Gothic"/>
              </a:rPr>
              <a:t>월 예상 비용 (3,000 × 50)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3216" y="2990088"/>
            <a:ext cx="11338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66534"/>
                </a:solidFill>
                <a:latin typeface="Malgun Gothic"/>
              </a:rPr>
              <a:t>≈ 150,000원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" y="3255264"/>
            <a:ext cx="8430768" cy="512064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35584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05621"/>
                </a:solidFill>
                <a:latin typeface="Malgun Gothic"/>
              </a:rPr>
              <a:t>확인 필요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53872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D3748"/>
                </a:solidFill>
                <a:latin typeface="Malgun Gothic"/>
              </a:rPr>
              <a:t>계약서 기재액 16,150,000원과 v3 브리핑 기재 구축비 17,013,815원이 상이 — 청구 기준 확정 필요. NICE 중계기관 단가는 업체 선정 후 확정.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3877056"/>
            <a:ext cx="8430768" cy="676656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" y="4005072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Malgun Gothic"/>
              </a:rPr>
              <a:t>비용 요약  </a:t>
            </a:r>
            <a:r>
              <a:rPr sz="1250" b="1">
                <a:solidFill>
                  <a:srgbClr val="1A2B4C"/>
                </a:solidFill>
                <a:latin typeface="Malgun Gothic"/>
              </a:rPr>
              <a:t>누적 투자 24,265,840원 · 월 운영비 약 150,000원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" y="4288536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2차 추가개발 7,252,025원은 자이언트 HWB 연동 · NICE 통합인증(CI) · TRA 제출 17일 공수 기준. 운영비 부담 주체는 협의 필요.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" y="480974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CBD5E0"/>
                </a:solidFill>
                <a:latin typeface="Malgun Gothic"/>
              </a:rPr>
              <a:t>관세청 전용 통관플랫폼 연동 · 결과 브리핑 v4.0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38928" y="480974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CBD5E0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90288" y="237744"/>
            <a:ext cx="42062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2C5282"/>
                </a:solidFill>
                <a:latin typeface="Malgun Gothic"/>
              </a:rPr>
              <a:t>MILESTONE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57200"/>
            <a:ext cx="84307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2B4C"/>
                </a:solidFill>
                <a:latin typeface="Malgun Gothic"/>
              </a:rPr>
              <a:t>남은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932688"/>
            <a:ext cx="8430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18096"/>
                </a:solidFill>
                <a:latin typeface="Malgun Gothic"/>
              </a:rPr>
              <a:t>테스트 서버 종료까지 D-2, 정식 오픈까지 D-4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56816"/>
            <a:ext cx="8138160" cy="18288"/>
          </a:xfrm>
          <a:prstGeom prst="rect">
            <a:avLst/>
          </a:prstGeom>
          <a:solidFill>
            <a:srgbClr val="CBD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" y="1819656"/>
            <a:ext cx="292608" cy="292608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481328"/>
            <a:ext cx="12252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A2B4C"/>
                </a:solidFill>
                <a:latin typeface="Malgun Gothic"/>
              </a:rPr>
              <a:t>08.21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80160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C53030"/>
                </a:solidFill>
                <a:latin typeface="Malgun Gothic"/>
              </a:rPr>
              <a:t>D-2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231136"/>
            <a:ext cx="12252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Malgun Gothic"/>
              </a:rPr>
              <a:t>테스트 서버 종료</a:t>
            </a:r>
          </a:p>
        </p:txBody>
      </p:sp>
      <p:sp>
        <p:nvSpPr>
          <p:cNvPr id="10" name="Oval 9"/>
          <p:cNvSpPr/>
          <p:nvPr/>
        </p:nvSpPr>
        <p:spPr>
          <a:xfrm>
            <a:off x="2231136" y="1819656"/>
            <a:ext cx="292608" cy="292608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64792" y="1481328"/>
            <a:ext cx="12252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A2B4C"/>
                </a:solidFill>
                <a:latin typeface="Malgun Gothic"/>
              </a:rPr>
              <a:t>08.25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1280160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C05621"/>
                </a:solidFill>
                <a:latin typeface="Malgun Gothic"/>
              </a:rPr>
              <a:t>D+1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2231136"/>
            <a:ext cx="12252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Malgun Gothic"/>
              </a:rPr>
              <a:t>동수 계약 회신</a:t>
            </a:r>
          </a:p>
        </p:txBody>
      </p:sp>
      <p:sp>
        <p:nvSpPr>
          <p:cNvPr id="14" name="Oval 13"/>
          <p:cNvSpPr/>
          <p:nvPr/>
        </p:nvSpPr>
        <p:spPr>
          <a:xfrm>
            <a:off x="3648456" y="1819656"/>
            <a:ext cx="292608" cy="292608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2" y="1481328"/>
            <a:ext cx="12252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A2B4C"/>
                </a:solidFill>
                <a:latin typeface="Malgun Gothic"/>
              </a:rPr>
              <a:t>08.26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1280160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C05621"/>
                </a:solidFill>
                <a:latin typeface="Malgun Gothic"/>
              </a:rPr>
              <a:t>D+2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2112" y="2231136"/>
            <a:ext cx="12252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Malgun Gothic"/>
              </a:rPr>
              <a:t>관세청·자이언트 회신</a:t>
            </a:r>
          </a:p>
        </p:txBody>
      </p:sp>
      <p:sp>
        <p:nvSpPr>
          <p:cNvPr id="18" name="Oval 17"/>
          <p:cNvSpPr/>
          <p:nvPr/>
        </p:nvSpPr>
        <p:spPr>
          <a:xfrm>
            <a:off x="5065776" y="1819656"/>
            <a:ext cx="292608" cy="292608"/>
          </a:xfrm>
          <a:prstGeom prst="ellipse">
            <a:avLst/>
          </a:prstGeom>
          <a:solidFill>
            <a:srgbClr val="1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1481328"/>
            <a:ext cx="12252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A2B4C"/>
                </a:solidFill>
                <a:latin typeface="Malgun Gothic"/>
              </a:rPr>
              <a:t>08.27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1280160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1A2B4C"/>
                </a:solidFill>
                <a:latin typeface="Malgun Gothic"/>
              </a:rPr>
              <a:t>D+3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2231136"/>
            <a:ext cx="12252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Malgun Gothic"/>
              </a:rPr>
              <a:t>Geek QA 완료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1819656"/>
            <a:ext cx="292608" cy="292608"/>
          </a:xfrm>
          <a:prstGeom prst="ellipse">
            <a:avLst/>
          </a:prstGeom>
          <a:solidFill>
            <a:srgbClr val="1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16752" y="1481328"/>
            <a:ext cx="12252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A2B4C"/>
                </a:solidFill>
                <a:latin typeface="Malgun Gothic"/>
              </a:rPr>
              <a:t>08.28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16752" y="1280160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1A2B4C"/>
                </a:solidFill>
                <a:latin typeface="Malgun Gothic"/>
              </a:rPr>
              <a:t>D-DAY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6752" y="2231136"/>
            <a:ext cx="12252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Malgun Gothic"/>
              </a:rPr>
              <a:t>정식 오픈 09:00</a:t>
            </a:r>
          </a:p>
        </p:txBody>
      </p:sp>
      <p:sp>
        <p:nvSpPr>
          <p:cNvPr id="26" name="Oval 25"/>
          <p:cNvSpPr/>
          <p:nvPr/>
        </p:nvSpPr>
        <p:spPr>
          <a:xfrm>
            <a:off x="7900416" y="1819656"/>
            <a:ext cx="292608" cy="292608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34072" y="1481328"/>
            <a:ext cx="12252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A2B4C"/>
                </a:solidFill>
                <a:latin typeface="Malgun Gothic"/>
              </a:rPr>
              <a:t>09.14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4072" y="1280160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C53030"/>
                </a:solidFill>
                <a:latin typeface="Malgun Gothic"/>
              </a:rPr>
              <a:t>D+21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2" y="2231136"/>
            <a:ext cx="12252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Malgun Gothic"/>
              </a:rPr>
              <a:t>Z99999 허용 종료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2761488"/>
            <a:ext cx="8430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2B4C"/>
                </a:solidFill>
                <a:latin typeface="Malgun Gothic"/>
              </a:rPr>
              <a:t>오픈 직전 체크포인트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" y="3017520"/>
            <a:ext cx="8430768" cy="292608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308610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05621"/>
                </a:solidFill>
                <a:latin typeface="Malgun Gothic"/>
              </a:rPr>
              <a:t>08.26 24:00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75104" y="3086100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P0 10건 중 계약 회신 미확보 건 확정 → 폴백 여부 판단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" y="3360420"/>
            <a:ext cx="8430768" cy="292608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" y="342900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05621"/>
                </a:solidFill>
                <a:latin typeface="Malgun Gothic"/>
              </a:rPr>
              <a:t>08.28 03:00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75104" y="3429000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관세청이 허용한 새벽 창구에서 업체별 데이터 테스트 수행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7472" y="3703320"/>
            <a:ext cx="8430768" cy="292608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377190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05621"/>
                </a:solidFill>
                <a:latin typeface="Malgun Gothic"/>
              </a:rPr>
              <a:t>08.28 09:00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75104" y="3771900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정식 오픈. 첫 배치 사이클은 익일 09:00부터 정상 진입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7472" y="4041648"/>
            <a:ext cx="8430768" cy="621792"/>
          </a:xfrm>
          <a:prstGeom prst="roundRect">
            <a:avLst>
              <a:gd name="adj" fmla="val 8000"/>
            </a:avLst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5216" y="4169663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5621"/>
                </a:solidFill>
                <a:latin typeface="Malgun Gothic"/>
              </a:rPr>
              <a:t>요청  </a:t>
            </a:r>
            <a:r>
              <a:rPr sz="1250" b="1">
                <a:solidFill>
                  <a:srgbClr val="1A2B4C"/>
                </a:solidFill>
                <a:latin typeface="Malgun Gothic"/>
              </a:rPr>
              <a:t>8/26까지 4사 서면 회신 확보에 협조 필요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" y="4453128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D3748"/>
                </a:solidFill>
                <a:latin typeface="Malgun Gothic"/>
              </a:rPr>
              <a:t>기술 개발은 마감 단계다. 남은 것은 계약 문장이며, 이것이 오픈 일자를 결정한다.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" y="480974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CBD5E0"/>
                </a:solidFill>
                <a:latin typeface="Malgun Gothic"/>
              </a:rPr>
              <a:t>관세청 전용 통관플랫폼 연동 · 결과 브리핑 v4.0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38928" y="480974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CBD5E0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